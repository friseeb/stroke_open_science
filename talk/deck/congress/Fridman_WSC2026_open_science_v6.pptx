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This benchmark measures transparency and the availability of research materials; it does not test whether reported findings reproduce or replicate. Official WSC banner, used at the speaker's request: https://worldstrokecongress.org/promotional-toolkit/ ; asset: https://wsc2026.kenes.com/wp-content/uploads/sites/32/2025/11/WSC-2026-banner-900x90px_v3.jpg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by the congress as the second slide: nothing to disclose. Two seconds,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seconds, first person. I came to stroke from imaging and neuroscience, where tools such as ITK-SNAP, DeepISLES, SPM Clinical Toolbox, ANTs, VLSM, LESYMAP and BCBtoolkit could be inspected and reused. BIDS and OpenNeuro support sharing. ATLAS v2.0 released 955 public MRIs with lesion masks; ISLES 2022 released 250 cases. These are examples, not a claim that every imaging workflow is open. Liew 2022 found that 12 of 17 ATLAS-based methods did not report public code. Open data alone is not enough. The illustration is conceptual artwork generated with OpenAI Image Generation, not a patient scan or empirical network.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Use the National Academies' 2019 definitions. Reproducibility means obtaining consistent computational results with the original data, code, methods and analysis conditions. Replication asks whether a finding is consistent in a study collecting its own data to answer the same question. Different populations or interventions instead bear on generalizability. Transparency makes the material available for inspection; it does not itself establish successful reproduction or replication. The paired illustration is conceptual OpenAI-generated artwork, not measured findings. https://www.nationalacademies.org/read/25303/chapter/2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This slide shows a single endpoint, replication, in one project. SCORE directly replicated 151 of 274 claims drawn from social and behavioural science papers published in 2009-2018 (55.1%; Nature 2026). Each mark is one assessed claim; red marks meet the project's primary replication criterion. Outcomes depend on that criterion and this selected sample. This is not a stroke replication rate, nor a before/after trend. The 2015 psychology project found 35 significant replications among 97 tested for significance; its different sample and endpoint cannot establish improvement over time. Statistical power, researcher surveys and data availability measure other constructs and are not pooled here. Tyner et al. doi:10.1038/s41586-025-10078-y.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seconds. Now move from replication evidence in other disciplines to transparency in stroke. Animal-to-human translation is a generalizability problem. Trials enrolling different patients or using different interventions do not automatically test replication of the same claim. Tirofiban and subdural-haematoma trial contrasts have therefore been removed as evidence of a stroke reproducibility crisis. Access to protocols, data and code helps us investigate differences, with controlled access where patient privacy requires it. Missing public materials does not prove incorrect results. Our benchmark measures these enabling practices, not successful independent replication. Conceptual illustration generated with OpenAI Image Generation; not patient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Audits like this exist for neurology (Rauh 2020) and cardiology (Heckerman 2025), and data requests have been tested in vascular and cognitive trials (Scutt 2020); we found none of stroke publications. The benchmark reads OpenAlex for every stroke journal article and review with a DOI since 2015 (140,281 for 2015-2025, title search), then reads up to 1,500 open-access full texts a year through Europe PMC (16,362 for stroke), with neurology, neuroscience and cardiology measured the same way. It re-runs every six months; code and data are open, and every number on the next slides is on the public dashboard: the QR code. Open-access full text only, so full-text rates run high. The four indicators are access, data, code and registration. Data and code are grouped in one spoken question. These measure transparency, not successful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Thirty-five seconds. The good-news slide. Open access = any OpenAlex status other than closed. Stroke sits between cardiology and neurology in every complete year (2015-2024); in the incomplete 2025 it edges past cardiology. Do not rank neuroscience: about 45% of it comes from the title term 'neural', much of it machine learning. Figure shows stroke only; comparators remain on the live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seconds. Gold/hybrid stroke publication routes increased from 18.6% in 2015 to 44.1% in 2024; diamond/green from 18.9% to 23.9%; bronze declined from 15.3% to 7.2%. The remaining share was closed. These classify publication routes, not observed payments. Waivers and funding agreements are not measured. The two bars each include all stroke articles in that year and sum to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Stroke articles, 2015-2025, high-income first-author group: 83% open access when OpenAlex lists a funder (29,055 articles), versus 56% without a listed funder (44,147). This is a descriptive association, not a causal estimate of funding. No listed funder does not prove no funding: acknowledgements may be missing. The groups may differ in year, journal and study type. Source: benchmark 2026-10-13, Income groups.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seconds. Selected stroke first-author countries, 2015-2025: Indonesia, Netherlands, Korea and United States. Components use the same corpus and years. These are descriptive examples, not a ranking or a causal effect of policy or wealth. Gold and hybrid often charge fees, but article-level payments, waivers and funding agreements were not observed. Diamond and green are publishing or repository routes.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Thirty-five seconds. Lower bounds from abstracts and metadata, 2024: data in a repository 0.2% (0.2% in 2015, never above 0.6%); code links below 0.1% in every complete year. What did move: registration IDs, 2.8% to 5.3% of articles with an abstract, and preprints, 2.7% in 2024, partly publisher-driven (Research Square, SSRN). Pooled over 2015-2025, high-impact articles are barely better at sharing (data 0.45% vs 0.34%). Then the pivot: so we read the full text. The figure measures detected links, not the availability of all underlying data or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the slide people photograph. Open-access stroke full texts published in 2025 (the audit reads 1,500 a year, so the year is complete for the audit): 74% write a data statement (14% in 2015), 29% say 'available on request', now the most common answer, and 9.8% deposit data or name a public source (own repository deposit 5.9%). In 2024: 69%, 30% and 7.3%. 'On request' delivers little: 6.8% of authors shared when asked (Gabelica 2022); 20% of 391 vascular and cognitive trials, median 241 days (Scutt 2020). Against the other fields, 2022-2025, stroke says 'on request' most often (30%; neurology 27%, neuroscience 26%, cardiology 24%). Open-access full texts only, so these rates are optimistic for stroke overall. Statement presence overlaps the other indicators; these rows do not partition all statements.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seconds. Among the three larger income groups, lower-middle-income first authors are the most open to read (75%, 42% through diamond or green), yet in open-access full texts, 2015-2025, they write a data statement in 23% (high 43%, upper-middle 57%) and deposit or name a public source in 1.8% (4.0%, 5.2%), from 609 audited articles; the gap holds in 2022-2025. Both panels use the same scale, which is the point: deposit is tiny everywhere. Low-income countries (400 articles, 77 audited) are too few to show. Korea: 5,490 first-author articles, 75% open. This figure shows only deposit/public-source rates, with a 0-6% scale.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The index is the mean, over three full-text signals (data deposited or public source, GitHub, trial registration), of an institution's rate divided by the stroke rate; 1 = stroke average. Shown: the top of the 60 institutions with the most audited articles (82 or more each), as on the dashboard. Charité is counted once: OpenAlex lists its Center for Stroke Research Berlin and the Berlin Institute of Health separately, and those are merged into it (133 audited articles; deposit or public source 9.8%, GitHub 10.5%, trial registration 37%). Small counts are a hint, not a ranking. Journals: among the 40 largest on the dashboard, the Journal of Cerebral Blood Flow and Metabolism leads (2.7x) and Stroke is fourth (1.5x); among smaller journals with at least 30 audited articles, Nature Communications, Brain Communications and PeerJ lead. The point: the measurement exists, is cheap, and is what a prize would recognise. Four descriptive examples; sample sizes and full comparison remain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seconds. One medical example, not a pooled estimate: Bergeat et al., JAMA Network Open 2022, surgical RCTs before and after the ICMJE data-availability statement requirement. Obtainable datasets were 3.1% in both periods. This descriptive before/after comparison does not establish a causal effect. Evidence on badges, promotion criteria and Registered Reports measures other outcomes and is kept off this visual. doi:10.1001/jamanetworkopen.2022.15209.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forty-five. Proposal: ask WSO to convene a task force and develop a position statement; retire 'available on request' in Stroke, IJS, ESJ and JSCVD in favour of a repository, VISTA or Vivli, or a stated reason; Registered Reports for stroke trials with in-principle acceptance tied to WSO and ESO grants; embargoed sharing as the trial default, twelve months after publication. Prize: the commitment index, verified in full text and recomputed every six months, for institutions, journals, funders and countries. Awareness: the public benchmark; open-science items in promotion criteria (in 2020, 1 of 92 guidelines mentioned data sharing, and none open access or registration). Targets to discuss: data in a repository or controlled-access platform for 25% of stroke articles by 2030 (own repository deposit was 5.9% of 2025 open-access full texts); 'on request' under 10%; one Registered Report track in a stroke journal by 2028. The statement, retiring 'on request' and promotion criteria cost nothing; Registered Reports, the prize and the infrastructure need money, and the infrastructure mostly exists: VISTA and Vivli for trial data, ATLAS and OpenNeuro for imaging, ENIGMA for pooled analysis. Invite the WSO leadership in the room to take the task force home. Proposed targets and deadlines are discussion points, not commitments or current WSO policy.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One line, then stop. Leave the QR codes up during questions: the benchmark dashboard, the code and data, and the references. Thank the session chairs.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not presented. Full references with DOIs at the QR code link.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not presented. Full references with DOIs at the QR code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V6Image2" Type="http://schemas.openxmlformats.org/officeDocument/2006/relationships/image" Target="../media/wscv6_f30e9ee86a020bd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V6Image2" Type="http://schemas.openxmlformats.org/officeDocument/2006/relationships/image" Target="../media/wscv6_1b94d8d44904933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V6Image2" Type="http://schemas.openxmlformats.org/officeDocument/2006/relationships/image" Target="../media/wscv6_a635d3243467f5ec.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V6Image2" Type="http://schemas.openxmlformats.org/officeDocument/2006/relationships/image" Target="../media/wscv6_73f72edbe0644f0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7.xml"/><Relationship Id="rIdV6Image2" Type="http://schemas.openxmlformats.org/officeDocument/2006/relationships/image" Target="../media/wscv6_d43246ad2d791a6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5" Type="http://schemas.openxmlformats.org/officeDocument/2006/relationships/notesSlide" Target="../notesSlides/notesSlide18.xml"/><Relationship Id="rIdV6Image2" Type="http://schemas.openxmlformats.org/officeDocument/2006/relationships/image" Target="../media/wscv6_c82a386135f2893b.jpg"/><Relationship Id="rIdV6Image3" Type="http://schemas.openxmlformats.org/officeDocument/2006/relationships/image" Target="../media/wscv6_1233447d86861b1c.jpg"/><Relationship Id="rIdV6Image4" Type="http://schemas.openxmlformats.org/officeDocument/2006/relationships/image" Target="../media/wscv6_7ba285b4cf8b2d7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9.xml"/><Relationship Id="rIdV6Image2" Type="http://schemas.openxmlformats.org/officeDocument/2006/relationships/image" Target="../media/wscv6_d72c46d43101141b.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llustration 2" descr="Official WSC 2026 Seoul congress banner"/>
          <p:cNvPicPr>
            <a:picLocks noChangeAspect="1"/>
          </p:cNvPicPr>
          <p:nvPr/>
        </p:nvPicPr>
        <p:blipFill>
          <a:blip r:embed="rIdV6Image2"/>
          <a:stretch>
            <a:fillRect/>
          </a:stretch>
        </p:blipFill>
        <p:spPr>
          <a:xfrm>
            <a:off x="0" y="0"/>
            <a:ext cx="9144000" cy="914400"/>
          </a:xfrm>
          <a:prstGeom prst="rect">
            <a:avLst/>
          </a:prstGeom>
        </p:spPr>
      </p:pic>
      <p:sp>
        <p:nvSpPr>
          <p:cNvPr id="3" name="Text 3"/>
          <p:cNvSpPr txBox="1"/>
          <p:nvPr/>
        </p:nvSpPr>
        <p:spPr>
          <a:xfrm>
            <a:off x="609600" y="1200150"/>
            <a:ext cx="7962900" cy="1251198"/>
          </a:xfrm>
          <a:prstGeom prst="rect">
            <a:avLst/>
          </a:prstGeom>
          <a:noFill/>
          <a:ln>
            <a:noFill/>
          </a:ln>
        </p:spPr>
        <p:txBody>
          <a:bodyPr wrap="square" lIns="0" rIns="0" tIns="0" bIns="0" anchor="t"/>
          <a:lstStyle/>
          <a:p>
            <a:pPr algn="l">
              <a:lnSpc>
                <a:spcPts val="4851"/>
              </a:lnSpc>
              <a:spcBef>
                <a:spcPts val="0"/>
              </a:spcBef>
              <a:spcAft>
                <a:spcPts val="0"/>
              </a:spcAft>
              <a:buNone/>
            </a:pPr>
            <a:r>
              <a:rPr lang="en-US" sz="4950" b="1" i="0" spc="-188">
                <a:solidFill>
                  <a:srgbClr val="000000"/>
                </a:solidFill>
                <a:latin typeface="Arial"/>
                <a:ea typeface="Arial"/>
                <a:cs typeface="Arial"/>
              </a:rPr>
              <a:t xml:space="preserve">Open science</a:t>
            </a:r>
            <a:br/>
            <a:r>
              <a:rPr lang="en-US" sz="4950" b="1" i="0" spc="-188">
                <a:solidFill>
                  <a:srgbClr val="000000"/>
                </a:solidFill>
                <a:latin typeface="Arial"/>
                <a:ea typeface="Arial"/>
                <a:cs typeface="Arial"/>
              </a:rPr>
              <a:t xml:space="preserve">in stroke research</a:t>
            </a:r>
            <a:endParaRPr lang="en-US"/>
          </a:p>
        </p:txBody>
      </p:sp>
      <p:sp>
        <p:nvSpPr>
          <p:cNvPr id="4" name="Text 4"/>
          <p:cNvSpPr txBox="1"/>
          <p:nvPr/>
        </p:nvSpPr>
        <p:spPr>
          <a:xfrm>
            <a:off x="609600" y="2565648"/>
            <a:ext cx="7962900" cy="304800"/>
          </a:xfrm>
          <a:prstGeom prst="rect">
            <a:avLst/>
          </a:prstGeom>
          <a:noFill/>
          <a:ln>
            <a:noFill/>
          </a:ln>
        </p:spPr>
        <p:txBody>
          <a:bodyPr wrap="square" lIns="0" rIns="0" tIns="0" bIns="0" anchor="t"/>
          <a:lstStyle/>
          <a:p>
            <a:pPr algn="l">
              <a:lnSpc>
                <a:spcPts val="2250"/>
              </a:lnSpc>
              <a:spcBef>
                <a:spcPts val="0"/>
              </a:spcBef>
              <a:spcAft>
                <a:spcPts val="0"/>
              </a:spcAft>
              <a:buNone/>
            </a:pPr>
            <a:r>
              <a:rPr lang="en-US" sz="1800" b="0" i="0" spc="0">
                <a:solidFill>
                  <a:srgbClr val="333333"/>
                </a:solidFill>
                <a:latin typeface="Arial"/>
                <a:ea typeface="Arial"/>
                <a:cs typeface="Arial"/>
              </a:rPr>
              <a:t xml:space="preserve">What stroke research makes available</a:t>
            </a:r>
            <a:endParaRPr lang="en-US"/>
          </a:p>
        </p:txBody>
      </p:sp>
      <p:sp>
        <p:nvSpPr>
          <p:cNvPr id="5" name="Text 5"/>
          <p:cNvSpPr txBox="1"/>
          <p:nvPr/>
        </p:nvSpPr>
        <p:spPr>
          <a:xfrm>
            <a:off x="609600" y="3814762"/>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1" i="0" spc="0">
                <a:solidFill>
                  <a:srgbClr val="000000"/>
                </a:solidFill>
                <a:latin typeface="Arial"/>
                <a:ea typeface="Arial"/>
                <a:cs typeface="Arial"/>
              </a:rPr>
              <a:t xml:space="preserve">Sebastian Fridman, MD</a:t>
            </a:r>
            <a:endParaRPr lang="en-US"/>
          </a:p>
        </p:txBody>
      </p:sp>
      <p:sp>
        <p:nvSpPr>
          <p:cNvPr id="6" name="Text 6"/>
          <p:cNvSpPr txBox="1"/>
          <p:nvPr/>
        </p:nvSpPr>
        <p:spPr>
          <a:xfrm>
            <a:off x="609600" y="4195762"/>
            <a:ext cx="7962900" cy="204788"/>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333333"/>
                </a:solidFill>
                <a:latin typeface="Arial"/>
                <a:ea typeface="Arial"/>
                <a:cs typeface="Arial"/>
              </a:rPr>
              <a:t xml:space="preserve">Western University · London Health Sciences Centre</a:t>
            </a:r>
            <a:endParaRPr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ule 2"/>
          <p:cNvSpPr txBox="0"/>
          <p:nvPr/>
        </p:nvSpPr>
        <p:spPr>
          <a:xfrm>
            <a:off x="609600" y="1161752"/>
            <a:ext cx="247650" cy="14288"/>
          </a:xfrm>
          <a:prstGeom prst="rect">
            <a:avLst/>
          </a:prstGeom>
          <a:solidFill>
            <a:srgbClr val="000000"/>
          </a:solidFill>
          <a:ln>
            <a:noFill/>
          </a:ln>
        </p:spPr>
      </p:sp>
      <p:sp>
        <p:nvSpPr>
          <p:cNvPr id="3" name="Rule 3"/>
          <p:cNvSpPr txBox="0"/>
          <p:nvPr/>
        </p:nvSpPr>
        <p:spPr>
          <a:xfrm>
            <a:off x="842962" y="1161752"/>
            <a:ext cx="14288" cy="247650"/>
          </a:xfrm>
          <a:prstGeom prst="rect">
            <a:avLst/>
          </a:prstGeom>
          <a:solidFill>
            <a:srgbClr val="000000"/>
          </a:solidFill>
          <a:ln>
            <a:noFill/>
          </a:ln>
        </p:spPr>
      </p:sp>
      <p:sp>
        <p:nvSpPr>
          <p:cNvPr id="4" name="Rule 4"/>
          <p:cNvSpPr txBox="0"/>
          <p:nvPr/>
        </p:nvSpPr>
        <p:spPr>
          <a:xfrm>
            <a:off x="609600" y="1395115"/>
            <a:ext cx="247650" cy="14288"/>
          </a:xfrm>
          <a:prstGeom prst="rect">
            <a:avLst/>
          </a:prstGeom>
          <a:solidFill>
            <a:srgbClr val="000000"/>
          </a:solidFill>
          <a:ln>
            <a:noFill/>
          </a:ln>
        </p:spPr>
      </p:sp>
      <p:sp>
        <p:nvSpPr>
          <p:cNvPr id="5" name="Rule 5"/>
          <p:cNvSpPr txBox="0"/>
          <p:nvPr/>
        </p:nvSpPr>
        <p:spPr>
          <a:xfrm>
            <a:off x="609600" y="1161752"/>
            <a:ext cx="14288" cy="247650"/>
          </a:xfrm>
          <a:prstGeom prst="rect">
            <a:avLst/>
          </a:prstGeom>
          <a:solidFill>
            <a:srgbClr val="000000"/>
          </a:solidFill>
          <a:ln>
            <a:noFill/>
          </a:ln>
        </p:spPr>
      </p:sp>
      <p:sp>
        <p:nvSpPr>
          <p:cNvPr id="6" name="Rule 6"/>
          <p:cNvSpPr txBox="0"/>
          <p:nvPr/>
        </p:nvSpPr>
        <p:spPr>
          <a:xfrm>
            <a:off x="609600" y="1537990"/>
            <a:ext cx="247650" cy="14288"/>
          </a:xfrm>
          <a:prstGeom prst="rect">
            <a:avLst/>
          </a:prstGeom>
          <a:solidFill>
            <a:srgbClr val="000000"/>
          </a:solidFill>
          <a:ln>
            <a:noFill/>
          </a:ln>
        </p:spPr>
      </p:sp>
      <p:sp>
        <p:nvSpPr>
          <p:cNvPr id="7" name="Rule 7"/>
          <p:cNvSpPr txBox="0"/>
          <p:nvPr/>
        </p:nvSpPr>
        <p:spPr>
          <a:xfrm>
            <a:off x="842962" y="1537990"/>
            <a:ext cx="14288" cy="247650"/>
          </a:xfrm>
          <a:prstGeom prst="rect">
            <a:avLst/>
          </a:prstGeom>
          <a:solidFill>
            <a:srgbClr val="000000"/>
          </a:solidFill>
          <a:ln>
            <a:noFill/>
          </a:ln>
        </p:spPr>
      </p:sp>
      <p:sp>
        <p:nvSpPr>
          <p:cNvPr id="8" name="Rule 8"/>
          <p:cNvSpPr txBox="0"/>
          <p:nvPr/>
        </p:nvSpPr>
        <p:spPr>
          <a:xfrm>
            <a:off x="609600" y="1771352"/>
            <a:ext cx="247650" cy="14288"/>
          </a:xfrm>
          <a:prstGeom prst="rect">
            <a:avLst/>
          </a:prstGeom>
          <a:solidFill>
            <a:srgbClr val="000000"/>
          </a:solidFill>
          <a:ln>
            <a:noFill/>
          </a:ln>
        </p:spPr>
      </p:sp>
      <p:sp>
        <p:nvSpPr>
          <p:cNvPr id="9" name="Rule 9"/>
          <p:cNvSpPr txBox="0"/>
          <p:nvPr/>
        </p:nvSpPr>
        <p:spPr>
          <a:xfrm>
            <a:off x="609600" y="1537990"/>
            <a:ext cx="14288" cy="247650"/>
          </a:xfrm>
          <a:prstGeom prst="rect">
            <a:avLst/>
          </a:prstGeom>
          <a:solidFill>
            <a:srgbClr val="000000"/>
          </a:solidFill>
          <a:ln>
            <a:noFill/>
          </a:ln>
        </p:spPr>
      </p:sp>
      <p:sp>
        <p:nvSpPr>
          <p:cNvPr id="10" name="Rule 10"/>
          <p:cNvSpPr txBox="0"/>
          <p:nvPr/>
        </p:nvSpPr>
        <p:spPr>
          <a:xfrm>
            <a:off x="609600" y="2345234"/>
            <a:ext cx="880467" cy="9525"/>
          </a:xfrm>
          <a:prstGeom prst="rect">
            <a:avLst/>
          </a:prstGeom>
          <a:solidFill>
            <a:srgbClr val="000000"/>
          </a:solidFill>
          <a:ln>
            <a:noFill/>
          </a:ln>
        </p:spPr>
      </p:sp>
      <p:sp>
        <p:nvSpPr>
          <p:cNvPr id="11" name="Rule 11"/>
          <p:cNvSpPr txBox="0"/>
          <p:nvPr/>
        </p:nvSpPr>
        <p:spPr>
          <a:xfrm>
            <a:off x="1490067" y="2345234"/>
            <a:ext cx="880467" cy="9525"/>
          </a:xfrm>
          <a:prstGeom prst="rect">
            <a:avLst/>
          </a:prstGeom>
          <a:solidFill>
            <a:srgbClr val="000000"/>
          </a:solidFill>
          <a:ln>
            <a:noFill/>
          </a:ln>
        </p:spPr>
      </p:sp>
      <p:sp>
        <p:nvSpPr>
          <p:cNvPr id="12" name="Rule 12"/>
          <p:cNvSpPr txBox="0"/>
          <p:nvPr/>
        </p:nvSpPr>
        <p:spPr>
          <a:xfrm>
            <a:off x="2370534" y="2345234"/>
            <a:ext cx="880467" cy="9525"/>
          </a:xfrm>
          <a:prstGeom prst="rect">
            <a:avLst/>
          </a:prstGeom>
          <a:solidFill>
            <a:srgbClr val="000000"/>
          </a:solidFill>
          <a:ln>
            <a:noFill/>
          </a:ln>
        </p:spPr>
      </p:sp>
      <p:sp>
        <p:nvSpPr>
          <p:cNvPr id="13" name="Rule 13"/>
          <p:cNvSpPr txBox="0"/>
          <p:nvPr/>
        </p:nvSpPr>
        <p:spPr>
          <a:xfrm>
            <a:off x="3251002" y="2345234"/>
            <a:ext cx="880467" cy="9525"/>
          </a:xfrm>
          <a:prstGeom prst="rect">
            <a:avLst/>
          </a:prstGeom>
          <a:solidFill>
            <a:srgbClr val="000000"/>
          </a:solidFill>
          <a:ln>
            <a:noFill/>
          </a:ln>
        </p:spPr>
      </p:sp>
      <p:sp>
        <p:nvSpPr>
          <p:cNvPr id="14" name="Rule 14"/>
          <p:cNvSpPr txBox="0"/>
          <p:nvPr/>
        </p:nvSpPr>
        <p:spPr>
          <a:xfrm>
            <a:off x="4131469" y="2345234"/>
            <a:ext cx="880467" cy="9525"/>
          </a:xfrm>
          <a:prstGeom prst="rect">
            <a:avLst/>
          </a:prstGeom>
          <a:solidFill>
            <a:srgbClr val="000000"/>
          </a:solidFill>
          <a:ln>
            <a:noFill/>
          </a:ln>
        </p:spPr>
      </p:sp>
      <p:sp>
        <p:nvSpPr>
          <p:cNvPr id="15" name="Rule 15"/>
          <p:cNvSpPr txBox="0"/>
          <p:nvPr/>
        </p:nvSpPr>
        <p:spPr>
          <a:xfrm>
            <a:off x="5011936" y="2345234"/>
            <a:ext cx="880467" cy="9525"/>
          </a:xfrm>
          <a:prstGeom prst="rect">
            <a:avLst/>
          </a:prstGeom>
          <a:solidFill>
            <a:srgbClr val="000000"/>
          </a:solidFill>
          <a:ln>
            <a:noFill/>
          </a:ln>
        </p:spPr>
      </p:sp>
      <p:sp>
        <p:nvSpPr>
          <p:cNvPr id="16" name="Rule 16"/>
          <p:cNvSpPr txBox="0"/>
          <p:nvPr/>
        </p:nvSpPr>
        <p:spPr>
          <a:xfrm>
            <a:off x="5892403" y="2345234"/>
            <a:ext cx="880467" cy="9525"/>
          </a:xfrm>
          <a:prstGeom prst="rect">
            <a:avLst/>
          </a:prstGeom>
          <a:solidFill>
            <a:srgbClr val="000000"/>
          </a:solidFill>
          <a:ln>
            <a:noFill/>
          </a:ln>
        </p:spPr>
      </p:sp>
      <p:sp>
        <p:nvSpPr>
          <p:cNvPr id="17" name="Rule 17"/>
          <p:cNvSpPr txBox="0"/>
          <p:nvPr/>
        </p:nvSpPr>
        <p:spPr>
          <a:xfrm>
            <a:off x="6772870" y="2345234"/>
            <a:ext cx="880467" cy="9525"/>
          </a:xfrm>
          <a:prstGeom prst="rect">
            <a:avLst/>
          </a:prstGeom>
          <a:solidFill>
            <a:srgbClr val="000000"/>
          </a:solidFill>
          <a:ln>
            <a:noFill/>
          </a:ln>
        </p:spPr>
      </p:sp>
      <p:sp>
        <p:nvSpPr>
          <p:cNvPr id="18" name="Rule 18"/>
          <p:cNvSpPr txBox="0"/>
          <p:nvPr/>
        </p:nvSpPr>
        <p:spPr>
          <a:xfrm>
            <a:off x="7653338" y="2345234"/>
            <a:ext cx="881062" cy="9525"/>
          </a:xfrm>
          <a:prstGeom prst="rect">
            <a:avLst/>
          </a:prstGeom>
          <a:solidFill>
            <a:srgbClr val="000000"/>
          </a:solidFill>
          <a:ln>
            <a:noFill/>
          </a:ln>
        </p:spPr>
      </p:sp>
      <p:sp>
        <p:nvSpPr>
          <p:cNvPr id="19" name="Rule 19"/>
          <p:cNvSpPr txBox="0"/>
          <p:nvPr/>
        </p:nvSpPr>
        <p:spPr>
          <a:xfrm>
            <a:off x="609600" y="2680990"/>
            <a:ext cx="880467" cy="4762"/>
          </a:xfrm>
          <a:prstGeom prst="rect">
            <a:avLst/>
          </a:prstGeom>
          <a:solidFill>
            <a:srgbClr val="D0D0D0"/>
          </a:solidFill>
          <a:ln>
            <a:noFill/>
          </a:ln>
        </p:spPr>
      </p:sp>
      <p:sp>
        <p:nvSpPr>
          <p:cNvPr id="20" name="Rule 20"/>
          <p:cNvSpPr txBox="0"/>
          <p:nvPr/>
        </p:nvSpPr>
        <p:spPr>
          <a:xfrm>
            <a:off x="1490067" y="2680990"/>
            <a:ext cx="880467" cy="4762"/>
          </a:xfrm>
          <a:prstGeom prst="rect">
            <a:avLst/>
          </a:prstGeom>
          <a:solidFill>
            <a:srgbClr val="D0D0D0"/>
          </a:solidFill>
          <a:ln>
            <a:noFill/>
          </a:ln>
        </p:spPr>
      </p:sp>
      <p:sp>
        <p:nvSpPr>
          <p:cNvPr id="21" name="Rule 21"/>
          <p:cNvSpPr txBox="0"/>
          <p:nvPr/>
        </p:nvSpPr>
        <p:spPr>
          <a:xfrm>
            <a:off x="2370534" y="2680990"/>
            <a:ext cx="880467" cy="4762"/>
          </a:xfrm>
          <a:prstGeom prst="rect">
            <a:avLst/>
          </a:prstGeom>
          <a:solidFill>
            <a:srgbClr val="D0D0D0"/>
          </a:solidFill>
          <a:ln>
            <a:noFill/>
          </a:ln>
        </p:spPr>
      </p:sp>
      <p:sp>
        <p:nvSpPr>
          <p:cNvPr id="22" name="Rule 22"/>
          <p:cNvSpPr txBox="0"/>
          <p:nvPr/>
        </p:nvSpPr>
        <p:spPr>
          <a:xfrm>
            <a:off x="3251002" y="2680990"/>
            <a:ext cx="880467" cy="4762"/>
          </a:xfrm>
          <a:prstGeom prst="rect">
            <a:avLst/>
          </a:prstGeom>
          <a:solidFill>
            <a:srgbClr val="D0D0D0"/>
          </a:solidFill>
          <a:ln>
            <a:noFill/>
          </a:ln>
        </p:spPr>
      </p:sp>
      <p:sp>
        <p:nvSpPr>
          <p:cNvPr id="23" name="Rule 23"/>
          <p:cNvSpPr txBox="0"/>
          <p:nvPr/>
        </p:nvSpPr>
        <p:spPr>
          <a:xfrm>
            <a:off x="4131469" y="2680990"/>
            <a:ext cx="880467" cy="4762"/>
          </a:xfrm>
          <a:prstGeom prst="rect">
            <a:avLst/>
          </a:prstGeom>
          <a:solidFill>
            <a:srgbClr val="D0D0D0"/>
          </a:solidFill>
          <a:ln>
            <a:noFill/>
          </a:ln>
        </p:spPr>
      </p:sp>
      <p:sp>
        <p:nvSpPr>
          <p:cNvPr id="24" name="Rule 24"/>
          <p:cNvSpPr txBox="0"/>
          <p:nvPr/>
        </p:nvSpPr>
        <p:spPr>
          <a:xfrm>
            <a:off x="5011936" y="2680990"/>
            <a:ext cx="880467" cy="4762"/>
          </a:xfrm>
          <a:prstGeom prst="rect">
            <a:avLst/>
          </a:prstGeom>
          <a:solidFill>
            <a:srgbClr val="D0D0D0"/>
          </a:solidFill>
          <a:ln>
            <a:noFill/>
          </a:ln>
        </p:spPr>
      </p:sp>
      <p:sp>
        <p:nvSpPr>
          <p:cNvPr id="25" name="Rule 25"/>
          <p:cNvSpPr txBox="0"/>
          <p:nvPr/>
        </p:nvSpPr>
        <p:spPr>
          <a:xfrm>
            <a:off x="5892403" y="2680990"/>
            <a:ext cx="880467" cy="4762"/>
          </a:xfrm>
          <a:prstGeom prst="rect">
            <a:avLst/>
          </a:prstGeom>
          <a:solidFill>
            <a:srgbClr val="D0D0D0"/>
          </a:solidFill>
          <a:ln>
            <a:noFill/>
          </a:ln>
        </p:spPr>
      </p:sp>
      <p:sp>
        <p:nvSpPr>
          <p:cNvPr id="26" name="Rule 26"/>
          <p:cNvSpPr txBox="0"/>
          <p:nvPr/>
        </p:nvSpPr>
        <p:spPr>
          <a:xfrm>
            <a:off x="6772870" y="2680990"/>
            <a:ext cx="880467" cy="4762"/>
          </a:xfrm>
          <a:prstGeom prst="rect">
            <a:avLst/>
          </a:prstGeom>
          <a:solidFill>
            <a:srgbClr val="D0D0D0"/>
          </a:solidFill>
          <a:ln>
            <a:noFill/>
          </a:ln>
        </p:spPr>
      </p:sp>
      <p:sp>
        <p:nvSpPr>
          <p:cNvPr id="27" name="Rule 27"/>
          <p:cNvSpPr txBox="0"/>
          <p:nvPr/>
        </p:nvSpPr>
        <p:spPr>
          <a:xfrm>
            <a:off x="7653338" y="2680990"/>
            <a:ext cx="881062" cy="4762"/>
          </a:xfrm>
          <a:prstGeom prst="rect">
            <a:avLst/>
          </a:prstGeom>
          <a:solidFill>
            <a:srgbClr val="D0D0D0"/>
          </a:solidFill>
          <a:ln>
            <a:noFill/>
          </a:ln>
        </p:spPr>
      </p:sp>
      <p:sp>
        <p:nvSpPr>
          <p:cNvPr id="28" name="Text 28"/>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2</a:t>
            </a:r>
            <a:endParaRPr lang="en-US"/>
          </a:p>
        </p:txBody>
      </p:sp>
      <p:sp>
        <p:nvSpPr>
          <p:cNvPr id="29" name="Text 29"/>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Disclosure</a:t>
            </a:r>
            <a:endParaRPr lang="en-US"/>
          </a:p>
        </p:txBody>
      </p:sp>
      <p:sp>
        <p:nvSpPr>
          <p:cNvPr id="30" name="Text 30"/>
          <p:cNvSpPr txBox="1"/>
          <p:nvPr/>
        </p:nvSpPr>
        <p:spPr>
          <a:xfrm>
            <a:off x="680517" y="1195090"/>
            <a:ext cx="143842" cy="200025"/>
          </a:xfrm>
          <a:prstGeom prst="rect">
            <a:avLst/>
          </a:prstGeom>
          <a:noFill/>
          <a:ln>
            <a:noFill/>
          </a:ln>
        </p:spPr>
        <p:txBody>
          <a:bodyPr wrap="square" lIns="0" rIns="0" tIns="0" bIns="0" anchor="t"/>
          <a:lstStyle/>
          <a:p>
            <a:pPr algn="l">
              <a:lnSpc>
                <a:spcPts val="1425"/>
              </a:lnSpc>
              <a:spcBef>
                <a:spcPts val="0"/>
              </a:spcBef>
              <a:spcAft>
                <a:spcPts val="0"/>
              </a:spcAft>
              <a:buNone/>
            </a:pPr>
            <a:r>
              <a:rPr lang="en-US" sz="1425" b="1" i="0" spc="0">
                <a:solidFill>
                  <a:srgbClr val="000000"/>
                </a:solidFill>
                <a:latin typeface="Arial"/>
                <a:ea typeface="Arial"/>
                <a:cs typeface="Arial"/>
              </a:rPr>
              <a:t xml:space="preserve">×</a:t>
            </a:r>
            <a:endParaRPr lang="en-US"/>
          </a:p>
        </p:txBody>
      </p:sp>
      <p:sp>
        <p:nvSpPr>
          <p:cNvPr id="31" name="Text 31"/>
          <p:cNvSpPr txBox="1"/>
          <p:nvPr/>
        </p:nvSpPr>
        <p:spPr>
          <a:xfrm>
            <a:off x="990600" y="1149846"/>
            <a:ext cx="2354759" cy="290512"/>
          </a:xfrm>
          <a:prstGeom prst="rect">
            <a:avLst/>
          </a:prstGeom>
          <a:noFill/>
          <a:ln>
            <a:noFill/>
          </a:ln>
        </p:spPr>
        <p:txBody>
          <a:bodyPr wrap="square" lIns="0" rIns="0" tIns="0" bIns="0" anchor="t"/>
          <a:lstStyle/>
          <a:p>
            <a:pPr algn="l">
              <a:lnSpc>
                <a:spcPts val="2138"/>
              </a:lnSpc>
              <a:spcBef>
                <a:spcPts val="0"/>
              </a:spcBef>
              <a:spcAft>
                <a:spcPts val="0"/>
              </a:spcAft>
              <a:buNone/>
            </a:pPr>
            <a:r>
              <a:rPr lang="en-US" sz="1650" b="1" i="0" spc="0">
                <a:solidFill>
                  <a:srgbClr val="000000"/>
                </a:solidFill>
                <a:latin typeface="Arial"/>
                <a:ea typeface="Arial"/>
                <a:cs typeface="Arial"/>
              </a:rPr>
              <a:t xml:space="preserve">No, nothing to disclose</a:t>
            </a:r>
            <a:endParaRPr lang="en-US"/>
          </a:p>
        </p:txBody>
      </p:sp>
      <p:sp>
        <p:nvSpPr>
          <p:cNvPr id="32" name="Text 32"/>
          <p:cNvSpPr txBox="1"/>
          <p:nvPr/>
        </p:nvSpPr>
        <p:spPr>
          <a:xfrm>
            <a:off x="990600" y="1526084"/>
            <a:ext cx="1824335" cy="290512"/>
          </a:xfrm>
          <a:prstGeom prst="rect">
            <a:avLst/>
          </a:prstGeom>
          <a:noFill/>
          <a:ln>
            <a:noFill/>
          </a:ln>
        </p:spPr>
        <p:txBody>
          <a:bodyPr wrap="square" lIns="0" rIns="0" tIns="0" bIns="0" anchor="t"/>
          <a:lstStyle/>
          <a:p>
            <a:pPr algn="l">
              <a:lnSpc>
                <a:spcPts val="2138"/>
              </a:lnSpc>
              <a:spcBef>
                <a:spcPts val="0"/>
              </a:spcBef>
              <a:spcAft>
                <a:spcPts val="0"/>
              </a:spcAft>
              <a:buNone/>
            </a:pPr>
            <a:r>
              <a:rPr lang="en-US" sz="1650" b="0" i="0" spc="0">
                <a:solidFill>
                  <a:srgbClr val="555555"/>
                </a:solidFill>
                <a:latin typeface="Arial"/>
                <a:ea typeface="Arial"/>
                <a:cs typeface="Arial"/>
              </a:rPr>
              <a:t xml:space="preserve">Yes, please specify</a:t>
            </a:r>
            <a:endParaRPr lang="en-US"/>
          </a:p>
        </p:txBody>
      </p:sp>
      <p:sp>
        <p:nvSpPr>
          <p:cNvPr id="33" name="Text 33"/>
          <p:cNvSpPr txBox="1"/>
          <p:nvPr/>
        </p:nvSpPr>
        <p:spPr>
          <a:xfrm>
            <a:off x="609600"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Company</a:t>
            </a:r>
            <a:endParaRPr lang="en-US"/>
          </a:p>
        </p:txBody>
      </p:sp>
      <p:sp>
        <p:nvSpPr>
          <p:cNvPr id="34" name="Text 34"/>
          <p:cNvSpPr txBox="1"/>
          <p:nvPr/>
        </p:nvSpPr>
        <p:spPr>
          <a:xfrm>
            <a:off x="1490067"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Honoraria / expenses</a:t>
            </a:r>
            <a:endParaRPr lang="en-US"/>
          </a:p>
        </p:txBody>
      </p:sp>
      <p:sp>
        <p:nvSpPr>
          <p:cNvPr id="35" name="Text 35"/>
          <p:cNvSpPr txBox="1"/>
          <p:nvPr/>
        </p:nvSpPr>
        <p:spPr>
          <a:xfrm>
            <a:off x="2370534"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Consulting / advisory</a:t>
            </a:r>
            <a:endParaRPr lang="en-US"/>
          </a:p>
        </p:txBody>
      </p:sp>
      <p:sp>
        <p:nvSpPr>
          <p:cNvPr id="36" name="Text 36"/>
          <p:cNvSpPr txBox="1"/>
          <p:nvPr/>
        </p:nvSpPr>
        <p:spPr>
          <a:xfrm>
            <a:off x="3251002"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Funded research</a:t>
            </a:r>
            <a:endParaRPr lang="en-US"/>
          </a:p>
        </p:txBody>
      </p:sp>
      <p:sp>
        <p:nvSpPr>
          <p:cNvPr id="37" name="Text 37"/>
          <p:cNvSpPr txBox="1"/>
          <p:nvPr/>
        </p:nvSpPr>
        <p:spPr>
          <a:xfrm>
            <a:off x="4131469"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Royalties / patent</a:t>
            </a:r>
            <a:endParaRPr lang="en-US"/>
          </a:p>
        </p:txBody>
      </p:sp>
      <p:sp>
        <p:nvSpPr>
          <p:cNvPr id="38" name="Text 38"/>
          <p:cNvSpPr txBox="1"/>
          <p:nvPr/>
        </p:nvSpPr>
        <p:spPr>
          <a:xfrm>
            <a:off x="5011936"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Stock options</a:t>
            </a:r>
            <a:endParaRPr lang="en-US"/>
          </a:p>
        </p:txBody>
      </p:sp>
      <p:sp>
        <p:nvSpPr>
          <p:cNvPr id="39" name="Text 39"/>
          <p:cNvSpPr txBox="1"/>
          <p:nvPr/>
        </p:nvSpPr>
        <p:spPr>
          <a:xfrm>
            <a:off x="5892403"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Ownership / equity</a:t>
            </a:r>
            <a:endParaRPr lang="en-US"/>
          </a:p>
        </p:txBody>
      </p:sp>
      <p:sp>
        <p:nvSpPr>
          <p:cNvPr id="40" name="Text 40"/>
          <p:cNvSpPr txBox="1"/>
          <p:nvPr/>
        </p:nvSpPr>
        <p:spPr>
          <a:xfrm>
            <a:off x="6772870" y="1988046"/>
            <a:ext cx="842367"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Employee</a:t>
            </a:r>
            <a:endParaRPr lang="en-US"/>
          </a:p>
        </p:txBody>
      </p:sp>
      <p:sp>
        <p:nvSpPr>
          <p:cNvPr id="41" name="Text 41"/>
          <p:cNvSpPr txBox="1"/>
          <p:nvPr/>
        </p:nvSpPr>
        <p:spPr>
          <a:xfrm>
            <a:off x="7653338" y="1988046"/>
            <a:ext cx="842962" cy="319088"/>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Other</a:t>
            </a:r>
            <a:endParaRPr lang="en-US"/>
          </a:p>
        </p:txBody>
      </p:sp>
      <p:sp>
        <p:nvSpPr>
          <p:cNvPr id="42" name="Text 42"/>
          <p:cNvSpPr txBox="1"/>
          <p:nvPr/>
        </p:nvSpPr>
        <p:spPr>
          <a:xfrm>
            <a:off x="609600" y="2430959"/>
            <a:ext cx="842367" cy="192881"/>
          </a:xfrm>
          <a:prstGeom prst="rect">
            <a:avLst/>
          </a:prstGeom>
          <a:noFill/>
          <a:ln>
            <a:noFill/>
          </a:ln>
        </p:spPr>
        <p:txBody>
          <a:bodyPr wrap="square" lIns="0" rIns="0" tIns="0" bIns="0" anchor="t"/>
          <a:lstStyle/>
          <a:p>
            <a:pPr algn="l">
              <a:lnSpc>
                <a:spcPts val="1350"/>
              </a:lnSpc>
              <a:spcBef>
                <a:spcPts val="0"/>
              </a:spcBef>
              <a:spcAft>
                <a:spcPts val="0"/>
              </a:spcAft>
              <a:buNone/>
            </a:pPr>
            <a:r>
              <a:rPr lang="en-US" sz="1125" b="0" i="0" spc="0">
                <a:solidFill>
                  <a:srgbClr val="000000"/>
                </a:solidFill>
                <a:latin typeface="Arial"/>
                <a:ea typeface="Arial"/>
                <a:cs typeface="Arial"/>
              </a:rPr>
              <a:t xml:space="preserve">None</a:t>
            </a:r>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llustration 2" descr="Conceptual stroke imaging, lesion analysis, network mapping and shared materials"/>
          <p:cNvPicPr>
            <a:picLocks noChangeAspect="1"/>
          </p:cNvPicPr>
          <p:nvPr/>
        </p:nvPicPr>
        <p:blipFill>
          <a:blip r:embed="rIdV6Image2"/>
          <a:stretch>
            <a:fillRect/>
          </a:stretch>
        </p:blipFill>
        <p:spPr>
          <a:xfrm>
            <a:off x="2160282" y="1064121"/>
            <a:ext cx="4823436" cy="2714625"/>
          </a:xfrm>
          <a:prstGeom prst="rect">
            <a:avLst/>
          </a:prstGeom>
        </p:spPr>
      </p:pic>
      <p:sp>
        <p:nvSpPr>
          <p:cNvPr id="3" name="Text 3"/>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References 1–13</a:t>
            </a:r>
            <a:endParaRPr lang="en-US"/>
          </a:p>
        </p:txBody>
      </p:sp>
      <p:sp>
        <p:nvSpPr>
          <p:cNvPr id="4" name="Text 4"/>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3</a:t>
            </a:r>
            <a:endParaRPr lang="en-US"/>
          </a:p>
        </p:txBody>
      </p:sp>
      <p:sp>
        <p:nvSpPr>
          <p:cNvPr id="5" name="Text 5"/>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Open tools shaped my stroke research</a:t>
            </a:r>
            <a:endParaRPr lang="en-US"/>
          </a:p>
        </p:txBody>
      </p:sp>
      <p:sp>
        <p:nvSpPr>
          <p:cNvPr id="6" name="Text 6"/>
          <p:cNvSpPr txBox="1"/>
          <p:nvPr/>
        </p:nvSpPr>
        <p:spPr>
          <a:xfrm>
            <a:off x="609600" y="3883521"/>
            <a:ext cx="7962900" cy="290512"/>
          </a:xfrm>
          <a:prstGeom prst="rect">
            <a:avLst/>
          </a:prstGeom>
          <a:noFill/>
          <a:ln>
            <a:noFill/>
          </a:ln>
        </p:spPr>
        <p:txBody>
          <a:bodyPr wrap="square" lIns="0" rIns="0" tIns="0" bIns="0" anchor="t"/>
          <a:lstStyle/>
          <a:p>
            <a:pPr algn="l">
              <a:lnSpc>
                <a:spcPts val="2138"/>
              </a:lnSpc>
              <a:spcBef>
                <a:spcPts val="0"/>
              </a:spcBef>
              <a:spcAft>
                <a:spcPts val="0"/>
              </a:spcAft>
              <a:buNone/>
            </a:pPr>
            <a:r>
              <a:rPr lang="en-US" sz="1650" b="1" i="0" spc="0">
                <a:solidFill>
                  <a:srgbClr val="000000"/>
                </a:solidFill>
                <a:latin typeface="Arial"/>
                <a:ea typeface="Arial"/>
                <a:cs typeface="Arial"/>
              </a:rPr>
              <a:t xml:space="preserve">Open imaging tools. Reusable lesion datasets.</a:t>
            </a:r>
            <a:endParaRPr lang="en-US"/>
          </a:p>
        </p:txBody>
      </p:sp>
      <p:sp>
        <p:nvSpPr>
          <p:cNvPr id="7" name="Text 7"/>
          <p:cNvSpPr txBox="1"/>
          <p:nvPr/>
        </p:nvSpPr>
        <p:spPr>
          <a:xfrm>
            <a:off x="609600" y="4259759"/>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333333"/>
                </a:solidFill>
                <a:latin typeface="Arial"/>
                <a:ea typeface="Arial"/>
                <a:cs typeface="Arial"/>
              </a:rPr>
              <a:t xml:space="preserve">Sharing enables independent checks.</a:t>
            </a:r>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llustration 2" descr="Same data and code reanalysed; independent participants assessed for the same question"/>
          <p:cNvPicPr>
            <a:picLocks noChangeAspect="1"/>
          </p:cNvPicPr>
          <p:nvPr/>
        </p:nvPicPr>
        <p:blipFill>
          <a:blip r:embed="rIdV6Image2"/>
          <a:stretch>
            <a:fillRect/>
          </a:stretch>
        </p:blipFill>
        <p:spPr>
          <a:xfrm>
            <a:off x="2287215" y="1054596"/>
            <a:ext cx="4569571" cy="2571750"/>
          </a:xfrm>
          <a:prstGeom prst="rect">
            <a:avLst/>
          </a:prstGeom>
        </p:spPr>
      </p:pic>
      <p:sp>
        <p:nvSpPr>
          <p:cNvPr id="3" name="Text 3"/>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14</a:t>
            </a:r>
            <a:endParaRPr lang="en-US"/>
          </a:p>
        </p:txBody>
      </p:sp>
      <p:sp>
        <p:nvSpPr>
          <p:cNvPr id="4" name="Text 4"/>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4</a:t>
            </a:r>
            <a:endParaRPr lang="en-US"/>
          </a:p>
        </p:txBody>
      </p:sp>
      <p:sp>
        <p:nvSpPr>
          <p:cNvPr id="5" name="Text 5"/>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Reproducibility and replication</a:t>
            </a:r>
            <a:endParaRPr lang="en-US"/>
          </a:p>
        </p:txBody>
      </p:sp>
      <p:sp>
        <p:nvSpPr>
          <p:cNvPr id="6" name="Text 6"/>
          <p:cNvSpPr txBox="1"/>
          <p:nvPr/>
        </p:nvSpPr>
        <p:spPr>
          <a:xfrm>
            <a:off x="590550" y="3721596"/>
            <a:ext cx="3762375" cy="304800"/>
          </a:xfrm>
          <a:prstGeom prst="rect">
            <a:avLst/>
          </a:prstGeom>
          <a:noFill/>
          <a:ln>
            <a:noFill/>
          </a:ln>
        </p:spPr>
        <p:txBody>
          <a:bodyPr wrap="square" lIns="0" rIns="0" tIns="0" bIns="0" anchor="t"/>
          <a:lstStyle/>
          <a:p>
            <a:pPr algn="ctr">
              <a:lnSpc>
                <a:spcPts val="2250"/>
              </a:lnSpc>
              <a:spcBef>
                <a:spcPts val="0"/>
              </a:spcBef>
              <a:spcAft>
                <a:spcPts val="0"/>
              </a:spcAft>
              <a:buNone/>
            </a:pPr>
            <a:r>
              <a:rPr lang="en-US" sz="1725" b="1" i="0" spc="0">
                <a:solidFill>
                  <a:srgbClr val="000000"/>
                </a:solidFill>
                <a:latin typeface="Arial"/>
                <a:ea typeface="Arial"/>
                <a:cs typeface="Arial"/>
              </a:rPr>
              <a:t xml:space="preserve">Reproducibility</a:t>
            </a:r>
            <a:endParaRPr lang="en-US"/>
          </a:p>
        </p:txBody>
      </p:sp>
      <p:sp>
        <p:nvSpPr>
          <p:cNvPr id="7" name="Text 7"/>
          <p:cNvSpPr txBox="1"/>
          <p:nvPr/>
        </p:nvSpPr>
        <p:spPr>
          <a:xfrm>
            <a:off x="590550" y="4007346"/>
            <a:ext cx="3762375" cy="266700"/>
          </a:xfrm>
          <a:prstGeom prst="rect">
            <a:avLst/>
          </a:prstGeom>
          <a:noFill/>
          <a:ln>
            <a:noFill/>
          </a:ln>
        </p:spPr>
        <p:txBody>
          <a:bodyPr wrap="square" lIns="0" rIns="0" tIns="0" bIns="0" anchor="t"/>
          <a:lstStyle/>
          <a:p>
            <a:pPr algn="ctr">
              <a:lnSpc>
                <a:spcPts val="1950"/>
              </a:lnSpc>
              <a:spcBef>
                <a:spcPts val="0"/>
              </a:spcBef>
              <a:spcAft>
                <a:spcPts val="0"/>
              </a:spcAft>
              <a:buNone/>
            </a:pPr>
            <a:r>
              <a:rPr lang="en-US" sz="1500" b="0" i="0" spc="0">
                <a:solidFill>
                  <a:srgbClr val="333333"/>
                </a:solidFill>
                <a:latin typeface="Arial"/>
                <a:ea typeface="Arial"/>
                <a:cs typeface="Arial"/>
              </a:rPr>
              <a:t xml:space="preserve">Same data, same analysis.</a:t>
            </a:r>
            <a:endParaRPr lang="en-US"/>
          </a:p>
        </p:txBody>
      </p:sp>
      <p:sp>
        <p:nvSpPr>
          <p:cNvPr id="8" name="Text 8"/>
          <p:cNvSpPr txBox="1"/>
          <p:nvPr/>
        </p:nvSpPr>
        <p:spPr>
          <a:xfrm>
            <a:off x="4791075" y="3721596"/>
            <a:ext cx="3762375" cy="304800"/>
          </a:xfrm>
          <a:prstGeom prst="rect">
            <a:avLst/>
          </a:prstGeom>
          <a:noFill/>
          <a:ln>
            <a:noFill/>
          </a:ln>
        </p:spPr>
        <p:txBody>
          <a:bodyPr wrap="square" lIns="0" rIns="0" tIns="0" bIns="0" anchor="t"/>
          <a:lstStyle/>
          <a:p>
            <a:pPr algn="ctr">
              <a:lnSpc>
                <a:spcPts val="2250"/>
              </a:lnSpc>
              <a:spcBef>
                <a:spcPts val="0"/>
              </a:spcBef>
              <a:spcAft>
                <a:spcPts val="0"/>
              </a:spcAft>
              <a:buNone/>
            </a:pPr>
            <a:r>
              <a:rPr lang="en-US" sz="1725" b="1" i="0" spc="0">
                <a:solidFill>
                  <a:srgbClr val="000000"/>
                </a:solidFill>
                <a:latin typeface="Arial"/>
                <a:ea typeface="Arial"/>
                <a:cs typeface="Arial"/>
              </a:rPr>
              <a:t xml:space="preserve">Replication</a:t>
            </a:r>
            <a:endParaRPr lang="en-US"/>
          </a:p>
        </p:txBody>
      </p:sp>
      <p:sp>
        <p:nvSpPr>
          <p:cNvPr id="9" name="Text 9"/>
          <p:cNvSpPr txBox="1"/>
          <p:nvPr/>
        </p:nvSpPr>
        <p:spPr>
          <a:xfrm>
            <a:off x="4791075" y="4007346"/>
            <a:ext cx="3762375" cy="266700"/>
          </a:xfrm>
          <a:prstGeom prst="rect">
            <a:avLst/>
          </a:prstGeom>
          <a:noFill/>
          <a:ln>
            <a:noFill/>
          </a:ln>
        </p:spPr>
        <p:txBody>
          <a:bodyPr wrap="square" lIns="0" rIns="0" tIns="0" bIns="0" anchor="t"/>
          <a:lstStyle/>
          <a:p>
            <a:pPr algn="ctr">
              <a:lnSpc>
                <a:spcPts val="1950"/>
              </a:lnSpc>
              <a:spcBef>
                <a:spcPts val="0"/>
              </a:spcBef>
              <a:spcAft>
                <a:spcPts val="0"/>
              </a:spcAft>
              <a:buNone/>
            </a:pPr>
            <a:r>
              <a:rPr lang="en-US" sz="1500" b="0" i="0" spc="0">
                <a:solidFill>
                  <a:srgbClr val="333333"/>
                </a:solidFill>
                <a:latin typeface="Arial"/>
                <a:ea typeface="Arial"/>
                <a:cs typeface="Arial"/>
              </a:rPr>
              <a:t xml:space="preserve">New data, same question.</a:t>
            </a:r>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2714625" y="1549896"/>
            <a:ext cx="114300" cy="114300"/>
          </a:xfrm>
          <a:prstGeom prst="ellipse">
            <a:avLst/>
          </a:prstGeom>
          <a:solidFill>
            <a:srgbClr val="D7263D"/>
          </a:solidFill>
          <a:ln>
            <a:noFill/>
          </a:ln>
        </p:spPr>
      </p:sp>
      <p:sp>
        <p:nvSpPr>
          <p:cNvPr id="3" name="Data mark 3"/>
          <p:cNvSpPr txBox="0"/>
          <p:nvPr/>
        </p:nvSpPr>
        <p:spPr>
          <a:xfrm>
            <a:off x="2886075" y="1549896"/>
            <a:ext cx="114300" cy="114300"/>
          </a:xfrm>
          <a:prstGeom prst="ellipse">
            <a:avLst/>
          </a:prstGeom>
          <a:solidFill>
            <a:srgbClr val="D7263D"/>
          </a:solidFill>
          <a:ln>
            <a:noFill/>
          </a:ln>
        </p:spPr>
      </p:sp>
      <p:sp>
        <p:nvSpPr>
          <p:cNvPr id="4" name="Data mark 4"/>
          <p:cNvSpPr txBox="0"/>
          <p:nvPr/>
        </p:nvSpPr>
        <p:spPr>
          <a:xfrm>
            <a:off x="3057525" y="1549896"/>
            <a:ext cx="114300" cy="114300"/>
          </a:xfrm>
          <a:prstGeom prst="ellipse">
            <a:avLst/>
          </a:prstGeom>
          <a:solidFill>
            <a:srgbClr val="D7263D"/>
          </a:solidFill>
          <a:ln>
            <a:noFill/>
          </a:ln>
        </p:spPr>
      </p:sp>
      <p:sp>
        <p:nvSpPr>
          <p:cNvPr id="5" name="Data mark 5"/>
          <p:cNvSpPr txBox="0"/>
          <p:nvPr/>
        </p:nvSpPr>
        <p:spPr>
          <a:xfrm>
            <a:off x="3228975" y="1549896"/>
            <a:ext cx="114300" cy="114300"/>
          </a:xfrm>
          <a:prstGeom prst="ellipse">
            <a:avLst/>
          </a:prstGeom>
          <a:solidFill>
            <a:srgbClr val="D7263D"/>
          </a:solidFill>
          <a:ln>
            <a:noFill/>
          </a:ln>
        </p:spPr>
      </p:sp>
      <p:sp>
        <p:nvSpPr>
          <p:cNvPr id="6" name="Data mark 6"/>
          <p:cNvSpPr txBox="0"/>
          <p:nvPr/>
        </p:nvSpPr>
        <p:spPr>
          <a:xfrm>
            <a:off x="3400425" y="1549896"/>
            <a:ext cx="114300" cy="114300"/>
          </a:xfrm>
          <a:prstGeom prst="ellipse">
            <a:avLst/>
          </a:prstGeom>
          <a:solidFill>
            <a:srgbClr val="D7263D"/>
          </a:solidFill>
          <a:ln>
            <a:noFill/>
          </a:ln>
        </p:spPr>
      </p:sp>
      <p:sp>
        <p:nvSpPr>
          <p:cNvPr id="7" name="Data mark 7"/>
          <p:cNvSpPr txBox="0"/>
          <p:nvPr/>
        </p:nvSpPr>
        <p:spPr>
          <a:xfrm>
            <a:off x="3571875" y="1549896"/>
            <a:ext cx="114300" cy="114300"/>
          </a:xfrm>
          <a:prstGeom prst="ellipse">
            <a:avLst/>
          </a:prstGeom>
          <a:solidFill>
            <a:srgbClr val="D7263D"/>
          </a:solidFill>
          <a:ln>
            <a:noFill/>
          </a:ln>
        </p:spPr>
      </p:sp>
      <p:sp>
        <p:nvSpPr>
          <p:cNvPr id="8" name="Data mark 8"/>
          <p:cNvSpPr txBox="0"/>
          <p:nvPr/>
        </p:nvSpPr>
        <p:spPr>
          <a:xfrm>
            <a:off x="3743325" y="1549896"/>
            <a:ext cx="114300" cy="114300"/>
          </a:xfrm>
          <a:prstGeom prst="ellipse">
            <a:avLst/>
          </a:prstGeom>
          <a:solidFill>
            <a:srgbClr val="D7263D"/>
          </a:solidFill>
          <a:ln>
            <a:noFill/>
          </a:ln>
        </p:spPr>
      </p:sp>
      <p:sp>
        <p:nvSpPr>
          <p:cNvPr id="9" name="Data mark 9"/>
          <p:cNvSpPr txBox="0"/>
          <p:nvPr/>
        </p:nvSpPr>
        <p:spPr>
          <a:xfrm>
            <a:off x="3914775" y="1549896"/>
            <a:ext cx="114300" cy="114300"/>
          </a:xfrm>
          <a:prstGeom prst="ellipse">
            <a:avLst/>
          </a:prstGeom>
          <a:solidFill>
            <a:srgbClr val="D7263D"/>
          </a:solidFill>
          <a:ln>
            <a:noFill/>
          </a:ln>
        </p:spPr>
      </p:sp>
      <p:sp>
        <p:nvSpPr>
          <p:cNvPr id="10" name="Data mark 10"/>
          <p:cNvSpPr txBox="0"/>
          <p:nvPr/>
        </p:nvSpPr>
        <p:spPr>
          <a:xfrm>
            <a:off x="4086225" y="1549896"/>
            <a:ext cx="114300" cy="114300"/>
          </a:xfrm>
          <a:prstGeom prst="ellipse">
            <a:avLst/>
          </a:prstGeom>
          <a:solidFill>
            <a:srgbClr val="D7263D"/>
          </a:solidFill>
          <a:ln>
            <a:noFill/>
          </a:ln>
        </p:spPr>
      </p:sp>
      <p:sp>
        <p:nvSpPr>
          <p:cNvPr id="11" name="Data mark 11"/>
          <p:cNvSpPr txBox="0"/>
          <p:nvPr/>
        </p:nvSpPr>
        <p:spPr>
          <a:xfrm>
            <a:off x="4257675" y="1549896"/>
            <a:ext cx="114300" cy="114300"/>
          </a:xfrm>
          <a:prstGeom prst="ellipse">
            <a:avLst/>
          </a:prstGeom>
          <a:solidFill>
            <a:srgbClr val="D7263D"/>
          </a:solidFill>
          <a:ln>
            <a:noFill/>
          </a:ln>
        </p:spPr>
      </p:sp>
      <p:sp>
        <p:nvSpPr>
          <p:cNvPr id="12" name="Data mark 12"/>
          <p:cNvSpPr txBox="0"/>
          <p:nvPr/>
        </p:nvSpPr>
        <p:spPr>
          <a:xfrm>
            <a:off x="4429125" y="1549896"/>
            <a:ext cx="114300" cy="114300"/>
          </a:xfrm>
          <a:prstGeom prst="ellipse">
            <a:avLst/>
          </a:prstGeom>
          <a:solidFill>
            <a:srgbClr val="D7263D"/>
          </a:solidFill>
          <a:ln>
            <a:noFill/>
          </a:ln>
        </p:spPr>
      </p:sp>
      <p:sp>
        <p:nvSpPr>
          <p:cNvPr id="13" name="Data mark 13"/>
          <p:cNvSpPr txBox="0"/>
          <p:nvPr/>
        </p:nvSpPr>
        <p:spPr>
          <a:xfrm>
            <a:off x="4600575" y="1549896"/>
            <a:ext cx="114300" cy="114300"/>
          </a:xfrm>
          <a:prstGeom prst="ellipse">
            <a:avLst/>
          </a:prstGeom>
          <a:solidFill>
            <a:srgbClr val="D7263D"/>
          </a:solidFill>
          <a:ln>
            <a:noFill/>
          </a:ln>
        </p:spPr>
      </p:sp>
      <p:sp>
        <p:nvSpPr>
          <p:cNvPr id="14" name="Data mark 14"/>
          <p:cNvSpPr txBox="0"/>
          <p:nvPr/>
        </p:nvSpPr>
        <p:spPr>
          <a:xfrm>
            <a:off x="4772025" y="1549896"/>
            <a:ext cx="114300" cy="114300"/>
          </a:xfrm>
          <a:prstGeom prst="ellipse">
            <a:avLst/>
          </a:prstGeom>
          <a:solidFill>
            <a:srgbClr val="D7263D"/>
          </a:solidFill>
          <a:ln>
            <a:noFill/>
          </a:ln>
        </p:spPr>
      </p:sp>
      <p:sp>
        <p:nvSpPr>
          <p:cNvPr id="15" name="Data mark 15"/>
          <p:cNvSpPr txBox="0"/>
          <p:nvPr/>
        </p:nvSpPr>
        <p:spPr>
          <a:xfrm>
            <a:off x="4943475" y="1549896"/>
            <a:ext cx="114300" cy="114300"/>
          </a:xfrm>
          <a:prstGeom prst="ellipse">
            <a:avLst/>
          </a:prstGeom>
          <a:solidFill>
            <a:srgbClr val="D7263D"/>
          </a:solidFill>
          <a:ln>
            <a:noFill/>
          </a:ln>
        </p:spPr>
      </p:sp>
      <p:sp>
        <p:nvSpPr>
          <p:cNvPr id="16" name="Data mark 16"/>
          <p:cNvSpPr txBox="0"/>
          <p:nvPr/>
        </p:nvSpPr>
        <p:spPr>
          <a:xfrm>
            <a:off x="5114925" y="1549896"/>
            <a:ext cx="114300" cy="114300"/>
          </a:xfrm>
          <a:prstGeom prst="ellipse">
            <a:avLst/>
          </a:prstGeom>
          <a:solidFill>
            <a:srgbClr val="D7263D"/>
          </a:solidFill>
          <a:ln>
            <a:noFill/>
          </a:ln>
        </p:spPr>
      </p:sp>
      <p:sp>
        <p:nvSpPr>
          <p:cNvPr id="17" name="Data mark 17"/>
          <p:cNvSpPr txBox="0"/>
          <p:nvPr/>
        </p:nvSpPr>
        <p:spPr>
          <a:xfrm>
            <a:off x="5286375" y="1549896"/>
            <a:ext cx="114300" cy="114300"/>
          </a:xfrm>
          <a:prstGeom prst="ellipse">
            <a:avLst/>
          </a:prstGeom>
          <a:solidFill>
            <a:srgbClr val="D7263D"/>
          </a:solidFill>
          <a:ln>
            <a:noFill/>
          </a:ln>
        </p:spPr>
      </p:sp>
      <p:sp>
        <p:nvSpPr>
          <p:cNvPr id="18" name="Data mark 18"/>
          <p:cNvSpPr txBox="0"/>
          <p:nvPr/>
        </p:nvSpPr>
        <p:spPr>
          <a:xfrm>
            <a:off x="5457825" y="1549896"/>
            <a:ext cx="114300" cy="114300"/>
          </a:xfrm>
          <a:prstGeom prst="ellipse">
            <a:avLst/>
          </a:prstGeom>
          <a:solidFill>
            <a:srgbClr val="D7263D"/>
          </a:solidFill>
          <a:ln>
            <a:noFill/>
          </a:ln>
        </p:spPr>
      </p:sp>
      <p:sp>
        <p:nvSpPr>
          <p:cNvPr id="19" name="Data mark 19"/>
          <p:cNvSpPr txBox="0"/>
          <p:nvPr/>
        </p:nvSpPr>
        <p:spPr>
          <a:xfrm>
            <a:off x="5629275" y="1549896"/>
            <a:ext cx="114300" cy="114300"/>
          </a:xfrm>
          <a:prstGeom prst="ellipse">
            <a:avLst/>
          </a:prstGeom>
          <a:solidFill>
            <a:srgbClr val="D7263D"/>
          </a:solidFill>
          <a:ln>
            <a:noFill/>
          </a:ln>
        </p:spPr>
      </p:sp>
      <p:sp>
        <p:nvSpPr>
          <p:cNvPr id="20" name="Data mark 20"/>
          <p:cNvSpPr txBox="0"/>
          <p:nvPr/>
        </p:nvSpPr>
        <p:spPr>
          <a:xfrm>
            <a:off x="5800725" y="1549896"/>
            <a:ext cx="114300" cy="114300"/>
          </a:xfrm>
          <a:prstGeom prst="ellipse">
            <a:avLst/>
          </a:prstGeom>
          <a:solidFill>
            <a:srgbClr val="D7263D"/>
          </a:solidFill>
          <a:ln>
            <a:noFill/>
          </a:ln>
        </p:spPr>
      </p:sp>
      <p:sp>
        <p:nvSpPr>
          <p:cNvPr id="21" name="Data mark 21"/>
          <p:cNvSpPr txBox="0"/>
          <p:nvPr/>
        </p:nvSpPr>
        <p:spPr>
          <a:xfrm>
            <a:off x="5972175" y="1549896"/>
            <a:ext cx="114300" cy="114300"/>
          </a:xfrm>
          <a:prstGeom prst="ellipse">
            <a:avLst/>
          </a:prstGeom>
          <a:solidFill>
            <a:srgbClr val="D7263D"/>
          </a:solidFill>
          <a:ln>
            <a:noFill/>
          </a:ln>
        </p:spPr>
      </p:sp>
      <p:sp>
        <p:nvSpPr>
          <p:cNvPr id="22" name="Data mark 22"/>
          <p:cNvSpPr txBox="0"/>
          <p:nvPr/>
        </p:nvSpPr>
        <p:spPr>
          <a:xfrm>
            <a:off x="6143625" y="1549896"/>
            <a:ext cx="114300" cy="114300"/>
          </a:xfrm>
          <a:prstGeom prst="ellipse">
            <a:avLst/>
          </a:prstGeom>
          <a:solidFill>
            <a:srgbClr val="D7263D"/>
          </a:solidFill>
          <a:ln>
            <a:noFill/>
          </a:ln>
        </p:spPr>
      </p:sp>
      <p:sp>
        <p:nvSpPr>
          <p:cNvPr id="23" name="Data mark 23"/>
          <p:cNvSpPr txBox="0"/>
          <p:nvPr/>
        </p:nvSpPr>
        <p:spPr>
          <a:xfrm>
            <a:off x="6315075" y="1549896"/>
            <a:ext cx="114300" cy="114300"/>
          </a:xfrm>
          <a:prstGeom prst="ellipse">
            <a:avLst/>
          </a:prstGeom>
          <a:solidFill>
            <a:srgbClr val="D7263D"/>
          </a:solidFill>
          <a:ln>
            <a:noFill/>
          </a:ln>
        </p:spPr>
      </p:sp>
      <p:sp>
        <p:nvSpPr>
          <p:cNvPr id="24" name="Data mark 24"/>
          <p:cNvSpPr txBox="0"/>
          <p:nvPr/>
        </p:nvSpPr>
        <p:spPr>
          <a:xfrm>
            <a:off x="2714625" y="1721346"/>
            <a:ext cx="114300" cy="114300"/>
          </a:xfrm>
          <a:prstGeom prst="ellipse">
            <a:avLst/>
          </a:prstGeom>
          <a:solidFill>
            <a:srgbClr val="D7263D"/>
          </a:solidFill>
          <a:ln>
            <a:noFill/>
          </a:ln>
        </p:spPr>
      </p:sp>
      <p:sp>
        <p:nvSpPr>
          <p:cNvPr id="25" name="Data mark 25"/>
          <p:cNvSpPr txBox="0"/>
          <p:nvPr/>
        </p:nvSpPr>
        <p:spPr>
          <a:xfrm>
            <a:off x="2886075" y="1721346"/>
            <a:ext cx="114300" cy="114300"/>
          </a:xfrm>
          <a:prstGeom prst="ellipse">
            <a:avLst/>
          </a:prstGeom>
          <a:solidFill>
            <a:srgbClr val="D7263D"/>
          </a:solidFill>
          <a:ln>
            <a:noFill/>
          </a:ln>
        </p:spPr>
      </p:sp>
      <p:sp>
        <p:nvSpPr>
          <p:cNvPr id="26" name="Data mark 26"/>
          <p:cNvSpPr txBox="0"/>
          <p:nvPr/>
        </p:nvSpPr>
        <p:spPr>
          <a:xfrm>
            <a:off x="3057525" y="1721346"/>
            <a:ext cx="114300" cy="114300"/>
          </a:xfrm>
          <a:prstGeom prst="ellipse">
            <a:avLst/>
          </a:prstGeom>
          <a:solidFill>
            <a:srgbClr val="D7263D"/>
          </a:solidFill>
          <a:ln>
            <a:noFill/>
          </a:ln>
        </p:spPr>
      </p:sp>
      <p:sp>
        <p:nvSpPr>
          <p:cNvPr id="27" name="Data mark 27"/>
          <p:cNvSpPr txBox="0"/>
          <p:nvPr/>
        </p:nvSpPr>
        <p:spPr>
          <a:xfrm>
            <a:off x="3228975" y="1721346"/>
            <a:ext cx="114300" cy="114300"/>
          </a:xfrm>
          <a:prstGeom prst="ellipse">
            <a:avLst/>
          </a:prstGeom>
          <a:solidFill>
            <a:srgbClr val="D7263D"/>
          </a:solidFill>
          <a:ln>
            <a:noFill/>
          </a:ln>
        </p:spPr>
      </p:sp>
      <p:sp>
        <p:nvSpPr>
          <p:cNvPr id="28" name="Data mark 28"/>
          <p:cNvSpPr txBox="0"/>
          <p:nvPr/>
        </p:nvSpPr>
        <p:spPr>
          <a:xfrm>
            <a:off x="3400425" y="1721346"/>
            <a:ext cx="114300" cy="114300"/>
          </a:xfrm>
          <a:prstGeom prst="ellipse">
            <a:avLst/>
          </a:prstGeom>
          <a:solidFill>
            <a:srgbClr val="D7263D"/>
          </a:solidFill>
          <a:ln>
            <a:noFill/>
          </a:ln>
        </p:spPr>
      </p:sp>
      <p:sp>
        <p:nvSpPr>
          <p:cNvPr id="29" name="Data mark 29"/>
          <p:cNvSpPr txBox="0"/>
          <p:nvPr/>
        </p:nvSpPr>
        <p:spPr>
          <a:xfrm>
            <a:off x="3571875" y="1721346"/>
            <a:ext cx="114300" cy="114300"/>
          </a:xfrm>
          <a:prstGeom prst="ellipse">
            <a:avLst/>
          </a:prstGeom>
          <a:solidFill>
            <a:srgbClr val="D7263D"/>
          </a:solidFill>
          <a:ln>
            <a:noFill/>
          </a:ln>
        </p:spPr>
      </p:sp>
      <p:sp>
        <p:nvSpPr>
          <p:cNvPr id="30" name="Data mark 30"/>
          <p:cNvSpPr txBox="0"/>
          <p:nvPr/>
        </p:nvSpPr>
        <p:spPr>
          <a:xfrm>
            <a:off x="3743325" y="1721346"/>
            <a:ext cx="114300" cy="114300"/>
          </a:xfrm>
          <a:prstGeom prst="ellipse">
            <a:avLst/>
          </a:prstGeom>
          <a:solidFill>
            <a:srgbClr val="D7263D"/>
          </a:solidFill>
          <a:ln>
            <a:noFill/>
          </a:ln>
        </p:spPr>
      </p:sp>
      <p:sp>
        <p:nvSpPr>
          <p:cNvPr id="31" name="Data mark 31"/>
          <p:cNvSpPr txBox="0"/>
          <p:nvPr/>
        </p:nvSpPr>
        <p:spPr>
          <a:xfrm>
            <a:off x="3914775" y="1721346"/>
            <a:ext cx="114300" cy="114300"/>
          </a:xfrm>
          <a:prstGeom prst="ellipse">
            <a:avLst/>
          </a:prstGeom>
          <a:solidFill>
            <a:srgbClr val="D7263D"/>
          </a:solidFill>
          <a:ln>
            <a:noFill/>
          </a:ln>
        </p:spPr>
      </p:sp>
      <p:sp>
        <p:nvSpPr>
          <p:cNvPr id="32" name="Data mark 32"/>
          <p:cNvSpPr txBox="0"/>
          <p:nvPr/>
        </p:nvSpPr>
        <p:spPr>
          <a:xfrm>
            <a:off x="4086225" y="1721346"/>
            <a:ext cx="114300" cy="114300"/>
          </a:xfrm>
          <a:prstGeom prst="ellipse">
            <a:avLst/>
          </a:prstGeom>
          <a:solidFill>
            <a:srgbClr val="D7263D"/>
          </a:solidFill>
          <a:ln>
            <a:noFill/>
          </a:ln>
        </p:spPr>
      </p:sp>
      <p:sp>
        <p:nvSpPr>
          <p:cNvPr id="33" name="Data mark 33"/>
          <p:cNvSpPr txBox="0"/>
          <p:nvPr/>
        </p:nvSpPr>
        <p:spPr>
          <a:xfrm>
            <a:off x="4257675" y="1721346"/>
            <a:ext cx="114300" cy="114300"/>
          </a:xfrm>
          <a:prstGeom prst="ellipse">
            <a:avLst/>
          </a:prstGeom>
          <a:solidFill>
            <a:srgbClr val="D7263D"/>
          </a:solidFill>
          <a:ln>
            <a:noFill/>
          </a:ln>
        </p:spPr>
      </p:sp>
      <p:sp>
        <p:nvSpPr>
          <p:cNvPr id="34" name="Data mark 34"/>
          <p:cNvSpPr txBox="0"/>
          <p:nvPr/>
        </p:nvSpPr>
        <p:spPr>
          <a:xfrm>
            <a:off x="4429125" y="1721346"/>
            <a:ext cx="114300" cy="114300"/>
          </a:xfrm>
          <a:prstGeom prst="ellipse">
            <a:avLst/>
          </a:prstGeom>
          <a:solidFill>
            <a:srgbClr val="D7263D"/>
          </a:solidFill>
          <a:ln>
            <a:noFill/>
          </a:ln>
        </p:spPr>
      </p:sp>
      <p:sp>
        <p:nvSpPr>
          <p:cNvPr id="35" name="Data mark 35"/>
          <p:cNvSpPr txBox="0"/>
          <p:nvPr/>
        </p:nvSpPr>
        <p:spPr>
          <a:xfrm>
            <a:off x="4600575" y="1721346"/>
            <a:ext cx="114300" cy="114300"/>
          </a:xfrm>
          <a:prstGeom prst="ellipse">
            <a:avLst/>
          </a:prstGeom>
          <a:solidFill>
            <a:srgbClr val="D7263D"/>
          </a:solidFill>
          <a:ln>
            <a:noFill/>
          </a:ln>
        </p:spPr>
      </p:sp>
      <p:sp>
        <p:nvSpPr>
          <p:cNvPr id="36" name="Data mark 36"/>
          <p:cNvSpPr txBox="0"/>
          <p:nvPr/>
        </p:nvSpPr>
        <p:spPr>
          <a:xfrm>
            <a:off x="4772025" y="1721346"/>
            <a:ext cx="114300" cy="114300"/>
          </a:xfrm>
          <a:prstGeom prst="ellipse">
            <a:avLst/>
          </a:prstGeom>
          <a:solidFill>
            <a:srgbClr val="D7263D"/>
          </a:solidFill>
          <a:ln>
            <a:noFill/>
          </a:ln>
        </p:spPr>
      </p:sp>
      <p:sp>
        <p:nvSpPr>
          <p:cNvPr id="37" name="Data mark 37"/>
          <p:cNvSpPr txBox="0"/>
          <p:nvPr/>
        </p:nvSpPr>
        <p:spPr>
          <a:xfrm>
            <a:off x="4943475" y="1721346"/>
            <a:ext cx="114300" cy="114300"/>
          </a:xfrm>
          <a:prstGeom prst="ellipse">
            <a:avLst/>
          </a:prstGeom>
          <a:solidFill>
            <a:srgbClr val="D7263D"/>
          </a:solidFill>
          <a:ln>
            <a:noFill/>
          </a:ln>
        </p:spPr>
      </p:sp>
      <p:sp>
        <p:nvSpPr>
          <p:cNvPr id="38" name="Data mark 38"/>
          <p:cNvSpPr txBox="0"/>
          <p:nvPr/>
        </p:nvSpPr>
        <p:spPr>
          <a:xfrm>
            <a:off x="5114925" y="1721346"/>
            <a:ext cx="114300" cy="114300"/>
          </a:xfrm>
          <a:prstGeom prst="ellipse">
            <a:avLst/>
          </a:prstGeom>
          <a:solidFill>
            <a:srgbClr val="D7263D"/>
          </a:solidFill>
          <a:ln>
            <a:noFill/>
          </a:ln>
        </p:spPr>
      </p:sp>
      <p:sp>
        <p:nvSpPr>
          <p:cNvPr id="39" name="Data mark 39"/>
          <p:cNvSpPr txBox="0"/>
          <p:nvPr/>
        </p:nvSpPr>
        <p:spPr>
          <a:xfrm>
            <a:off x="5286375" y="1721346"/>
            <a:ext cx="114300" cy="114300"/>
          </a:xfrm>
          <a:prstGeom prst="ellipse">
            <a:avLst/>
          </a:prstGeom>
          <a:solidFill>
            <a:srgbClr val="D7263D"/>
          </a:solidFill>
          <a:ln>
            <a:noFill/>
          </a:ln>
        </p:spPr>
      </p:sp>
      <p:sp>
        <p:nvSpPr>
          <p:cNvPr id="40" name="Data mark 40"/>
          <p:cNvSpPr txBox="0"/>
          <p:nvPr/>
        </p:nvSpPr>
        <p:spPr>
          <a:xfrm>
            <a:off x="5457825" y="1721346"/>
            <a:ext cx="114300" cy="114300"/>
          </a:xfrm>
          <a:prstGeom prst="ellipse">
            <a:avLst/>
          </a:prstGeom>
          <a:solidFill>
            <a:srgbClr val="D7263D"/>
          </a:solidFill>
          <a:ln>
            <a:noFill/>
          </a:ln>
        </p:spPr>
      </p:sp>
      <p:sp>
        <p:nvSpPr>
          <p:cNvPr id="41" name="Data mark 41"/>
          <p:cNvSpPr txBox="0"/>
          <p:nvPr/>
        </p:nvSpPr>
        <p:spPr>
          <a:xfrm>
            <a:off x="5629275" y="1721346"/>
            <a:ext cx="114300" cy="114300"/>
          </a:xfrm>
          <a:prstGeom prst="ellipse">
            <a:avLst/>
          </a:prstGeom>
          <a:solidFill>
            <a:srgbClr val="D7263D"/>
          </a:solidFill>
          <a:ln>
            <a:noFill/>
          </a:ln>
        </p:spPr>
      </p:sp>
      <p:sp>
        <p:nvSpPr>
          <p:cNvPr id="42" name="Data mark 42"/>
          <p:cNvSpPr txBox="0"/>
          <p:nvPr/>
        </p:nvSpPr>
        <p:spPr>
          <a:xfrm>
            <a:off x="5800725" y="1721346"/>
            <a:ext cx="114300" cy="114300"/>
          </a:xfrm>
          <a:prstGeom prst="ellipse">
            <a:avLst/>
          </a:prstGeom>
          <a:solidFill>
            <a:srgbClr val="D7263D"/>
          </a:solidFill>
          <a:ln>
            <a:noFill/>
          </a:ln>
        </p:spPr>
      </p:sp>
      <p:sp>
        <p:nvSpPr>
          <p:cNvPr id="43" name="Data mark 43"/>
          <p:cNvSpPr txBox="0"/>
          <p:nvPr/>
        </p:nvSpPr>
        <p:spPr>
          <a:xfrm>
            <a:off x="5972175" y="1721346"/>
            <a:ext cx="114300" cy="114300"/>
          </a:xfrm>
          <a:prstGeom prst="ellipse">
            <a:avLst/>
          </a:prstGeom>
          <a:solidFill>
            <a:srgbClr val="D7263D"/>
          </a:solidFill>
          <a:ln>
            <a:noFill/>
          </a:ln>
        </p:spPr>
      </p:sp>
      <p:sp>
        <p:nvSpPr>
          <p:cNvPr id="44" name="Data mark 44"/>
          <p:cNvSpPr txBox="0"/>
          <p:nvPr/>
        </p:nvSpPr>
        <p:spPr>
          <a:xfrm>
            <a:off x="6143625" y="1721346"/>
            <a:ext cx="114300" cy="114300"/>
          </a:xfrm>
          <a:prstGeom prst="ellipse">
            <a:avLst/>
          </a:prstGeom>
          <a:solidFill>
            <a:srgbClr val="D7263D"/>
          </a:solidFill>
          <a:ln>
            <a:noFill/>
          </a:ln>
        </p:spPr>
      </p:sp>
      <p:sp>
        <p:nvSpPr>
          <p:cNvPr id="45" name="Data mark 45"/>
          <p:cNvSpPr txBox="0"/>
          <p:nvPr/>
        </p:nvSpPr>
        <p:spPr>
          <a:xfrm>
            <a:off x="6315075" y="1721346"/>
            <a:ext cx="114300" cy="114300"/>
          </a:xfrm>
          <a:prstGeom prst="ellipse">
            <a:avLst/>
          </a:prstGeom>
          <a:solidFill>
            <a:srgbClr val="D7263D"/>
          </a:solidFill>
          <a:ln>
            <a:noFill/>
          </a:ln>
        </p:spPr>
      </p:sp>
      <p:sp>
        <p:nvSpPr>
          <p:cNvPr id="46" name="Data mark 46"/>
          <p:cNvSpPr txBox="0"/>
          <p:nvPr/>
        </p:nvSpPr>
        <p:spPr>
          <a:xfrm>
            <a:off x="2714625" y="1892796"/>
            <a:ext cx="114300" cy="114300"/>
          </a:xfrm>
          <a:prstGeom prst="ellipse">
            <a:avLst/>
          </a:prstGeom>
          <a:solidFill>
            <a:srgbClr val="D7263D"/>
          </a:solidFill>
          <a:ln>
            <a:noFill/>
          </a:ln>
        </p:spPr>
      </p:sp>
      <p:sp>
        <p:nvSpPr>
          <p:cNvPr id="47" name="Data mark 47"/>
          <p:cNvSpPr txBox="0"/>
          <p:nvPr/>
        </p:nvSpPr>
        <p:spPr>
          <a:xfrm>
            <a:off x="2886075" y="1892796"/>
            <a:ext cx="114300" cy="114300"/>
          </a:xfrm>
          <a:prstGeom prst="ellipse">
            <a:avLst/>
          </a:prstGeom>
          <a:solidFill>
            <a:srgbClr val="D7263D"/>
          </a:solidFill>
          <a:ln>
            <a:noFill/>
          </a:ln>
        </p:spPr>
      </p:sp>
      <p:sp>
        <p:nvSpPr>
          <p:cNvPr id="48" name="Data mark 48"/>
          <p:cNvSpPr txBox="0"/>
          <p:nvPr/>
        </p:nvSpPr>
        <p:spPr>
          <a:xfrm>
            <a:off x="3057525" y="1892796"/>
            <a:ext cx="114300" cy="114300"/>
          </a:xfrm>
          <a:prstGeom prst="ellipse">
            <a:avLst/>
          </a:prstGeom>
          <a:solidFill>
            <a:srgbClr val="D7263D"/>
          </a:solidFill>
          <a:ln>
            <a:noFill/>
          </a:ln>
        </p:spPr>
      </p:sp>
      <p:sp>
        <p:nvSpPr>
          <p:cNvPr id="49" name="Data mark 49"/>
          <p:cNvSpPr txBox="0"/>
          <p:nvPr/>
        </p:nvSpPr>
        <p:spPr>
          <a:xfrm>
            <a:off x="3228975" y="1892796"/>
            <a:ext cx="114300" cy="114300"/>
          </a:xfrm>
          <a:prstGeom prst="ellipse">
            <a:avLst/>
          </a:prstGeom>
          <a:solidFill>
            <a:srgbClr val="D7263D"/>
          </a:solidFill>
          <a:ln>
            <a:noFill/>
          </a:ln>
        </p:spPr>
      </p:sp>
      <p:sp>
        <p:nvSpPr>
          <p:cNvPr id="50" name="Data mark 50"/>
          <p:cNvSpPr txBox="0"/>
          <p:nvPr/>
        </p:nvSpPr>
        <p:spPr>
          <a:xfrm>
            <a:off x="3400425" y="1892796"/>
            <a:ext cx="114300" cy="114300"/>
          </a:xfrm>
          <a:prstGeom prst="ellipse">
            <a:avLst/>
          </a:prstGeom>
          <a:solidFill>
            <a:srgbClr val="D7263D"/>
          </a:solidFill>
          <a:ln>
            <a:noFill/>
          </a:ln>
        </p:spPr>
      </p:sp>
      <p:sp>
        <p:nvSpPr>
          <p:cNvPr id="51" name="Data mark 51"/>
          <p:cNvSpPr txBox="0"/>
          <p:nvPr/>
        </p:nvSpPr>
        <p:spPr>
          <a:xfrm>
            <a:off x="3571875" y="1892796"/>
            <a:ext cx="114300" cy="114300"/>
          </a:xfrm>
          <a:prstGeom prst="ellipse">
            <a:avLst/>
          </a:prstGeom>
          <a:solidFill>
            <a:srgbClr val="D7263D"/>
          </a:solidFill>
          <a:ln>
            <a:noFill/>
          </a:ln>
        </p:spPr>
      </p:sp>
      <p:sp>
        <p:nvSpPr>
          <p:cNvPr id="52" name="Data mark 52"/>
          <p:cNvSpPr txBox="0"/>
          <p:nvPr/>
        </p:nvSpPr>
        <p:spPr>
          <a:xfrm>
            <a:off x="3743325" y="1892796"/>
            <a:ext cx="114300" cy="114300"/>
          </a:xfrm>
          <a:prstGeom prst="ellipse">
            <a:avLst/>
          </a:prstGeom>
          <a:solidFill>
            <a:srgbClr val="D7263D"/>
          </a:solidFill>
          <a:ln>
            <a:noFill/>
          </a:ln>
        </p:spPr>
      </p:sp>
      <p:sp>
        <p:nvSpPr>
          <p:cNvPr id="53" name="Data mark 53"/>
          <p:cNvSpPr txBox="0"/>
          <p:nvPr/>
        </p:nvSpPr>
        <p:spPr>
          <a:xfrm>
            <a:off x="3914775" y="1892796"/>
            <a:ext cx="114300" cy="114300"/>
          </a:xfrm>
          <a:prstGeom prst="ellipse">
            <a:avLst/>
          </a:prstGeom>
          <a:solidFill>
            <a:srgbClr val="D7263D"/>
          </a:solidFill>
          <a:ln>
            <a:noFill/>
          </a:ln>
        </p:spPr>
      </p:sp>
      <p:sp>
        <p:nvSpPr>
          <p:cNvPr id="54" name="Data mark 54"/>
          <p:cNvSpPr txBox="0"/>
          <p:nvPr/>
        </p:nvSpPr>
        <p:spPr>
          <a:xfrm>
            <a:off x="4086225" y="1892796"/>
            <a:ext cx="114300" cy="114300"/>
          </a:xfrm>
          <a:prstGeom prst="ellipse">
            <a:avLst/>
          </a:prstGeom>
          <a:solidFill>
            <a:srgbClr val="D7263D"/>
          </a:solidFill>
          <a:ln>
            <a:noFill/>
          </a:ln>
        </p:spPr>
      </p:sp>
      <p:sp>
        <p:nvSpPr>
          <p:cNvPr id="55" name="Data mark 55"/>
          <p:cNvSpPr txBox="0"/>
          <p:nvPr/>
        </p:nvSpPr>
        <p:spPr>
          <a:xfrm>
            <a:off x="4257675" y="1892796"/>
            <a:ext cx="114300" cy="114300"/>
          </a:xfrm>
          <a:prstGeom prst="ellipse">
            <a:avLst/>
          </a:prstGeom>
          <a:solidFill>
            <a:srgbClr val="D7263D"/>
          </a:solidFill>
          <a:ln>
            <a:noFill/>
          </a:ln>
        </p:spPr>
      </p:sp>
      <p:sp>
        <p:nvSpPr>
          <p:cNvPr id="56" name="Data mark 56"/>
          <p:cNvSpPr txBox="0"/>
          <p:nvPr/>
        </p:nvSpPr>
        <p:spPr>
          <a:xfrm>
            <a:off x="4429125" y="1892796"/>
            <a:ext cx="114300" cy="114300"/>
          </a:xfrm>
          <a:prstGeom prst="ellipse">
            <a:avLst/>
          </a:prstGeom>
          <a:solidFill>
            <a:srgbClr val="D7263D"/>
          </a:solidFill>
          <a:ln>
            <a:noFill/>
          </a:ln>
        </p:spPr>
      </p:sp>
      <p:sp>
        <p:nvSpPr>
          <p:cNvPr id="57" name="Data mark 57"/>
          <p:cNvSpPr txBox="0"/>
          <p:nvPr/>
        </p:nvSpPr>
        <p:spPr>
          <a:xfrm>
            <a:off x="4600575" y="1892796"/>
            <a:ext cx="114300" cy="114300"/>
          </a:xfrm>
          <a:prstGeom prst="ellipse">
            <a:avLst/>
          </a:prstGeom>
          <a:solidFill>
            <a:srgbClr val="D7263D"/>
          </a:solidFill>
          <a:ln>
            <a:noFill/>
          </a:ln>
        </p:spPr>
      </p:sp>
      <p:sp>
        <p:nvSpPr>
          <p:cNvPr id="58" name="Data mark 58"/>
          <p:cNvSpPr txBox="0"/>
          <p:nvPr/>
        </p:nvSpPr>
        <p:spPr>
          <a:xfrm>
            <a:off x="4772025" y="1892796"/>
            <a:ext cx="114300" cy="114300"/>
          </a:xfrm>
          <a:prstGeom prst="ellipse">
            <a:avLst/>
          </a:prstGeom>
          <a:solidFill>
            <a:srgbClr val="D7263D"/>
          </a:solidFill>
          <a:ln>
            <a:noFill/>
          </a:ln>
        </p:spPr>
      </p:sp>
      <p:sp>
        <p:nvSpPr>
          <p:cNvPr id="59" name="Data mark 59"/>
          <p:cNvSpPr txBox="0"/>
          <p:nvPr/>
        </p:nvSpPr>
        <p:spPr>
          <a:xfrm>
            <a:off x="4943475" y="1892796"/>
            <a:ext cx="114300" cy="114300"/>
          </a:xfrm>
          <a:prstGeom prst="ellipse">
            <a:avLst/>
          </a:prstGeom>
          <a:solidFill>
            <a:srgbClr val="D7263D"/>
          </a:solidFill>
          <a:ln>
            <a:noFill/>
          </a:ln>
        </p:spPr>
      </p:sp>
      <p:sp>
        <p:nvSpPr>
          <p:cNvPr id="60" name="Data mark 60"/>
          <p:cNvSpPr txBox="0"/>
          <p:nvPr/>
        </p:nvSpPr>
        <p:spPr>
          <a:xfrm>
            <a:off x="5114925" y="1892796"/>
            <a:ext cx="114300" cy="114300"/>
          </a:xfrm>
          <a:prstGeom prst="ellipse">
            <a:avLst/>
          </a:prstGeom>
          <a:solidFill>
            <a:srgbClr val="D7263D"/>
          </a:solidFill>
          <a:ln>
            <a:noFill/>
          </a:ln>
        </p:spPr>
      </p:sp>
      <p:sp>
        <p:nvSpPr>
          <p:cNvPr id="61" name="Data mark 61"/>
          <p:cNvSpPr txBox="0"/>
          <p:nvPr/>
        </p:nvSpPr>
        <p:spPr>
          <a:xfrm>
            <a:off x="5286375" y="1892796"/>
            <a:ext cx="114300" cy="114300"/>
          </a:xfrm>
          <a:prstGeom prst="ellipse">
            <a:avLst/>
          </a:prstGeom>
          <a:solidFill>
            <a:srgbClr val="D7263D"/>
          </a:solidFill>
          <a:ln>
            <a:noFill/>
          </a:ln>
        </p:spPr>
      </p:sp>
      <p:sp>
        <p:nvSpPr>
          <p:cNvPr id="62" name="Data mark 62"/>
          <p:cNvSpPr txBox="0"/>
          <p:nvPr/>
        </p:nvSpPr>
        <p:spPr>
          <a:xfrm>
            <a:off x="5457825" y="1892796"/>
            <a:ext cx="114300" cy="114300"/>
          </a:xfrm>
          <a:prstGeom prst="ellipse">
            <a:avLst/>
          </a:prstGeom>
          <a:solidFill>
            <a:srgbClr val="D7263D"/>
          </a:solidFill>
          <a:ln>
            <a:noFill/>
          </a:ln>
        </p:spPr>
      </p:sp>
      <p:sp>
        <p:nvSpPr>
          <p:cNvPr id="63" name="Data mark 63"/>
          <p:cNvSpPr txBox="0"/>
          <p:nvPr/>
        </p:nvSpPr>
        <p:spPr>
          <a:xfrm>
            <a:off x="5629275" y="1892796"/>
            <a:ext cx="114300" cy="114300"/>
          </a:xfrm>
          <a:prstGeom prst="ellipse">
            <a:avLst/>
          </a:prstGeom>
          <a:solidFill>
            <a:srgbClr val="D7263D"/>
          </a:solidFill>
          <a:ln>
            <a:noFill/>
          </a:ln>
        </p:spPr>
      </p:sp>
      <p:sp>
        <p:nvSpPr>
          <p:cNvPr id="64" name="Data mark 64"/>
          <p:cNvSpPr txBox="0"/>
          <p:nvPr/>
        </p:nvSpPr>
        <p:spPr>
          <a:xfrm>
            <a:off x="5800725" y="1892796"/>
            <a:ext cx="114300" cy="114300"/>
          </a:xfrm>
          <a:prstGeom prst="ellipse">
            <a:avLst/>
          </a:prstGeom>
          <a:solidFill>
            <a:srgbClr val="D7263D"/>
          </a:solidFill>
          <a:ln>
            <a:noFill/>
          </a:ln>
        </p:spPr>
      </p:sp>
      <p:sp>
        <p:nvSpPr>
          <p:cNvPr id="65" name="Data mark 65"/>
          <p:cNvSpPr txBox="0"/>
          <p:nvPr/>
        </p:nvSpPr>
        <p:spPr>
          <a:xfrm>
            <a:off x="5972175" y="1892796"/>
            <a:ext cx="114300" cy="114300"/>
          </a:xfrm>
          <a:prstGeom prst="ellipse">
            <a:avLst/>
          </a:prstGeom>
          <a:solidFill>
            <a:srgbClr val="D7263D"/>
          </a:solidFill>
          <a:ln>
            <a:noFill/>
          </a:ln>
        </p:spPr>
      </p:sp>
      <p:sp>
        <p:nvSpPr>
          <p:cNvPr id="66" name="Data mark 66"/>
          <p:cNvSpPr txBox="0"/>
          <p:nvPr/>
        </p:nvSpPr>
        <p:spPr>
          <a:xfrm>
            <a:off x="6143625" y="1892796"/>
            <a:ext cx="114300" cy="114300"/>
          </a:xfrm>
          <a:prstGeom prst="ellipse">
            <a:avLst/>
          </a:prstGeom>
          <a:solidFill>
            <a:srgbClr val="D7263D"/>
          </a:solidFill>
          <a:ln>
            <a:noFill/>
          </a:ln>
        </p:spPr>
      </p:sp>
      <p:sp>
        <p:nvSpPr>
          <p:cNvPr id="67" name="Data mark 67"/>
          <p:cNvSpPr txBox="0"/>
          <p:nvPr/>
        </p:nvSpPr>
        <p:spPr>
          <a:xfrm>
            <a:off x="6315075" y="1892796"/>
            <a:ext cx="114300" cy="114300"/>
          </a:xfrm>
          <a:prstGeom prst="ellipse">
            <a:avLst/>
          </a:prstGeom>
          <a:solidFill>
            <a:srgbClr val="D7263D"/>
          </a:solidFill>
          <a:ln>
            <a:noFill/>
          </a:ln>
        </p:spPr>
      </p:sp>
      <p:sp>
        <p:nvSpPr>
          <p:cNvPr id="68" name="Data mark 68"/>
          <p:cNvSpPr txBox="0"/>
          <p:nvPr/>
        </p:nvSpPr>
        <p:spPr>
          <a:xfrm>
            <a:off x="2714625" y="2064246"/>
            <a:ext cx="114300" cy="114300"/>
          </a:xfrm>
          <a:prstGeom prst="ellipse">
            <a:avLst/>
          </a:prstGeom>
          <a:solidFill>
            <a:srgbClr val="D7263D"/>
          </a:solidFill>
          <a:ln>
            <a:noFill/>
          </a:ln>
        </p:spPr>
      </p:sp>
      <p:sp>
        <p:nvSpPr>
          <p:cNvPr id="69" name="Data mark 69"/>
          <p:cNvSpPr txBox="0"/>
          <p:nvPr/>
        </p:nvSpPr>
        <p:spPr>
          <a:xfrm>
            <a:off x="2886075" y="2064246"/>
            <a:ext cx="114300" cy="114300"/>
          </a:xfrm>
          <a:prstGeom prst="ellipse">
            <a:avLst/>
          </a:prstGeom>
          <a:solidFill>
            <a:srgbClr val="D7263D"/>
          </a:solidFill>
          <a:ln>
            <a:noFill/>
          </a:ln>
        </p:spPr>
      </p:sp>
      <p:sp>
        <p:nvSpPr>
          <p:cNvPr id="70" name="Data mark 70"/>
          <p:cNvSpPr txBox="0"/>
          <p:nvPr/>
        </p:nvSpPr>
        <p:spPr>
          <a:xfrm>
            <a:off x="3057525" y="2064246"/>
            <a:ext cx="114300" cy="114300"/>
          </a:xfrm>
          <a:prstGeom prst="ellipse">
            <a:avLst/>
          </a:prstGeom>
          <a:solidFill>
            <a:srgbClr val="D7263D"/>
          </a:solidFill>
          <a:ln>
            <a:noFill/>
          </a:ln>
        </p:spPr>
      </p:sp>
      <p:sp>
        <p:nvSpPr>
          <p:cNvPr id="71" name="Data mark 71"/>
          <p:cNvSpPr txBox="0"/>
          <p:nvPr/>
        </p:nvSpPr>
        <p:spPr>
          <a:xfrm>
            <a:off x="3228975" y="2064246"/>
            <a:ext cx="114300" cy="114300"/>
          </a:xfrm>
          <a:prstGeom prst="ellipse">
            <a:avLst/>
          </a:prstGeom>
          <a:solidFill>
            <a:srgbClr val="D7263D"/>
          </a:solidFill>
          <a:ln>
            <a:noFill/>
          </a:ln>
        </p:spPr>
      </p:sp>
      <p:sp>
        <p:nvSpPr>
          <p:cNvPr id="72" name="Data mark 72"/>
          <p:cNvSpPr txBox="0"/>
          <p:nvPr/>
        </p:nvSpPr>
        <p:spPr>
          <a:xfrm>
            <a:off x="3400425" y="2064246"/>
            <a:ext cx="114300" cy="114300"/>
          </a:xfrm>
          <a:prstGeom prst="ellipse">
            <a:avLst/>
          </a:prstGeom>
          <a:solidFill>
            <a:srgbClr val="D7263D"/>
          </a:solidFill>
          <a:ln>
            <a:noFill/>
          </a:ln>
        </p:spPr>
      </p:sp>
      <p:sp>
        <p:nvSpPr>
          <p:cNvPr id="73" name="Data mark 73"/>
          <p:cNvSpPr txBox="0"/>
          <p:nvPr/>
        </p:nvSpPr>
        <p:spPr>
          <a:xfrm>
            <a:off x="3571875" y="2064246"/>
            <a:ext cx="114300" cy="114300"/>
          </a:xfrm>
          <a:prstGeom prst="ellipse">
            <a:avLst/>
          </a:prstGeom>
          <a:solidFill>
            <a:srgbClr val="D7263D"/>
          </a:solidFill>
          <a:ln>
            <a:noFill/>
          </a:ln>
        </p:spPr>
      </p:sp>
      <p:sp>
        <p:nvSpPr>
          <p:cNvPr id="74" name="Data mark 74"/>
          <p:cNvSpPr txBox="0"/>
          <p:nvPr/>
        </p:nvSpPr>
        <p:spPr>
          <a:xfrm>
            <a:off x="3743325" y="2064246"/>
            <a:ext cx="114300" cy="114300"/>
          </a:xfrm>
          <a:prstGeom prst="ellipse">
            <a:avLst/>
          </a:prstGeom>
          <a:solidFill>
            <a:srgbClr val="D7263D"/>
          </a:solidFill>
          <a:ln>
            <a:noFill/>
          </a:ln>
        </p:spPr>
      </p:sp>
      <p:sp>
        <p:nvSpPr>
          <p:cNvPr id="75" name="Data mark 75"/>
          <p:cNvSpPr txBox="0"/>
          <p:nvPr/>
        </p:nvSpPr>
        <p:spPr>
          <a:xfrm>
            <a:off x="3914775" y="2064246"/>
            <a:ext cx="114300" cy="114300"/>
          </a:xfrm>
          <a:prstGeom prst="ellipse">
            <a:avLst/>
          </a:prstGeom>
          <a:solidFill>
            <a:srgbClr val="D7263D"/>
          </a:solidFill>
          <a:ln>
            <a:noFill/>
          </a:ln>
        </p:spPr>
      </p:sp>
      <p:sp>
        <p:nvSpPr>
          <p:cNvPr id="76" name="Data mark 76"/>
          <p:cNvSpPr txBox="0"/>
          <p:nvPr/>
        </p:nvSpPr>
        <p:spPr>
          <a:xfrm>
            <a:off x="4086225" y="2064246"/>
            <a:ext cx="114300" cy="114300"/>
          </a:xfrm>
          <a:prstGeom prst="ellipse">
            <a:avLst/>
          </a:prstGeom>
          <a:solidFill>
            <a:srgbClr val="D7263D"/>
          </a:solidFill>
          <a:ln>
            <a:noFill/>
          </a:ln>
        </p:spPr>
      </p:sp>
      <p:sp>
        <p:nvSpPr>
          <p:cNvPr id="77" name="Data mark 77"/>
          <p:cNvSpPr txBox="0"/>
          <p:nvPr/>
        </p:nvSpPr>
        <p:spPr>
          <a:xfrm>
            <a:off x="4257675" y="2064246"/>
            <a:ext cx="114300" cy="114300"/>
          </a:xfrm>
          <a:prstGeom prst="ellipse">
            <a:avLst/>
          </a:prstGeom>
          <a:solidFill>
            <a:srgbClr val="D7263D"/>
          </a:solidFill>
          <a:ln>
            <a:noFill/>
          </a:ln>
        </p:spPr>
      </p:sp>
      <p:sp>
        <p:nvSpPr>
          <p:cNvPr id="78" name="Data mark 78"/>
          <p:cNvSpPr txBox="0"/>
          <p:nvPr/>
        </p:nvSpPr>
        <p:spPr>
          <a:xfrm>
            <a:off x="4429125" y="2064246"/>
            <a:ext cx="114300" cy="114300"/>
          </a:xfrm>
          <a:prstGeom prst="ellipse">
            <a:avLst/>
          </a:prstGeom>
          <a:solidFill>
            <a:srgbClr val="D7263D"/>
          </a:solidFill>
          <a:ln>
            <a:noFill/>
          </a:ln>
        </p:spPr>
      </p:sp>
      <p:sp>
        <p:nvSpPr>
          <p:cNvPr id="79" name="Data mark 79"/>
          <p:cNvSpPr txBox="0"/>
          <p:nvPr/>
        </p:nvSpPr>
        <p:spPr>
          <a:xfrm>
            <a:off x="4600575" y="2064246"/>
            <a:ext cx="114300" cy="114300"/>
          </a:xfrm>
          <a:prstGeom prst="ellipse">
            <a:avLst/>
          </a:prstGeom>
          <a:solidFill>
            <a:srgbClr val="D7263D"/>
          </a:solidFill>
          <a:ln>
            <a:noFill/>
          </a:ln>
        </p:spPr>
      </p:sp>
      <p:sp>
        <p:nvSpPr>
          <p:cNvPr id="80" name="Data mark 80"/>
          <p:cNvSpPr txBox="0"/>
          <p:nvPr/>
        </p:nvSpPr>
        <p:spPr>
          <a:xfrm>
            <a:off x="4772025" y="2064246"/>
            <a:ext cx="114300" cy="114300"/>
          </a:xfrm>
          <a:prstGeom prst="ellipse">
            <a:avLst/>
          </a:prstGeom>
          <a:solidFill>
            <a:srgbClr val="D7263D"/>
          </a:solidFill>
          <a:ln>
            <a:noFill/>
          </a:ln>
        </p:spPr>
      </p:sp>
      <p:sp>
        <p:nvSpPr>
          <p:cNvPr id="81" name="Data mark 81"/>
          <p:cNvSpPr txBox="0"/>
          <p:nvPr/>
        </p:nvSpPr>
        <p:spPr>
          <a:xfrm>
            <a:off x="4943475" y="2064246"/>
            <a:ext cx="114300" cy="114300"/>
          </a:xfrm>
          <a:prstGeom prst="ellipse">
            <a:avLst/>
          </a:prstGeom>
          <a:solidFill>
            <a:srgbClr val="D7263D"/>
          </a:solidFill>
          <a:ln>
            <a:noFill/>
          </a:ln>
        </p:spPr>
      </p:sp>
      <p:sp>
        <p:nvSpPr>
          <p:cNvPr id="82" name="Data mark 82"/>
          <p:cNvSpPr txBox="0"/>
          <p:nvPr/>
        </p:nvSpPr>
        <p:spPr>
          <a:xfrm>
            <a:off x="5114925" y="2064246"/>
            <a:ext cx="114300" cy="114300"/>
          </a:xfrm>
          <a:prstGeom prst="ellipse">
            <a:avLst/>
          </a:prstGeom>
          <a:solidFill>
            <a:srgbClr val="D7263D"/>
          </a:solidFill>
          <a:ln>
            <a:noFill/>
          </a:ln>
        </p:spPr>
      </p:sp>
      <p:sp>
        <p:nvSpPr>
          <p:cNvPr id="83" name="Data mark 83"/>
          <p:cNvSpPr txBox="0"/>
          <p:nvPr/>
        </p:nvSpPr>
        <p:spPr>
          <a:xfrm>
            <a:off x="5286375" y="2064246"/>
            <a:ext cx="114300" cy="114300"/>
          </a:xfrm>
          <a:prstGeom prst="ellipse">
            <a:avLst/>
          </a:prstGeom>
          <a:solidFill>
            <a:srgbClr val="D7263D"/>
          </a:solidFill>
          <a:ln>
            <a:noFill/>
          </a:ln>
        </p:spPr>
      </p:sp>
      <p:sp>
        <p:nvSpPr>
          <p:cNvPr id="84" name="Data mark 84"/>
          <p:cNvSpPr txBox="0"/>
          <p:nvPr/>
        </p:nvSpPr>
        <p:spPr>
          <a:xfrm>
            <a:off x="5457825" y="2064246"/>
            <a:ext cx="114300" cy="114300"/>
          </a:xfrm>
          <a:prstGeom prst="ellipse">
            <a:avLst/>
          </a:prstGeom>
          <a:solidFill>
            <a:srgbClr val="D7263D"/>
          </a:solidFill>
          <a:ln>
            <a:noFill/>
          </a:ln>
        </p:spPr>
      </p:sp>
      <p:sp>
        <p:nvSpPr>
          <p:cNvPr id="85" name="Data mark 85"/>
          <p:cNvSpPr txBox="0"/>
          <p:nvPr/>
        </p:nvSpPr>
        <p:spPr>
          <a:xfrm>
            <a:off x="5629275" y="2064246"/>
            <a:ext cx="114300" cy="114300"/>
          </a:xfrm>
          <a:prstGeom prst="ellipse">
            <a:avLst/>
          </a:prstGeom>
          <a:solidFill>
            <a:srgbClr val="D7263D"/>
          </a:solidFill>
          <a:ln>
            <a:noFill/>
          </a:ln>
        </p:spPr>
      </p:sp>
      <p:sp>
        <p:nvSpPr>
          <p:cNvPr id="86" name="Data mark 86"/>
          <p:cNvSpPr txBox="0"/>
          <p:nvPr/>
        </p:nvSpPr>
        <p:spPr>
          <a:xfrm>
            <a:off x="5800725" y="2064246"/>
            <a:ext cx="114300" cy="114300"/>
          </a:xfrm>
          <a:prstGeom prst="ellipse">
            <a:avLst/>
          </a:prstGeom>
          <a:solidFill>
            <a:srgbClr val="D7263D"/>
          </a:solidFill>
          <a:ln>
            <a:noFill/>
          </a:ln>
        </p:spPr>
      </p:sp>
      <p:sp>
        <p:nvSpPr>
          <p:cNvPr id="87" name="Data mark 87"/>
          <p:cNvSpPr txBox="0"/>
          <p:nvPr/>
        </p:nvSpPr>
        <p:spPr>
          <a:xfrm>
            <a:off x="5972175" y="2064246"/>
            <a:ext cx="114300" cy="114300"/>
          </a:xfrm>
          <a:prstGeom prst="ellipse">
            <a:avLst/>
          </a:prstGeom>
          <a:solidFill>
            <a:srgbClr val="D7263D"/>
          </a:solidFill>
          <a:ln>
            <a:noFill/>
          </a:ln>
        </p:spPr>
      </p:sp>
      <p:sp>
        <p:nvSpPr>
          <p:cNvPr id="88" name="Data mark 88"/>
          <p:cNvSpPr txBox="0"/>
          <p:nvPr/>
        </p:nvSpPr>
        <p:spPr>
          <a:xfrm>
            <a:off x="6143625" y="2064246"/>
            <a:ext cx="114300" cy="114300"/>
          </a:xfrm>
          <a:prstGeom prst="ellipse">
            <a:avLst/>
          </a:prstGeom>
          <a:solidFill>
            <a:srgbClr val="D7263D"/>
          </a:solidFill>
          <a:ln>
            <a:noFill/>
          </a:ln>
        </p:spPr>
      </p:sp>
      <p:sp>
        <p:nvSpPr>
          <p:cNvPr id="89" name="Data mark 89"/>
          <p:cNvSpPr txBox="0"/>
          <p:nvPr/>
        </p:nvSpPr>
        <p:spPr>
          <a:xfrm>
            <a:off x="6315075" y="2064246"/>
            <a:ext cx="114300" cy="114300"/>
          </a:xfrm>
          <a:prstGeom prst="ellipse">
            <a:avLst/>
          </a:prstGeom>
          <a:solidFill>
            <a:srgbClr val="D7263D"/>
          </a:solidFill>
          <a:ln>
            <a:noFill/>
          </a:ln>
        </p:spPr>
      </p:sp>
      <p:sp>
        <p:nvSpPr>
          <p:cNvPr id="90" name="Data mark 90"/>
          <p:cNvSpPr txBox="0"/>
          <p:nvPr/>
        </p:nvSpPr>
        <p:spPr>
          <a:xfrm>
            <a:off x="2714625" y="2235696"/>
            <a:ext cx="114300" cy="114300"/>
          </a:xfrm>
          <a:prstGeom prst="ellipse">
            <a:avLst/>
          </a:prstGeom>
          <a:solidFill>
            <a:srgbClr val="D7263D"/>
          </a:solidFill>
          <a:ln>
            <a:noFill/>
          </a:ln>
        </p:spPr>
      </p:sp>
      <p:sp>
        <p:nvSpPr>
          <p:cNvPr id="91" name="Data mark 91"/>
          <p:cNvSpPr txBox="0"/>
          <p:nvPr/>
        </p:nvSpPr>
        <p:spPr>
          <a:xfrm>
            <a:off x="2886075" y="2235696"/>
            <a:ext cx="114300" cy="114300"/>
          </a:xfrm>
          <a:prstGeom prst="ellipse">
            <a:avLst/>
          </a:prstGeom>
          <a:solidFill>
            <a:srgbClr val="D7263D"/>
          </a:solidFill>
          <a:ln>
            <a:noFill/>
          </a:ln>
        </p:spPr>
      </p:sp>
      <p:sp>
        <p:nvSpPr>
          <p:cNvPr id="92" name="Data mark 92"/>
          <p:cNvSpPr txBox="0"/>
          <p:nvPr/>
        </p:nvSpPr>
        <p:spPr>
          <a:xfrm>
            <a:off x="3057525" y="2235696"/>
            <a:ext cx="114300" cy="114300"/>
          </a:xfrm>
          <a:prstGeom prst="ellipse">
            <a:avLst/>
          </a:prstGeom>
          <a:solidFill>
            <a:srgbClr val="D7263D"/>
          </a:solidFill>
          <a:ln>
            <a:noFill/>
          </a:ln>
        </p:spPr>
      </p:sp>
      <p:sp>
        <p:nvSpPr>
          <p:cNvPr id="93" name="Data mark 93"/>
          <p:cNvSpPr txBox="0"/>
          <p:nvPr/>
        </p:nvSpPr>
        <p:spPr>
          <a:xfrm>
            <a:off x="3228975" y="2235696"/>
            <a:ext cx="114300" cy="114300"/>
          </a:xfrm>
          <a:prstGeom prst="ellipse">
            <a:avLst/>
          </a:prstGeom>
          <a:solidFill>
            <a:srgbClr val="D7263D"/>
          </a:solidFill>
          <a:ln>
            <a:noFill/>
          </a:ln>
        </p:spPr>
      </p:sp>
      <p:sp>
        <p:nvSpPr>
          <p:cNvPr id="94" name="Data mark 94"/>
          <p:cNvSpPr txBox="0"/>
          <p:nvPr/>
        </p:nvSpPr>
        <p:spPr>
          <a:xfrm>
            <a:off x="3400425" y="2235696"/>
            <a:ext cx="114300" cy="114300"/>
          </a:xfrm>
          <a:prstGeom prst="ellipse">
            <a:avLst/>
          </a:prstGeom>
          <a:solidFill>
            <a:srgbClr val="D7263D"/>
          </a:solidFill>
          <a:ln>
            <a:noFill/>
          </a:ln>
        </p:spPr>
      </p:sp>
      <p:sp>
        <p:nvSpPr>
          <p:cNvPr id="95" name="Data mark 95"/>
          <p:cNvSpPr txBox="0"/>
          <p:nvPr/>
        </p:nvSpPr>
        <p:spPr>
          <a:xfrm>
            <a:off x="3571875" y="2235696"/>
            <a:ext cx="114300" cy="114300"/>
          </a:xfrm>
          <a:prstGeom prst="ellipse">
            <a:avLst/>
          </a:prstGeom>
          <a:solidFill>
            <a:srgbClr val="D7263D"/>
          </a:solidFill>
          <a:ln>
            <a:noFill/>
          </a:ln>
        </p:spPr>
      </p:sp>
      <p:sp>
        <p:nvSpPr>
          <p:cNvPr id="96" name="Data mark 96"/>
          <p:cNvSpPr txBox="0"/>
          <p:nvPr/>
        </p:nvSpPr>
        <p:spPr>
          <a:xfrm>
            <a:off x="3743325" y="2235696"/>
            <a:ext cx="114300" cy="114300"/>
          </a:xfrm>
          <a:prstGeom prst="ellipse">
            <a:avLst/>
          </a:prstGeom>
          <a:solidFill>
            <a:srgbClr val="D7263D"/>
          </a:solidFill>
          <a:ln>
            <a:noFill/>
          </a:ln>
        </p:spPr>
      </p:sp>
      <p:sp>
        <p:nvSpPr>
          <p:cNvPr id="97" name="Data mark 97"/>
          <p:cNvSpPr txBox="0"/>
          <p:nvPr/>
        </p:nvSpPr>
        <p:spPr>
          <a:xfrm>
            <a:off x="3914775" y="2235696"/>
            <a:ext cx="114300" cy="114300"/>
          </a:xfrm>
          <a:prstGeom prst="ellipse">
            <a:avLst/>
          </a:prstGeom>
          <a:solidFill>
            <a:srgbClr val="D7263D"/>
          </a:solidFill>
          <a:ln>
            <a:noFill/>
          </a:ln>
        </p:spPr>
      </p:sp>
      <p:sp>
        <p:nvSpPr>
          <p:cNvPr id="98" name="Data mark 98"/>
          <p:cNvSpPr txBox="0"/>
          <p:nvPr/>
        </p:nvSpPr>
        <p:spPr>
          <a:xfrm>
            <a:off x="4086225" y="2235696"/>
            <a:ext cx="114300" cy="114300"/>
          </a:xfrm>
          <a:prstGeom prst="ellipse">
            <a:avLst/>
          </a:prstGeom>
          <a:solidFill>
            <a:srgbClr val="D7263D"/>
          </a:solidFill>
          <a:ln>
            <a:noFill/>
          </a:ln>
        </p:spPr>
      </p:sp>
      <p:sp>
        <p:nvSpPr>
          <p:cNvPr id="99" name="Data mark 99"/>
          <p:cNvSpPr txBox="0"/>
          <p:nvPr/>
        </p:nvSpPr>
        <p:spPr>
          <a:xfrm>
            <a:off x="4257675" y="2235696"/>
            <a:ext cx="114300" cy="114300"/>
          </a:xfrm>
          <a:prstGeom prst="ellipse">
            <a:avLst/>
          </a:prstGeom>
          <a:solidFill>
            <a:srgbClr val="D7263D"/>
          </a:solidFill>
          <a:ln>
            <a:noFill/>
          </a:ln>
        </p:spPr>
      </p:sp>
      <p:sp>
        <p:nvSpPr>
          <p:cNvPr id="100" name="Data mark 100"/>
          <p:cNvSpPr txBox="0"/>
          <p:nvPr/>
        </p:nvSpPr>
        <p:spPr>
          <a:xfrm>
            <a:off x="4429125" y="2235696"/>
            <a:ext cx="114300" cy="114300"/>
          </a:xfrm>
          <a:prstGeom prst="ellipse">
            <a:avLst/>
          </a:prstGeom>
          <a:solidFill>
            <a:srgbClr val="D7263D"/>
          </a:solidFill>
          <a:ln>
            <a:noFill/>
          </a:ln>
        </p:spPr>
      </p:sp>
      <p:sp>
        <p:nvSpPr>
          <p:cNvPr id="101" name="Data mark 101"/>
          <p:cNvSpPr txBox="0"/>
          <p:nvPr/>
        </p:nvSpPr>
        <p:spPr>
          <a:xfrm>
            <a:off x="4600575" y="2235696"/>
            <a:ext cx="114300" cy="114300"/>
          </a:xfrm>
          <a:prstGeom prst="ellipse">
            <a:avLst/>
          </a:prstGeom>
          <a:solidFill>
            <a:srgbClr val="D7263D"/>
          </a:solidFill>
          <a:ln>
            <a:noFill/>
          </a:ln>
        </p:spPr>
      </p:sp>
      <p:sp>
        <p:nvSpPr>
          <p:cNvPr id="102" name="Data mark 102"/>
          <p:cNvSpPr txBox="0"/>
          <p:nvPr/>
        </p:nvSpPr>
        <p:spPr>
          <a:xfrm>
            <a:off x="4772025" y="2235696"/>
            <a:ext cx="114300" cy="114300"/>
          </a:xfrm>
          <a:prstGeom prst="ellipse">
            <a:avLst/>
          </a:prstGeom>
          <a:solidFill>
            <a:srgbClr val="D7263D"/>
          </a:solidFill>
          <a:ln>
            <a:noFill/>
          </a:ln>
        </p:spPr>
      </p:sp>
      <p:sp>
        <p:nvSpPr>
          <p:cNvPr id="103" name="Data mark 103"/>
          <p:cNvSpPr txBox="0"/>
          <p:nvPr/>
        </p:nvSpPr>
        <p:spPr>
          <a:xfrm>
            <a:off x="4943475" y="2235696"/>
            <a:ext cx="114300" cy="114300"/>
          </a:xfrm>
          <a:prstGeom prst="ellipse">
            <a:avLst/>
          </a:prstGeom>
          <a:solidFill>
            <a:srgbClr val="D7263D"/>
          </a:solidFill>
          <a:ln>
            <a:noFill/>
          </a:ln>
        </p:spPr>
      </p:sp>
      <p:sp>
        <p:nvSpPr>
          <p:cNvPr id="104" name="Data mark 104"/>
          <p:cNvSpPr txBox="0"/>
          <p:nvPr/>
        </p:nvSpPr>
        <p:spPr>
          <a:xfrm>
            <a:off x="5114925" y="2235696"/>
            <a:ext cx="114300" cy="114300"/>
          </a:xfrm>
          <a:prstGeom prst="ellipse">
            <a:avLst/>
          </a:prstGeom>
          <a:solidFill>
            <a:srgbClr val="D7263D"/>
          </a:solidFill>
          <a:ln>
            <a:noFill/>
          </a:ln>
        </p:spPr>
      </p:sp>
      <p:sp>
        <p:nvSpPr>
          <p:cNvPr id="105" name="Data mark 105"/>
          <p:cNvSpPr txBox="0"/>
          <p:nvPr/>
        </p:nvSpPr>
        <p:spPr>
          <a:xfrm>
            <a:off x="5286375" y="2235696"/>
            <a:ext cx="114300" cy="114300"/>
          </a:xfrm>
          <a:prstGeom prst="ellipse">
            <a:avLst/>
          </a:prstGeom>
          <a:solidFill>
            <a:srgbClr val="D7263D"/>
          </a:solidFill>
          <a:ln>
            <a:noFill/>
          </a:ln>
        </p:spPr>
      </p:sp>
      <p:sp>
        <p:nvSpPr>
          <p:cNvPr id="106" name="Data mark 106"/>
          <p:cNvSpPr txBox="0"/>
          <p:nvPr/>
        </p:nvSpPr>
        <p:spPr>
          <a:xfrm>
            <a:off x="5457825" y="2235696"/>
            <a:ext cx="114300" cy="114300"/>
          </a:xfrm>
          <a:prstGeom prst="ellipse">
            <a:avLst/>
          </a:prstGeom>
          <a:solidFill>
            <a:srgbClr val="D7263D"/>
          </a:solidFill>
          <a:ln>
            <a:noFill/>
          </a:ln>
        </p:spPr>
      </p:sp>
      <p:sp>
        <p:nvSpPr>
          <p:cNvPr id="107" name="Data mark 107"/>
          <p:cNvSpPr txBox="0"/>
          <p:nvPr/>
        </p:nvSpPr>
        <p:spPr>
          <a:xfrm>
            <a:off x="5629275" y="2235696"/>
            <a:ext cx="114300" cy="114300"/>
          </a:xfrm>
          <a:prstGeom prst="ellipse">
            <a:avLst/>
          </a:prstGeom>
          <a:solidFill>
            <a:srgbClr val="D7263D"/>
          </a:solidFill>
          <a:ln>
            <a:noFill/>
          </a:ln>
        </p:spPr>
      </p:sp>
      <p:sp>
        <p:nvSpPr>
          <p:cNvPr id="108" name="Data mark 108"/>
          <p:cNvSpPr txBox="0"/>
          <p:nvPr/>
        </p:nvSpPr>
        <p:spPr>
          <a:xfrm>
            <a:off x="5800725" y="2235696"/>
            <a:ext cx="114300" cy="114300"/>
          </a:xfrm>
          <a:prstGeom prst="ellipse">
            <a:avLst/>
          </a:prstGeom>
          <a:solidFill>
            <a:srgbClr val="D7263D"/>
          </a:solidFill>
          <a:ln>
            <a:noFill/>
          </a:ln>
        </p:spPr>
      </p:sp>
      <p:sp>
        <p:nvSpPr>
          <p:cNvPr id="109" name="Data mark 109"/>
          <p:cNvSpPr txBox="0"/>
          <p:nvPr/>
        </p:nvSpPr>
        <p:spPr>
          <a:xfrm>
            <a:off x="5972175" y="2235696"/>
            <a:ext cx="114300" cy="114300"/>
          </a:xfrm>
          <a:prstGeom prst="ellipse">
            <a:avLst/>
          </a:prstGeom>
          <a:solidFill>
            <a:srgbClr val="D7263D"/>
          </a:solidFill>
          <a:ln>
            <a:noFill/>
          </a:ln>
        </p:spPr>
      </p:sp>
      <p:sp>
        <p:nvSpPr>
          <p:cNvPr id="110" name="Data mark 110"/>
          <p:cNvSpPr txBox="0"/>
          <p:nvPr/>
        </p:nvSpPr>
        <p:spPr>
          <a:xfrm>
            <a:off x="6143625" y="2235696"/>
            <a:ext cx="114300" cy="114300"/>
          </a:xfrm>
          <a:prstGeom prst="ellipse">
            <a:avLst/>
          </a:prstGeom>
          <a:solidFill>
            <a:srgbClr val="D7263D"/>
          </a:solidFill>
          <a:ln>
            <a:noFill/>
          </a:ln>
        </p:spPr>
      </p:sp>
      <p:sp>
        <p:nvSpPr>
          <p:cNvPr id="111" name="Data mark 111"/>
          <p:cNvSpPr txBox="0"/>
          <p:nvPr/>
        </p:nvSpPr>
        <p:spPr>
          <a:xfrm>
            <a:off x="6315075" y="2235696"/>
            <a:ext cx="114300" cy="114300"/>
          </a:xfrm>
          <a:prstGeom prst="ellipse">
            <a:avLst/>
          </a:prstGeom>
          <a:solidFill>
            <a:srgbClr val="D7263D"/>
          </a:solidFill>
          <a:ln>
            <a:noFill/>
          </a:ln>
        </p:spPr>
      </p:sp>
      <p:sp>
        <p:nvSpPr>
          <p:cNvPr id="112" name="Data mark 112"/>
          <p:cNvSpPr txBox="0"/>
          <p:nvPr/>
        </p:nvSpPr>
        <p:spPr>
          <a:xfrm>
            <a:off x="2714625" y="2407146"/>
            <a:ext cx="114300" cy="114300"/>
          </a:xfrm>
          <a:prstGeom prst="ellipse">
            <a:avLst/>
          </a:prstGeom>
          <a:solidFill>
            <a:srgbClr val="D7263D"/>
          </a:solidFill>
          <a:ln>
            <a:noFill/>
          </a:ln>
        </p:spPr>
      </p:sp>
      <p:sp>
        <p:nvSpPr>
          <p:cNvPr id="113" name="Data mark 113"/>
          <p:cNvSpPr txBox="0"/>
          <p:nvPr/>
        </p:nvSpPr>
        <p:spPr>
          <a:xfrm>
            <a:off x="2886075" y="2407146"/>
            <a:ext cx="114300" cy="114300"/>
          </a:xfrm>
          <a:prstGeom prst="ellipse">
            <a:avLst/>
          </a:prstGeom>
          <a:solidFill>
            <a:srgbClr val="D7263D"/>
          </a:solidFill>
          <a:ln>
            <a:noFill/>
          </a:ln>
        </p:spPr>
      </p:sp>
      <p:sp>
        <p:nvSpPr>
          <p:cNvPr id="114" name="Data mark 114"/>
          <p:cNvSpPr txBox="0"/>
          <p:nvPr/>
        </p:nvSpPr>
        <p:spPr>
          <a:xfrm>
            <a:off x="3057525" y="2407146"/>
            <a:ext cx="114300" cy="114300"/>
          </a:xfrm>
          <a:prstGeom prst="ellipse">
            <a:avLst/>
          </a:prstGeom>
          <a:solidFill>
            <a:srgbClr val="D7263D"/>
          </a:solidFill>
          <a:ln>
            <a:noFill/>
          </a:ln>
        </p:spPr>
      </p:sp>
      <p:sp>
        <p:nvSpPr>
          <p:cNvPr id="115" name="Data mark 115"/>
          <p:cNvSpPr txBox="0"/>
          <p:nvPr/>
        </p:nvSpPr>
        <p:spPr>
          <a:xfrm>
            <a:off x="3228975" y="2407146"/>
            <a:ext cx="114300" cy="114300"/>
          </a:xfrm>
          <a:prstGeom prst="ellipse">
            <a:avLst/>
          </a:prstGeom>
          <a:solidFill>
            <a:srgbClr val="D7263D"/>
          </a:solidFill>
          <a:ln>
            <a:noFill/>
          </a:ln>
        </p:spPr>
      </p:sp>
      <p:sp>
        <p:nvSpPr>
          <p:cNvPr id="116" name="Data mark 116"/>
          <p:cNvSpPr txBox="0"/>
          <p:nvPr/>
        </p:nvSpPr>
        <p:spPr>
          <a:xfrm>
            <a:off x="3400425" y="2407146"/>
            <a:ext cx="114300" cy="114300"/>
          </a:xfrm>
          <a:prstGeom prst="ellipse">
            <a:avLst/>
          </a:prstGeom>
          <a:solidFill>
            <a:srgbClr val="D7263D"/>
          </a:solidFill>
          <a:ln>
            <a:noFill/>
          </a:ln>
        </p:spPr>
      </p:sp>
      <p:sp>
        <p:nvSpPr>
          <p:cNvPr id="117" name="Data mark 117"/>
          <p:cNvSpPr txBox="0"/>
          <p:nvPr/>
        </p:nvSpPr>
        <p:spPr>
          <a:xfrm>
            <a:off x="3571875" y="2407146"/>
            <a:ext cx="114300" cy="114300"/>
          </a:xfrm>
          <a:prstGeom prst="ellipse">
            <a:avLst/>
          </a:prstGeom>
          <a:solidFill>
            <a:srgbClr val="D7263D"/>
          </a:solidFill>
          <a:ln>
            <a:noFill/>
          </a:ln>
        </p:spPr>
      </p:sp>
      <p:sp>
        <p:nvSpPr>
          <p:cNvPr id="118" name="Data mark 118"/>
          <p:cNvSpPr txBox="0"/>
          <p:nvPr/>
        </p:nvSpPr>
        <p:spPr>
          <a:xfrm>
            <a:off x="3743325" y="2407146"/>
            <a:ext cx="114300" cy="114300"/>
          </a:xfrm>
          <a:prstGeom prst="ellipse">
            <a:avLst/>
          </a:prstGeom>
          <a:solidFill>
            <a:srgbClr val="D7263D"/>
          </a:solidFill>
          <a:ln>
            <a:noFill/>
          </a:ln>
        </p:spPr>
      </p:sp>
      <p:sp>
        <p:nvSpPr>
          <p:cNvPr id="119" name="Data mark 119"/>
          <p:cNvSpPr txBox="0"/>
          <p:nvPr/>
        </p:nvSpPr>
        <p:spPr>
          <a:xfrm>
            <a:off x="3914775" y="2407146"/>
            <a:ext cx="114300" cy="114300"/>
          </a:xfrm>
          <a:prstGeom prst="ellipse">
            <a:avLst/>
          </a:prstGeom>
          <a:solidFill>
            <a:srgbClr val="D7263D"/>
          </a:solidFill>
          <a:ln>
            <a:noFill/>
          </a:ln>
        </p:spPr>
      </p:sp>
      <p:sp>
        <p:nvSpPr>
          <p:cNvPr id="120" name="Data mark 120"/>
          <p:cNvSpPr txBox="0"/>
          <p:nvPr/>
        </p:nvSpPr>
        <p:spPr>
          <a:xfrm>
            <a:off x="4086225" y="2407146"/>
            <a:ext cx="114300" cy="114300"/>
          </a:xfrm>
          <a:prstGeom prst="ellipse">
            <a:avLst/>
          </a:prstGeom>
          <a:solidFill>
            <a:srgbClr val="D7263D"/>
          </a:solidFill>
          <a:ln>
            <a:noFill/>
          </a:ln>
        </p:spPr>
      </p:sp>
      <p:sp>
        <p:nvSpPr>
          <p:cNvPr id="121" name="Data mark 121"/>
          <p:cNvSpPr txBox="0"/>
          <p:nvPr/>
        </p:nvSpPr>
        <p:spPr>
          <a:xfrm>
            <a:off x="4257675" y="2407146"/>
            <a:ext cx="114300" cy="114300"/>
          </a:xfrm>
          <a:prstGeom prst="ellipse">
            <a:avLst/>
          </a:prstGeom>
          <a:solidFill>
            <a:srgbClr val="D7263D"/>
          </a:solidFill>
          <a:ln>
            <a:noFill/>
          </a:ln>
        </p:spPr>
      </p:sp>
      <p:sp>
        <p:nvSpPr>
          <p:cNvPr id="122" name="Data mark 122"/>
          <p:cNvSpPr txBox="0"/>
          <p:nvPr/>
        </p:nvSpPr>
        <p:spPr>
          <a:xfrm>
            <a:off x="4429125" y="2407146"/>
            <a:ext cx="114300" cy="114300"/>
          </a:xfrm>
          <a:prstGeom prst="ellipse">
            <a:avLst/>
          </a:prstGeom>
          <a:solidFill>
            <a:srgbClr val="D7263D"/>
          </a:solidFill>
          <a:ln>
            <a:noFill/>
          </a:ln>
        </p:spPr>
      </p:sp>
      <p:sp>
        <p:nvSpPr>
          <p:cNvPr id="123" name="Data mark 123"/>
          <p:cNvSpPr txBox="0"/>
          <p:nvPr/>
        </p:nvSpPr>
        <p:spPr>
          <a:xfrm>
            <a:off x="4600575" y="2407146"/>
            <a:ext cx="114300" cy="114300"/>
          </a:xfrm>
          <a:prstGeom prst="ellipse">
            <a:avLst/>
          </a:prstGeom>
          <a:solidFill>
            <a:srgbClr val="D7263D"/>
          </a:solidFill>
          <a:ln>
            <a:noFill/>
          </a:ln>
        </p:spPr>
      </p:sp>
      <p:sp>
        <p:nvSpPr>
          <p:cNvPr id="124" name="Data mark 124"/>
          <p:cNvSpPr txBox="0"/>
          <p:nvPr/>
        </p:nvSpPr>
        <p:spPr>
          <a:xfrm>
            <a:off x="4772025" y="2407146"/>
            <a:ext cx="114300" cy="114300"/>
          </a:xfrm>
          <a:prstGeom prst="ellipse">
            <a:avLst/>
          </a:prstGeom>
          <a:solidFill>
            <a:srgbClr val="D7263D"/>
          </a:solidFill>
          <a:ln>
            <a:noFill/>
          </a:ln>
        </p:spPr>
      </p:sp>
      <p:sp>
        <p:nvSpPr>
          <p:cNvPr id="125" name="Data mark 125"/>
          <p:cNvSpPr txBox="0"/>
          <p:nvPr/>
        </p:nvSpPr>
        <p:spPr>
          <a:xfrm>
            <a:off x="4943475" y="2407146"/>
            <a:ext cx="114300" cy="114300"/>
          </a:xfrm>
          <a:prstGeom prst="ellipse">
            <a:avLst/>
          </a:prstGeom>
          <a:solidFill>
            <a:srgbClr val="D7263D"/>
          </a:solidFill>
          <a:ln>
            <a:noFill/>
          </a:ln>
        </p:spPr>
      </p:sp>
      <p:sp>
        <p:nvSpPr>
          <p:cNvPr id="126" name="Data mark 126"/>
          <p:cNvSpPr txBox="0"/>
          <p:nvPr/>
        </p:nvSpPr>
        <p:spPr>
          <a:xfrm>
            <a:off x="5114925" y="2407146"/>
            <a:ext cx="114300" cy="114300"/>
          </a:xfrm>
          <a:prstGeom prst="ellipse">
            <a:avLst/>
          </a:prstGeom>
          <a:solidFill>
            <a:srgbClr val="D7263D"/>
          </a:solidFill>
          <a:ln>
            <a:noFill/>
          </a:ln>
        </p:spPr>
      </p:sp>
      <p:sp>
        <p:nvSpPr>
          <p:cNvPr id="127" name="Data mark 127"/>
          <p:cNvSpPr txBox="0"/>
          <p:nvPr/>
        </p:nvSpPr>
        <p:spPr>
          <a:xfrm>
            <a:off x="5286375" y="2407146"/>
            <a:ext cx="114300" cy="114300"/>
          </a:xfrm>
          <a:prstGeom prst="ellipse">
            <a:avLst/>
          </a:prstGeom>
          <a:solidFill>
            <a:srgbClr val="D7263D"/>
          </a:solidFill>
          <a:ln>
            <a:noFill/>
          </a:ln>
        </p:spPr>
      </p:sp>
      <p:sp>
        <p:nvSpPr>
          <p:cNvPr id="128" name="Data mark 128"/>
          <p:cNvSpPr txBox="0"/>
          <p:nvPr/>
        </p:nvSpPr>
        <p:spPr>
          <a:xfrm>
            <a:off x="5457825" y="2407146"/>
            <a:ext cx="114300" cy="114300"/>
          </a:xfrm>
          <a:prstGeom prst="ellipse">
            <a:avLst/>
          </a:prstGeom>
          <a:solidFill>
            <a:srgbClr val="D7263D"/>
          </a:solidFill>
          <a:ln>
            <a:noFill/>
          </a:ln>
        </p:spPr>
      </p:sp>
      <p:sp>
        <p:nvSpPr>
          <p:cNvPr id="129" name="Data mark 129"/>
          <p:cNvSpPr txBox="0"/>
          <p:nvPr/>
        </p:nvSpPr>
        <p:spPr>
          <a:xfrm>
            <a:off x="5629275" y="2407146"/>
            <a:ext cx="114300" cy="114300"/>
          </a:xfrm>
          <a:prstGeom prst="ellipse">
            <a:avLst/>
          </a:prstGeom>
          <a:solidFill>
            <a:srgbClr val="D7263D"/>
          </a:solidFill>
          <a:ln>
            <a:noFill/>
          </a:ln>
        </p:spPr>
      </p:sp>
      <p:sp>
        <p:nvSpPr>
          <p:cNvPr id="130" name="Data mark 130"/>
          <p:cNvSpPr txBox="0"/>
          <p:nvPr/>
        </p:nvSpPr>
        <p:spPr>
          <a:xfrm>
            <a:off x="5800725" y="2407146"/>
            <a:ext cx="114300" cy="114300"/>
          </a:xfrm>
          <a:prstGeom prst="ellipse">
            <a:avLst/>
          </a:prstGeom>
          <a:solidFill>
            <a:srgbClr val="D7263D"/>
          </a:solidFill>
          <a:ln>
            <a:noFill/>
          </a:ln>
        </p:spPr>
      </p:sp>
      <p:sp>
        <p:nvSpPr>
          <p:cNvPr id="131" name="Data mark 131"/>
          <p:cNvSpPr txBox="0"/>
          <p:nvPr/>
        </p:nvSpPr>
        <p:spPr>
          <a:xfrm>
            <a:off x="5972175" y="2407146"/>
            <a:ext cx="114300" cy="114300"/>
          </a:xfrm>
          <a:prstGeom prst="ellipse">
            <a:avLst/>
          </a:prstGeom>
          <a:solidFill>
            <a:srgbClr val="D7263D"/>
          </a:solidFill>
          <a:ln>
            <a:noFill/>
          </a:ln>
        </p:spPr>
      </p:sp>
      <p:sp>
        <p:nvSpPr>
          <p:cNvPr id="132" name="Data mark 132"/>
          <p:cNvSpPr txBox="0"/>
          <p:nvPr/>
        </p:nvSpPr>
        <p:spPr>
          <a:xfrm>
            <a:off x="6143625" y="2407146"/>
            <a:ext cx="114300" cy="114300"/>
          </a:xfrm>
          <a:prstGeom prst="ellipse">
            <a:avLst/>
          </a:prstGeom>
          <a:solidFill>
            <a:srgbClr val="D7263D"/>
          </a:solidFill>
          <a:ln>
            <a:noFill/>
          </a:ln>
        </p:spPr>
      </p:sp>
      <p:sp>
        <p:nvSpPr>
          <p:cNvPr id="133" name="Data mark 133"/>
          <p:cNvSpPr txBox="0"/>
          <p:nvPr/>
        </p:nvSpPr>
        <p:spPr>
          <a:xfrm>
            <a:off x="6315075" y="2407146"/>
            <a:ext cx="114300" cy="114300"/>
          </a:xfrm>
          <a:prstGeom prst="ellipse">
            <a:avLst/>
          </a:prstGeom>
          <a:solidFill>
            <a:srgbClr val="D7263D"/>
          </a:solidFill>
          <a:ln>
            <a:noFill/>
          </a:ln>
        </p:spPr>
      </p:sp>
      <p:sp>
        <p:nvSpPr>
          <p:cNvPr id="134" name="Data mark 134"/>
          <p:cNvSpPr txBox="0"/>
          <p:nvPr/>
        </p:nvSpPr>
        <p:spPr>
          <a:xfrm>
            <a:off x="2714625" y="2578596"/>
            <a:ext cx="114300" cy="114300"/>
          </a:xfrm>
          <a:prstGeom prst="ellipse">
            <a:avLst/>
          </a:prstGeom>
          <a:solidFill>
            <a:srgbClr val="D7263D"/>
          </a:solidFill>
          <a:ln>
            <a:noFill/>
          </a:ln>
        </p:spPr>
      </p:sp>
      <p:sp>
        <p:nvSpPr>
          <p:cNvPr id="135" name="Data mark 135"/>
          <p:cNvSpPr txBox="0"/>
          <p:nvPr/>
        </p:nvSpPr>
        <p:spPr>
          <a:xfrm>
            <a:off x="2886075" y="2578596"/>
            <a:ext cx="114300" cy="114300"/>
          </a:xfrm>
          <a:prstGeom prst="ellipse">
            <a:avLst/>
          </a:prstGeom>
          <a:solidFill>
            <a:srgbClr val="D7263D"/>
          </a:solidFill>
          <a:ln>
            <a:noFill/>
          </a:ln>
        </p:spPr>
      </p:sp>
      <p:sp>
        <p:nvSpPr>
          <p:cNvPr id="136" name="Data mark 136"/>
          <p:cNvSpPr txBox="0"/>
          <p:nvPr/>
        </p:nvSpPr>
        <p:spPr>
          <a:xfrm>
            <a:off x="3057525" y="2578596"/>
            <a:ext cx="114300" cy="114300"/>
          </a:xfrm>
          <a:prstGeom prst="ellipse">
            <a:avLst/>
          </a:prstGeom>
          <a:solidFill>
            <a:srgbClr val="D7263D"/>
          </a:solidFill>
          <a:ln>
            <a:noFill/>
          </a:ln>
        </p:spPr>
      </p:sp>
      <p:sp>
        <p:nvSpPr>
          <p:cNvPr id="137" name="Data mark 137"/>
          <p:cNvSpPr txBox="0"/>
          <p:nvPr/>
        </p:nvSpPr>
        <p:spPr>
          <a:xfrm>
            <a:off x="3228975" y="2578596"/>
            <a:ext cx="114300" cy="114300"/>
          </a:xfrm>
          <a:prstGeom prst="ellipse">
            <a:avLst/>
          </a:prstGeom>
          <a:solidFill>
            <a:srgbClr val="D7263D"/>
          </a:solidFill>
          <a:ln>
            <a:noFill/>
          </a:ln>
        </p:spPr>
      </p:sp>
      <p:sp>
        <p:nvSpPr>
          <p:cNvPr id="138" name="Data mark 138"/>
          <p:cNvSpPr txBox="0"/>
          <p:nvPr/>
        </p:nvSpPr>
        <p:spPr>
          <a:xfrm>
            <a:off x="3400425" y="2578596"/>
            <a:ext cx="114300" cy="114300"/>
          </a:xfrm>
          <a:prstGeom prst="ellipse">
            <a:avLst/>
          </a:prstGeom>
          <a:solidFill>
            <a:srgbClr val="D7263D"/>
          </a:solidFill>
          <a:ln>
            <a:noFill/>
          </a:ln>
        </p:spPr>
      </p:sp>
      <p:sp>
        <p:nvSpPr>
          <p:cNvPr id="139" name="Data mark 139"/>
          <p:cNvSpPr txBox="0"/>
          <p:nvPr/>
        </p:nvSpPr>
        <p:spPr>
          <a:xfrm>
            <a:off x="3571875" y="2578596"/>
            <a:ext cx="114300" cy="114300"/>
          </a:xfrm>
          <a:prstGeom prst="ellipse">
            <a:avLst/>
          </a:prstGeom>
          <a:solidFill>
            <a:srgbClr val="D7263D"/>
          </a:solidFill>
          <a:ln>
            <a:noFill/>
          </a:ln>
        </p:spPr>
      </p:sp>
      <p:sp>
        <p:nvSpPr>
          <p:cNvPr id="140" name="Data mark 140"/>
          <p:cNvSpPr txBox="0"/>
          <p:nvPr/>
        </p:nvSpPr>
        <p:spPr>
          <a:xfrm>
            <a:off x="3743325" y="2578596"/>
            <a:ext cx="114300" cy="114300"/>
          </a:xfrm>
          <a:prstGeom prst="ellipse">
            <a:avLst/>
          </a:prstGeom>
          <a:solidFill>
            <a:srgbClr val="D7263D"/>
          </a:solidFill>
          <a:ln>
            <a:noFill/>
          </a:ln>
        </p:spPr>
      </p:sp>
      <p:sp>
        <p:nvSpPr>
          <p:cNvPr id="141" name="Data mark 141"/>
          <p:cNvSpPr txBox="0"/>
          <p:nvPr/>
        </p:nvSpPr>
        <p:spPr>
          <a:xfrm>
            <a:off x="3914775" y="2578596"/>
            <a:ext cx="114300" cy="114300"/>
          </a:xfrm>
          <a:prstGeom prst="ellipse">
            <a:avLst/>
          </a:prstGeom>
          <a:solidFill>
            <a:srgbClr val="D7263D"/>
          </a:solidFill>
          <a:ln>
            <a:noFill/>
          </a:ln>
        </p:spPr>
      </p:sp>
      <p:sp>
        <p:nvSpPr>
          <p:cNvPr id="142" name="Data mark 142"/>
          <p:cNvSpPr txBox="0"/>
          <p:nvPr/>
        </p:nvSpPr>
        <p:spPr>
          <a:xfrm>
            <a:off x="4086225" y="2578596"/>
            <a:ext cx="114300" cy="114300"/>
          </a:xfrm>
          <a:prstGeom prst="ellipse">
            <a:avLst/>
          </a:prstGeom>
          <a:solidFill>
            <a:srgbClr val="D7263D"/>
          </a:solidFill>
          <a:ln>
            <a:noFill/>
          </a:ln>
        </p:spPr>
      </p:sp>
      <p:sp>
        <p:nvSpPr>
          <p:cNvPr id="143" name="Data mark 143"/>
          <p:cNvSpPr txBox="0"/>
          <p:nvPr/>
        </p:nvSpPr>
        <p:spPr>
          <a:xfrm>
            <a:off x="4257675" y="2578596"/>
            <a:ext cx="114300" cy="114300"/>
          </a:xfrm>
          <a:prstGeom prst="ellipse">
            <a:avLst/>
          </a:prstGeom>
          <a:solidFill>
            <a:srgbClr val="D7263D"/>
          </a:solidFill>
          <a:ln>
            <a:noFill/>
          </a:ln>
        </p:spPr>
      </p:sp>
      <p:sp>
        <p:nvSpPr>
          <p:cNvPr id="144" name="Data mark 144"/>
          <p:cNvSpPr txBox="0"/>
          <p:nvPr/>
        </p:nvSpPr>
        <p:spPr>
          <a:xfrm>
            <a:off x="4429125" y="2578596"/>
            <a:ext cx="114300" cy="114300"/>
          </a:xfrm>
          <a:prstGeom prst="ellipse">
            <a:avLst/>
          </a:prstGeom>
          <a:solidFill>
            <a:srgbClr val="D7263D"/>
          </a:solidFill>
          <a:ln>
            <a:noFill/>
          </a:ln>
        </p:spPr>
      </p:sp>
      <p:sp>
        <p:nvSpPr>
          <p:cNvPr id="145" name="Data mark 145"/>
          <p:cNvSpPr txBox="0"/>
          <p:nvPr/>
        </p:nvSpPr>
        <p:spPr>
          <a:xfrm>
            <a:off x="4600575" y="2578596"/>
            <a:ext cx="114300" cy="114300"/>
          </a:xfrm>
          <a:prstGeom prst="ellipse">
            <a:avLst/>
          </a:prstGeom>
          <a:solidFill>
            <a:srgbClr val="D7263D"/>
          </a:solidFill>
          <a:ln>
            <a:noFill/>
          </a:ln>
        </p:spPr>
      </p:sp>
      <p:sp>
        <p:nvSpPr>
          <p:cNvPr id="146" name="Data mark 146"/>
          <p:cNvSpPr txBox="0"/>
          <p:nvPr/>
        </p:nvSpPr>
        <p:spPr>
          <a:xfrm>
            <a:off x="4772025" y="2578596"/>
            <a:ext cx="114300" cy="114300"/>
          </a:xfrm>
          <a:prstGeom prst="ellipse">
            <a:avLst/>
          </a:prstGeom>
          <a:solidFill>
            <a:srgbClr val="D7263D"/>
          </a:solidFill>
          <a:ln>
            <a:noFill/>
          </a:ln>
        </p:spPr>
      </p:sp>
      <p:sp>
        <p:nvSpPr>
          <p:cNvPr id="147" name="Data mark 147"/>
          <p:cNvSpPr txBox="0"/>
          <p:nvPr/>
        </p:nvSpPr>
        <p:spPr>
          <a:xfrm>
            <a:off x="4943475" y="2578596"/>
            <a:ext cx="114300" cy="114300"/>
          </a:xfrm>
          <a:prstGeom prst="ellipse">
            <a:avLst/>
          </a:prstGeom>
          <a:solidFill>
            <a:srgbClr val="D7263D"/>
          </a:solidFill>
          <a:ln>
            <a:noFill/>
          </a:ln>
        </p:spPr>
      </p:sp>
      <p:sp>
        <p:nvSpPr>
          <p:cNvPr id="148" name="Data mark 148"/>
          <p:cNvSpPr txBox="0"/>
          <p:nvPr/>
        </p:nvSpPr>
        <p:spPr>
          <a:xfrm>
            <a:off x="5114925" y="2578596"/>
            <a:ext cx="114300" cy="114300"/>
          </a:xfrm>
          <a:prstGeom prst="ellipse">
            <a:avLst/>
          </a:prstGeom>
          <a:solidFill>
            <a:srgbClr val="D7263D"/>
          </a:solidFill>
          <a:ln>
            <a:noFill/>
          </a:ln>
        </p:spPr>
      </p:sp>
      <p:sp>
        <p:nvSpPr>
          <p:cNvPr id="149" name="Data mark 149"/>
          <p:cNvSpPr txBox="0"/>
          <p:nvPr/>
        </p:nvSpPr>
        <p:spPr>
          <a:xfrm>
            <a:off x="5286375" y="2578596"/>
            <a:ext cx="114300" cy="114300"/>
          </a:xfrm>
          <a:prstGeom prst="ellipse">
            <a:avLst/>
          </a:prstGeom>
          <a:solidFill>
            <a:srgbClr val="D7263D"/>
          </a:solidFill>
          <a:ln>
            <a:noFill/>
          </a:ln>
        </p:spPr>
      </p:sp>
      <p:sp>
        <p:nvSpPr>
          <p:cNvPr id="150" name="Data mark 150"/>
          <p:cNvSpPr txBox="0"/>
          <p:nvPr/>
        </p:nvSpPr>
        <p:spPr>
          <a:xfrm>
            <a:off x="5457825" y="2578596"/>
            <a:ext cx="114300" cy="114300"/>
          </a:xfrm>
          <a:prstGeom prst="ellipse">
            <a:avLst/>
          </a:prstGeom>
          <a:solidFill>
            <a:srgbClr val="D7263D"/>
          </a:solidFill>
          <a:ln>
            <a:noFill/>
          </a:ln>
        </p:spPr>
      </p:sp>
      <p:sp>
        <p:nvSpPr>
          <p:cNvPr id="151" name="Data mark 151"/>
          <p:cNvSpPr txBox="0"/>
          <p:nvPr/>
        </p:nvSpPr>
        <p:spPr>
          <a:xfrm>
            <a:off x="5629275" y="2578596"/>
            <a:ext cx="114300" cy="114300"/>
          </a:xfrm>
          <a:prstGeom prst="ellipse">
            <a:avLst/>
          </a:prstGeom>
          <a:solidFill>
            <a:srgbClr val="D7263D"/>
          </a:solidFill>
          <a:ln>
            <a:noFill/>
          </a:ln>
        </p:spPr>
      </p:sp>
      <p:sp>
        <p:nvSpPr>
          <p:cNvPr id="152" name="Data mark 152"/>
          <p:cNvSpPr txBox="0"/>
          <p:nvPr/>
        </p:nvSpPr>
        <p:spPr>
          <a:xfrm>
            <a:off x="5800725" y="2578596"/>
            <a:ext cx="114300" cy="114300"/>
          </a:xfrm>
          <a:prstGeom prst="ellipse">
            <a:avLst/>
          </a:prstGeom>
          <a:solidFill>
            <a:srgbClr val="D7263D"/>
          </a:solidFill>
          <a:ln>
            <a:noFill/>
          </a:ln>
        </p:spPr>
      </p:sp>
      <p:sp>
        <p:nvSpPr>
          <p:cNvPr id="153" name="Data mark 153"/>
          <p:cNvSpPr txBox="0"/>
          <p:nvPr/>
        </p:nvSpPr>
        <p:spPr>
          <a:xfrm>
            <a:off x="5972175" y="2578596"/>
            <a:ext cx="114300" cy="114300"/>
          </a:xfrm>
          <a:prstGeom prst="ellipse">
            <a:avLst/>
          </a:prstGeom>
          <a:solidFill>
            <a:srgbClr val="D6D6D2"/>
          </a:solidFill>
          <a:ln>
            <a:noFill/>
          </a:ln>
        </p:spPr>
      </p:sp>
      <p:sp>
        <p:nvSpPr>
          <p:cNvPr id="154" name="Data mark 154"/>
          <p:cNvSpPr txBox="0"/>
          <p:nvPr/>
        </p:nvSpPr>
        <p:spPr>
          <a:xfrm>
            <a:off x="6143625" y="2578596"/>
            <a:ext cx="114300" cy="114300"/>
          </a:xfrm>
          <a:prstGeom prst="ellipse">
            <a:avLst/>
          </a:prstGeom>
          <a:solidFill>
            <a:srgbClr val="D6D6D2"/>
          </a:solidFill>
          <a:ln>
            <a:noFill/>
          </a:ln>
        </p:spPr>
      </p:sp>
      <p:sp>
        <p:nvSpPr>
          <p:cNvPr id="155" name="Data mark 155"/>
          <p:cNvSpPr txBox="0"/>
          <p:nvPr/>
        </p:nvSpPr>
        <p:spPr>
          <a:xfrm>
            <a:off x="6315075" y="2578596"/>
            <a:ext cx="114300" cy="114300"/>
          </a:xfrm>
          <a:prstGeom prst="ellipse">
            <a:avLst/>
          </a:prstGeom>
          <a:solidFill>
            <a:srgbClr val="D6D6D2"/>
          </a:solidFill>
          <a:ln>
            <a:noFill/>
          </a:ln>
        </p:spPr>
      </p:sp>
      <p:sp>
        <p:nvSpPr>
          <p:cNvPr id="156" name="Data mark 156"/>
          <p:cNvSpPr txBox="0"/>
          <p:nvPr/>
        </p:nvSpPr>
        <p:spPr>
          <a:xfrm>
            <a:off x="2714625" y="2750046"/>
            <a:ext cx="114300" cy="114300"/>
          </a:xfrm>
          <a:prstGeom prst="ellipse">
            <a:avLst/>
          </a:prstGeom>
          <a:solidFill>
            <a:srgbClr val="D6D6D2"/>
          </a:solidFill>
          <a:ln>
            <a:noFill/>
          </a:ln>
        </p:spPr>
      </p:sp>
      <p:sp>
        <p:nvSpPr>
          <p:cNvPr id="157" name="Data mark 157"/>
          <p:cNvSpPr txBox="0"/>
          <p:nvPr/>
        </p:nvSpPr>
        <p:spPr>
          <a:xfrm>
            <a:off x="2886075" y="2750046"/>
            <a:ext cx="114300" cy="114300"/>
          </a:xfrm>
          <a:prstGeom prst="ellipse">
            <a:avLst/>
          </a:prstGeom>
          <a:solidFill>
            <a:srgbClr val="D6D6D2"/>
          </a:solidFill>
          <a:ln>
            <a:noFill/>
          </a:ln>
        </p:spPr>
      </p:sp>
      <p:sp>
        <p:nvSpPr>
          <p:cNvPr id="158" name="Data mark 158"/>
          <p:cNvSpPr txBox="0"/>
          <p:nvPr/>
        </p:nvSpPr>
        <p:spPr>
          <a:xfrm>
            <a:off x="3057525" y="2750046"/>
            <a:ext cx="114300" cy="114300"/>
          </a:xfrm>
          <a:prstGeom prst="ellipse">
            <a:avLst/>
          </a:prstGeom>
          <a:solidFill>
            <a:srgbClr val="D6D6D2"/>
          </a:solidFill>
          <a:ln>
            <a:noFill/>
          </a:ln>
        </p:spPr>
      </p:sp>
      <p:sp>
        <p:nvSpPr>
          <p:cNvPr id="159" name="Data mark 159"/>
          <p:cNvSpPr txBox="0"/>
          <p:nvPr/>
        </p:nvSpPr>
        <p:spPr>
          <a:xfrm>
            <a:off x="3228975" y="2750046"/>
            <a:ext cx="114300" cy="114300"/>
          </a:xfrm>
          <a:prstGeom prst="ellipse">
            <a:avLst/>
          </a:prstGeom>
          <a:solidFill>
            <a:srgbClr val="D6D6D2"/>
          </a:solidFill>
          <a:ln>
            <a:noFill/>
          </a:ln>
        </p:spPr>
      </p:sp>
      <p:sp>
        <p:nvSpPr>
          <p:cNvPr id="160" name="Data mark 160"/>
          <p:cNvSpPr txBox="0"/>
          <p:nvPr/>
        </p:nvSpPr>
        <p:spPr>
          <a:xfrm>
            <a:off x="3400425" y="2750046"/>
            <a:ext cx="114300" cy="114300"/>
          </a:xfrm>
          <a:prstGeom prst="ellipse">
            <a:avLst/>
          </a:prstGeom>
          <a:solidFill>
            <a:srgbClr val="D6D6D2"/>
          </a:solidFill>
          <a:ln>
            <a:noFill/>
          </a:ln>
        </p:spPr>
      </p:sp>
      <p:sp>
        <p:nvSpPr>
          <p:cNvPr id="161" name="Data mark 161"/>
          <p:cNvSpPr txBox="0"/>
          <p:nvPr/>
        </p:nvSpPr>
        <p:spPr>
          <a:xfrm>
            <a:off x="3571875" y="2750046"/>
            <a:ext cx="114300" cy="114300"/>
          </a:xfrm>
          <a:prstGeom prst="ellipse">
            <a:avLst/>
          </a:prstGeom>
          <a:solidFill>
            <a:srgbClr val="D6D6D2"/>
          </a:solidFill>
          <a:ln>
            <a:noFill/>
          </a:ln>
        </p:spPr>
      </p:sp>
      <p:sp>
        <p:nvSpPr>
          <p:cNvPr id="162" name="Data mark 162"/>
          <p:cNvSpPr txBox="0"/>
          <p:nvPr/>
        </p:nvSpPr>
        <p:spPr>
          <a:xfrm>
            <a:off x="3743325" y="2750046"/>
            <a:ext cx="114300" cy="114300"/>
          </a:xfrm>
          <a:prstGeom prst="ellipse">
            <a:avLst/>
          </a:prstGeom>
          <a:solidFill>
            <a:srgbClr val="D6D6D2"/>
          </a:solidFill>
          <a:ln>
            <a:noFill/>
          </a:ln>
        </p:spPr>
      </p:sp>
      <p:sp>
        <p:nvSpPr>
          <p:cNvPr id="163" name="Data mark 163"/>
          <p:cNvSpPr txBox="0"/>
          <p:nvPr/>
        </p:nvSpPr>
        <p:spPr>
          <a:xfrm>
            <a:off x="3914775" y="2750046"/>
            <a:ext cx="114300" cy="114300"/>
          </a:xfrm>
          <a:prstGeom prst="ellipse">
            <a:avLst/>
          </a:prstGeom>
          <a:solidFill>
            <a:srgbClr val="D6D6D2"/>
          </a:solidFill>
          <a:ln>
            <a:noFill/>
          </a:ln>
        </p:spPr>
      </p:sp>
      <p:sp>
        <p:nvSpPr>
          <p:cNvPr id="164" name="Data mark 164"/>
          <p:cNvSpPr txBox="0"/>
          <p:nvPr/>
        </p:nvSpPr>
        <p:spPr>
          <a:xfrm>
            <a:off x="4086225" y="2750046"/>
            <a:ext cx="114300" cy="114300"/>
          </a:xfrm>
          <a:prstGeom prst="ellipse">
            <a:avLst/>
          </a:prstGeom>
          <a:solidFill>
            <a:srgbClr val="D6D6D2"/>
          </a:solidFill>
          <a:ln>
            <a:noFill/>
          </a:ln>
        </p:spPr>
      </p:sp>
      <p:sp>
        <p:nvSpPr>
          <p:cNvPr id="165" name="Data mark 165"/>
          <p:cNvSpPr txBox="0"/>
          <p:nvPr/>
        </p:nvSpPr>
        <p:spPr>
          <a:xfrm>
            <a:off x="4257675" y="2750046"/>
            <a:ext cx="114300" cy="114300"/>
          </a:xfrm>
          <a:prstGeom prst="ellipse">
            <a:avLst/>
          </a:prstGeom>
          <a:solidFill>
            <a:srgbClr val="D6D6D2"/>
          </a:solidFill>
          <a:ln>
            <a:noFill/>
          </a:ln>
        </p:spPr>
      </p:sp>
      <p:sp>
        <p:nvSpPr>
          <p:cNvPr id="166" name="Data mark 166"/>
          <p:cNvSpPr txBox="0"/>
          <p:nvPr/>
        </p:nvSpPr>
        <p:spPr>
          <a:xfrm>
            <a:off x="4429125" y="2750046"/>
            <a:ext cx="114300" cy="114300"/>
          </a:xfrm>
          <a:prstGeom prst="ellipse">
            <a:avLst/>
          </a:prstGeom>
          <a:solidFill>
            <a:srgbClr val="D6D6D2"/>
          </a:solidFill>
          <a:ln>
            <a:noFill/>
          </a:ln>
        </p:spPr>
      </p:sp>
      <p:sp>
        <p:nvSpPr>
          <p:cNvPr id="167" name="Data mark 167"/>
          <p:cNvSpPr txBox="0"/>
          <p:nvPr/>
        </p:nvSpPr>
        <p:spPr>
          <a:xfrm>
            <a:off x="4600575" y="2750046"/>
            <a:ext cx="114300" cy="114300"/>
          </a:xfrm>
          <a:prstGeom prst="ellipse">
            <a:avLst/>
          </a:prstGeom>
          <a:solidFill>
            <a:srgbClr val="D6D6D2"/>
          </a:solidFill>
          <a:ln>
            <a:noFill/>
          </a:ln>
        </p:spPr>
      </p:sp>
      <p:sp>
        <p:nvSpPr>
          <p:cNvPr id="168" name="Data mark 168"/>
          <p:cNvSpPr txBox="0"/>
          <p:nvPr/>
        </p:nvSpPr>
        <p:spPr>
          <a:xfrm>
            <a:off x="4772025" y="2750046"/>
            <a:ext cx="114300" cy="114300"/>
          </a:xfrm>
          <a:prstGeom prst="ellipse">
            <a:avLst/>
          </a:prstGeom>
          <a:solidFill>
            <a:srgbClr val="D6D6D2"/>
          </a:solidFill>
          <a:ln>
            <a:noFill/>
          </a:ln>
        </p:spPr>
      </p:sp>
      <p:sp>
        <p:nvSpPr>
          <p:cNvPr id="169" name="Data mark 169"/>
          <p:cNvSpPr txBox="0"/>
          <p:nvPr/>
        </p:nvSpPr>
        <p:spPr>
          <a:xfrm>
            <a:off x="4943475" y="2750046"/>
            <a:ext cx="114300" cy="114300"/>
          </a:xfrm>
          <a:prstGeom prst="ellipse">
            <a:avLst/>
          </a:prstGeom>
          <a:solidFill>
            <a:srgbClr val="D6D6D2"/>
          </a:solidFill>
          <a:ln>
            <a:noFill/>
          </a:ln>
        </p:spPr>
      </p:sp>
      <p:sp>
        <p:nvSpPr>
          <p:cNvPr id="170" name="Data mark 170"/>
          <p:cNvSpPr txBox="0"/>
          <p:nvPr/>
        </p:nvSpPr>
        <p:spPr>
          <a:xfrm>
            <a:off x="5114925" y="2750046"/>
            <a:ext cx="114300" cy="114300"/>
          </a:xfrm>
          <a:prstGeom prst="ellipse">
            <a:avLst/>
          </a:prstGeom>
          <a:solidFill>
            <a:srgbClr val="D6D6D2"/>
          </a:solidFill>
          <a:ln>
            <a:noFill/>
          </a:ln>
        </p:spPr>
      </p:sp>
      <p:sp>
        <p:nvSpPr>
          <p:cNvPr id="171" name="Data mark 171"/>
          <p:cNvSpPr txBox="0"/>
          <p:nvPr/>
        </p:nvSpPr>
        <p:spPr>
          <a:xfrm>
            <a:off x="5286375" y="2750046"/>
            <a:ext cx="114300" cy="114300"/>
          </a:xfrm>
          <a:prstGeom prst="ellipse">
            <a:avLst/>
          </a:prstGeom>
          <a:solidFill>
            <a:srgbClr val="D6D6D2"/>
          </a:solidFill>
          <a:ln>
            <a:noFill/>
          </a:ln>
        </p:spPr>
      </p:sp>
      <p:sp>
        <p:nvSpPr>
          <p:cNvPr id="172" name="Data mark 172"/>
          <p:cNvSpPr txBox="0"/>
          <p:nvPr/>
        </p:nvSpPr>
        <p:spPr>
          <a:xfrm>
            <a:off x="5457825" y="2750046"/>
            <a:ext cx="114300" cy="114300"/>
          </a:xfrm>
          <a:prstGeom prst="ellipse">
            <a:avLst/>
          </a:prstGeom>
          <a:solidFill>
            <a:srgbClr val="D6D6D2"/>
          </a:solidFill>
          <a:ln>
            <a:noFill/>
          </a:ln>
        </p:spPr>
      </p:sp>
      <p:sp>
        <p:nvSpPr>
          <p:cNvPr id="173" name="Data mark 173"/>
          <p:cNvSpPr txBox="0"/>
          <p:nvPr/>
        </p:nvSpPr>
        <p:spPr>
          <a:xfrm>
            <a:off x="5629275" y="2750046"/>
            <a:ext cx="114300" cy="114300"/>
          </a:xfrm>
          <a:prstGeom prst="ellipse">
            <a:avLst/>
          </a:prstGeom>
          <a:solidFill>
            <a:srgbClr val="D6D6D2"/>
          </a:solidFill>
          <a:ln>
            <a:noFill/>
          </a:ln>
        </p:spPr>
      </p:sp>
      <p:sp>
        <p:nvSpPr>
          <p:cNvPr id="174" name="Data mark 174"/>
          <p:cNvSpPr txBox="0"/>
          <p:nvPr/>
        </p:nvSpPr>
        <p:spPr>
          <a:xfrm>
            <a:off x="5800725" y="2750046"/>
            <a:ext cx="114300" cy="114300"/>
          </a:xfrm>
          <a:prstGeom prst="ellipse">
            <a:avLst/>
          </a:prstGeom>
          <a:solidFill>
            <a:srgbClr val="D6D6D2"/>
          </a:solidFill>
          <a:ln>
            <a:noFill/>
          </a:ln>
        </p:spPr>
      </p:sp>
      <p:sp>
        <p:nvSpPr>
          <p:cNvPr id="175" name="Data mark 175"/>
          <p:cNvSpPr txBox="0"/>
          <p:nvPr/>
        </p:nvSpPr>
        <p:spPr>
          <a:xfrm>
            <a:off x="5972175" y="2750046"/>
            <a:ext cx="114300" cy="114300"/>
          </a:xfrm>
          <a:prstGeom prst="ellipse">
            <a:avLst/>
          </a:prstGeom>
          <a:solidFill>
            <a:srgbClr val="D6D6D2"/>
          </a:solidFill>
          <a:ln>
            <a:noFill/>
          </a:ln>
        </p:spPr>
      </p:sp>
      <p:sp>
        <p:nvSpPr>
          <p:cNvPr id="176" name="Data mark 176"/>
          <p:cNvSpPr txBox="0"/>
          <p:nvPr/>
        </p:nvSpPr>
        <p:spPr>
          <a:xfrm>
            <a:off x="6143625" y="2750046"/>
            <a:ext cx="114300" cy="114300"/>
          </a:xfrm>
          <a:prstGeom prst="ellipse">
            <a:avLst/>
          </a:prstGeom>
          <a:solidFill>
            <a:srgbClr val="D6D6D2"/>
          </a:solidFill>
          <a:ln>
            <a:noFill/>
          </a:ln>
        </p:spPr>
      </p:sp>
      <p:sp>
        <p:nvSpPr>
          <p:cNvPr id="177" name="Data mark 177"/>
          <p:cNvSpPr txBox="0"/>
          <p:nvPr/>
        </p:nvSpPr>
        <p:spPr>
          <a:xfrm>
            <a:off x="6315075" y="2750046"/>
            <a:ext cx="114300" cy="114300"/>
          </a:xfrm>
          <a:prstGeom prst="ellipse">
            <a:avLst/>
          </a:prstGeom>
          <a:solidFill>
            <a:srgbClr val="D6D6D2"/>
          </a:solidFill>
          <a:ln>
            <a:noFill/>
          </a:ln>
        </p:spPr>
      </p:sp>
      <p:sp>
        <p:nvSpPr>
          <p:cNvPr id="178" name="Data mark 178"/>
          <p:cNvSpPr txBox="0"/>
          <p:nvPr/>
        </p:nvSpPr>
        <p:spPr>
          <a:xfrm>
            <a:off x="2714625" y="2921496"/>
            <a:ext cx="114300" cy="114300"/>
          </a:xfrm>
          <a:prstGeom prst="ellipse">
            <a:avLst/>
          </a:prstGeom>
          <a:solidFill>
            <a:srgbClr val="D6D6D2"/>
          </a:solidFill>
          <a:ln>
            <a:noFill/>
          </a:ln>
        </p:spPr>
      </p:sp>
      <p:sp>
        <p:nvSpPr>
          <p:cNvPr id="179" name="Data mark 179"/>
          <p:cNvSpPr txBox="0"/>
          <p:nvPr/>
        </p:nvSpPr>
        <p:spPr>
          <a:xfrm>
            <a:off x="2886075" y="2921496"/>
            <a:ext cx="114300" cy="114300"/>
          </a:xfrm>
          <a:prstGeom prst="ellipse">
            <a:avLst/>
          </a:prstGeom>
          <a:solidFill>
            <a:srgbClr val="D6D6D2"/>
          </a:solidFill>
          <a:ln>
            <a:noFill/>
          </a:ln>
        </p:spPr>
      </p:sp>
      <p:sp>
        <p:nvSpPr>
          <p:cNvPr id="180" name="Data mark 180"/>
          <p:cNvSpPr txBox="0"/>
          <p:nvPr/>
        </p:nvSpPr>
        <p:spPr>
          <a:xfrm>
            <a:off x="3057525" y="2921496"/>
            <a:ext cx="114300" cy="114300"/>
          </a:xfrm>
          <a:prstGeom prst="ellipse">
            <a:avLst/>
          </a:prstGeom>
          <a:solidFill>
            <a:srgbClr val="D6D6D2"/>
          </a:solidFill>
          <a:ln>
            <a:noFill/>
          </a:ln>
        </p:spPr>
      </p:sp>
      <p:sp>
        <p:nvSpPr>
          <p:cNvPr id="181" name="Data mark 181"/>
          <p:cNvSpPr txBox="0"/>
          <p:nvPr/>
        </p:nvSpPr>
        <p:spPr>
          <a:xfrm>
            <a:off x="3228975" y="2921496"/>
            <a:ext cx="114300" cy="114300"/>
          </a:xfrm>
          <a:prstGeom prst="ellipse">
            <a:avLst/>
          </a:prstGeom>
          <a:solidFill>
            <a:srgbClr val="D6D6D2"/>
          </a:solidFill>
          <a:ln>
            <a:noFill/>
          </a:ln>
        </p:spPr>
      </p:sp>
      <p:sp>
        <p:nvSpPr>
          <p:cNvPr id="182" name="Data mark 182"/>
          <p:cNvSpPr txBox="0"/>
          <p:nvPr/>
        </p:nvSpPr>
        <p:spPr>
          <a:xfrm>
            <a:off x="3400425" y="2921496"/>
            <a:ext cx="114300" cy="114300"/>
          </a:xfrm>
          <a:prstGeom prst="ellipse">
            <a:avLst/>
          </a:prstGeom>
          <a:solidFill>
            <a:srgbClr val="D6D6D2"/>
          </a:solidFill>
          <a:ln>
            <a:noFill/>
          </a:ln>
        </p:spPr>
      </p:sp>
      <p:sp>
        <p:nvSpPr>
          <p:cNvPr id="183" name="Data mark 183"/>
          <p:cNvSpPr txBox="0"/>
          <p:nvPr/>
        </p:nvSpPr>
        <p:spPr>
          <a:xfrm>
            <a:off x="3571875" y="2921496"/>
            <a:ext cx="114300" cy="114300"/>
          </a:xfrm>
          <a:prstGeom prst="ellipse">
            <a:avLst/>
          </a:prstGeom>
          <a:solidFill>
            <a:srgbClr val="D6D6D2"/>
          </a:solidFill>
          <a:ln>
            <a:noFill/>
          </a:ln>
        </p:spPr>
      </p:sp>
      <p:sp>
        <p:nvSpPr>
          <p:cNvPr id="184" name="Data mark 184"/>
          <p:cNvSpPr txBox="0"/>
          <p:nvPr/>
        </p:nvSpPr>
        <p:spPr>
          <a:xfrm>
            <a:off x="3743325" y="2921496"/>
            <a:ext cx="114300" cy="114300"/>
          </a:xfrm>
          <a:prstGeom prst="ellipse">
            <a:avLst/>
          </a:prstGeom>
          <a:solidFill>
            <a:srgbClr val="D6D6D2"/>
          </a:solidFill>
          <a:ln>
            <a:noFill/>
          </a:ln>
        </p:spPr>
      </p:sp>
      <p:sp>
        <p:nvSpPr>
          <p:cNvPr id="185" name="Data mark 185"/>
          <p:cNvSpPr txBox="0"/>
          <p:nvPr/>
        </p:nvSpPr>
        <p:spPr>
          <a:xfrm>
            <a:off x="3914775" y="2921496"/>
            <a:ext cx="114300" cy="114300"/>
          </a:xfrm>
          <a:prstGeom prst="ellipse">
            <a:avLst/>
          </a:prstGeom>
          <a:solidFill>
            <a:srgbClr val="D6D6D2"/>
          </a:solidFill>
          <a:ln>
            <a:noFill/>
          </a:ln>
        </p:spPr>
      </p:sp>
      <p:sp>
        <p:nvSpPr>
          <p:cNvPr id="186" name="Data mark 186"/>
          <p:cNvSpPr txBox="0"/>
          <p:nvPr/>
        </p:nvSpPr>
        <p:spPr>
          <a:xfrm>
            <a:off x="4086225" y="2921496"/>
            <a:ext cx="114300" cy="114300"/>
          </a:xfrm>
          <a:prstGeom prst="ellipse">
            <a:avLst/>
          </a:prstGeom>
          <a:solidFill>
            <a:srgbClr val="D6D6D2"/>
          </a:solidFill>
          <a:ln>
            <a:noFill/>
          </a:ln>
        </p:spPr>
      </p:sp>
      <p:sp>
        <p:nvSpPr>
          <p:cNvPr id="187" name="Data mark 187"/>
          <p:cNvSpPr txBox="0"/>
          <p:nvPr/>
        </p:nvSpPr>
        <p:spPr>
          <a:xfrm>
            <a:off x="4257675" y="2921496"/>
            <a:ext cx="114300" cy="114300"/>
          </a:xfrm>
          <a:prstGeom prst="ellipse">
            <a:avLst/>
          </a:prstGeom>
          <a:solidFill>
            <a:srgbClr val="D6D6D2"/>
          </a:solidFill>
          <a:ln>
            <a:noFill/>
          </a:ln>
        </p:spPr>
      </p:sp>
      <p:sp>
        <p:nvSpPr>
          <p:cNvPr id="188" name="Data mark 188"/>
          <p:cNvSpPr txBox="0"/>
          <p:nvPr/>
        </p:nvSpPr>
        <p:spPr>
          <a:xfrm>
            <a:off x="4429125" y="2921496"/>
            <a:ext cx="114300" cy="114300"/>
          </a:xfrm>
          <a:prstGeom prst="ellipse">
            <a:avLst/>
          </a:prstGeom>
          <a:solidFill>
            <a:srgbClr val="D6D6D2"/>
          </a:solidFill>
          <a:ln>
            <a:noFill/>
          </a:ln>
        </p:spPr>
      </p:sp>
      <p:sp>
        <p:nvSpPr>
          <p:cNvPr id="189" name="Data mark 189"/>
          <p:cNvSpPr txBox="0"/>
          <p:nvPr/>
        </p:nvSpPr>
        <p:spPr>
          <a:xfrm>
            <a:off x="4600575" y="2921496"/>
            <a:ext cx="114300" cy="114300"/>
          </a:xfrm>
          <a:prstGeom prst="ellipse">
            <a:avLst/>
          </a:prstGeom>
          <a:solidFill>
            <a:srgbClr val="D6D6D2"/>
          </a:solidFill>
          <a:ln>
            <a:noFill/>
          </a:ln>
        </p:spPr>
      </p:sp>
      <p:sp>
        <p:nvSpPr>
          <p:cNvPr id="190" name="Data mark 190"/>
          <p:cNvSpPr txBox="0"/>
          <p:nvPr/>
        </p:nvSpPr>
        <p:spPr>
          <a:xfrm>
            <a:off x="4772025" y="2921496"/>
            <a:ext cx="114300" cy="114300"/>
          </a:xfrm>
          <a:prstGeom prst="ellipse">
            <a:avLst/>
          </a:prstGeom>
          <a:solidFill>
            <a:srgbClr val="D6D6D2"/>
          </a:solidFill>
          <a:ln>
            <a:noFill/>
          </a:ln>
        </p:spPr>
      </p:sp>
      <p:sp>
        <p:nvSpPr>
          <p:cNvPr id="191" name="Data mark 191"/>
          <p:cNvSpPr txBox="0"/>
          <p:nvPr/>
        </p:nvSpPr>
        <p:spPr>
          <a:xfrm>
            <a:off x="4943475" y="2921496"/>
            <a:ext cx="114300" cy="114300"/>
          </a:xfrm>
          <a:prstGeom prst="ellipse">
            <a:avLst/>
          </a:prstGeom>
          <a:solidFill>
            <a:srgbClr val="D6D6D2"/>
          </a:solidFill>
          <a:ln>
            <a:noFill/>
          </a:ln>
        </p:spPr>
      </p:sp>
      <p:sp>
        <p:nvSpPr>
          <p:cNvPr id="192" name="Data mark 192"/>
          <p:cNvSpPr txBox="0"/>
          <p:nvPr/>
        </p:nvSpPr>
        <p:spPr>
          <a:xfrm>
            <a:off x="5114925" y="2921496"/>
            <a:ext cx="114300" cy="114300"/>
          </a:xfrm>
          <a:prstGeom prst="ellipse">
            <a:avLst/>
          </a:prstGeom>
          <a:solidFill>
            <a:srgbClr val="D6D6D2"/>
          </a:solidFill>
          <a:ln>
            <a:noFill/>
          </a:ln>
        </p:spPr>
      </p:sp>
      <p:sp>
        <p:nvSpPr>
          <p:cNvPr id="193" name="Data mark 193"/>
          <p:cNvSpPr txBox="0"/>
          <p:nvPr/>
        </p:nvSpPr>
        <p:spPr>
          <a:xfrm>
            <a:off x="5286375" y="2921496"/>
            <a:ext cx="114300" cy="114300"/>
          </a:xfrm>
          <a:prstGeom prst="ellipse">
            <a:avLst/>
          </a:prstGeom>
          <a:solidFill>
            <a:srgbClr val="D6D6D2"/>
          </a:solidFill>
          <a:ln>
            <a:noFill/>
          </a:ln>
        </p:spPr>
      </p:sp>
      <p:sp>
        <p:nvSpPr>
          <p:cNvPr id="194" name="Data mark 194"/>
          <p:cNvSpPr txBox="0"/>
          <p:nvPr/>
        </p:nvSpPr>
        <p:spPr>
          <a:xfrm>
            <a:off x="5457825" y="2921496"/>
            <a:ext cx="114300" cy="114300"/>
          </a:xfrm>
          <a:prstGeom prst="ellipse">
            <a:avLst/>
          </a:prstGeom>
          <a:solidFill>
            <a:srgbClr val="D6D6D2"/>
          </a:solidFill>
          <a:ln>
            <a:noFill/>
          </a:ln>
        </p:spPr>
      </p:sp>
      <p:sp>
        <p:nvSpPr>
          <p:cNvPr id="195" name="Data mark 195"/>
          <p:cNvSpPr txBox="0"/>
          <p:nvPr/>
        </p:nvSpPr>
        <p:spPr>
          <a:xfrm>
            <a:off x="5629275" y="2921496"/>
            <a:ext cx="114300" cy="114300"/>
          </a:xfrm>
          <a:prstGeom prst="ellipse">
            <a:avLst/>
          </a:prstGeom>
          <a:solidFill>
            <a:srgbClr val="D6D6D2"/>
          </a:solidFill>
          <a:ln>
            <a:noFill/>
          </a:ln>
        </p:spPr>
      </p:sp>
      <p:sp>
        <p:nvSpPr>
          <p:cNvPr id="196" name="Data mark 196"/>
          <p:cNvSpPr txBox="0"/>
          <p:nvPr/>
        </p:nvSpPr>
        <p:spPr>
          <a:xfrm>
            <a:off x="5800725" y="2921496"/>
            <a:ext cx="114300" cy="114300"/>
          </a:xfrm>
          <a:prstGeom prst="ellipse">
            <a:avLst/>
          </a:prstGeom>
          <a:solidFill>
            <a:srgbClr val="D6D6D2"/>
          </a:solidFill>
          <a:ln>
            <a:noFill/>
          </a:ln>
        </p:spPr>
      </p:sp>
      <p:sp>
        <p:nvSpPr>
          <p:cNvPr id="197" name="Data mark 197"/>
          <p:cNvSpPr txBox="0"/>
          <p:nvPr/>
        </p:nvSpPr>
        <p:spPr>
          <a:xfrm>
            <a:off x="5972175" y="2921496"/>
            <a:ext cx="114300" cy="114300"/>
          </a:xfrm>
          <a:prstGeom prst="ellipse">
            <a:avLst/>
          </a:prstGeom>
          <a:solidFill>
            <a:srgbClr val="D6D6D2"/>
          </a:solidFill>
          <a:ln>
            <a:noFill/>
          </a:ln>
        </p:spPr>
      </p:sp>
      <p:sp>
        <p:nvSpPr>
          <p:cNvPr id="198" name="Data mark 198"/>
          <p:cNvSpPr txBox="0"/>
          <p:nvPr/>
        </p:nvSpPr>
        <p:spPr>
          <a:xfrm>
            <a:off x="6143625" y="2921496"/>
            <a:ext cx="114300" cy="114300"/>
          </a:xfrm>
          <a:prstGeom prst="ellipse">
            <a:avLst/>
          </a:prstGeom>
          <a:solidFill>
            <a:srgbClr val="D6D6D2"/>
          </a:solidFill>
          <a:ln>
            <a:noFill/>
          </a:ln>
        </p:spPr>
      </p:sp>
      <p:sp>
        <p:nvSpPr>
          <p:cNvPr id="199" name="Data mark 199"/>
          <p:cNvSpPr txBox="0"/>
          <p:nvPr/>
        </p:nvSpPr>
        <p:spPr>
          <a:xfrm>
            <a:off x="6315075" y="2921496"/>
            <a:ext cx="114300" cy="114300"/>
          </a:xfrm>
          <a:prstGeom prst="ellipse">
            <a:avLst/>
          </a:prstGeom>
          <a:solidFill>
            <a:srgbClr val="D6D6D2"/>
          </a:solidFill>
          <a:ln>
            <a:noFill/>
          </a:ln>
        </p:spPr>
      </p:sp>
      <p:sp>
        <p:nvSpPr>
          <p:cNvPr id="200" name="Data mark 200"/>
          <p:cNvSpPr txBox="0"/>
          <p:nvPr/>
        </p:nvSpPr>
        <p:spPr>
          <a:xfrm>
            <a:off x="2714625" y="3092946"/>
            <a:ext cx="114300" cy="114300"/>
          </a:xfrm>
          <a:prstGeom prst="ellipse">
            <a:avLst/>
          </a:prstGeom>
          <a:solidFill>
            <a:srgbClr val="D6D6D2"/>
          </a:solidFill>
          <a:ln>
            <a:noFill/>
          </a:ln>
        </p:spPr>
      </p:sp>
      <p:sp>
        <p:nvSpPr>
          <p:cNvPr id="201" name="Data mark 201"/>
          <p:cNvSpPr txBox="0"/>
          <p:nvPr/>
        </p:nvSpPr>
        <p:spPr>
          <a:xfrm>
            <a:off x="2886075" y="3092946"/>
            <a:ext cx="114300" cy="114300"/>
          </a:xfrm>
          <a:prstGeom prst="ellipse">
            <a:avLst/>
          </a:prstGeom>
          <a:solidFill>
            <a:srgbClr val="D6D6D2"/>
          </a:solidFill>
          <a:ln>
            <a:noFill/>
          </a:ln>
        </p:spPr>
      </p:sp>
      <p:sp>
        <p:nvSpPr>
          <p:cNvPr id="202" name="Data mark 202"/>
          <p:cNvSpPr txBox="0"/>
          <p:nvPr/>
        </p:nvSpPr>
        <p:spPr>
          <a:xfrm>
            <a:off x="3057525" y="3092946"/>
            <a:ext cx="114300" cy="114300"/>
          </a:xfrm>
          <a:prstGeom prst="ellipse">
            <a:avLst/>
          </a:prstGeom>
          <a:solidFill>
            <a:srgbClr val="D6D6D2"/>
          </a:solidFill>
          <a:ln>
            <a:noFill/>
          </a:ln>
        </p:spPr>
      </p:sp>
      <p:sp>
        <p:nvSpPr>
          <p:cNvPr id="203" name="Data mark 203"/>
          <p:cNvSpPr txBox="0"/>
          <p:nvPr/>
        </p:nvSpPr>
        <p:spPr>
          <a:xfrm>
            <a:off x="3228975" y="3092946"/>
            <a:ext cx="114300" cy="114300"/>
          </a:xfrm>
          <a:prstGeom prst="ellipse">
            <a:avLst/>
          </a:prstGeom>
          <a:solidFill>
            <a:srgbClr val="D6D6D2"/>
          </a:solidFill>
          <a:ln>
            <a:noFill/>
          </a:ln>
        </p:spPr>
      </p:sp>
      <p:sp>
        <p:nvSpPr>
          <p:cNvPr id="204" name="Data mark 204"/>
          <p:cNvSpPr txBox="0"/>
          <p:nvPr/>
        </p:nvSpPr>
        <p:spPr>
          <a:xfrm>
            <a:off x="3400425" y="3092946"/>
            <a:ext cx="114300" cy="114300"/>
          </a:xfrm>
          <a:prstGeom prst="ellipse">
            <a:avLst/>
          </a:prstGeom>
          <a:solidFill>
            <a:srgbClr val="D6D6D2"/>
          </a:solidFill>
          <a:ln>
            <a:noFill/>
          </a:ln>
        </p:spPr>
      </p:sp>
      <p:sp>
        <p:nvSpPr>
          <p:cNvPr id="205" name="Data mark 205"/>
          <p:cNvSpPr txBox="0"/>
          <p:nvPr/>
        </p:nvSpPr>
        <p:spPr>
          <a:xfrm>
            <a:off x="3571875" y="3092946"/>
            <a:ext cx="114300" cy="114300"/>
          </a:xfrm>
          <a:prstGeom prst="ellipse">
            <a:avLst/>
          </a:prstGeom>
          <a:solidFill>
            <a:srgbClr val="D6D6D2"/>
          </a:solidFill>
          <a:ln>
            <a:noFill/>
          </a:ln>
        </p:spPr>
      </p:sp>
      <p:sp>
        <p:nvSpPr>
          <p:cNvPr id="206" name="Data mark 206"/>
          <p:cNvSpPr txBox="0"/>
          <p:nvPr/>
        </p:nvSpPr>
        <p:spPr>
          <a:xfrm>
            <a:off x="3743325" y="3092946"/>
            <a:ext cx="114300" cy="114300"/>
          </a:xfrm>
          <a:prstGeom prst="ellipse">
            <a:avLst/>
          </a:prstGeom>
          <a:solidFill>
            <a:srgbClr val="D6D6D2"/>
          </a:solidFill>
          <a:ln>
            <a:noFill/>
          </a:ln>
        </p:spPr>
      </p:sp>
      <p:sp>
        <p:nvSpPr>
          <p:cNvPr id="207" name="Data mark 207"/>
          <p:cNvSpPr txBox="0"/>
          <p:nvPr/>
        </p:nvSpPr>
        <p:spPr>
          <a:xfrm>
            <a:off x="3914775" y="3092946"/>
            <a:ext cx="114300" cy="114300"/>
          </a:xfrm>
          <a:prstGeom prst="ellipse">
            <a:avLst/>
          </a:prstGeom>
          <a:solidFill>
            <a:srgbClr val="D6D6D2"/>
          </a:solidFill>
          <a:ln>
            <a:noFill/>
          </a:ln>
        </p:spPr>
      </p:sp>
      <p:sp>
        <p:nvSpPr>
          <p:cNvPr id="208" name="Data mark 208"/>
          <p:cNvSpPr txBox="0"/>
          <p:nvPr/>
        </p:nvSpPr>
        <p:spPr>
          <a:xfrm>
            <a:off x="4086225" y="3092946"/>
            <a:ext cx="114300" cy="114300"/>
          </a:xfrm>
          <a:prstGeom prst="ellipse">
            <a:avLst/>
          </a:prstGeom>
          <a:solidFill>
            <a:srgbClr val="D6D6D2"/>
          </a:solidFill>
          <a:ln>
            <a:noFill/>
          </a:ln>
        </p:spPr>
      </p:sp>
      <p:sp>
        <p:nvSpPr>
          <p:cNvPr id="209" name="Data mark 209"/>
          <p:cNvSpPr txBox="0"/>
          <p:nvPr/>
        </p:nvSpPr>
        <p:spPr>
          <a:xfrm>
            <a:off x="4257675" y="3092946"/>
            <a:ext cx="114300" cy="114300"/>
          </a:xfrm>
          <a:prstGeom prst="ellipse">
            <a:avLst/>
          </a:prstGeom>
          <a:solidFill>
            <a:srgbClr val="D6D6D2"/>
          </a:solidFill>
          <a:ln>
            <a:noFill/>
          </a:ln>
        </p:spPr>
      </p:sp>
      <p:sp>
        <p:nvSpPr>
          <p:cNvPr id="210" name="Data mark 210"/>
          <p:cNvSpPr txBox="0"/>
          <p:nvPr/>
        </p:nvSpPr>
        <p:spPr>
          <a:xfrm>
            <a:off x="4429125" y="3092946"/>
            <a:ext cx="114300" cy="114300"/>
          </a:xfrm>
          <a:prstGeom prst="ellipse">
            <a:avLst/>
          </a:prstGeom>
          <a:solidFill>
            <a:srgbClr val="D6D6D2"/>
          </a:solidFill>
          <a:ln>
            <a:noFill/>
          </a:ln>
        </p:spPr>
      </p:sp>
      <p:sp>
        <p:nvSpPr>
          <p:cNvPr id="211" name="Data mark 211"/>
          <p:cNvSpPr txBox="0"/>
          <p:nvPr/>
        </p:nvSpPr>
        <p:spPr>
          <a:xfrm>
            <a:off x="4600575" y="3092946"/>
            <a:ext cx="114300" cy="114300"/>
          </a:xfrm>
          <a:prstGeom prst="ellipse">
            <a:avLst/>
          </a:prstGeom>
          <a:solidFill>
            <a:srgbClr val="D6D6D2"/>
          </a:solidFill>
          <a:ln>
            <a:noFill/>
          </a:ln>
        </p:spPr>
      </p:sp>
      <p:sp>
        <p:nvSpPr>
          <p:cNvPr id="212" name="Data mark 212"/>
          <p:cNvSpPr txBox="0"/>
          <p:nvPr/>
        </p:nvSpPr>
        <p:spPr>
          <a:xfrm>
            <a:off x="4772025" y="3092946"/>
            <a:ext cx="114300" cy="114300"/>
          </a:xfrm>
          <a:prstGeom prst="ellipse">
            <a:avLst/>
          </a:prstGeom>
          <a:solidFill>
            <a:srgbClr val="D6D6D2"/>
          </a:solidFill>
          <a:ln>
            <a:noFill/>
          </a:ln>
        </p:spPr>
      </p:sp>
      <p:sp>
        <p:nvSpPr>
          <p:cNvPr id="213" name="Data mark 213"/>
          <p:cNvSpPr txBox="0"/>
          <p:nvPr/>
        </p:nvSpPr>
        <p:spPr>
          <a:xfrm>
            <a:off x="4943475" y="3092946"/>
            <a:ext cx="114300" cy="114300"/>
          </a:xfrm>
          <a:prstGeom prst="ellipse">
            <a:avLst/>
          </a:prstGeom>
          <a:solidFill>
            <a:srgbClr val="D6D6D2"/>
          </a:solidFill>
          <a:ln>
            <a:noFill/>
          </a:ln>
        </p:spPr>
      </p:sp>
      <p:sp>
        <p:nvSpPr>
          <p:cNvPr id="214" name="Data mark 214"/>
          <p:cNvSpPr txBox="0"/>
          <p:nvPr/>
        </p:nvSpPr>
        <p:spPr>
          <a:xfrm>
            <a:off x="5114925" y="3092946"/>
            <a:ext cx="114300" cy="114300"/>
          </a:xfrm>
          <a:prstGeom prst="ellipse">
            <a:avLst/>
          </a:prstGeom>
          <a:solidFill>
            <a:srgbClr val="D6D6D2"/>
          </a:solidFill>
          <a:ln>
            <a:noFill/>
          </a:ln>
        </p:spPr>
      </p:sp>
      <p:sp>
        <p:nvSpPr>
          <p:cNvPr id="215" name="Data mark 215"/>
          <p:cNvSpPr txBox="0"/>
          <p:nvPr/>
        </p:nvSpPr>
        <p:spPr>
          <a:xfrm>
            <a:off x="5286375" y="3092946"/>
            <a:ext cx="114300" cy="114300"/>
          </a:xfrm>
          <a:prstGeom prst="ellipse">
            <a:avLst/>
          </a:prstGeom>
          <a:solidFill>
            <a:srgbClr val="D6D6D2"/>
          </a:solidFill>
          <a:ln>
            <a:noFill/>
          </a:ln>
        </p:spPr>
      </p:sp>
      <p:sp>
        <p:nvSpPr>
          <p:cNvPr id="216" name="Data mark 216"/>
          <p:cNvSpPr txBox="0"/>
          <p:nvPr/>
        </p:nvSpPr>
        <p:spPr>
          <a:xfrm>
            <a:off x="5457825" y="3092946"/>
            <a:ext cx="114300" cy="114300"/>
          </a:xfrm>
          <a:prstGeom prst="ellipse">
            <a:avLst/>
          </a:prstGeom>
          <a:solidFill>
            <a:srgbClr val="D6D6D2"/>
          </a:solidFill>
          <a:ln>
            <a:noFill/>
          </a:ln>
        </p:spPr>
      </p:sp>
      <p:sp>
        <p:nvSpPr>
          <p:cNvPr id="217" name="Data mark 217"/>
          <p:cNvSpPr txBox="0"/>
          <p:nvPr/>
        </p:nvSpPr>
        <p:spPr>
          <a:xfrm>
            <a:off x="5629275" y="3092946"/>
            <a:ext cx="114300" cy="114300"/>
          </a:xfrm>
          <a:prstGeom prst="ellipse">
            <a:avLst/>
          </a:prstGeom>
          <a:solidFill>
            <a:srgbClr val="D6D6D2"/>
          </a:solidFill>
          <a:ln>
            <a:noFill/>
          </a:ln>
        </p:spPr>
      </p:sp>
      <p:sp>
        <p:nvSpPr>
          <p:cNvPr id="218" name="Data mark 218"/>
          <p:cNvSpPr txBox="0"/>
          <p:nvPr/>
        </p:nvSpPr>
        <p:spPr>
          <a:xfrm>
            <a:off x="5800725" y="3092946"/>
            <a:ext cx="114300" cy="114300"/>
          </a:xfrm>
          <a:prstGeom prst="ellipse">
            <a:avLst/>
          </a:prstGeom>
          <a:solidFill>
            <a:srgbClr val="D6D6D2"/>
          </a:solidFill>
          <a:ln>
            <a:noFill/>
          </a:ln>
        </p:spPr>
      </p:sp>
      <p:sp>
        <p:nvSpPr>
          <p:cNvPr id="219" name="Data mark 219"/>
          <p:cNvSpPr txBox="0"/>
          <p:nvPr/>
        </p:nvSpPr>
        <p:spPr>
          <a:xfrm>
            <a:off x="5972175" y="3092946"/>
            <a:ext cx="114300" cy="114300"/>
          </a:xfrm>
          <a:prstGeom prst="ellipse">
            <a:avLst/>
          </a:prstGeom>
          <a:solidFill>
            <a:srgbClr val="D6D6D2"/>
          </a:solidFill>
          <a:ln>
            <a:noFill/>
          </a:ln>
        </p:spPr>
      </p:sp>
      <p:sp>
        <p:nvSpPr>
          <p:cNvPr id="220" name="Data mark 220"/>
          <p:cNvSpPr txBox="0"/>
          <p:nvPr/>
        </p:nvSpPr>
        <p:spPr>
          <a:xfrm>
            <a:off x="6143625" y="3092946"/>
            <a:ext cx="114300" cy="114300"/>
          </a:xfrm>
          <a:prstGeom prst="ellipse">
            <a:avLst/>
          </a:prstGeom>
          <a:solidFill>
            <a:srgbClr val="D6D6D2"/>
          </a:solidFill>
          <a:ln>
            <a:noFill/>
          </a:ln>
        </p:spPr>
      </p:sp>
      <p:sp>
        <p:nvSpPr>
          <p:cNvPr id="221" name="Data mark 221"/>
          <p:cNvSpPr txBox="0"/>
          <p:nvPr/>
        </p:nvSpPr>
        <p:spPr>
          <a:xfrm>
            <a:off x="6315075" y="3092946"/>
            <a:ext cx="114300" cy="114300"/>
          </a:xfrm>
          <a:prstGeom prst="ellipse">
            <a:avLst/>
          </a:prstGeom>
          <a:solidFill>
            <a:srgbClr val="D6D6D2"/>
          </a:solidFill>
          <a:ln>
            <a:noFill/>
          </a:ln>
        </p:spPr>
      </p:sp>
      <p:sp>
        <p:nvSpPr>
          <p:cNvPr id="222" name="Data mark 222"/>
          <p:cNvSpPr txBox="0"/>
          <p:nvPr/>
        </p:nvSpPr>
        <p:spPr>
          <a:xfrm>
            <a:off x="2714625" y="3264396"/>
            <a:ext cx="114300" cy="114300"/>
          </a:xfrm>
          <a:prstGeom prst="ellipse">
            <a:avLst/>
          </a:prstGeom>
          <a:solidFill>
            <a:srgbClr val="D6D6D2"/>
          </a:solidFill>
          <a:ln>
            <a:noFill/>
          </a:ln>
        </p:spPr>
      </p:sp>
      <p:sp>
        <p:nvSpPr>
          <p:cNvPr id="223" name="Data mark 223"/>
          <p:cNvSpPr txBox="0"/>
          <p:nvPr/>
        </p:nvSpPr>
        <p:spPr>
          <a:xfrm>
            <a:off x="2886075" y="3264396"/>
            <a:ext cx="114300" cy="114300"/>
          </a:xfrm>
          <a:prstGeom prst="ellipse">
            <a:avLst/>
          </a:prstGeom>
          <a:solidFill>
            <a:srgbClr val="D6D6D2"/>
          </a:solidFill>
          <a:ln>
            <a:noFill/>
          </a:ln>
        </p:spPr>
      </p:sp>
      <p:sp>
        <p:nvSpPr>
          <p:cNvPr id="224" name="Data mark 224"/>
          <p:cNvSpPr txBox="0"/>
          <p:nvPr/>
        </p:nvSpPr>
        <p:spPr>
          <a:xfrm>
            <a:off x="3057525" y="3264396"/>
            <a:ext cx="114300" cy="114300"/>
          </a:xfrm>
          <a:prstGeom prst="ellipse">
            <a:avLst/>
          </a:prstGeom>
          <a:solidFill>
            <a:srgbClr val="D6D6D2"/>
          </a:solidFill>
          <a:ln>
            <a:noFill/>
          </a:ln>
        </p:spPr>
      </p:sp>
      <p:sp>
        <p:nvSpPr>
          <p:cNvPr id="225" name="Data mark 225"/>
          <p:cNvSpPr txBox="0"/>
          <p:nvPr/>
        </p:nvSpPr>
        <p:spPr>
          <a:xfrm>
            <a:off x="3228975" y="3264396"/>
            <a:ext cx="114300" cy="114300"/>
          </a:xfrm>
          <a:prstGeom prst="ellipse">
            <a:avLst/>
          </a:prstGeom>
          <a:solidFill>
            <a:srgbClr val="D6D6D2"/>
          </a:solidFill>
          <a:ln>
            <a:noFill/>
          </a:ln>
        </p:spPr>
      </p:sp>
      <p:sp>
        <p:nvSpPr>
          <p:cNvPr id="226" name="Data mark 226"/>
          <p:cNvSpPr txBox="0"/>
          <p:nvPr/>
        </p:nvSpPr>
        <p:spPr>
          <a:xfrm>
            <a:off x="3400425" y="3264396"/>
            <a:ext cx="114300" cy="114300"/>
          </a:xfrm>
          <a:prstGeom prst="ellipse">
            <a:avLst/>
          </a:prstGeom>
          <a:solidFill>
            <a:srgbClr val="D6D6D2"/>
          </a:solidFill>
          <a:ln>
            <a:noFill/>
          </a:ln>
        </p:spPr>
      </p:sp>
      <p:sp>
        <p:nvSpPr>
          <p:cNvPr id="227" name="Data mark 227"/>
          <p:cNvSpPr txBox="0"/>
          <p:nvPr/>
        </p:nvSpPr>
        <p:spPr>
          <a:xfrm>
            <a:off x="3571875" y="3264396"/>
            <a:ext cx="114300" cy="114300"/>
          </a:xfrm>
          <a:prstGeom prst="ellipse">
            <a:avLst/>
          </a:prstGeom>
          <a:solidFill>
            <a:srgbClr val="D6D6D2"/>
          </a:solidFill>
          <a:ln>
            <a:noFill/>
          </a:ln>
        </p:spPr>
      </p:sp>
      <p:sp>
        <p:nvSpPr>
          <p:cNvPr id="228" name="Data mark 228"/>
          <p:cNvSpPr txBox="0"/>
          <p:nvPr/>
        </p:nvSpPr>
        <p:spPr>
          <a:xfrm>
            <a:off x="3743325" y="3264396"/>
            <a:ext cx="114300" cy="114300"/>
          </a:xfrm>
          <a:prstGeom prst="ellipse">
            <a:avLst/>
          </a:prstGeom>
          <a:solidFill>
            <a:srgbClr val="D6D6D2"/>
          </a:solidFill>
          <a:ln>
            <a:noFill/>
          </a:ln>
        </p:spPr>
      </p:sp>
      <p:sp>
        <p:nvSpPr>
          <p:cNvPr id="229" name="Data mark 229"/>
          <p:cNvSpPr txBox="0"/>
          <p:nvPr/>
        </p:nvSpPr>
        <p:spPr>
          <a:xfrm>
            <a:off x="3914775" y="3264396"/>
            <a:ext cx="114300" cy="114300"/>
          </a:xfrm>
          <a:prstGeom prst="ellipse">
            <a:avLst/>
          </a:prstGeom>
          <a:solidFill>
            <a:srgbClr val="D6D6D2"/>
          </a:solidFill>
          <a:ln>
            <a:noFill/>
          </a:ln>
        </p:spPr>
      </p:sp>
      <p:sp>
        <p:nvSpPr>
          <p:cNvPr id="230" name="Data mark 230"/>
          <p:cNvSpPr txBox="0"/>
          <p:nvPr/>
        </p:nvSpPr>
        <p:spPr>
          <a:xfrm>
            <a:off x="4086225" y="3264396"/>
            <a:ext cx="114300" cy="114300"/>
          </a:xfrm>
          <a:prstGeom prst="ellipse">
            <a:avLst/>
          </a:prstGeom>
          <a:solidFill>
            <a:srgbClr val="D6D6D2"/>
          </a:solidFill>
          <a:ln>
            <a:noFill/>
          </a:ln>
        </p:spPr>
      </p:sp>
      <p:sp>
        <p:nvSpPr>
          <p:cNvPr id="231" name="Data mark 231"/>
          <p:cNvSpPr txBox="0"/>
          <p:nvPr/>
        </p:nvSpPr>
        <p:spPr>
          <a:xfrm>
            <a:off x="4257675" y="3264396"/>
            <a:ext cx="114300" cy="114300"/>
          </a:xfrm>
          <a:prstGeom prst="ellipse">
            <a:avLst/>
          </a:prstGeom>
          <a:solidFill>
            <a:srgbClr val="D6D6D2"/>
          </a:solidFill>
          <a:ln>
            <a:noFill/>
          </a:ln>
        </p:spPr>
      </p:sp>
      <p:sp>
        <p:nvSpPr>
          <p:cNvPr id="232" name="Data mark 232"/>
          <p:cNvSpPr txBox="0"/>
          <p:nvPr/>
        </p:nvSpPr>
        <p:spPr>
          <a:xfrm>
            <a:off x="4429125" y="3264396"/>
            <a:ext cx="114300" cy="114300"/>
          </a:xfrm>
          <a:prstGeom prst="ellipse">
            <a:avLst/>
          </a:prstGeom>
          <a:solidFill>
            <a:srgbClr val="D6D6D2"/>
          </a:solidFill>
          <a:ln>
            <a:noFill/>
          </a:ln>
        </p:spPr>
      </p:sp>
      <p:sp>
        <p:nvSpPr>
          <p:cNvPr id="233" name="Data mark 233"/>
          <p:cNvSpPr txBox="0"/>
          <p:nvPr/>
        </p:nvSpPr>
        <p:spPr>
          <a:xfrm>
            <a:off x="4600575" y="3264396"/>
            <a:ext cx="114300" cy="114300"/>
          </a:xfrm>
          <a:prstGeom prst="ellipse">
            <a:avLst/>
          </a:prstGeom>
          <a:solidFill>
            <a:srgbClr val="D6D6D2"/>
          </a:solidFill>
          <a:ln>
            <a:noFill/>
          </a:ln>
        </p:spPr>
      </p:sp>
      <p:sp>
        <p:nvSpPr>
          <p:cNvPr id="234" name="Data mark 234"/>
          <p:cNvSpPr txBox="0"/>
          <p:nvPr/>
        </p:nvSpPr>
        <p:spPr>
          <a:xfrm>
            <a:off x="4772025" y="3264396"/>
            <a:ext cx="114300" cy="114300"/>
          </a:xfrm>
          <a:prstGeom prst="ellipse">
            <a:avLst/>
          </a:prstGeom>
          <a:solidFill>
            <a:srgbClr val="D6D6D2"/>
          </a:solidFill>
          <a:ln>
            <a:noFill/>
          </a:ln>
        </p:spPr>
      </p:sp>
      <p:sp>
        <p:nvSpPr>
          <p:cNvPr id="235" name="Data mark 235"/>
          <p:cNvSpPr txBox="0"/>
          <p:nvPr/>
        </p:nvSpPr>
        <p:spPr>
          <a:xfrm>
            <a:off x="4943475" y="3264396"/>
            <a:ext cx="114300" cy="114300"/>
          </a:xfrm>
          <a:prstGeom prst="ellipse">
            <a:avLst/>
          </a:prstGeom>
          <a:solidFill>
            <a:srgbClr val="D6D6D2"/>
          </a:solidFill>
          <a:ln>
            <a:noFill/>
          </a:ln>
        </p:spPr>
      </p:sp>
      <p:sp>
        <p:nvSpPr>
          <p:cNvPr id="236" name="Data mark 236"/>
          <p:cNvSpPr txBox="0"/>
          <p:nvPr/>
        </p:nvSpPr>
        <p:spPr>
          <a:xfrm>
            <a:off x="5114925" y="3264396"/>
            <a:ext cx="114300" cy="114300"/>
          </a:xfrm>
          <a:prstGeom prst="ellipse">
            <a:avLst/>
          </a:prstGeom>
          <a:solidFill>
            <a:srgbClr val="D6D6D2"/>
          </a:solidFill>
          <a:ln>
            <a:noFill/>
          </a:ln>
        </p:spPr>
      </p:sp>
      <p:sp>
        <p:nvSpPr>
          <p:cNvPr id="237" name="Data mark 237"/>
          <p:cNvSpPr txBox="0"/>
          <p:nvPr/>
        </p:nvSpPr>
        <p:spPr>
          <a:xfrm>
            <a:off x="5286375" y="3264396"/>
            <a:ext cx="114300" cy="114300"/>
          </a:xfrm>
          <a:prstGeom prst="ellipse">
            <a:avLst/>
          </a:prstGeom>
          <a:solidFill>
            <a:srgbClr val="D6D6D2"/>
          </a:solidFill>
          <a:ln>
            <a:noFill/>
          </a:ln>
        </p:spPr>
      </p:sp>
      <p:sp>
        <p:nvSpPr>
          <p:cNvPr id="238" name="Data mark 238"/>
          <p:cNvSpPr txBox="0"/>
          <p:nvPr/>
        </p:nvSpPr>
        <p:spPr>
          <a:xfrm>
            <a:off x="5457825" y="3264396"/>
            <a:ext cx="114300" cy="114300"/>
          </a:xfrm>
          <a:prstGeom prst="ellipse">
            <a:avLst/>
          </a:prstGeom>
          <a:solidFill>
            <a:srgbClr val="D6D6D2"/>
          </a:solidFill>
          <a:ln>
            <a:noFill/>
          </a:ln>
        </p:spPr>
      </p:sp>
      <p:sp>
        <p:nvSpPr>
          <p:cNvPr id="239" name="Data mark 239"/>
          <p:cNvSpPr txBox="0"/>
          <p:nvPr/>
        </p:nvSpPr>
        <p:spPr>
          <a:xfrm>
            <a:off x="5629275" y="3264396"/>
            <a:ext cx="114300" cy="114300"/>
          </a:xfrm>
          <a:prstGeom prst="ellipse">
            <a:avLst/>
          </a:prstGeom>
          <a:solidFill>
            <a:srgbClr val="D6D6D2"/>
          </a:solidFill>
          <a:ln>
            <a:noFill/>
          </a:ln>
        </p:spPr>
      </p:sp>
      <p:sp>
        <p:nvSpPr>
          <p:cNvPr id="240" name="Data mark 240"/>
          <p:cNvSpPr txBox="0"/>
          <p:nvPr/>
        </p:nvSpPr>
        <p:spPr>
          <a:xfrm>
            <a:off x="5800725" y="3264396"/>
            <a:ext cx="114300" cy="114300"/>
          </a:xfrm>
          <a:prstGeom prst="ellipse">
            <a:avLst/>
          </a:prstGeom>
          <a:solidFill>
            <a:srgbClr val="D6D6D2"/>
          </a:solidFill>
          <a:ln>
            <a:noFill/>
          </a:ln>
        </p:spPr>
      </p:sp>
      <p:sp>
        <p:nvSpPr>
          <p:cNvPr id="241" name="Data mark 241"/>
          <p:cNvSpPr txBox="0"/>
          <p:nvPr/>
        </p:nvSpPr>
        <p:spPr>
          <a:xfrm>
            <a:off x="5972175" y="3264396"/>
            <a:ext cx="114300" cy="114300"/>
          </a:xfrm>
          <a:prstGeom prst="ellipse">
            <a:avLst/>
          </a:prstGeom>
          <a:solidFill>
            <a:srgbClr val="D6D6D2"/>
          </a:solidFill>
          <a:ln>
            <a:noFill/>
          </a:ln>
        </p:spPr>
      </p:sp>
      <p:sp>
        <p:nvSpPr>
          <p:cNvPr id="242" name="Data mark 242"/>
          <p:cNvSpPr txBox="0"/>
          <p:nvPr/>
        </p:nvSpPr>
        <p:spPr>
          <a:xfrm>
            <a:off x="6143625" y="3264396"/>
            <a:ext cx="114300" cy="114300"/>
          </a:xfrm>
          <a:prstGeom prst="ellipse">
            <a:avLst/>
          </a:prstGeom>
          <a:solidFill>
            <a:srgbClr val="D6D6D2"/>
          </a:solidFill>
          <a:ln>
            <a:noFill/>
          </a:ln>
        </p:spPr>
      </p:sp>
      <p:sp>
        <p:nvSpPr>
          <p:cNvPr id="243" name="Data mark 243"/>
          <p:cNvSpPr txBox="0"/>
          <p:nvPr/>
        </p:nvSpPr>
        <p:spPr>
          <a:xfrm>
            <a:off x="6315075" y="3264396"/>
            <a:ext cx="114300" cy="114300"/>
          </a:xfrm>
          <a:prstGeom prst="ellipse">
            <a:avLst/>
          </a:prstGeom>
          <a:solidFill>
            <a:srgbClr val="D6D6D2"/>
          </a:solidFill>
          <a:ln>
            <a:noFill/>
          </a:ln>
        </p:spPr>
      </p:sp>
      <p:sp>
        <p:nvSpPr>
          <p:cNvPr id="244" name="Data mark 244"/>
          <p:cNvSpPr txBox="0"/>
          <p:nvPr/>
        </p:nvSpPr>
        <p:spPr>
          <a:xfrm>
            <a:off x="2714625" y="3435846"/>
            <a:ext cx="114300" cy="114300"/>
          </a:xfrm>
          <a:prstGeom prst="ellipse">
            <a:avLst/>
          </a:prstGeom>
          <a:solidFill>
            <a:srgbClr val="D6D6D2"/>
          </a:solidFill>
          <a:ln>
            <a:noFill/>
          </a:ln>
        </p:spPr>
      </p:sp>
      <p:sp>
        <p:nvSpPr>
          <p:cNvPr id="245" name="Data mark 245"/>
          <p:cNvSpPr txBox="0"/>
          <p:nvPr/>
        </p:nvSpPr>
        <p:spPr>
          <a:xfrm>
            <a:off x="2886075" y="3435846"/>
            <a:ext cx="114300" cy="114300"/>
          </a:xfrm>
          <a:prstGeom prst="ellipse">
            <a:avLst/>
          </a:prstGeom>
          <a:solidFill>
            <a:srgbClr val="D6D6D2"/>
          </a:solidFill>
          <a:ln>
            <a:noFill/>
          </a:ln>
        </p:spPr>
      </p:sp>
      <p:sp>
        <p:nvSpPr>
          <p:cNvPr id="246" name="Data mark 246"/>
          <p:cNvSpPr txBox="0"/>
          <p:nvPr/>
        </p:nvSpPr>
        <p:spPr>
          <a:xfrm>
            <a:off x="3057525" y="3435846"/>
            <a:ext cx="114300" cy="114300"/>
          </a:xfrm>
          <a:prstGeom prst="ellipse">
            <a:avLst/>
          </a:prstGeom>
          <a:solidFill>
            <a:srgbClr val="D6D6D2"/>
          </a:solidFill>
          <a:ln>
            <a:noFill/>
          </a:ln>
        </p:spPr>
      </p:sp>
      <p:sp>
        <p:nvSpPr>
          <p:cNvPr id="247" name="Data mark 247"/>
          <p:cNvSpPr txBox="0"/>
          <p:nvPr/>
        </p:nvSpPr>
        <p:spPr>
          <a:xfrm>
            <a:off x="3228975" y="3435846"/>
            <a:ext cx="114300" cy="114300"/>
          </a:xfrm>
          <a:prstGeom prst="ellipse">
            <a:avLst/>
          </a:prstGeom>
          <a:solidFill>
            <a:srgbClr val="D6D6D2"/>
          </a:solidFill>
          <a:ln>
            <a:noFill/>
          </a:ln>
        </p:spPr>
      </p:sp>
      <p:sp>
        <p:nvSpPr>
          <p:cNvPr id="248" name="Data mark 248"/>
          <p:cNvSpPr txBox="0"/>
          <p:nvPr/>
        </p:nvSpPr>
        <p:spPr>
          <a:xfrm>
            <a:off x="3400425" y="3435846"/>
            <a:ext cx="114300" cy="114300"/>
          </a:xfrm>
          <a:prstGeom prst="ellipse">
            <a:avLst/>
          </a:prstGeom>
          <a:solidFill>
            <a:srgbClr val="D6D6D2"/>
          </a:solidFill>
          <a:ln>
            <a:noFill/>
          </a:ln>
        </p:spPr>
      </p:sp>
      <p:sp>
        <p:nvSpPr>
          <p:cNvPr id="249" name="Data mark 249"/>
          <p:cNvSpPr txBox="0"/>
          <p:nvPr/>
        </p:nvSpPr>
        <p:spPr>
          <a:xfrm>
            <a:off x="3571875" y="3435846"/>
            <a:ext cx="114300" cy="114300"/>
          </a:xfrm>
          <a:prstGeom prst="ellipse">
            <a:avLst/>
          </a:prstGeom>
          <a:solidFill>
            <a:srgbClr val="D6D6D2"/>
          </a:solidFill>
          <a:ln>
            <a:noFill/>
          </a:ln>
        </p:spPr>
      </p:sp>
      <p:sp>
        <p:nvSpPr>
          <p:cNvPr id="250" name="Data mark 250"/>
          <p:cNvSpPr txBox="0"/>
          <p:nvPr/>
        </p:nvSpPr>
        <p:spPr>
          <a:xfrm>
            <a:off x="3743325" y="3435846"/>
            <a:ext cx="114300" cy="114300"/>
          </a:xfrm>
          <a:prstGeom prst="ellipse">
            <a:avLst/>
          </a:prstGeom>
          <a:solidFill>
            <a:srgbClr val="D6D6D2"/>
          </a:solidFill>
          <a:ln>
            <a:noFill/>
          </a:ln>
        </p:spPr>
      </p:sp>
      <p:sp>
        <p:nvSpPr>
          <p:cNvPr id="251" name="Data mark 251"/>
          <p:cNvSpPr txBox="0"/>
          <p:nvPr/>
        </p:nvSpPr>
        <p:spPr>
          <a:xfrm>
            <a:off x="3914775" y="3435846"/>
            <a:ext cx="114300" cy="114300"/>
          </a:xfrm>
          <a:prstGeom prst="ellipse">
            <a:avLst/>
          </a:prstGeom>
          <a:solidFill>
            <a:srgbClr val="D6D6D2"/>
          </a:solidFill>
          <a:ln>
            <a:noFill/>
          </a:ln>
        </p:spPr>
      </p:sp>
      <p:sp>
        <p:nvSpPr>
          <p:cNvPr id="252" name="Data mark 252"/>
          <p:cNvSpPr txBox="0"/>
          <p:nvPr/>
        </p:nvSpPr>
        <p:spPr>
          <a:xfrm>
            <a:off x="4086225" y="3435846"/>
            <a:ext cx="114300" cy="114300"/>
          </a:xfrm>
          <a:prstGeom prst="ellipse">
            <a:avLst/>
          </a:prstGeom>
          <a:solidFill>
            <a:srgbClr val="D6D6D2"/>
          </a:solidFill>
          <a:ln>
            <a:noFill/>
          </a:ln>
        </p:spPr>
      </p:sp>
      <p:sp>
        <p:nvSpPr>
          <p:cNvPr id="253" name="Data mark 253"/>
          <p:cNvSpPr txBox="0"/>
          <p:nvPr/>
        </p:nvSpPr>
        <p:spPr>
          <a:xfrm>
            <a:off x="4257675" y="3435846"/>
            <a:ext cx="114300" cy="114300"/>
          </a:xfrm>
          <a:prstGeom prst="ellipse">
            <a:avLst/>
          </a:prstGeom>
          <a:solidFill>
            <a:srgbClr val="D6D6D2"/>
          </a:solidFill>
          <a:ln>
            <a:noFill/>
          </a:ln>
        </p:spPr>
      </p:sp>
      <p:sp>
        <p:nvSpPr>
          <p:cNvPr id="254" name="Data mark 254"/>
          <p:cNvSpPr txBox="0"/>
          <p:nvPr/>
        </p:nvSpPr>
        <p:spPr>
          <a:xfrm>
            <a:off x="4429125" y="3435846"/>
            <a:ext cx="114300" cy="114300"/>
          </a:xfrm>
          <a:prstGeom prst="ellipse">
            <a:avLst/>
          </a:prstGeom>
          <a:solidFill>
            <a:srgbClr val="D6D6D2"/>
          </a:solidFill>
          <a:ln>
            <a:noFill/>
          </a:ln>
        </p:spPr>
      </p:sp>
      <p:sp>
        <p:nvSpPr>
          <p:cNvPr id="255" name="Data mark 255"/>
          <p:cNvSpPr txBox="0"/>
          <p:nvPr/>
        </p:nvSpPr>
        <p:spPr>
          <a:xfrm>
            <a:off x="4600575" y="3435846"/>
            <a:ext cx="114300" cy="114300"/>
          </a:xfrm>
          <a:prstGeom prst="ellipse">
            <a:avLst/>
          </a:prstGeom>
          <a:solidFill>
            <a:srgbClr val="D6D6D2"/>
          </a:solidFill>
          <a:ln>
            <a:noFill/>
          </a:ln>
        </p:spPr>
      </p:sp>
      <p:sp>
        <p:nvSpPr>
          <p:cNvPr id="256" name="Data mark 256"/>
          <p:cNvSpPr txBox="0"/>
          <p:nvPr/>
        </p:nvSpPr>
        <p:spPr>
          <a:xfrm>
            <a:off x="4772025" y="3435846"/>
            <a:ext cx="114300" cy="114300"/>
          </a:xfrm>
          <a:prstGeom prst="ellipse">
            <a:avLst/>
          </a:prstGeom>
          <a:solidFill>
            <a:srgbClr val="D6D6D2"/>
          </a:solidFill>
          <a:ln>
            <a:noFill/>
          </a:ln>
        </p:spPr>
      </p:sp>
      <p:sp>
        <p:nvSpPr>
          <p:cNvPr id="257" name="Data mark 257"/>
          <p:cNvSpPr txBox="0"/>
          <p:nvPr/>
        </p:nvSpPr>
        <p:spPr>
          <a:xfrm>
            <a:off x="4943475" y="3435846"/>
            <a:ext cx="114300" cy="114300"/>
          </a:xfrm>
          <a:prstGeom prst="ellipse">
            <a:avLst/>
          </a:prstGeom>
          <a:solidFill>
            <a:srgbClr val="D6D6D2"/>
          </a:solidFill>
          <a:ln>
            <a:noFill/>
          </a:ln>
        </p:spPr>
      </p:sp>
      <p:sp>
        <p:nvSpPr>
          <p:cNvPr id="258" name="Data mark 258"/>
          <p:cNvSpPr txBox="0"/>
          <p:nvPr/>
        </p:nvSpPr>
        <p:spPr>
          <a:xfrm>
            <a:off x="5114925" y="3435846"/>
            <a:ext cx="114300" cy="114300"/>
          </a:xfrm>
          <a:prstGeom prst="ellipse">
            <a:avLst/>
          </a:prstGeom>
          <a:solidFill>
            <a:srgbClr val="D6D6D2"/>
          </a:solidFill>
          <a:ln>
            <a:noFill/>
          </a:ln>
        </p:spPr>
      </p:sp>
      <p:sp>
        <p:nvSpPr>
          <p:cNvPr id="259" name="Data mark 259"/>
          <p:cNvSpPr txBox="0"/>
          <p:nvPr/>
        </p:nvSpPr>
        <p:spPr>
          <a:xfrm>
            <a:off x="5286375" y="3435846"/>
            <a:ext cx="114300" cy="114300"/>
          </a:xfrm>
          <a:prstGeom prst="ellipse">
            <a:avLst/>
          </a:prstGeom>
          <a:solidFill>
            <a:srgbClr val="D6D6D2"/>
          </a:solidFill>
          <a:ln>
            <a:noFill/>
          </a:ln>
        </p:spPr>
      </p:sp>
      <p:sp>
        <p:nvSpPr>
          <p:cNvPr id="260" name="Data mark 260"/>
          <p:cNvSpPr txBox="0"/>
          <p:nvPr/>
        </p:nvSpPr>
        <p:spPr>
          <a:xfrm>
            <a:off x="5457825" y="3435846"/>
            <a:ext cx="114300" cy="114300"/>
          </a:xfrm>
          <a:prstGeom prst="ellipse">
            <a:avLst/>
          </a:prstGeom>
          <a:solidFill>
            <a:srgbClr val="D6D6D2"/>
          </a:solidFill>
          <a:ln>
            <a:noFill/>
          </a:ln>
        </p:spPr>
      </p:sp>
      <p:sp>
        <p:nvSpPr>
          <p:cNvPr id="261" name="Data mark 261"/>
          <p:cNvSpPr txBox="0"/>
          <p:nvPr/>
        </p:nvSpPr>
        <p:spPr>
          <a:xfrm>
            <a:off x="5629275" y="3435846"/>
            <a:ext cx="114300" cy="114300"/>
          </a:xfrm>
          <a:prstGeom prst="ellipse">
            <a:avLst/>
          </a:prstGeom>
          <a:solidFill>
            <a:srgbClr val="D6D6D2"/>
          </a:solidFill>
          <a:ln>
            <a:noFill/>
          </a:ln>
        </p:spPr>
      </p:sp>
      <p:sp>
        <p:nvSpPr>
          <p:cNvPr id="262" name="Data mark 262"/>
          <p:cNvSpPr txBox="0"/>
          <p:nvPr/>
        </p:nvSpPr>
        <p:spPr>
          <a:xfrm>
            <a:off x="5800725" y="3435846"/>
            <a:ext cx="114300" cy="114300"/>
          </a:xfrm>
          <a:prstGeom prst="ellipse">
            <a:avLst/>
          </a:prstGeom>
          <a:solidFill>
            <a:srgbClr val="D6D6D2"/>
          </a:solidFill>
          <a:ln>
            <a:noFill/>
          </a:ln>
        </p:spPr>
      </p:sp>
      <p:sp>
        <p:nvSpPr>
          <p:cNvPr id="263" name="Data mark 263"/>
          <p:cNvSpPr txBox="0"/>
          <p:nvPr/>
        </p:nvSpPr>
        <p:spPr>
          <a:xfrm>
            <a:off x="5972175" y="3435846"/>
            <a:ext cx="114300" cy="114300"/>
          </a:xfrm>
          <a:prstGeom prst="ellipse">
            <a:avLst/>
          </a:prstGeom>
          <a:solidFill>
            <a:srgbClr val="D6D6D2"/>
          </a:solidFill>
          <a:ln>
            <a:noFill/>
          </a:ln>
        </p:spPr>
      </p:sp>
      <p:sp>
        <p:nvSpPr>
          <p:cNvPr id="264" name="Data mark 264"/>
          <p:cNvSpPr txBox="0"/>
          <p:nvPr/>
        </p:nvSpPr>
        <p:spPr>
          <a:xfrm>
            <a:off x="6143625" y="3435846"/>
            <a:ext cx="114300" cy="114300"/>
          </a:xfrm>
          <a:prstGeom prst="ellipse">
            <a:avLst/>
          </a:prstGeom>
          <a:solidFill>
            <a:srgbClr val="D6D6D2"/>
          </a:solidFill>
          <a:ln>
            <a:noFill/>
          </a:ln>
        </p:spPr>
      </p:sp>
      <p:sp>
        <p:nvSpPr>
          <p:cNvPr id="265" name="Data mark 265"/>
          <p:cNvSpPr txBox="0"/>
          <p:nvPr/>
        </p:nvSpPr>
        <p:spPr>
          <a:xfrm>
            <a:off x="6315075" y="3435846"/>
            <a:ext cx="114300" cy="114300"/>
          </a:xfrm>
          <a:prstGeom prst="ellipse">
            <a:avLst/>
          </a:prstGeom>
          <a:solidFill>
            <a:srgbClr val="D6D6D2"/>
          </a:solidFill>
          <a:ln>
            <a:noFill/>
          </a:ln>
        </p:spPr>
      </p:sp>
      <p:sp>
        <p:nvSpPr>
          <p:cNvPr id="266" name="Data mark 266"/>
          <p:cNvSpPr txBox="0"/>
          <p:nvPr/>
        </p:nvSpPr>
        <p:spPr>
          <a:xfrm>
            <a:off x="2714625" y="3607296"/>
            <a:ext cx="114300" cy="114300"/>
          </a:xfrm>
          <a:prstGeom prst="ellipse">
            <a:avLst/>
          </a:prstGeom>
          <a:solidFill>
            <a:srgbClr val="D6D6D2"/>
          </a:solidFill>
          <a:ln>
            <a:noFill/>
          </a:ln>
        </p:spPr>
      </p:sp>
      <p:sp>
        <p:nvSpPr>
          <p:cNvPr id="267" name="Data mark 267"/>
          <p:cNvSpPr txBox="0"/>
          <p:nvPr/>
        </p:nvSpPr>
        <p:spPr>
          <a:xfrm>
            <a:off x="2886075" y="3607296"/>
            <a:ext cx="114300" cy="114300"/>
          </a:xfrm>
          <a:prstGeom prst="ellipse">
            <a:avLst/>
          </a:prstGeom>
          <a:solidFill>
            <a:srgbClr val="D6D6D2"/>
          </a:solidFill>
          <a:ln>
            <a:noFill/>
          </a:ln>
        </p:spPr>
      </p:sp>
      <p:sp>
        <p:nvSpPr>
          <p:cNvPr id="268" name="Data mark 268"/>
          <p:cNvSpPr txBox="0"/>
          <p:nvPr/>
        </p:nvSpPr>
        <p:spPr>
          <a:xfrm>
            <a:off x="3057525" y="3607296"/>
            <a:ext cx="114300" cy="114300"/>
          </a:xfrm>
          <a:prstGeom prst="ellipse">
            <a:avLst/>
          </a:prstGeom>
          <a:solidFill>
            <a:srgbClr val="D6D6D2"/>
          </a:solidFill>
          <a:ln>
            <a:noFill/>
          </a:ln>
        </p:spPr>
      </p:sp>
      <p:sp>
        <p:nvSpPr>
          <p:cNvPr id="269" name="Data mark 269"/>
          <p:cNvSpPr txBox="0"/>
          <p:nvPr/>
        </p:nvSpPr>
        <p:spPr>
          <a:xfrm>
            <a:off x="3228975" y="3607296"/>
            <a:ext cx="114300" cy="114300"/>
          </a:xfrm>
          <a:prstGeom prst="ellipse">
            <a:avLst/>
          </a:prstGeom>
          <a:solidFill>
            <a:srgbClr val="D6D6D2"/>
          </a:solidFill>
          <a:ln>
            <a:noFill/>
          </a:ln>
        </p:spPr>
      </p:sp>
      <p:sp>
        <p:nvSpPr>
          <p:cNvPr id="270" name="Data mark 270"/>
          <p:cNvSpPr txBox="0"/>
          <p:nvPr/>
        </p:nvSpPr>
        <p:spPr>
          <a:xfrm>
            <a:off x="3400425" y="3607296"/>
            <a:ext cx="114300" cy="114300"/>
          </a:xfrm>
          <a:prstGeom prst="ellipse">
            <a:avLst/>
          </a:prstGeom>
          <a:solidFill>
            <a:srgbClr val="D6D6D2"/>
          </a:solidFill>
          <a:ln>
            <a:noFill/>
          </a:ln>
        </p:spPr>
      </p:sp>
      <p:sp>
        <p:nvSpPr>
          <p:cNvPr id="271" name="Data mark 271"/>
          <p:cNvSpPr txBox="0"/>
          <p:nvPr/>
        </p:nvSpPr>
        <p:spPr>
          <a:xfrm>
            <a:off x="3571875" y="3607296"/>
            <a:ext cx="114300" cy="114300"/>
          </a:xfrm>
          <a:prstGeom prst="ellipse">
            <a:avLst/>
          </a:prstGeom>
          <a:solidFill>
            <a:srgbClr val="D6D6D2"/>
          </a:solidFill>
          <a:ln>
            <a:noFill/>
          </a:ln>
        </p:spPr>
      </p:sp>
      <p:sp>
        <p:nvSpPr>
          <p:cNvPr id="272" name="Data mark 272"/>
          <p:cNvSpPr txBox="0"/>
          <p:nvPr/>
        </p:nvSpPr>
        <p:spPr>
          <a:xfrm>
            <a:off x="3743325" y="3607296"/>
            <a:ext cx="114300" cy="114300"/>
          </a:xfrm>
          <a:prstGeom prst="ellipse">
            <a:avLst/>
          </a:prstGeom>
          <a:solidFill>
            <a:srgbClr val="D6D6D2"/>
          </a:solidFill>
          <a:ln>
            <a:noFill/>
          </a:ln>
        </p:spPr>
      </p:sp>
      <p:sp>
        <p:nvSpPr>
          <p:cNvPr id="273" name="Data mark 273"/>
          <p:cNvSpPr txBox="0"/>
          <p:nvPr/>
        </p:nvSpPr>
        <p:spPr>
          <a:xfrm>
            <a:off x="3914775" y="3607296"/>
            <a:ext cx="114300" cy="114300"/>
          </a:xfrm>
          <a:prstGeom prst="ellipse">
            <a:avLst/>
          </a:prstGeom>
          <a:solidFill>
            <a:srgbClr val="D6D6D2"/>
          </a:solidFill>
          <a:ln>
            <a:noFill/>
          </a:ln>
        </p:spPr>
      </p:sp>
      <p:sp>
        <p:nvSpPr>
          <p:cNvPr id="274" name="Data mark 274"/>
          <p:cNvSpPr txBox="0"/>
          <p:nvPr/>
        </p:nvSpPr>
        <p:spPr>
          <a:xfrm>
            <a:off x="4086225" y="3607296"/>
            <a:ext cx="114300" cy="114300"/>
          </a:xfrm>
          <a:prstGeom prst="ellipse">
            <a:avLst/>
          </a:prstGeom>
          <a:solidFill>
            <a:srgbClr val="D6D6D2"/>
          </a:solidFill>
          <a:ln>
            <a:noFill/>
          </a:ln>
        </p:spPr>
      </p:sp>
      <p:sp>
        <p:nvSpPr>
          <p:cNvPr id="275" name="Data mark 275"/>
          <p:cNvSpPr txBox="0"/>
          <p:nvPr/>
        </p:nvSpPr>
        <p:spPr>
          <a:xfrm>
            <a:off x="4257675" y="3607296"/>
            <a:ext cx="114300" cy="114300"/>
          </a:xfrm>
          <a:prstGeom prst="ellipse">
            <a:avLst/>
          </a:prstGeom>
          <a:solidFill>
            <a:srgbClr val="D6D6D2"/>
          </a:solidFill>
          <a:ln>
            <a:noFill/>
          </a:ln>
        </p:spPr>
      </p:sp>
      <p:sp>
        <p:nvSpPr>
          <p:cNvPr id="276" name="Data mark 276"/>
          <p:cNvSpPr txBox="0"/>
          <p:nvPr/>
        </p:nvSpPr>
        <p:spPr>
          <a:xfrm>
            <a:off x="609600" y="3876377"/>
            <a:ext cx="142875" cy="142875"/>
          </a:xfrm>
          <a:prstGeom prst="rect">
            <a:avLst/>
          </a:prstGeom>
          <a:solidFill>
            <a:srgbClr val="D7263D"/>
          </a:solidFill>
          <a:ln>
            <a:noFill/>
          </a:ln>
        </p:spPr>
      </p:sp>
      <p:sp>
        <p:nvSpPr>
          <p:cNvPr id="277" name="Data mark 277"/>
          <p:cNvSpPr txBox="0"/>
          <p:nvPr/>
        </p:nvSpPr>
        <p:spPr>
          <a:xfrm>
            <a:off x="1829321" y="3876377"/>
            <a:ext cx="142875" cy="142875"/>
          </a:xfrm>
          <a:prstGeom prst="rect">
            <a:avLst/>
          </a:prstGeom>
          <a:solidFill>
            <a:srgbClr val="D6D6D2"/>
          </a:solidFill>
          <a:ln>
            <a:noFill/>
          </a:ln>
        </p:spPr>
      </p:sp>
      <p:sp>
        <p:nvSpPr>
          <p:cNvPr id="278" name="Text 278"/>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References 15, 16 · One mark per tested claim</a:t>
            </a:r>
            <a:endParaRPr lang="en-US"/>
          </a:p>
        </p:txBody>
      </p:sp>
      <p:sp>
        <p:nvSpPr>
          <p:cNvPr id="279" name="Text 279"/>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5</a:t>
            </a:r>
            <a:endParaRPr lang="en-US"/>
          </a:p>
        </p:txBody>
      </p:sp>
      <p:sp>
        <p:nvSpPr>
          <p:cNvPr id="280" name="Text 280"/>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SCORE: 55% of claims replicated</a:t>
            </a:r>
            <a:endParaRPr lang="en-US"/>
          </a:p>
        </p:txBody>
      </p:sp>
      <p:sp>
        <p:nvSpPr>
          <p:cNvPr id="281" name="Text 281"/>
          <p:cNvSpPr txBox="1"/>
          <p:nvPr/>
        </p:nvSpPr>
        <p:spPr>
          <a:xfrm>
            <a:off x="609600" y="1073646"/>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333333"/>
                </a:solidFill>
                <a:latin typeface="Arial"/>
                <a:ea typeface="Arial"/>
                <a:cs typeface="Arial"/>
              </a:rPr>
              <a:t xml:space="preserve">Social and behavioural science</a:t>
            </a:r>
            <a:endParaRPr lang="en-US"/>
          </a:p>
        </p:txBody>
      </p:sp>
      <p:sp>
        <p:nvSpPr>
          <p:cNvPr id="282" name="Text 282"/>
          <p:cNvSpPr txBox="1"/>
          <p:nvPr/>
        </p:nvSpPr>
        <p:spPr>
          <a:xfrm>
            <a:off x="809625" y="3835896"/>
            <a:ext cx="848246" cy="242888"/>
          </a:xfrm>
          <a:prstGeom prst="rect">
            <a:avLst/>
          </a:prstGeom>
          <a:noFill/>
          <a:ln>
            <a:noFill/>
          </a:ln>
        </p:spPr>
        <p:txBody>
          <a:bodyPr wrap="square" lIns="0" rIns="0" tIns="0" bIns="0" anchor="t"/>
          <a:lstStyle/>
          <a:p>
            <a:pPr algn="l">
              <a:lnSpc>
                <a:spcPts val="1762"/>
              </a:lnSpc>
              <a:spcBef>
                <a:spcPts val="0"/>
              </a:spcBef>
              <a:spcAft>
                <a:spcPts val="0"/>
              </a:spcAft>
              <a:buNone/>
            </a:pPr>
            <a:r>
              <a:rPr lang="en-US" sz="1350" b="0" i="0" spc="0">
                <a:solidFill>
                  <a:srgbClr val="333333"/>
                </a:solidFill>
                <a:latin typeface="Arial"/>
                <a:ea typeface="Arial"/>
                <a:cs typeface="Arial"/>
              </a:rPr>
              <a:t xml:space="preserve">Replicated</a:t>
            </a:r>
            <a:endParaRPr lang="en-US"/>
          </a:p>
        </p:txBody>
      </p:sp>
      <p:sp>
        <p:nvSpPr>
          <p:cNvPr id="283" name="Text 283"/>
          <p:cNvSpPr txBox="1"/>
          <p:nvPr/>
        </p:nvSpPr>
        <p:spPr>
          <a:xfrm>
            <a:off x="2029346" y="3835896"/>
            <a:ext cx="1095970" cy="242888"/>
          </a:xfrm>
          <a:prstGeom prst="rect">
            <a:avLst/>
          </a:prstGeom>
          <a:noFill/>
          <a:ln>
            <a:noFill/>
          </a:ln>
        </p:spPr>
        <p:txBody>
          <a:bodyPr wrap="square" lIns="0" rIns="0" tIns="0" bIns="0" anchor="t"/>
          <a:lstStyle/>
          <a:p>
            <a:pPr algn="l">
              <a:lnSpc>
                <a:spcPts val="1762"/>
              </a:lnSpc>
              <a:spcBef>
                <a:spcPts val="0"/>
              </a:spcBef>
              <a:spcAft>
                <a:spcPts val="0"/>
              </a:spcAft>
              <a:buNone/>
            </a:pPr>
            <a:r>
              <a:rPr lang="en-US" sz="1350" b="0" i="0" spc="0">
                <a:solidFill>
                  <a:srgbClr val="333333"/>
                </a:solidFill>
                <a:latin typeface="Arial"/>
                <a:ea typeface="Arial"/>
                <a:cs typeface="Arial"/>
              </a:rPr>
              <a:t xml:space="preserve">Not replicated</a:t>
            </a:r>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llustration 2" descr="Stroke protocol, data and code available for independent inspection"/>
          <p:cNvPicPr>
            <a:picLocks noChangeAspect="1"/>
          </p:cNvPicPr>
          <p:nvPr/>
        </p:nvPicPr>
        <p:blipFill>
          <a:blip r:embed="rIdV6Image2"/>
          <a:stretch>
            <a:fillRect/>
          </a:stretch>
        </p:blipFill>
        <p:spPr>
          <a:xfrm>
            <a:off x="2329526" y="1035546"/>
            <a:ext cx="4484949" cy="2524125"/>
          </a:xfrm>
          <a:prstGeom prst="rect">
            <a:avLst/>
          </a:prstGeom>
        </p:spPr>
      </p:pic>
      <p:sp>
        <p:nvSpPr>
          <p:cNvPr id="3" name="Text 3"/>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References 14, 17</a:t>
            </a:r>
            <a:endParaRPr lang="en-US"/>
          </a:p>
        </p:txBody>
      </p:sp>
      <p:sp>
        <p:nvSpPr>
          <p:cNvPr id="4" name="Text 4"/>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6</a:t>
            </a:r>
            <a:endParaRPr lang="en-US"/>
          </a:p>
        </p:txBody>
      </p:sp>
      <p:sp>
        <p:nvSpPr>
          <p:cNvPr id="5" name="Text 5"/>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Stroke research needs inspectable evidence</a:t>
            </a:r>
            <a:endParaRPr lang="en-US"/>
          </a:p>
        </p:txBody>
      </p:sp>
      <p:sp>
        <p:nvSpPr>
          <p:cNvPr id="6" name="Text 6"/>
          <p:cNvSpPr txBox="1"/>
          <p:nvPr/>
        </p:nvSpPr>
        <p:spPr>
          <a:xfrm>
            <a:off x="609600" y="3635871"/>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1" i="0" spc="0">
                <a:solidFill>
                  <a:srgbClr val="000000"/>
                </a:solidFill>
                <a:latin typeface="Arial"/>
                <a:ea typeface="Arial"/>
                <a:cs typeface="Arial"/>
              </a:rPr>
              <a:t xml:space="preserve">Protocols explain what was planned.</a:t>
            </a:r>
            <a:endParaRPr lang="en-US"/>
          </a:p>
        </p:txBody>
      </p:sp>
      <p:sp>
        <p:nvSpPr>
          <p:cNvPr id="7" name="Text 7"/>
          <p:cNvSpPr txBox="1"/>
          <p:nvPr/>
        </p:nvSpPr>
        <p:spPr>
          <a:xfrm>
            <a:off x="609600" y="3959721"/>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000000"/>
                </a:solidFill>
                <a:latin typeface="Arial"/>
                <a:ea typeface="Arial"/>
                <a:cs typeface="Arial"/>
              </a:rPr>
              <a:t xml:space="preserve">Data and code enable independent checks.</a:t>
            </a:r>
            <a:endParaRPr lang="en-US"/>
          </a:p>
        </p:txBody>
      </p:sp>
      <p:sp>
        <p:nvSpPr>
          <p:cNvPr id="8" name="Text 8"/>
          <p:cNvSpPr txBox="1"/>
          <p:nvPr/>
        </p:nvSpPr>
        <p:spPr>
          <a:xfrm>
            <a:off x="609600" y="4283571"/>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333333"/>
                </a:solidFill>
                <a:latin typeface="Arial"/>
                <a:ea typeface="Arial"/>
                <a:cs typeface="Arial"/>
              </a:rPr>
              <a:t xml:space="preserve">Different patients can produce different results.</a:t>
            </a:r>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llustration 2" descr="Live stroke benchmark"/>
          <p:cNvPicPr>
            <a:picLocks noChangeAspect="1"/>
          </p:cNvPicPr>
          <p:nvPr/>
        </p:nvPicPr>
        <p:blipFill>
          <a:blip r:embed="rIdV6Image2"/>
          <a:stretch>
            <a:fillRect/>
          </a:stretch>
        </p:blipFill>
        <p:spPr>
          <a:xfrm>
            <a:off x="609600" y="3333750"/>
            <a:ext cx="1047750" cy="1047750"/>
          </a:xfrm>
          <a:prstGeom prst="rect">
            <a:avLst/>
          </a:prstGeom>
        </p:spPr>
      </p:pic>
      <p:sp>
        <p:nvSpPr>
          <p:cNvPr id="3" name="Text 3"/>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References 17–22</a:t>
            </a:r>
            <a:endParaRPr lang="en-US"/>
          </a:p>
        </p:txBody>
      </p:sp>
      <p:sp>
        <p:nvSpPr>
          <p:cNvPr id="4" name="Text 4"/>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7</a:t>
            </a:r>
            <a:endParaRPr lang="en-US"/>
          </a:p>
        </p:txBody>
      </p:sp>
      <p:sp>
        <p:nvSpPr>
          <p:cNvPr id="5" name="Text 5"/>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Four transparency checks</a:t>
            </a:r>
            <a:endParaRPr lang="en-US"/>
          </a:p>
        </p:txBody>
      </p:sp>
      <p:sp>
        <p:nvSpPr>
          <p:cNvPr id="6" name="Text 6"/>
          <p:cNvSpPr txBox="1"/>
          <p:nvPr/>
        </p:nvSpPr>
        <p:spPr>
          <a:xfrm>
            <a:off x="609600" y="1121271"/>
            <a:ext cx="7962900" cy="376238"/>
          </a:xfrm>
          <a:prstGeom prst="rect">
            <a:avLst/>
          </a:prstGeom>
          <a:noFill/>
          <a:ln>
            <a:noFill/>
          </a:ln>
        </p:spPr>
        <p:txBody>
          <a:bodyPr wrap="square" lIns="0" rIns="0" tIns="0" bIns="0" anchor="t"/>
          <a:lstStyle/>
          <a:p>
            <a:pPr algn="l">
              <a:lnSpc>
                <a:spcPts val="2812"/>
              </a:lnSpc>
              <a:spcBef>
                <a:spcPts val="0"/>
              </a:spcBef>
              <a:spcAft>
                <a:spcPts val="0"/>
              </a:spcAft>
              <a:buNone/>
            </a:pPr>
            <a:r>
              <a:rPr lang="en-US" sz="2175" b="1" i="0" spc="0">
                <a:solidFill>
                  <a:srgbClr val="000000"/>
                </a:solidFill>
                <a:latin typeface="Arial"/>
                <a:ea typeface="Arial"/>
                <a:cs typeface="Arial"/>
              </a:rPr>
              <a:t xml:space="preserve">Can we read the paper?</a:t>
            </a:r>
            <a:endParaRPr lang="en-US"/>
          </a:p>
        </p:txBody>
      </p:sp>
      <p:sp>
        <p:nvSpPr>
          <p:cNvPr id="7" name="Text 7"/>
          <p:cNvSpPr txBox="1"/>
          <p:nvPr/>
        </p:nvSpPr>
        <p:spPr>
          <a:xfrm>
            <a:off x="609600" y="1640384"/>
            <a:ext cx="7962900" cy="376238"/>
          </a:xfrm>
          <a:prstGeom prst="rect">
            <a:avLst/>
          </a:prstGeom>
          <a:noFill/>
          <a:ln>
            <a:noFill/>
          </a:ln>
        </p:spPr>
        <p:txBody>
          <a:bodyPr wrap="square" lIns="0" rIns="0" tIns="0" bIns="0" anchor="t"/>
          <a:lstStyle/>
          <a:p>
            <a:pPr algn="l">
              <a:lnSpc>
                <a:spcPts val="2812"/>
              </a:lnSpc>
              <a:spcBef>
                <a:spcPts val="0"/>
              </a:spcBef>
              <a:spcAft>
                <a:spcPts val="0"/>
              </a:spcAft>
              <a:buNone/>
            </a:pPr>
            <a:r>
              <a:rPr lang="en-US" sz="2175" b="1" i="0" spc="0">
                <a:solidFill>
                  <a:srgbClr val="000000"/>
                </a:solidFill>
                <a:latin typeface="Arial"/>
                <a:ea typeface="Arial"/>
                <a:cs typeface="Arial"/>
              </a:rPr>
              <a:t xml:space="preserve">Can we inspect and reuse materials?</a:t>
            </a:r>
            <a:endParaRPr lang="en-US"/>
          </a:p>
        </p:txBody>
      </p:sp>
      <p:sp>
        <p:nvSpPr>
          <p:cNvPr id="8" name="Text 8"/>
          <p:cNvSpPr txBox="1"/>
          <p:nvPr/>
        </p:nvSpPr>
        <p:spPr>
          <a:xfrm>
            <a:off x="609600" y="2159496"/>
            <a:ext cx="7962900" cy="376238"/>
          </a:xfrm>
          <a:prstGeom prst="rect">
            <a:avLst/>
          </a:prstGeom>
          <a:noFill/>
          <a:ln>
            <a:noFill/>
          </a:ln>
        </p:spPr>
        <p:txBody>
          <a:bodyPr wrap="square" lIns="0" rIns="0" tIns="0" bIns="0" anchor="t"/>
          <a:lstStyle/>
          <a:p>
            <a:pPr algn="l">
              <a:lnSpc>
                <a:spcPts val="2812"/>
              </a:lnSpc>
              <a:spcBef>
                <a:spcPts val="0"/>
              </a:spcBef>
              <a:spcAft>
                <a:spcPts val="0"/>
              </a:spcAft>
              <a:buNone/>
            </a:pPr>
            <a:r>
              <a:rPr lang="en-US" sz="2175" b="1" i="0" spc="0">
                <a:solidFill>
                  <a:srgbClr val="000000"/>
                </a:solidFill>
                <a:latin typeface="Arial"/>
                <a:ea typeface="Arial"/>
                <a:cs typeface="Arial"/>
              </a:rPr>
              <a:t xml:space="preserve">Was the study registered?</a:t>
            </a:r>
            <a:endParaRPr lang="en-US"/>
          </a:p>
        </p:txBody>
      </p:sp>
      <p:sp>
        <p:nvSpPr>
          <p:cNvPr id="9" name="Text 9"/>
          <p:cNvSpPr txBox="1"/>
          <p:nvPr/>
        </p:nvSpPr>
        <p:spPr>
          <a:xfrm>
            <a:off x="1885950" y="3740944"/>
            <a:ext cx="2482602" cy="252412"/>
          </a:xfrm>
          <a:prstGeom prst="rect">
            <a:avLst/>
          </a:prstGeom>
          <a:noFill/>
          <a:ln>
            <a:noFill/>
          </a:ln>
        </p:spPr>
        <p:txBody>
          <a:bodyPr wrap="square" lIns="0" rIns="0" tIns="0" bIns="0" anchor="t"/>
          <a:lstStyle/>
          <a:p>
            <a:pPr algn="l">
              <a:lnSpc>
                <a:spcPts val="1838"/>
              </a:lnSpc>
              <a:spcBef>
                <a:spcPts val="0"/>
              </a:spcBef>
              <a:spcAft>
                <a:spcPts val="0"/>
              </a:spcAft>
              <a:buNone/>
            </a:pPr>
            <a:r>
              <a:rPr lang="en-US" sz="1425" b="0" i="0" spc="0">
                <a:solidFill>
                  <a:srgbClr val="333333"/>
                </a:solidFill>
                <a:latin typeface="Arial"/>
                <a:ea typeface="Arial"/>
                <a:cs typeface="Arial"/>
              </a:rPr>
              <a:t xml:space="preserve">Stroke publications since 2015</a:t>
            </a:r>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hart line 2"/>
          <p:cNvCxnSpPr/>
          <p:nvPr/>
        </p:nvCxnSpPr>
        <p:spPr>
          <a:xfrm flipH="0" flipV="0">
            <a:off x="1133475" y="3635871"/>
            <a:ext cx="5638800" cy="1"/>
          </a:xfrm>
          <a:prstGeom prst="line">
            <a:avLst/>
          </a:prstGeom>
          <a:ln w="9525" cap="rnd">
            <a:solidFill>
              <a:srgbClr val="E4E4E1"/>
            </a:solidFill>
          </a:ln>
        </p:spPr>
      </p:cxnSp>
      <p:sp>
        <p:nvSpPr>
          <p:cNvPr id="3" name="Text 3"/>
          <p:cNvSpPr txBox="1"/>
          <p:nvPr/>
        </p:nvSpPr>
        <p:spPr>
          <a:xfrm>
            <a:off x="-800100" y="3535859"/>
            <a:ext cx="1847850" cy="217170"/>
          </a:xfrm>
          <a:prstGeom prst="rect">
            <a:avLst/>
          </a:prstGeom>
          <a:noFill/>
          <a:ln>
            <a:noFill/>
          </a:ln>
        </p:spPr>
        <p:txBody>
          <a:bodyPr wrap="square" lIns="0" rIns="0" tIns="0" bIns="0" anchor="t"/>
          <a:lstStyle/>
          <a:p>
            <a:pPr algn="r">
              <a:lnSpc>
                <a:spcPts val="1560"/>
              </a:lnSpc>
              <a:spcBef>
                <a:spcPts val="0"/>
              </a:spcBef>
              <a:spcAft>
                <a:spcPts val="0"/>
              </a:spcAft>
              <a:buNone/>
            </a:pPr>
            <a:r>
              <a:rPr lang="en-US" sz="1200" b="0" i="0" spc="0">
                <a:solidFill>
                  <a:srgbClr val="555555"/>
                </a:solidFill>
                <a:latin typeface="Arial"/>
                <a:ea typeface="Arial"/>
                <a:cs typeface="Arial"/>
              </a:rPr>
              <a:t xml:space="preserve">40%</a:t>
            </a:r>
            <a:endParaRPr lang="en-US"/>
          </a:p>
        </p:txBody>
      </p:sp>
      <p:cxnSp>
        <p:nvCxnSpPr>
          <p:cNvPr id="4" name="Chart line 4"/>
          <p:cNvCxnSpPr/>
          <p:nvPr/>
        </p:nvCxnSpPr>
        <p:spPr>
          <a:xfrm flipH="0" flipV="0">
            <a:off x="1133475" y="2556212"/>
            <a:ext cx="5638800" cy="1"/>
          </a:xfrm>
          <a:prstGeom prst="line">
            <a:avLst/>
          </a:prstGeom>
          <a:ln w="9525" cap="rnd">
            <a:solidFill>
              <a:srgbClr val="E4E4E1"/>
            </a:solidFill>
          </a:ln>
        </p:spPr>
      </p:cxnSp>
      <p:sp>
        <p:nvSpPr>
          <p:cNvPr id="5" name="Text 5"/>
          <p:cNvSpPr txBox="1"/>
          <p:nvPr/>
        </p:nvSpPr>
        <p:spPr>
          <a:xfrm>
            <a:off x="-800100" y="2456200"/>
            <a:ext cx="1847850" cy="217170"/>
          </a:xfrm>
          <a:prstGeom prst="rect">
            <a:avLst/>
          </a:prstGeom>
          <a:noFill/>
          <a:ln>
            <a:noFill/>
          </a:ln>
        </p:spPr>
        <p:txBody>
          <a:bodyPr wrap="square" lIns="0" rIns="0" tIns="0" bIns="0" anchor="t"/>
          <a:lstStyle/>
          <a:p>
            <a:pPr algn="r">
              <a:lnSpc>
                <a:spcPts val="1560"/>
              </a:lnSpc>
              <a:spcBef>
                <a:spcPts val="0"/>
              </a:spcBef>
              <a:spcAft>
                <a:spcPts val="0"/>
              </a:spcAft>
              <a:buNone/>
            </a:pPr>
            <a:r>
              <a:rPr lang="en-US" sz="1200" b="0" i="0" spc="0">
                <a:solidFill>
                  <a:srgbClr val="555555"/>
                </a:solidFill>
                <a:latin typeface="Arial"/>
                <a:ea typeface="Arial"/>
                <a:cs typeface="Arial"/>
              </a:rPr>
              <a:t xml:space="preserve">60%</a:t>
            </a:r>
            <a:endParaRPr lang="en-US"/>
          </a:p>
        </p:txBody>
      </p:sp>
      <p:cxnSp>
        <p:nvCxnSpPr>
          <p:cNvPr id="6" name="Chart line 6"/>
          <p:cNvCxnSpPr/>
          <p:nvPr/>
        </p:nvCxnSpPr>
        <p:spPr>
          <a:xfrm flipH="0" flipV="0">
            <a:off x="1133475" y="1477030"/>
            <a:ext cx="5638800" cy="1"/>
          </a:xfrm>
          <a:prstGeom prst="line">
            <a:avLst/>
          </a:prstGeom>
          <a:ln w="9525" cap="rnd">
            <a:solidFill>
              <a:srgbClr val="E4E4E1"/>
            </a:solidFill>
          </a:ln>
        </p:spPr>
      </p:cxnSp>
      <p:sp>
        <p:nvSpPr>
          <p:cNvPr id="7" name="Text 7"/>
          <p:cNvSpPr txBox="1"/>
          <p:nvPr/>
        </p:nvSpPr>
        <p:spPr>
          <a:xfrm>
            <a:off x="-800100" y="1377017"/>
            <a:ext cx="1847850" cy="217170"/>
          </a:xfrm>
          <a:prstGeom prst="rect">
            <a:avLst/>
          </a:prstGeom>
          <a:noFill/>
          <a:ln>
            <a:noFill/>
          </a:ln>
        </p:spPr>
        <p:txBody>
          <a:bodyPr wrap="square" lIns="0" rIns="0" tIns="0" bIns="0" anchor="t"/>
          <a:lstStyle/>
          <a:p>
            <a:pPr algn="r">
              <a:lnSpc>
                <a:spcPts val="1560"/>
              </a:lnSpc>
              <a:spcBef>
                <a:spcPts val="0"/>
              </a:spcBef>
              <a:spcAft>
                <a:spcPts val="0"/>
              </a:spcAft>
              <a:buNone/>
            </a:pPr>
            <a:r>
              <a:rPr lang="en-US" sz="1200" b="0" i="0" spc="0">
                <a:solidFill>
                  <a:srgbClr val="555555"/>
                </a:solidFill>
                <a:latin typeface="Arial"/>
                <a:ea typeface="Arial"/>
                <a:cs typeface="Arial"/>
              </a:rPr>
              <a:t xml:space="preserve">80%</a:t>
            </a:r>
            <a:endParaRPr lang="en-US"/>
          </a:p>
        </p:txBody>
      </p:sp>
      <p:sp>
        <p:nvSpPr>
          <p:cNvPr id="8" name="Text 8"/>
          <p:cNvSpPr txBox="1"/>
          <p:nvPr/>
        </p:nvSpPr>
        <p:spPr>
          <a:xfrm>
            <a:off x="209550" y="3750171"/>
            <a:ext cx="1847850" cy="204788"/>
          </a:xfrm>
          <a:prstGeom prst="rect">
            <a:avLst/>
          </a:prstGeom>
          <a:noFill/>
          <a:ln>
            <a:noFill/>
          </a:ln>
        </p:spPr>
        <p:txBody>
          <a:bodyPr wrap="square" lIns="0" rIns="0" tIns="0" bIns="0" anchor="t"/>
          <a:lstStyle/>
          <a:p>
            <a:pPr algn="ctr">
              <a:lnSpc>
                <a:spcPts val="1462"/>
              </a:lnSpc>
              <a:spcBef>
                <a:spcPts val="0"/>
              </a:spcBef>
              <a:spcAft>
                <a:spcPts val="0"/>
              </a:spcAft>
              <a:buNone/>
            </a:pPr>
            <a:r>
              <a:rPr lang="en-US" sz="1125" b="0" i="0" spc="0">
                <a:solidFill>
                  <a:srgbClr val="555555"/>
                </a:solidFill>
                <a:latin typeface="Arial"/>
                <a:ea typeface="Arial"/>
                <a:cs typeface="Arial"/>
              </a:rPr>
              <a:t xml:space="preserve">2015</a:t>
            </a:r>
            <a:endParaRPr lang="en-US"/>
          </a:p>
        </p:txBody>
      </p:sp>
      <p:sp>
        <p:nvSpPr>
          <p:cNvPr id="9" name="Text 9"/>
          <p:cNvSpPr txBox="1"/>
          <p:nvPr/>
        </p:nvSpPr>
        <p:spPr>
          <a:xfrm>
            <a:off x="5848350" y="3750171"/>
            <a:ext cx="1847850" cy="204788"/>
          </a:xfrm>
          <a:prstGeom prst="rect">
            <a:avLst/>
          </a:prstGeom>
          <a:noFill/>
          <a:ln>
            <a:noFill/>
          </a:ln>
        </p:spPr>
        <p:txBody>
          <a:bodyPr wrap="square" lIns="0" rIns="0" tIns="0" bIns="0" anchor="t"/>
          <a:lstStyle/>
          <a:p>
            <a:pPr algn="ctr">
              <a:lnSpc>
                <a:spcPts val="1462"/>
              </a:lnSpc>
              <a:spcBef>
                <a:spcPts val="0"/>
              </a:spcBef>
              <a:spcAft>
                <a:spcPts val="0"/>
              </a:spcAft>
              <a:buNone/>
            </a:pPr>
            <a:r>
              <a:rPr lang="en-US" sz="1125" b="0" i="0" spc="0">
                <a:solidFill>
                  <a:srgbClr val="555555"/>
                </a:solidFill>
                <a:latin typeface="Arial"/>
                <a:ea typeface="Arial"/>
                <a:cs typeface="Arial"/>
              </a:rPr>
              <a:t xml:space="preserve">2024</a:t>
            </a:r>
            <a:endParaRPr lang="en-US"/>
          </a:p>
        </p:txBody>
      </p:sp>
      <p:cxnSp>
        <p:nvCxnSpPr>
          <p:cNvPr id="10" name="Chart line 10"/>
          <p:cNvCxnSpPr/>
          <p:nvPr/>
        </p:nvCxnSpPr>
        <p:spPr>
          <a:xfrm flipH="0" flipV="1">
            <a:off x="1133475" y="2885777"/>
            <a:ext cx="626745" cy="59055"/>
          </a:xfrm>
          <a:prstGeom prst="line">
            <a:avLst/>
          </a:prstGeom>
          <a:ln w="38100" cap="rnd">
            <a:solidFill>
              <a:srgbClr val="D7263D"/>
            </a:solidFill>
          </a:ln>
        </p:spPr>
      </p:cxnSp>
      <p:cxnSp>
        <p:nvCxnSpPr>
          <p:cNvPr id="11" name="Chart line 11"/>
          <p:cNvCxnSpPr/>
          <p:nvPr/>
        </p:nvCxnSpPr>
        <p:spPr>
          <a:xfrm flipH="0" flipV="0">
            <a:off x="1760220" y="2885777"/>
            <a:ext cx="626269" cy="5239"/>
          </a:xfrm>
          <a:prstGeom prst="line">
            <a:avLst/>
          </a:prstGeom>
          <a:ln w="38100" cap="rnd">
            <a:solidFill>
              <a:srgbClr val="D7263D"/>
            </a:solidFill>
          </a:ln>
        </p:spPr>
      </p:cxnSp>
      <p:cxnSp>
        <p:nvCxnSpPr>
          <p:cNvPr id="12" name="Chart line 12"/>
          <p:cNvCxnSpPr/>
          <p:nvPr/>
        </p:nvCxnSpPr>
        <p:spPr>
          <a:xfrm flipH="0" flipV="1">
            <a:off x="2386489" y="2653367"/>
            <a:ext cx="626745" cy="237649"/>
          </a:xfrm>
          <a:prstGeom prst="line">
            <a:avLst/>
          </a:prstGeom>
          <a:ln w="38100" cap="rnd">
            <a:solidFill>
              <a:srgbClr val="D7263D"/>
            </a:solidFill>
          </a:ln>
        </p:spPr>
      </p:cxnSp>
      <p:cxnSp>
        <p:nvCxnSpPr>
          <p:cNvPr id="13" name="Chart line 13"/>
          <p:cNvCxnSpPr/>
          <p:nvPr/>
        </p:nvCxnSpPr>
        <p:spPr>
          <a:xfrm flipH="0" flipV="0">
            <a:off x="3013234" y="2653367"/>
            <a:ext cx="626269" cy="48577"/>
          </a:xfrm>
          <a:prstGeom prst="line">
            <a:avLst/>
          </a:prstGeom>
          <a:ln w="38100" cap="rnd">
            <a:solidFill>
              <a:srgbClr val="D7263D"/>
            </a:solidFill>
          </a:ln>
        </p:spPr>
      </p:cxnSp>
      <p:cxnSp>
        <p:nvCxnSpPr>
          <p:cNvPr id="14" name="Chart line 14"/>
          <p:cNvCxnSpPr/>
          <p:nvPr/>
        </p:nvCxnSpPr>
        <p:spPr>
          <a:xfrm flipH="0" flipV="1">
            <a:off x="3639502" y="2291894"/>
            <a:ext cx="626745" cy="410051"/>
          </a:xfrm>
          <a:prstGeom prst="line">
            <a:avLst/>
          </a:prstGeom>
          <a:ln w="38100" cap="rnd">
            <a:solidFill>
              <a:srgbClr val="D7263D"/>
            </a:solidFill>
          </a:ln>
        </p:spPr>
      </p:cxnSp>
      <p:cxnSp>
        <p:nvCxnSpPr>
          <p:cNvPr id="15" name="Chart line 15"/>
          <p:cNvCxnSpPr/>
          <p:nvPr/>
        </p:nvCxnSpPr>
        <p:spPr>
          <a:xfrm flipH="0" flipV="1">
            <a:off x="4266248" y="2021860"/>
            <a:ext cx="626269" cy="270034"/>
          </a:xfrm>
          <a:prstGeom prst="line">
            <a:avLst/>
          </a:prstGeom>
          <a:ln w="38100" cap="rnd">
            <a:solidFill>
              <a:srgbClr val="D7263D"/>
            </a:solidFill>
          </a:ln>
        </p:spPr>
      </p:cxnSp>
      <p:cxnSp>
        <p:nvCxnSpPr>
          <p:cNvPr id="16" name="Chart line 16"/>
          <p:cNvCxnSpPr/>
          <p:nvPr/>
        </p:nvCxnSpPr>
        <p:spPr>
          <a:xfrm flipH="0" flipV="1">
            <a:off x="4892516" y="1811357"/>
            <a:ext cx="626745" cy="210503"/>
          </a:xfrm>
          <a:prstGeom prst="line">
            <a:avLst/>
          </a:prstGeom>
          <a:ln w="38100" cap="rnd">
            <a:solidFill>
              <a:srgbClr val="D7263D"/>
            </a:solidFill>
          </a:ln>
        </p:spPr>
      </p:cxnSp>
      <p:cxnSp>
        <p:nvCxnSpPr>
          <p:cNvPr id="17" name="Chart line 17"/>
          <p:cNvCxnSpPr/>
          <p:nvPr/>
        </p:nvCxnSpPr>
        <p:spPr>
          <a:xfrm flipH="0" flipV="1">
            <a:off x="5519261" y="1644194"/>
            <a:ext cx="626269" cy="167164"/>
          </a:xfrm>
          <a:prstGeom prst="line">
            <a:avLst/>
          </a:prstGeom>
          <a:ln w="38100" cap="rnd">
            <a:solidFill>
              <a:srgbClr val="D7263D"/>
            </a:solidFill>
          </a:ln>
        </p:spPr>
      </p:cxnSp>
      <p:cxnSp>
        <p:nvCxnSpPr>
          <p:cNvPr id="18" name="Chart line 18"/>
          <p:cNvCxnSpPr/>
          <p:nvPr/>
        </p:nvCxnSpPr>
        <p:spPr>
          <a:xfrm flipH="0" flipV="0">
            <a:off x="6145530" y="1644194"/>
            <a:ext cx="626745" cy="91916"/>
          </a:xfrm>
          <a:prstGeom prst="line">
            <a:avLst/>
          </a:prstGeom>
          <a:ln w="38100" cap="rnd">
            <a:solidFill>
              <a:srgbClr val="D7263D"/>
            </a:solidFill>
          </a:ln>
        </p:spPr>
      </p:cxnSp>
      <p:cxnSp>
        <p:nvCxnSpPr>
          <p:cNvPr id="19" name="Chart line 19"/>
          <p:cNvCxnSpPr/>
          <p:nvPr/>
        </p:nvCxnSpPr>
        <p:spPr>
          <a:xfrm flipH="0" flipV="0">
            <a:off x="6848475" y="1736110"/>
            <a:ext cx="161925" cy="1"/>
          </a:xfrm>
          <a:prstGeom prst="line">
            <a:avLst/>
          </a:prstGeom>
          <a:ln w="38100" cap="rnd">
            <a:solidFill>
              <a:srgbClr val="D7263D"/>
            </a:solidFill>
          </a:ln>
        </p:spPr>
      </p:cxnSp>
      <p:sp>
        <p:nvSpPr>
          <p:cNvPr id="20" name="Text 20"/>
          <p:cNvSpPr txBox="1"/>
          <p:nvPr/>
        </p:nvSpPr>
        <p:spPr>
          <a:xfrm>
            <a:off x="7067550" y="1626572"/>
            <a:ext cx="1847850" cy="229552"/>
          </a:xfrm>
          <a:prstGeom prst="rect">
            <a:avLst/>
          </a:prstGeom>
          <a:noFill/>
          <a:ln>
            <a:noFill/>
          </a:ln>
        </p:spPr>
        <p:txBody>
          <a:bodyPr wrap="square" lIns="0" rIns="0" tIns="0" bIns="0" anchor="t"/>
          <a:lstStyle/>
          <a:p>
            <a:pPr algn="l">
              <a:lnSpc>
                <a:spcPts val="1658"/>
              </a:lnSpc>
              <a:spcBef>
                <a:spcPts val="0"/>
              </a:spcBef>
              <a:spcAft>
                <a:spcPts val="0"/>
              </a:spcAft>
              <a:buNone/>
            </a:pPr>
            <a:r>
              <a:rPr lang="en-US" sz="1275" b="1" i="0" spc="0">
                <a:solidFill>
                  <a:srgbClr val="D7263D"/>
                </a:solidFill>
                <a:latin typeface="Arial"/>
                <a:ea typeface="Arial"/>
                <a:cs typeface="Arial"/>
              </a:rPr>
              <a:t xml:space="preserve">75% Stroke</a:t>
            </a:r>
            <a:endParaRPr lang="en-US"/>
          </a:p>
        </p:txBody>
      </p:sp>
      <p:sp>
        <p:nvSpPr>
          <p:cNvPr id="21" name="Text 21"/>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22 · Stroke articles · 2015–2024</a:t>
            </a:r>
            <a:endParaRPr lang="en-US"/>
          </a:p>
        </p:txBody>
      </p:sp>
      <p:sp>
        <p:nvSpPr>
          <p:cNvPr id="22" name="Text 22"/>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8</a:t>
            </a:r>
            <a:endParaRPr lang="en-US"/>
          </a:p>
        </p:txBody>
      </p:sp>
      <p:sp>
        <p:nvSpPr>
          <p:cNvPr id="23" name="Text 23"/>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Stroke papers became easier to read</a:t>
            </a:r>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609600" y="1164134"/>
            <a:ext cx="142875" cy="142875"/>
          </a:xfrm>
          <a:prstGeom prst="rect">
            <a:avLst/>
          </a:prstGeom>
          <a:solidFill>
            <a:srgbClr val="EDA100"/>
          </a:solidFill>
          <a:ln>
            <a:noFill/>
          </a:ln>
        </p:spPr>
      </p:sp>
      <p:sp>
        <p:nvSpPr>
          <p:cNvPr id="3" name="Data mark 3"/>
          <p:cNvSpPr txBox="0"/>
          <p:nvPr/>
        </p:nvSpPr>
        <p:spPr>
          <a:xfrm>
            <a:off x="1937221" y="1164134"/>
            <a:ext cx="142875" cy="142875"/>
          </a:xfrm>
          <a:prstGeom prst="rect">
            <a:avLst/>
          </a:prstGeom>
          <a:solidFill>
            <a:srgbClr val="1BAF7A"/>
          </a:solidFill>
          <a:ln>
            <a:noFill/>
          </a:ln>
        </p:spPr>
      </p:sp>
      <p:sp>
        <p:nvSpPr>
          <p:cNvPr id="4" name="Data mark 4"/>
          <p:cNvSpPr txBox="0"/>
          <p:nvPr/>
        </p:nvSpPr>
        <p:spPr>
          <a:xfrm>
            <a:off x="3543970" y="1164134"/>
            <a:ext cx="142875" cy="142875"/>
          </a:xfrm>
          <a:prstGeom prst="rect">
            <a:avLst/>
          </a:prstGeom>
          <a:solidFill>
            <a:srgbClr val="9A5A1F"/>
          </a:solidFill>
          <a:ln>
            <a:noFill/>
          </a:ln>
        </p:spPr>
      </p:sp>
      <p:sp>
        <p:nvSpPr>
          <p:cNvPr id="5" name="Data mark 5"/>
          <p:cNvSpPr txBox="0"/>
          <p:nvPr/>
        </p:nvSpPr>
        <p:spPr>
          <a:xfrm>
            <a:off x="4466630" y="1164134"/>
            <a:ext cx="142875" cy="142875"/>
          </a:xfrm>
          <a:prstGeom prst="rect">
            <a:avLst/>
          </a:prstGeom>
          <a:solidFill>
            <a:srgbClr val="D6D6D2"/>
          </a:solidFill>
          <a:ln>
            <a:noFill/>
          </a:ln>
        </p:spPr>
      </p:sp>
      <p:sp>
        <p:nvSpPr>
          <p:cNvPr id="6" name="Data mark 6"/>
          <p:cNvSpPr txBox="0"/>
          <p:nvPr/>
        </p:nvSpPr>
        <p:spPr>
          <a:xfrm>
            <a:off x="1381125" y="1921371"/>
            <a:ext cx="1042988" cy="571500"/>
          </a:xfrm>
          <a:prstGeom prst="rect">
            <a:avLst/>
          </a:prstGeom>
          <a:solidFill>
            <a:srgbClr val="EDA100"/>
          </a:solidFill>
          <a:ln>
            <a:noFill/>
          </a:ln>
        </p:spPr>
      </p:sp>
      <p:sp>
        <p:nvSpPr>
          <p:cNvPr id="7" name="Data mark 7"/>
          <p:cNvSpPr txBox="0"/>
          <p:nvPr/>
        </p:nvSpPr>
        <p:spPr>
          <a:xfrm>
            <a:off x="2424112" y="1921371"/>
            <a:ext cx="1062038" cy="571500"/>
          </a:xfrm>
          <a:prstGeom prst="rect">
            <a:avLst/>
          </a:prstGeom>
          <a:solidFill>
            <a:srgbClr val="1BAF7A"/>
          </a:solidFill>
          <a:ln>
            <a:noFill/>
          </a:ln>
        </p:spPr>
      </p:sp>
      <p:sp>
        <p:nvSpPr>
          <p:cNvPr id="8" name="Data mark 8"/>
          <p:cNvSpPr txBox="0"/>
          <p:nvPr/>
        </p:nvSpPr>
        <p:spPr>
          <a:xfrm>
            <a:off x="3486150" y="1921371"/>
            <a:ext cx="862012" cy="571500"/>
          </a:xfrm>
          <a:prstGeom prst="rect">
            <a:avLst/>
          </a:prstGeom>
          <a:solidFill>
            <a:srgbClr val="9A5A1F"/>
          </a:solidFill>
          <a:ln>
            <a:noFill/>
          </a:ln>
        </p:spPr>
      </p:sp>
      <p:sp>
        <p:nvSpPr>
          <p:cNvPr id="9" name="Data mark 9"/>
          <p:cNvSpPr txBox="0"/>
          <p:nvPr/>
        </p:nvSpPr>
        <p:spPr>
          <a:xfrm>
            <a:off x="4348162" y="1921371"/>
            <a:ext cx="2652712" cy="571500"/>
          </a:xfrm>
          <a:prstGeom prst="rect">
            <a:avLst/>
          </a:prstGeom>
          <a:solidFill>
            <a:srgbClr val="D6D6D2"/>
          </a:solidFill>
          <a:ln>
            <a:noFill/>
          </a:ln>
        </p:spPr>
      </p:sp>
      <p:sp>
        <p:nvSpPr>
          <p:cNvPr id="10" name="Data mark 10"/>
          <p:cNvSpPr txBox="0"/>
          <p:nvPr/>
        </p:nvSpPr>
        <p:spPr>
          <a:xfrm>
            <a:off x="1381125" y="2873871"/>
            <a:ext cx="2476500" cy="571500"/>
          </a:xfrm>
          <a:prstGeom prst="rect">
            <a:avLst/>
          </a:prstGeom>
          <a:solidFill>
            <a:srgbClr val="EDA100"/>
          </a:solidFill>
          <a:ln>
            <a:noFill/>
          </a:ln>
        </p:spPr>
      </p:sp>
      <p:sp>
        <p:nvSpPr>
          <p:cNvPr id="11" name="Data mark 11"/>
          <p:cNvSpPr txBox="0"/>
          <p:nvPr/>
        </p:nvSpPr>
        <p:spPr>
          <a:xfrm>
            <a:off x="3857625" y="2873871"/>
            <a:ext cx="1343025" cy="571500"/>
          </a:xfrm>
          <a:prstGeom prst="rect">
            <a:avLst/>
          </a:prstGeom>
          <a:solidFill>
            <a:srgbClr val="1BAF7A"/>
          </a:solidFill>
          <a:ln>
            <a:noFill/>
          </a:ln>
        </p:spPr>
      </p:sp>
      <p:sp>
        <p:nvSpPr>
          <p:cNvPr id="12" name="Data mark 12"/>
          <p:cNvSpPr txBox="0"/>
          <p:nvPr/>
        </p:nvSpPr>
        <p:spPr>
          <a:xfrm>
            <a:off x="5200650" y="2873871"/>
            <a:ext cx="404812" cy="571500"/>
          </a:xfrm>
          <a:prstGeom prst="rect">
            <a:avLst/>
          </a:prstGeom>
          <a:solidFill>
            <a:srgbClr val="9A5A1F"/>
          </a:solidFill>
          <a:ln>
            <a:noFill/>
          </a:ln>
        </p:spPr>
      </p:sp>
      <p:sp>
        <p:nvSpPr>
          <p:cNvPr id="13" name="Data mark 13"/>
          <p:cNvSpPr txBox="0"/>
          <p:nvPr/>
        </p:nvSpPr>
        <p:spPr>
          <a:xfrm>
            <a:off x="5605462" y="2873871"/>
            <a:ext cx="1395412" cy="571500"/>
          </a:xfrm>
          <a:prstGeom prst="rect">
            <a:avLst/>
          </a:prstGeom>
          <a:solidFill>
            <a:srgbClr val="D6D6D2"/>
          </a:solidFill>
          <a:ln>
            <a:noFill/>
          </a:ln>
        </p:spPr>
      </p:sp>
      <p:sp>
        <p:nvSpPr>
          <p:cNvPr id="14" name="Text 14"/>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22 · All stroke articles · Publication routes</a:t>
            </a:r>
            <a:endParaRPr lang="en-US"/>
          </a:p>
        </p:txBody>
      </p:sp>
      <p:sp>
        <p:nvSpPr>
          <p:cNvPr id="15" name="Text 15"/>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9</a:t>
            </a:r>
            <a:endParaRPr lang="en-US"/>
          </a:p>
        </p:txBody>
      </p:sp>
      <p:sp>
        <p:nvSpPr>
          <p:cNvPr id="16" name="Text 16"/>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Gold and hybrid drove access growth</a:t>
            </a:r>
            <a:endParaRPr lang="en-US"/>
          </a:p>
        </p:txBody>
      </p:sp>
      <p:sp>
        <p:nvSpPr>
          <p:cNvPr id="17" name="Text 17"/>
          <p:cNvSpPr txBox="1"/>
          <p:nvPr/>
        </p:nvSpPr>
        <p:spPr>
          <a:xfrm>
            <a:off x="809625" y="1130796"/>
            <a:ext cx="956146" cy="228600"/>
          </a:xfrm>
          <a:prstGeom prst="rect">
            <a:avLst/>
          </a:prstGeom>
          <a:noFill/>
          <a:ln>
            <a:noFill/>
          </a:ln>
        </p:spPr>
        <p:txBody>
          <a:bodyPr wrap="square" lIns="0" rIns="0" tIns="0" bIns="0" anchor="t"/>
          <a:lstStyle/>
          <a:p>
            <a:pPr algn="l">
              <a:lnSpc>
                <a:spcPts val="1650"/>
              </a:lnSpc>
              <a:spcBef>
                <a:spcPts val="0"/>
              </a:spcBef>
              <a:spcAft>
                <a:spcPts val="0"/>
              </a:spcAft>
              <a:buNone/>
            </a:pPr>
            <a:r>
              <a:rPr lang="en-US" sz="1275" b="0" i="0" spc="0">
                <a:solidFill>
                  <a:srgbClr val="333333"/>
                </a:solidFill>
                <a:latin typeface="Arial"/>
                <a:ea typeface="Arial"/>
                <a:cs typeface="Arial"/>
              </a:rPr>
              <a:t xml:space="preserve">Gold / hybrid</a:t>
            </a:r>
            <a:endParaRPr lang="en-US"/>
          </a:p>
        </p:txBody>
      </p:sp>
      <p:sp>
        <p:nvSpPr>
          <p:cNvPr id="18" name="Text 18"/>
          <p:cNvSpPr txBox="1"/>
          <p:nvPr/>
        </p:nvSpPr>
        <p:spPr>
          <a:xfrm>
            <a:off x="2137246" y="1130796"/>
            <a:ext cx="1235273" cy="228600"/>
          </a:xfrm>
          <a:prstGeom prst="rect">
            <a:avLst/>
          </a:prstGeom>
          <a:noFill/>
          <a:ln>
            <a:noFill/>
          </a:ln>
        </p:spPr>
        <p:txBody>
          <a:bodyPr wrap="square" lIns="0" rIns="0" tIns="0" bIns="0" anchor="t"/>
          <a:lstStyle/>
          <a:p>
            <a:pPr algn="l">
              <a:lnSpc>
                <a:spcPts val="1650"/>
              </a:lnSpc>
              <a:spcBef>
                <a:spcPts val="0"/>
              </a:spcBef>
              <a:spcAft>
                <a:spcPts val="0"/>
              </a:spcAft>
              <a:buNone/>
            </a:pPr>
            <a:r>
              <a:rPr lang="en-US" sz="1275" b="0" i="0" spc="0">
                <a:solidFill>
                  <a:srgbClr val="333333"/>
                </a:solidFill>
                <a:latin typeface="Arial"/>
                <a:ea typeface="Arial"/>
                <a:cs typeface="Arial"/>
              </a:rPr>
              <a:t xml:space="preserve">Diamond / green</a:t>
            </a:r>
            <a:endParaRPr lang="en-US"/>
          </a:p>
        </p:txBody>
      </p:sp>
      <p:sp>
        <p:nvSpPr>
          <p:cNvPr id="19" name="Text 19"/>
          <p:cNvSpPr txBox="1"/>
          <p:nvPr/>
        </p:nvSpPr>
        <p:spPr>
          <a:xfrm>
            <a:off x="3743995" y="1130796"/>
            <a:ext cx="551185" cy="228600"/>
          </a:xfrm>
          <a:prstGeom prst="rect">
            <a:avLst/>
          </a:prstGeom>
          <a:noFill/>
          <a:ln>
            <a:noFill/>
          </a:ln>
        </p:spPr>
        <p:txBody>
          <a:bodyPr wrap="square" lIns="0" rIns="0" tIns="0" bIns="0" anchor="t"/>
          <a:lstStyle/>
          <a:p>
            <a:pPr algn="l">
              <a:lnSpc>
                <a:spcPts val="1650"/>
              </a:lnSpc>
              <a:spcBef>
                <a:spcPts val="0"/>
              </a:spcBef>
              <a:spcAft>
                <a:spcPts val="0"/>
              </a:spcAft>
              <a:buNone/>
            </a:pPr>
            <a:r>
              <a:rPr lang="en-US" sz="1275" b="0" i="0" spc="0">
                <a:solidFill>
                  <a:srgbClr val="333333"/>
                </a:solidFill>
                <a:latin typeface="Arial"/>
                <a:ea typeface="Arial"/>
                <a:cs typeface="Arial"/>
              </a:rPr>
              <a:t xml:space="preserve">Bronze</a:t>
            </a:r>
            <a:endParaRPr lang="en-US"/>
          </a:p>
        </p:txBody>
      </p:sp>
      <p:sp>
        <p:nvSpPr>
          <p:cNvPr id="20" name="Text 20"/>
          <p:cNvSpPr txBox="1"/>
          <p:nvPr/>
        </p:nvSpPr>
        <p:spPr>
          <a:xfrm>
            <a:off x="4666655" y="1130796"/>
            <a:ext cx="542181" cy="228600"/>
          </a:xfrm>
          <a:prstGeom prst="rect">
            <a:avLst/>
          </a:prstGeom>
          <a:noFill/>
          <a:ln>
            <a:noFill/>
          </a:ln>
        </p:spPr>
        <p:txBody>
          <a:bodyPr wrap="square" lIns="0" rIns="0" tIns="0" bIns="0" anchor="t"/>
          <a:lstStyle/>
          <a:p>
            <a:pPr algn="l">
              <a:lnSpc>
                <a:spcPts val="1650"/>
              </a:lnSpc>
              <a:spcBef>
                <a:spcPts val="0"/>
              </a:spcBef>
              <a:spcAft>
                <a:spcPts val="0"/>
              </a:spcAft>
              <a:buNone/>
            </a:pPr>
            <a:r>
              <a:rPr lang="en-US" sz="1275" b="0" i="0" spc="0">
                <a:solidFill>
                  <a:srgbClr val="333333"/>
                </a:solidFill>
                <a:latin typeface="Arial"/>
                <a:ea typeface="Arial"/>
                <a:cs typeface="Arial"/>
              </a:rPr>
              <a:t xml:space="preserve">Closed</a:t>
            </a:r>
            <a:endParaRPr lang="en-US"/>
          </a:p>
        </p:txBody>
      </p:sp>
      <p:sp>
        <p:nvSpPr>
          <p:cNvPr id="21" name="Text 21"/>
          <p:cNvSpPr txBox="1"/>
          <p:nvPr/>
        </p:nvSpPr>
        <p:spPr>
          <a:xfrm>
            <a:off x="609600" y="2078534"/>
            <a:ext cx="657225" cy="276225"/>
          </a:xfrm>
          <a:prstGeom prst="rect">
            <a:avLst/>
          </a:prstGeom>
          <a:noFill/>
          <a:ln>
            <a:noFill/>
          </a:ln>
        </p:spPr>
        <p:txBody>
          <a:bodyPr wrap="square" lIns="0" rIns="0" tIns="0" bIns="0" anchor="t"/>
          <a:lstStyle/>
          <a:p>
            <a:pPr algn="l">
              <a:lnSpc>
                <a:spcPts val="2025"/>
              </a:lnSpc>
              <a:spcBef>
                <a:spcPts val="0"/>
              </a:spcBef>
              <a:spcAft>
                <a:spcPts val="0"/>
              </a:spcAft>
              <a:buNone/>
            </a:pPr>
            <a:r>
              <a:rPr lang="en-US" sz="1650" b="1" i="0" spc="0">
                <a:solidFill>
                  <a:srgbClr val="000000"/>
                </a:solidFill>
                <a:latin typeface="Arial"/>
                <a:ea typeface="Arial"/>
                <a:cs typeface="Arial"/>
              </a:rPr>
              <a:t xml:space="preserve">2015</a:t>
            </a:r>
            <a:endParaRPr lang="en-US"/>
          </a:p>
        </p:txBody>
      </p:sp>
      <p:sp>
        <p:nvSpPr>
          <p:cNvPr id="22" name="Text 22"/>
          <p:cNvSpPr txBox="1"/>
          <p:nvPr/>
        </p:nvSpPr>
        <p:spPr>
          <a:xfrm>
            <a:off x="7153275" y="2059484"/>
            <a:ext cx="495672" cy="314325"/>
          </a:xfrm>
          <a:prstGeom prst="rect">
            <a:avLst/>
          </a:prstGeom>
          <a:noFill/>
          <a:ln>
            <a:noFill/>
          </a:ln>
        </p:spPr>
        <p:txBody>
          <a:bodyPr wrap="square" lIns="0" rIns="0" tIns="0" bIns="0" anchor="t"/>
          <a:lstStyle/>
          <a:p>
            <a:pPr algn="l">
              <a:lnSpc>
                <a:spcPts val="2325"/>
              </a:lnSpc>
              <a:spcBef>
                <a:spcPts val="0"/>
              </a:spcBef>
              <a:spcAft>
                <a:spcPts val="0"/>
              </a:spcAft>
              <a:buNone/>
            </a:pPr>
            <a:r>
              <a:rPr lang="en-US" sz="1800" b="1" i="0" spc="0">
                <a:solidFill>
                  <a:srgbClr val="EDA100"/>
                </a:solidFill>
                <a:latin typeface="Arial"/>
                <a:ea typeface="Arial"/>
                <a:cs typeface="Arial"/>
              </a:rPr>
              <a:t xml:space="preserve">19%</a:t>
            </a:r>
            <a:endParaRPr lang="en-US"/>
          </a:p>
        </p:txBody>
      </p:sp>
      <p:sp>
        <p:nvSpPr>
          <p:cNvPr id="23" name="Text 23"/>
          <p:cNvSpPr txBox="1"/>
          <p:nvPr/>
        </p:nvSpPr>
        <p:spPr>
          <a:xfrm>
            <a:off x="609600" y="3031034"/>
            <a:ext cx="657225" cy="276225"/>
          </a:xfrm>
          <a:prstGeom prst="rect">
            <a:avLst/>
          </a:prstGeom>
          <a:noFill/>
          <a:ln>
            <a:noFill/>
          </a:ln>
        </p:spPr>
        <p:txBody>
          <a:bodyPr wrap="square" lIns="0" rIns="0" tIns="0" bIns="0" anchor="t"/>
          <a:lstStyle/>
          <a:p>
            <a:pPr algn="l">
              <a:lnSpc>
                <a:spcPts val="2025"/>
              </a:lnSpc>
              <a:spcBef>
                <a:spcPts val="0"/>
              </a:spcBef>
              <a:spcAft>
                <a:spcPts val="0"/>
              </a:spcAft>
              <a:buNone/>
            </a:pPr>
            <a:r>
              <a:rPr lang="en-US" sz="1650" b="1" i="0" spc="0">
                <a:solidFill>
                  <a:srgbClr val="000000"/>
                </a:solidFill>
                <a:latin typeface="Arial"/>
                <a:ea typeface="Arial"/>
                <a:cs typeface="Arial"/>
              </a:rPr>
              <a:t xml:space="preserve">2024</a:t>
            </a:r>
            <a:endParaRPr lang="en-US"/>
          </a:p>
        </p:txBody>
      </p:sp>
      <p:sp>
        <p:nvSpPr>
          <p:cNvPr id="24" name="Text 24"/>
          <p:cNvSpPr txBox="1"/>
          <p:nvPr/>
        </p:nvSpPr>
        <p:spPr>
          <a:xfrm>
            <a:off x="7153275" y="3011984"/>
            <a:ext cx="495672" cy="314325"/>
          </a:xfrm>
          <a:prstGeom prst="rect">
            <a:avLst/>
          </a:prstGeom>
          <a:noFill/>
          <a:ln>
            <a:noFill/>
          </a:ln>
        </p:spPr>
        <p:txBody>
          <a:bodyPr wrap="square" lIns="0" rIns="0" tIns="0" bIns="0" anchor="t"/>
          <a:lstStyle/>
          <a:p>
            <a:pPr algn="l">
              <a:lnSpc>
                <a:spcPts val="2325"/>
              </a:lnSpc>
              <a:spcBef>
                <a:spcPts val="0"/>
              </a:spcBef>
              <a:spcAft>
                <a:spcPts val="0"/>
              </a:spcAft>
              <a:buNone/>
            </a:pPr>
            <a:r>
              <a:rPr lang="en-US" sz="1800" b="1" i="0" spc="0">
                <a:solidFill>
                  <a:srgbClr val="EDA100"/>
                </a:solidFill>
                <a:latin typeface="Arial"/>
                <a:ea typeface="Arial"/>
                <a:cs typeface="Arial"/>
              </a:rPr>
              <a:t xml:space="preserve">44%</a:t>
            </a:r>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2552700" y="1897559"/>
            <a:ext cx="3952875" cy="571500"/>
          </a:xfrm>
          <a:prstGeom prst="rect">
            <a:avLst/>
          </a:prstGeom>
          <a:solidFill>
            <a:srgbClr val="D7263D"/>
          </a:solidFill>
          <a:ln>
            <a:noFill/>
          </a:ln>
        </p:spPr>
      </p:sp>
      <p:sp>
        <p:nvSpPr>
          <p:cNvPr id="3" name="Data mark 3"/>
          <p:cNvSpPr txBox="0"/>
          <p:nvPr/>
        </p:nvSpPr>
        <p:spPr>
          <a:xfrm>
            <a:off x="2552700" y="2897684"/>
            <a:ext cx="2667000" cy="571500"/>
          </a:xfrm>
          <a:prstGeom prst="rect">
            <a:avLst/>
          </a:prstGeom>
          <a:solidFill>
            <a:srgbClr val="000000"/>
          </a:solidFill>
          <a:ln>
            <a:noFill/>
          </a:ln>
        </p:spPr>
      </p:sp>
      <p:sp>
        <p:nvSpPr>
          <p:cNvPr id="4" name="Text 4"/>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22 · OpenAlex funding metadata · 2015–2025</a:t>
            </a:r>
            <a:endParaRPr lang="en-US"/>
          </a:p>
        </p:txBody>
      </p:sp>
      <p:sp>
        <p:nvSpPr>
          <p:cNvPr id="5" name="Text 5"/>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10</a:t>
            </a:r>
            <a:endParaRPr lang="en-US"/>
          </a:p>
        </p:txBody>
      </p:sp>
      <p:sp>
        <p:nvSpPr>
          <p:cNvPr id="6" name="Text 6"/>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Funding is associated with open access</a:t>
            </a:r>
            <a:endParaRPr lang="en-US"/>
          </a:p>
        </p:txBody>
      </p:sp>
      <p:sp>
        <p:nvSpPr>
          <p:cNvPr id="7" name="Text 7"/>
          <p:cNvSpPr txBox="1"/>
          <p:nvPr/>
        </p:nvSpPr>
        <p:spPr>
          <a:xfrm>
            <a:off x="609600" y="1102221"/>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333333"/>
                </a:solidFill>
                <a:latin typeface="Arial"/>
                <a:ea typeface="Arial"/>
                <a:cs typeface="Arial"/>
              </a:rPr>
              <a:t xml:space="preserve">Stroke · High-income first authors</a:t>
            </a:r>
            <a:endParaRPr lang="en-US"/>
          </a:p>
        </p:txBody>
      </p:sp>
      <p:sp>
        <p:nvSpPr>
          <p:cNvPr id="8" name="Text 8"/>
          <p:cNvSpPr txBox="1"/>
          <p:nvPr/>
        </p:nvSpPr>
        <p:spPr>
          <a:xfrm>
            <a:off x="609600" y="2064246"/>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Funder listed</a:t>
            </a:r>
            <a:endParaRPr lang="en-US"/>
          </a:p>
        </p:txBody>
      </p:sp>
      <p:sp>
        <p:nvSpPr>
          <p:cNvPr id="9" name="Text 9"/>
          <p:cNvSpPr txBox="1"/>
          <p:nvPr/>
        </p:nvSpPr>
        <p:spPr>
          <a:xfrm>
            <a:off x="7448550" y="2049959"/>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D7263D"/>
                </a:solidFill>
                <a:latin typeface="Arial"/>
                <a:ea typeface="Arial"/>
                <a:cs typeface="Arial"/>
              </a:rPr>
              <a:t xml:space="preserve">83%</a:t>
            </a:r>
            <a:endParaRPr lang="en-US"/>
          </a:p>
        </p:txBody>
      </p:sp>
      <p:sp>
        <p:nvSpPr>
          <p:cNvPr id="10" name="Text 10"/>
          <p:cNvSpPr txBox="1"/>
          <p:nvPr/>
        </p:nvSpPr>
        <p:spPr>
          <a:xfrm>
            <a:off x="609600" y="3064371"/>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No funder listed</a:t>
            </a:r>
            <a:endParaRPr lang="en-US"/>
          </a:p>
        </p:txBody>
      </p:sp>
      <p:sp>
        <p:nvSpPr>
          <p:cNvPr id="11" name="Text 11"/>
          <p:cNvSpPr txBox="1"/>
          <p:nvPr/>
        </p:nvSpPr>
        <p:spPr>
          <a:xfrm>
            <a:off x="7448550" y="3050084"/>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56%</a:t>
            </a:r>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609600" y="1133177"/>
            <a:ext cx="142875" cy="142875"/>
          </a:xfrm>
          <a:prstGeom prst="rect">
            <a:avLst/>
          </a:prstGeom>
          <a:solidFill>
            <a:srgbClr val="EDA100"/>
          </a:solidFill>
          <a:ln>
            <a:noFill/>
          </a:ln>
        </p:spPr>
      </p:sp>
      <p:sp>
        <p:nvSpPr>
          <p:cNvPr id="3" name="Data mark 3"/>
          <p:cNvSpPr txBox="0"/>
          <p:nvPr/>
        </p:nvSpPr>
        <p:spPr>
          <a:xfrm>
            <a:off x="1829246" y="1133177"/>
            <a:ext cx="142875" cy="142875"/>
          </a:xfrm>
          <a:prstGeom prst="rect">
            <a:avLst/>
          </a:prstGeom>
          <a:solidFill>
            <a:srgbClr val="1BAF7A"/>
          </a:solidFill>
          <a:ln>
            <a:noFill/>
          </a:ln>
        </p:spPr>
      </p:sp>
      <p:sp>
        <p:nvSpPr>
          <p:cNvPr id="4" name="Data mark 4"/>
          <p:cNvSpPr txBox="0"/>
          <p:nvPr/>
        </p:nvSpPr>
        <p:spPr>
          <a:xfrm>
            <a:off x="3295129" y="1133177"/>
            <a:ext cx="142875" cy="142875"/>
          </a:xfrm>
          <a:prstGeom prst="rect">
            <a:avLst/>
          </a:prstGeom>
          <a:solidFill>
            <a:srgbClr val="9A5A1F"/>
          </a:solidFill>
          <a:ln>
            <a:noFill/>
          </a:ln>
        </p:spPr>
      </p:sp>
      <p:sp>
        <p:nvSpPr>
          <p:cNvPr id="5" name="Data mark 5"/>
          <p:cNvSpPr txBox="0"/>
          <p:nvPr/>
        </p:nvSpPr>
        <p:spPr>
          <a:xfrm>
            <a:off x="4157439" y="1133177"/>
            <a:ext cx="142875" cy="142875"/>
          </a:xfrm>
          <a:prstGeom prst="rect">
            <a:avLst/>
          </a:prstGeom>
          <a:solidFill>
            <a:srgbClr val="D6D6D2"/>
          </a:solidFill>
          <a:ln>
            <a:noFill/>
          </a:ln>
        </p:spPr>
      </p:sp>
      <p:sp>
        <p:nvSpPr>
          <p:cNvPr id="6" name="Data mark 6"/>
          <p:cNvSpPr txBox="0"/>
          <p:nvPr/>
        </p:nvSpPr>
        <p:spPr>
          <a:xfrm>
            <a:off x="2514600" y="1449884"/>
            <a:ext cx="1185862" cy="404812"/>
          </a:xfrm>
          <a:prstGeom prst="rect">
            <a:avLst/>
          </a:prstGeom>
          <a:solidFill>
            <a:srgbClr val="EDA100"/>
          </a:solidFill>
          <a:ln>
            <a:noFill/>
          </a:ln>
        </p:spPr>
      </p:sp>
      <p:sp>
        <p:nvSpPr>
          <p:cNvPr id="7" name="Data mark 7"/>
          <p:cNvSpPr txBox="0"/>
          <p:nvPr/>
        </p:nvSpPr>
        <p:spPr>
          <a:xfrm>
            <a:off x="3700462" y="1449884"/>
            <a:ext cx="2886075" cy="404812"/>
          </a:xfrm>
          <a:prstGeom prst="rect">
            <a:avLst/>
          </a:prstGeom>
          <a:solidFill>
            <a:srgbClr val="1BAF7A"/>
          </a:solidFill>
          <a:ln>
            <a:noFill/>
          </a:ln>
        </p:spPr>
      </p:sp>
      <p:sp>
        <p:nvSpPr>
          <p:cNvPr id="8" name="Data mark 8"/>
          <p:cNvSpPr txBox="0"/>
          <p:nvPr/>
        </p:nvSpPr>
        <p:spPr>
          <a:xfrm>
            <a:off x="6586538" y="1449884"/>
            <a:ext cx="242888" cy="404812"/>
          </a:xfrm>
          <a:prstGeom prst="rect">
            <a:avLst/>
          </a:prstGeom>
          <a:solidFill>
            <a:srgbClr val="9A5A1F"/>
          </a:solidFill>
          <a:ln>
            <a:noFill/>
          </a:ln>
        </p:spPr>
      </p:sp>
      <p:sp>
        <p:nvSpPr>
          <p:cNvPr id="9" name="Data mark 9"/>
          <p:cNvSpPr txBox="0"/>
          <p:nvPr/>
        </p:nvSpPr>
        <p:spPr>
          <a:xfrm>
            <a:off x="6829425" y="1449884"/>
            <a:ext cx="209550" cy="404812"/>
          </a:xfrm>
          <a:prstGeom prst="rect">
            <a:avLst/>
          </a:prstGeom>
          <a:solidFill>
            <a:srgbClr val="D6D6D2"/>
          </a:solidFill>
          <a:ln>
            <a:noFill/>
          </a:ln>
        </p:spPr>
      </p:sp>
      <p:sp>
        <p:nvSpPr>
          <p:cNvPr id="10" name="Data mark 10"/>
          <p:cNvSpPr txBox="0"/>
          <p:nvPr/>
        </p:nvSpPr>
        <p:spPr>
          <a:xfrm>
            <a:off x="2514600" y="2035671"/>
            <a:ext cx="2762250" cy="404812"/>
          </a:xfrm>
          <a:prstGeom prst="rect">
            <a:avLst/>
          </a:prstGeom>
          <a:solidFill>
            <a:srgbClr val="EDA100"/>
          </a:solidFill>
          <a:ln>
            <a:noFill/>
          </a:ln>
        </p:spPr>
      </p:sp>
      <p:sp>
        <p:nvSpPr>
          <p:cNvPr id="11" name="Data mark 11"/>
          <p:cNvSpPr txBox="0"/>
          <p:nvPr/>
        </p:nvSpPr>
        <p:spPr>
          <a:xfrm>
            <a:off x="5276850" y="2035671"/>
            <a:ext cx="809625" cy="404812"/>
          </a:xfrm>
          <a:prstGeom prst="rect">
            <a:avLst/>
          </a:prstGeom>
          <a:solidFill>
            <a:srgbClr val="1BAF7A"/>
          </a:solidFill>
          <a:ln>
            <a:noFill/>
          </a:ln>
        </p:spPr>
      </p:sp>
      <p:sp>
        <p:nvSpPr>
          <p:cNvPr id="12" name="Data mark 12"/>
          <p:cNvSpPr txBox="0"/>
          <p:nvPr/>
        </p:nvSpPr>
        <p:spPr>
          <a:xfrm>
            <a:off x="6086475" y="2035671"/>
            <a:ext cx="519112" cy="404812"/>
          </a:xfrm>
          <a:prstGeom prst="rect">
            <a:avLst/>
          </a:prstGeom>
          <a:solidFill>
            <a:srgbClr val="9A5A1F"/>
          </a:solidFill>
          <a:ln>
            <a:noFill/>
          </a:ln>
        </p:spPr>
      </p:sp>
      <p:sp>
        <p:nvSpPr>
          <p:cNvPr id="13" name="Data mark 13"/>
          <p:cNvSpPr txBox="0"/>
          <p:nvPr/>
        </p:nvSpPr>
        <p:spPr>
          <a:xfrm>
            <a:off x="6605588" y="2035671"/>
            <a:ext cx="433388" cy="404812"/>
          </a:xfrm>
          <a:prstGeom prst="rect">
            <a:avLst/>
          </a:prstGeom>
          <a:solidFill>
            <a:srgbClr val="D6D6D2"/>
          </a:solidFill>
          <a:ln>
            <a:noFill/>
          </a:ln>
        </p:spPr>
      </p:sp>
      <p:sp>
        <p:nvSpPr>
          <p:cNvPr id="14" name="Data mark 14"/>
          <p:cNvSpPr txBox="0"/>
          <p:nvPr/>
        </p:nvSpPr>
        <p:spPr>
          <a:xfrm>
            <a:off x="2514600" y="2621459"/>
            <a:ext cx="1671638" cy="404812"/>
          </a:xfrm>
          <a:prstGeom prst="rect">
            <a:avLst/>
          </a:prstGeom>
          <a:solidFill>
            <a:srgbClr val="EDA100"/>
          </a:solidFill>
          <a:ln>
            <a:noFill/>
          </a:ln>
        </p:spPr>
      </p:sp>
      <p:sp>
        <p:nvSpPr>
          <p:cNvPr id="15" name="Data mark 15"/>
          <p:cNvSpPr txBox="0"/>
          <p:nvPr/>
        </p:nvSpPr>
        <p:spPr>
          <a:xfrm>
            <a:off x="4186238" y="2621459"/>
            <a:ext cx="1404938" cy="404812"/>
          </a:xfrm>
          <a:prstGeom prst="rect">
            <a:avLst/>
          </a:prstGeom>
          <a:solidFill>
            <a:srgbClr val="1BAF7A"/>
          </a:solidFill>
          <a:ln>
            <a:noFill/>
          </a:ln>
        </p:spPr>
      </p:sp>
      <p:sp>
        <p:nvSpPr>
          <p:cNvPr id="16" name="Data mark 16"/>
          <p:cNvSpPr txBox="0"/>
          <p:nvPr/>
        </p:nvSpPr>
        <p:spPr>
          <a:xfrm>
            <a:off x="5591175" y="2621459"/>
            <a:ext cx="323850" cy="404812"/>
          </a:xfrm>
          <a:prstGeom prst="rect">
            <a:avLst/>
          </a:prstGeom>
          <a:solidFill>
            <a:srgbClr val="9A5A1F"/>
          </a:solidFill>
          <a:ln>
            <a:noFill/>
          </a:ln>
        </p:spPr>
      </p:sp>
      <p:sp>
        <p:nvSpPr>
          <p:cNvPr id="17" name="Data mark 17"/>
          <p:cNvSpPr txBox="0"/>
          <p:nvPr/>
        </p:nvSpPr>
        <p:spPr>
          <a:xfrm>
            <a:off x="5915025" y="2621459"/>
            <a:ext cx="1123950" cy="404812"/>
          </a:xfrm>
          <a:prstGeom prst="rect">
            <a:avLst/>
          </a:prstGeom>
          <a:solidFill>
            <a:srgbClr val="D6D6D2"/>
          </a:solidFill>
          <a:ln>
            <a:noFill/>
          </a:ln>
        </p:spPr>
      </p:sp>
      <p:sp>
        <p:nvSpPr>
          <p:cNvPr id="18" name="Data mark 18"/>
          <p:cNvSpPr txBox="0"/>
          <p:nvPr/>
        </p:nvSpPr>
        <p:spPr>
          <a:xfrm>
            <a:off x="2514600" y="3207246"/>
            <a:ext cx="1062038" cy="404812"/>
          </a:xfrm>
          <a:prstGeom prst="rect">
            <a:avLst/>
          </a:prstGeom>
          <a:solidFill>
            <a:srgbClr val="EDA100"/>
          </a:solidFill>
          <a:ln>
            <a:noFill/>
          </a:ln>
        </p:spPr>
      </p:sp>
      <p:sp>
        <p:nvSpPr>
          <p:cNvPr id="19" name="Data mark 19"/>
          <p:cNvSpPr txBox="0"/>
          <p:nvPr/>
        </p:nvSpPr>
        <p:spPr>
          <a:xfrm>
            <a:off x="3576638" y="3207246"/>
            <a:ext cx="900112" cy="404812"/>
          </a:xfrm>
          <a:prstGeom prst="rect">
            <a:avLst/>
          </a:prstGeom>
          <a:solidFill>
            <a:srgbClr val="1BAF7A"/>
          </a:solidFill>
          <a:ln>
            <a:noFill/>
          </a:ln>
        </p:spPr>
      </p:sp>
      <p:sp>
        <p:nvSpPr>
          <p:cNvPr id="20" name="Data mark 20"/>
          <p:cNvSpPr txBox="0"/>
          <p:nvPr/>
        </p:nvSpPr>
        <p:spPr>
          <a:xfrm>
            <a:off x="4476750" y="3207246"/>
            <a:ext cx="652462" cy="404812"/>
          </a:xfrm>
          <a:prstGeom prst="rect">
            <a:avLst/>
          </a:prstGeom>
          <a:solidFill>
            <a:srgbClr val="9A5A1F"/>
          </a:solidFill>
          <a:ln>
            <a:noFill/>
          </a:ln>
        </p:spPr>
      </p:sp>
      <p:sp>
        <p:nvSpPr>
          <p:cNvPr id="21" name="Data mark 21"/>
          <p:cNvSpPr txBox="0"/>
          <p:nvPr/>
        </p:nvSpPr>
        <p:spPr>
          <a:xfrm>
            <a:off x="5129212" y="3207246"/>
            <a:ext cx="1909762" cy="404812"/>
          </a:xfrm>
          <a:prstGeom prst="rect">
            <a:avLst/>
          </a:prstGeom>
          <a:solidFill>
            <a:srgbClr val="D6D6D2"/>
          </a:solidFill>
          <a:ln>
            <a:noFill/>
          </a:ln>
        </p:spPr>
      </p:sp>
      <p:sp>
        <p:nvSpPr>
          <p:cNvPr id="22" name="Text 22"/>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22 · Selected first-author countries · 2015–2025</a:t>
            </a:r>
            <a:endParaRPr lang="en-US"/>
          </a:p>
        </p:txBody>
      </p:sp>
      <p:sp>
        <p:nvSpPr>
          <p:cNvPr id="23" name="Text 23"/>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11</a:t>
            </a:r>
            <a:endParaRPr lang="en-US"/>
          </a:p>
        </p:txBody>
      </p:sp>
      <p:sp>
        <p:nvSpPr>
          <p:cNvPr id="24" name="Text 24"/>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Access differs across stroke research communities</a:t>
            </a:r>
            <a:endParaRPr lang="en-US"/>
          </a:p>
        </p:txBody>
      </p:sp>
      <p:sp>
        <p:nvSpPr>
          <p:cNvPr id="25" name="Text 25"/>
          <p:cNvSpPr txBox="1"/>
          <p:nvPr/>
        </p:nvSpPr>
        <p:spPr>
          <a:xfrm>
            <a:off x="809625" y="1111746"/>
            <a:ext cx="848171" cy="204788"/>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333333"/>
                </a:solidFill>
                <a:latin typeface="Arial"/>
                <a:ea typeface="Arial"/>
                <a:cs typeface="Arial"/>
              </a:rPr>
              <a:t xml:space="preserve">Gold / hybrid</a:t>
            </a:r>
            <a:endParaRPr lang="en-US"/>
          </a:p>
        </p:txBody>
      </p:sp>
      <p:sp>
        <p:nvSpPr>
          <p:cNvPr id="26" name="Text 26"/>
          <p:cNvSpPr txBox="1"/>
          <p:nvPr/>
        </p:nvSpPr>
        <p:spPr>
          <a:xfrm>
            <a:off x="2029271" y="1111746"/>
            <a:ext cx="1094408" cy="204788"/>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333333"/>
                </a:solidFill>
                <a:latin typeface="Arial"/>
                <a:ea typeface="Arial"/>
                <a:cs typeface="Arial"/>
              </a:rPr>
              <a:t xml:space="preserve">Diamond / green</a:t>
            </a:r>
            <a:endParaRPr lang="en-US"/>
          </a:p>
        </p:txBody>
      </p:sp>
      <p:sp>
        <p:nvSpPr>
          <p:cNvPr id="27" name="Text 27"/>
          <p:cNvSpPr txBox="1"/>
          <p:nvPr/>
        </p:nvSpPr>
        <p:spPr>
          <a:xfrm>
            <a:off x="3495154" y="1111746"/>
            <a:ext cx="490835" cy="204788"/>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333333"/>
                </a:solidFill>
                <a:latin typeface="Arial"/>
                <a:ea typeface="Arial"/>
                <a:cs typeface="Arial"/>
              </a:rPr>
              <a:t xml:space="preserve">Bronze</a:t>
            </a:r>
            <a:endParaRPr lang="en-US"/>
          </a:p>
        </p:txBody>
      </p:sp>
      <p:sp>
        <p:nvSpPr>
          <p:cNvPr id="28" name="Text 28"/>
          <p:cNvSpPr txBox="1"/>
          <p:nvPr/>
        </p:nvSpPr>
        <p:spPr>
          <a:xfrm>
            <a:off x="4357464" y="1111746"/>
            <a:ext cx="482873" cy="204788"/>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333333"/>
                </a:solidFill>
                <a:latin typeface="Arial"/>
                <a:ea typeface="Arial"/>
                <a:cs typeface="Arial"/>
              </a:rPr>
              <a:t xml:space="preserve">Closed</a:t>
            </a:r>
            <a:endParaRPr lang="en-US"/>
          </a:p>
        </p:txBody>
      </p:sp>
      <p:sp>
        <p:nvSpPr>
          <p:cNvPr id="29" name="Text 29"/>
          <p:cNvSpPr txBox="1"/>
          <p:nvPr/>
        </p:nvSpPr>
        <p:spPr>
          <a:xfrm>
            <a:off x="609600" y="1523702"/>
            <a:ext cx="1800225" cy="276225"/>
          </a:xfrm>
          <a:prstGeom prst="rect">
            <a:avLst/>
          </a:prstGeom>
          <a:noFill/>
          <a:ln>
            <a:noFill/>
          </a:ln>
        </p:spPr>
        <p:txBody>
          <a:bodyPr wrap="square" lIns="0" rIns="0" tIns="0" bIns="0" anchor="t"/>
          <a:lstStyle/>
          <a:p>
            <a:pPr algn="l">
              <a:lnSpc>
                <a:spcPts val="2025"/>
              </a:lnSpc>
              <a:spcBef>
                <a:spcPts val="0"/>
              </a:spcBef>
              <a:spcAft>
                <a:spcPts val="0"/>
              </a:spcAft>
              <a:buNone/>
            </a:pPr>
            <a:r>
              <a:rPr lang="en-US" sz="1575" b="1" i="0" spc="0">
                <a:solidFill>
                  <a:srgbClr val="000000"/>
                </a:solidFill>
                <a:latin typeface="Arial"/>
                <a:ea typeface="Arial"/>
                <a:cs typeface="Arial"/>
              </a:rPr>
              <a:t xml:space="preserve">Indonesia</a:t>
            </a:r>
            <a:endParaRPr lang="en-US"/>
          </a:p>
        </p:txBody>
      </p:sp>
      <p:sp>
        <p:nvSpPr>
          <p:cNvPr id="30" name="Text 30"/>
          <p:cNvSpPr txBox="1"/>
          <p:nvPr/>
        </p:nvSpPr>
        <p:spPr>
          <a:xfrm>
            <a:off x="7181850" y="1521321"/>
            <a:ext cx="438448" cy="280988"/>
          </a:xfrm>
          <a:prstGeom prst="rect">
            <a:avLst/>
          </a:prstGeom>
          <a:noFill/>
          <a:ln>
            <a:noFill/>
          </a:ln>
        </p:spPr>
        <p:txBody>
          <a:bodyPr wrap="square" lIns="0" rIns="0" tIns="0" bIns="0" anchor="t"/>
          <a:lstStyle/>
          <a:p>
            <a:pPr algn="l">
              <a:lnSpc>
                <a:spcPts val="2062"/>
              </a:lnSpc>
              <a:spcBef>
                <a:spcPts val="0"/>
              </a:spcBef>
              <a:spcAft>
                <a:spcPts val="0"/>
              </a:spcAft>
              <a:buNone/>
            </a:pPr>
            <a:r>
              <a:rPr lang="en-US" sz="1575" b="1" i="0" spc="0">
                <a:solidFill>
                  <a:srgbClr val="000000"/>
                </a:solidFill>
                <a:latin typeface="Arial"/>
                <a:ea typeface="Arial"/>
                <a:cs typeface="Arial"/>
              </a:rPr>
              <a:t xml:space="preserve">95%</a:t>
            </a:r>
            <a:endParaRPr lang="en-US"/>
          </a:p>
        </p:txBody>
      </p:sp>
      <p:sp>
        <p:nvSpPr>
          <p:cNvPr id="31" name="Text 31"/>
          <p:cNvSpPr txBox="1"/>
          <p:nvPr/>
        </p:nvSpPr>
        <p:spPr>
          <a:xfrm>
            <a:off x="609600" y="2109490"/>
            <a:ext cx="1800225" cy="276225"/>
          </a:xfrm>
          <a:prstGeom prst="rect">
            <a:avLst/>
          </a:prstGeom>
          <a:noFill/>
          <a:ln>
            <a:noFill/>
          </a:ln>
        </p:spPr>
        <p:txBody>
          <a:bodyPr wrap="square" lIns="0" rIns="0" tIns="0" bIns="0" anchor="t"/>
          <a:lstStyle/>
          <a:p>
            <a:pPr algn="l">
              <a:lnSpc>
                <a:spcPts val="2025"/>
              </a:lnSpc>
              <a:spcBef>
                <a:spcPts val="0"/>
              </a:spcBef>
              <a:spcAft>
                <a:spcPts val="0"/>
              </a:spcAft>
              <a:buNone/>
            </a:pPr>
            <a:r>
              <a:rPr lang="en-US" sz="1575" b="1" i="0" spc="0">
                <a:solidFill>
                  <a:srgbClr val="000000"/>
                </a:solidFill>
                <a:latin typeface="Arial"/>
                <a:ea typeface="Arial"/>
                <a:cs typeface="Arial"/>
              </a:rPr>
              <a:t xml:space="preserve">Netherlands</a:t>
            </a:r>
            <a:endParaRPr lang="en-US"/>
          </a:p>
        </p:txBody>
      </p:sp>
      <p:sp>
        <p:nvSpPr>
          <p:cNvPr id="32" name="Text 32"/>
          <p:cNvSpPr txBox="1"/>
          <p:nvPr/>
        </p:nvSpPr>
        <p:spPr>
          <a:xfrm>
            <a:off x="7181850" y="2107109"/>
            <a:ext cx="438448" cy="280988"/>
          </a:xfrm>
          <a:prstGeom prst="rect">
            <a:avLst/>
          </a:prstGeom>
          <a:noFill/>
          <a:ln>
            <a:noFill/>
          </a:ln>
        </p:spPr>
        <p:txBody>
          <a:bodyPr wrap="square" lIns="0" rIns="0" tIns="0" bIns="0" anchor="t"/>
          <a:lstStyle/>
          <a:p>
            <a:pPr algn="l">
              <a:lnSpc>
                <a:spcPts val="2062"/>
              </a:lnSpc>
              <a:spcBef>
                <a:spcPts val="0"/>
              </a:spcBef>
              <a:spcAft>
                <a:spcPts val="0"/>
              </a:spcAft>
              <a:buNone/>
            </a:pPr>
            <a:r>
              <a:rPr lang="en-US" sz="1575" b="1" i="0" spc="0">
                <a:solidFill>
                  <a:srgbClr val="000000"/>
                </a:solidFill>
                <a:latin typeface="Arial"/>
                <a:ea typeface="Arial"/>
                <a:cs typeface="Arial"/>
              </a:rPr>
              <a:t xml:space="preserve">90%</a:t>
            </a:r>
            <a:endParaRPr lang="en-US"/>
          </a:p>
        </p:txBody>
      </p:sp>
      <p:sp>
        <p:nvSpPr>
          <p:cNvPr id="33" name="Text 33"/>
          <p:cNvSpPr txBox="1"/>
          <p:nvPr/>
        </p:nvSpPr>
        <p:spPr>
          <a:xfrm>
            <a:off x="609600" y="2695277"/>
            <a:ext cx="1800225" cy="276225"/>
          </a:xfrm>
          <a:prstGeom prst="rect">
            <a:avLst/>
          </a:prstGeom>
          <a:noFill/>
          <a:ln>
            <a:noFill/>
          </a:ln>
        </p:spPr>
        <p:txBody>
          <a:bodyPr wrap="square" lIns="0" rIns="0" tIns="0" bIns="0" anchor="t"/>
          <a:lstStyle/>
          <a:p>
            <a:pPr algn="l">
              <a:lnSpc>
                <a:spcPts val="2025"/>
              </a:lnSpc>
              <a:spcBef>
                <a:spcPts val="0"/>
              </a:spcBef>
              <a:spcAft>
                <a:spcPts val="0"/>
              </a:spcAft>
              <a:buNone/>
            </a:pPr>
            <a:r>
              <a:rPr lang="en-US" sz="1575" b="1" i="0" spc="0">
                <a:solidFill>
                  <a:srgbClr val="000000"/>
                </a:solidFill>
                <a:latin typeface="Arial"/>
                <a:ea typeface="Arial"/>
                <a:cs typeface="Arial"/>
              </a:rPr>
              <a:t xml:space="preserve">Korea</a:t>
            </a:r>
            <a:endParaRPr lang="en-US"/>
          </a:p>
        </p:txBody>
      </p:sp>
      <p:sp>
        <p:nvSpPr>
          <p:cNvPr id="34" name="Text 34"/>
          <p:cNvSpPr txBox="1"/>
          <p:nvPr/>
        </p:nvSpPr>
        <p:spPr>
          <a:xfrm>
            <a:off x="7181850" y="2692896"/>
            <a:ext cx="438448" cy="280988"/>
          </a:xfrm>
          <a:prstGeom prst="rect">
            <a:avLst/>
          </a:prstGeom>
          <a:noFill/>
          <a:ln>
            <a:noFill/>
          </a:ln>
        </p:spPr>
        <p:txBody>
          <a:bodyPr wrap="square" lIns="0" rIns="0" tIns="0" bIns="0" anchor="t"/>
          <a:lstStyle/>
          <a:p>
            <a:pPr algn="l">
              <a:lnSpc>
                <a:spcPts val="2062"/>
              </a:lnSpc>
              <a:spcBef>
                <a:spcPts val="0"/>
              </a:spcBef>
              <a:spcAft>
                <a:spcPts val="0"/>
              </a:spcAft>
              <a:buNone/>
            </a:pPr>
            <a:r>
              <a:rPr lang="en-US" sz="1575" b="1" i="0" spc="0">
                <a:solidFill>
                  <a:srgbClr val="000000"/>
                </a:solidFill>
                <a:latin typeface="Arial"/>
                <a:ea typeface="Arial"/>
                <a:cs typeface="Arial"/>
              </a:rPr>
              <a:t xml:space="preserve">75%</a:t>
            </a:r>
            <a:endParaRPr lang="en-US"/>
          </a:p>
        </p:txBody>
      </p:sp>
      <p:sp>
        <p:nvSpPr>
          <p:cNvPr id="35" name="Text 35"/>
          <p:cNvSpPr txBox="1"/>
          <p:nvPr/>
        </p:nvSpPr>
        <p:spPr>
          <a:xfrm>
            <a:off x="609600" y="3281065"/>
            <a:ext cx="1800225" cy="276225"/>
          </a:xfrm>
          <a:prstGeom prst="rect">
            <a:avLst/>
          </a:prstGeom>
          <a:noFill/>
          <a:ln>
            <a:noFill/>
          </a:ln>
        </p:spPr>
        <p:txBody>
          <a:bodyPr wrap="square" lIns="0" rIns="0" tIns="0" bIns="0" anchor="t"/>
          <a:lstStyle/>
          <a:p>
            <a:pPr algn="l">
              <a:lnSpc>
                <a:spcPts val="2025"/>
              </a:lnSpc>
              <a:spcBef>
                <a:spcPts val="0"/>
              </a:spcBef>
              <a:spcAft>
                <a:spcPts val="0"/>
              </a:spcAft>
              <a:buNone/>
            </a:pPr>
            <a:r>
              <a:rPr lang="en-US" sz="1575" b="1" i="0" spc="0">
                <a:solidFill>
                  <a:srgbClr val="000000"/>
                </a:solidFill>
                <a:latin typeface="Arial"/>
                <a:ea typeface="Arial"/>
                <a:cs typeface="Arial"/>
              </a:rPr>
              <a:t xml:space="preserve">United States</a:t>
            </a:r>
            <a:endParaRPr lang="en-US"/>
          </a:p>
        </p:txBody>
      </p:sp>
      <p:sp>
        <p:nvSpPr>
          <p:cNvPr id="36" name="Text 36"/>
          <p:cNvSpPr txBox="1"/>
          <p:nvPr/>
        </p:nvSpPr>
        <p:spPr>
          <a:xfrm>
            <a:off x="7181850" y="3278684"/>
            <a:ext cx="438448" cy="280988"/>
          </a:xfrm>
          <a:prstGeom prst="rect">
            <a:avLst/>
          </a:prstGeom>
          <a:noFill/>
          <a:ln>
            <a:noFill/>
          </a:ln>
        </p:spPr>
        <p:txBody>
          <a:bodyPr wrap="square" lIns="0" rIns="0" tIns="0" bIns="0" anchor="t"/>
          <a:lstStyle/>
          <a:p>
            <a:pPr algn="l">
              <a:lnSpc>
                <a:spcPts val="2062"/>
              </a:lnSpc>
              <a:spcBef>
                <a:spcPts val="0"/>
              </a:spcBef>
              <a:spcAft>
                <a:spcPts val="0"/>
              </a:spcAft>
              <a:buNone/>
            </a:pPr>
            <a:r>
              <a:rPr lang="en-US" sz="1575" b="1" i="0" spc="0">
                <a:solidFill>
                  <a:srgbClr val="000000"/>
                </a:solidFill>
                <a:latin typeface="Arial"/>
                <a:ea typeface="Arial"/>
                <a:cs typeface="Arial"/>
              </a:rPr>
              <a:t xml:space="preserve">58%</a:t>
            </a:r>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2552700" y="1749921"/>
            <a:ext cx="3476625" cy="357188"/>
          </a:xfrm>
          <a:prstGeom prst="rect">
            <a:avLst/>
          </a:prstGeom>
          <a:solidFill>
            <a:srgbClr val="000000"/>
          </a:solidFill>
          <a:ln>
            <a:noFill/>
          </a:ln>
        </p:spPr>
      </p:sp>
      <p:sp>
        <p:nvSpPr>
          <p:cNvPr id="3" name="Data mark 3"/>
          <p:cNvSpPr txBox="0"/>
          <p:nvPr/>
        </p:nvSpPr>
        <p:spPr>
          <a:xfrm>
            <a:off x="2552700" y="2402384"/>
            <a:ext cx="9525" cy="357188"/>
          </a:xfrm>
          <a:prstGeom prst="rect">
            <a:avLst/>
          </a:prstGeom>
          <a:solidFill>
            <a:srgbClr val="D7263D"/>
          </a:solidFill>
          <a:ln>
            <a:noFill/>
          </a:ln>
        </p:spPr>
      </p:sp>
      <p:sp>
        <p:nvSpPr>
          <p:cNvPr id="4" name="Data mark 4"/>
          <p:cNvSpPr txBox="0"/>
          <p:nvPr/>
        </p:nvSpPr>
        <p:spPr>
          <a:xfrm>
            <a:off x="2552700" y="3054846"/>
            <a:ext cx="9525" cy="357188"/>
          </a:xfrm>
          <a:prstGeom prst="rect">
            <a:avLst/>
          </a:prstGeom>
          <a:solidFill>
            <a:srgbClr val="D7263D"/>
          </a:solidFill>
          <a:ln>
            <a:noFill/>
          </a:ln>
        </p:spPr>
      </p:sp>
      <p:sp>
        <p:nvSpPr>
          <p:cNvPr id="5" name="Text 5"/>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22 · Stroke articles · 2024</a:t>
            </a:r>
            <a:endParaRPr lang="en-US"/>
          </a:p>
        </p:txBody>
      </p:sp>
      <p:sp>
        <p:nvSpPr>
          <p:cNvPr id="6" name="Text 6"/>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12</a:t>
            </a:r>
            <a:endParaRPr lang="en-US"/>
          </a:p>
        </p:txBody>
      </p:sp>
      <p:sp>
        <p:nvSpPr>
          <p:cNvPr id="7" name="Text 7"/>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Access grew; sharing links remained scarce</a:t>
            </a:r>
            <a:endParaRPr lang="en-US"/>
          </a:p>
        </p:txBody>
      </p:sp>
      <p:sp>
        <p:nvSpPr>
          <p:cNvPr id="8" name="Text 8"/>
          <p:cNvSpPr txBox="1"/>
          <p:nvPr/>
        </p:nvSpPr>
        <p:spPr>
          <a:xfrm>
            <a:off x="609600" y="1102221"/>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333333"/>
                </a:solidFill>
                <a:latin typeface="Arial"/>
                <a:ea typeface="Arial"/>
                <a:cs typeface="Arial"/>
              </a:rPr>
              <a:t xml:space="preserve">From abstracts and metadata</a:t>
            </a:r>
            <a:endParaRPr lang="en-US"/>
          </a:p>
        </p:txBody>
      </p:sp>
      <p:sp>
        <p:nvSpPr>
          <p:cNvPr id="9" name="Text 9"/>
          <p:cNvSpPr txBox="1"/>
          <p:nvPr/>
        </p:nvSpPr>
        <p:spPr>
          <a:xfrm>
            <a:off x="609600" y="1809452"/>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Open access</a:t>
            </a:r>
            <a:endParaRPr lang="en-US"/>
          </a:p>
        </p:txBody>
      </p:sp>
      <p:sp>
        <p:nvSpPr>
          <p:cNvPr id="10" name="Text 10"/>
          <p:cNvSpPr txBox="1"/>
          <p:nvPr/>
        </p:nvSpPr>
        <p:spPr>
          <a:xfrm>
            <a:off x="7305675" y="1795165"/>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75%</a:t>
            </a:r>
            <a:endParaRPr lang="en-US"/>
          </a:p>
        </p:txBody>
      </p:sp>
      <p:sp>
        <p:nvSpPr>
          <p:cNvPr id="11" name="Text 11"/>
          <p:cNvSpPr txBox="1"/>
          <p:nvPr/>
        </p:nvSpPr>
        <p:spPr>
          <a:xfrm>
            <a:off x="609600" y="2461915"/>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Data links</a:t>
            </a:r>
            <a:endParaRPr lang="en-US"/>
          </a:p>
        </p:txBody>
      </p:sp>
      <p:sp>
        <p:nvSpPr>
          <p:cNvPr id="12" name="Text 12"/>
          <p:cNvSpPr txBox="1"/>
          <p:nvPr/>
        </p:nvSpPr>
        <p:spPr>
          <a:xfrm>
            <a:off x="7305675" y="2447627"/>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D7263D"/>
                </a:solidFill>
                <a:latin typeface="Arial"/>
                <a:ea typeface="Arial"/>
                <a:cs typeface="Arial"/>
              </a:rPr>
              <a:t xml:space="preserve">0.2%</a:t>
            </a:r>
            <a:endParaRPr lang="en-US"/>
          </a:p>
        </p:txBody>
      </p:sp>
      <p:sp>
        <p:nvSpPr>
          <p:cNvPr id="13" name="Text 13"/>
          <p:cNvSpPr txBox="1"/>
          <p:nvPr/>
        </p:nvSpPr>
        <p:spPr>
          <a:xfrm>
            <a:off x="609600" y="3114377"/>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Code links</a:t>
            </a:r>
            <a:endParaRPr lang="en-US"/>
          </a:p>
        </p:txBody>
      </p:sp>
      <p:sp>
        <p:nvSpPr>
          <p:cNvPr id="14" name="Text 14"/>
          <p:cNvSpPr txBox="1"/>
          <p:nvPr/>
        </p:nvSpPr>
        <p:spPr>
          <a:xfrm>
            <a:off x="7305675" y="3100090"/>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D7263D"/>
                </a:solidFill>
                <a:latin typeface="Arial"/>
                <a:ea typeface="Arial"/>
                <a:cs typeface="Arial"/>
              </a:rPr>
              <a:t xml:space="preserve">&lt;0.1%</a:t>
            </a:r>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2886075" y="1268909"/>
            <a:ext cx="3314700" cy="404812"/>
          </a:xfrm>
          <a:prstGeom prst="rect">
            <a:avLst/>
          </a:prstGeom>
          <a:solidFill>
            <a:srgbClr val="000000"/>
          </a:solidFill>
          <a:ln>
            <a:noFill/>
          </a:ln>
        </p:spPr>
      </p:sp>
      <p:sp>
        <p:nvSpPr>
          <p:cNvPr id="3" name="Data mark 3"/>
          <p:cNvSpPr txBox="0"/>
          <p:nvPr/>
        </p:nvSpPr>
        <p:spPr>
          <a:xfrm>
            <a:off x="2886075" y="2030909"/>
            <a:ext cx="1300162" cy="404812"/>
          </a:xfrm>
          <a:prstGeom prst="rect">
            <a:avLst/>
          </a:prstGeom>
          <a:solidFill>
            <a:srgbClr val="333333"/>
          </a:solidFill>
          <a:ln>
            <a:noFill/>
          </a:ln>
        </p:spPr>
      </p:sp>
      <p:sp>
        <p:nvSpPr>
          <p:cNvPr id="4" name="Data mark 4"/>
          <p:cNvSpPr txBox="0"/>
          <p:nvPr/>
        </p:nvSpPr>
        <p:spPr>
          <a:xfrm>
            <a:off x="2886075" y="2792909"/>
            <a:ext cx="438150" cy="404812"/>
          </a:xfrm>
          <a:prstGeom prst="rect">
            <a:avLst/>
          </a:prstGeom>
          <a:solidFill>
            <a:srgbClr val="D7263D"/>
          </a:solidFill>
          <a:ln>
            <a:noFill/>
          </a:ln>
        </p:spPr>
      </p:sp>
      <p:sp>
        <p:nvSpPr>
          <p:cNvPr id="5" name="Text 5"/>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References 19, 22, 23 · OA stroke full texts · 2025</a:t>
            </a:r>
            <a:endParaRPr lang="en-US"/>
          </a:p>
        </p:txBody>
      </p:sp>
      <p:sp>
        <p:nvSpPr>
          <p:cNvPr id="6" name="Text 6"/>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13</a:t>
            </a:r>
            <a:endParaRPr lang="en-US"/>
          </a:p>
        </p:txBody>
      </p:sp>
      <p:sp>
        <p:nvSpPr>
          <p:cNvPr id="7" name="Text 7"/>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Statements outnumber deposits and public sources</a:t>
            </a:r>
            <a:endParaRPr lang="en-US"/>
          </a:p>
        </p:txBody>
      </p:sp>
      <p:sp>
        <p:nvSpPr>
          <p:cNvPr id="8" name="Text 8"/>
          <p:cNvSpPr txBox="1"/>
          <p:nvPr/>
        </p:nvSpPr>
        <p:spPr>
          <a:xfrm>
            <a:off x="609600" y="1352252"/>
            <a:ext cx="2181225"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Statement</a:t>
            </a:r>
            <a:endParaRPr lang="en-US"/>
          </a:p>
        </p:txBody>
      </p:sp>
      <p:sp>
        <p:nvSpPr>
          <p:cNvPr id="9" name="Text 9"/>
          <p:cNvSpPr txBox="1"/>
          <p:nvPr/>
        </p:nvSpPr>
        <p:spPr>
          <a:xfrm>
            <a:off x="7496175" y="1337965"/>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74%</a:t>
            </a:r>
            <a:endParaRPr lang="en-US"/>
          </a:p>
        </p:txBody>
      </p:sp>
      <p:sp>
        <p:nvSpPr>
          <p:cNvPr id="10" name="Text 10"/>
          <p:cNvSpPr txBox="1"/>
          <p:nvPr/>
        </p:nvSpPr>
        <p:spPr>
          <a:xfrm>
            <a:off x="609600" y="2114252"/>
            <a:ext cx="2181225"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On request</a:t>
            </a:r>
            <a:endParaRPr lang="en-US"/>
          </a:p>
        </p:txBody>
      </p:sp>
      <p:sp>
        <p:nvSpPr>
          <p:cNvPr id="11" name="Text 11"/>
          <p:cNvSpPr txBox="1"/>
          <p:nvPr/>
        </p:nvSpPr>
        <p:spPr>
          <a:xfrm>
            <a:off x="7496175" y="2099965"/>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333333"/>
                </a:solidFill>
                <a:latin typeface="Arial"/>
                <a:ea typeface="Arial"/>
                <a:cs typeface="Arial"/>
              </a:rPr>
              <a:t xml:space="preserve">29%</a:t>
            </a:r>
            <a:endParaRPr lang="en-US"/>
          </a:p>
        </p:txBody>
      </p:sp>
      <p:sp>
        <p:nvSpPr>
          <p:cNvPr id="12" name="Text 12"/>
          <p:cNvSpPr txBox="1"/>
          <p:nvPr/>
        </p:nvSpPr>
        <p:spPr>
          <a:xfrm>
            <a:off x="609600" y="2876252"/>
            <a:ext cx="2181225"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Deposit / public source</a:t>
            </a:r>
            <a:endParaRPr lang="en-US"/>
          </a:p>
        </p:txBody>
      </p:sp>
      <p:sp>
        <p:nvSpPr>
          <p:cNvPr id="13" name="Text 13"/>
          <p:cNvSpPr txBox="1"/>
          <p:nvPr/>
        </p:nvSpPr>
        <p:spPr>
          <a:xfrm>
            <a:off x="7496175" y="2861965"/>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D7263D"/>
                </a:solidFill>
                <a:latin typeface="Arial"/>
                <a:ea typeface="Arial"/>
                <a:cs typeface="Arial"/>
              </a:rPr>
              <a:t xml:space="preserve">9.8%</a:t>
            </a:r>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2552700" y="1635621"/>
            <a:ext cx="3048000" cy="381000"/>
          </a:xfrm>
          <a:prstGeom prst="rect">
            <a:avLst/>
          </a:prstGeom>
          <a:solidFill>
            <a:srgbClr val="000000"/>
          </a:solidFill>
          <a:ln>
            <a:noFill/>
          </a:ln>
        </p:spPr>
      </p:sp>
      <p:sp>
        <p:nvSpPr>
          <p:cNvPr id="3" name="Data mark 3"/>
          <p:cNvSpPr txBox="0"/>
          <p:nvPr/>
        </p:nvSpPr>
        <p:spPr>
          <a:xfrm>
            <a:off x="2552700" y="2302371"/>
            <a:ext cx="3962400" cy="381000"/>
          </a:xfrm>
          <a:prstGeom prst="rect">
            <a:avLst/>
          </a:prstGeom>
          <a:solidFill>
            <a:srgbClr val="000000"/>
          </a:solidFill>
          <a:ln>
            <a:noFill/>
          </a:ln>
        </p:spPr>
      </p:sp>
      <p:sp>
        <p:nvSpPr>
          <p:cNvPr id="4" name="Data mark 4"/>
          <p:cNvSpPr txBox="0"/>
          <p:nvPr/>
        </p:nvSpPr>
        <p:spPr>
          <a:xfrm>
            <a:off x="2552700" y="2969121"/>
            <a:ext cx="1371600" cy="381000"/>
          </a:xfrm>
          <a:prstGeom prst="rect">
            <a:avLst/>
          </a:prstGeom>
          <a:solidFill>
            <a:srgbClr val="D7263D"/>
          </a:solidFill>
          <a:ln>
            <a:noFill/>
          </a:ln>
        </p:spPr>
      </p:sp>
      <p:sp>
        <p:nvSpPr>
          <p:cNvPr id="5" name="Text 5"/>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22 · OA stroke audit · 2015–2025</a:t>
            </a:r>
            <a:endParaRPr lang="en-US"/>
          </a:p>
        </p:txBody>
      </p:sp>
      <p:sp>
        <p:nvSpPr>
          <p:cNvPr id="6" name="Text 6"/>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14</a:t>
            </a:r>
            <a:endParaRPr lang="en-US"/>
          </a:p>
        </p:txBody>
      </p:sp>
      <p:sp>
        <p:nvSpPr>
          <p:cNvPr id="7" name="Text 7"/>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Stroke data access differs by income</a:t>
            </a:r>
            <a:endParaRPr lang="en-US"/>
          </a:p>
        </p:txBody>
      </p:sp>
      <p:sp>
        <p:nvSpPr>
          <p:cNvPr id="8" name="Text 8"/>
          <p:cNvSpPr txBox="1"/>
          <p:nvPr/>
        </p:nvSpPr>
        <p:spPr>
          <a:xfrm>
            <a:off x="609600" y="1173659"/>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333333"/>
                </a:solidFill>
                <a:latin typeface="Arial"/>
                <a:ea typeface="Arial"/>
                <a:cs typeface="Arial"/>
              </a:rPr>
              <a:t xml:space="preserve">Deposited or public source</a:t>
            </a:r>
            <a:endParaRPr lang="en-US"/>
          </a:p>
        </p:txBody>
      </p:sp>
      <p:sp>
        <p:nvSpPr>
          <p:cNvPr id="9" name="Text 9"/>
          <p:cNvSpPr txBox="1"/>
          <p:nvPr/>
        </p:nvSpPr>
        <p:spPr>
          <a:xfrm>
            <a:off x="609600" y="1707059"/>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High income</a:t>
            </a:r>
            <a:endParaRPr lang="en-US"/>
          </a:p>
        </p:txBody>
      </p:sp>
      <p:sp>
        <p:nvSpPr>
          <p:cNvPr id="10" name="Text 10"/>
          <p:cNvSpPr txBox="1"/>
          <p:nvPr/>
        </p:nvSpPr>
        <p:spPr>
          <a:xfrm>
            <a:off x="7258050" y="1692771"/>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4.0%</a:t>
            </a:r>
            <a:endParaRPr lang="en-US"/>
          </a:p>
        </p:txBody>
      </p:sp>
      <p:sp>
        <p:nvSpPr>
          <p:cNvPr id="11" name="Text 11"/>
          <p:cNvSpPr txBox="1"/>
          <p:nvPr/>
        </p:nvSpPr>
        <p:spPr>
          <a:xfrm>
            <a:off x="609600" y="2373809"/>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Upper-middle</a:t>
            </a:r>
            <a:endParaRPr lang="en-US"/>
          </a:p>
        </p:txBody>
      </p:sp>
      <p:sp>
        <p:nvSpPr>
          <p:cNvPr id="12" name="Text 12"/>
          <p:cNvSpPr txBox="1"/>
          <p:nvPr/>
        </p:nvSpPr>
        <p:spPr>
          <a:xfrm>
            <a:off x="7258050" y="2359521"/>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5.2%</a:t>
            </a:r>
            <a:endParaRPr lang="en-US"/>
          </a:p>
        </p:txBody>
      </p:sp>
      <p:sp>
        <p:nvSpPr>
          <p:cNvPr id="13" name="Text 13"/>
          <p:cNvSpPr txBox="1"/>
          <p:nvPr/>
        </p:nvSpPr>
        <p:spPr>
          <a:xfrm>
            <a:off x="609600" y="3040559"/>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Lower-middle</a:t>
            </a:r>
            <a:endParaRPr lang="en-US"/>
          </a:p>
        </p:txBody>
      </p:sp>
      <p:sp>
        <p:nvSpPr>
          <p:cNvPr id="14" name="Text 14"/>
          <p:cNvSpPr txBox="1"/>
          <p:nvPr/>
        </p:nvSpPr>
        <p:spPr>
          <a:xfrm>
            <a:off x="7258050" y="3026271"/>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D7263D"/>
                </a:solidFill>
                <a:latin typeface="Arial"/>
                <a:ea typeface="Arial"/>
                <a:cs typeface="Arial"/>
              </a:rPr>
              <a:t xml:space="preserve">1.8%</a:t>
            </a:r>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2552700" y="1459409"/>
            <a:ext cx="4024312" cy="304800"/>
          </a:xfrm>
          <a:prstGeom prst="rect">
            <a:avLst/>
          </a:prstGeom>
          <a:solidFill>
            <a:srgbClr val="D7263D"/>
          </a:solidFill>
          <a:ln>
            <a:noFill/>
          </a:ln>
        </p:spPr>
      </p:sp>
      <p:sp>
        <p:nvSpPr>
          <p:cNvPr id="3" name="Data mark 3"/>
          <p:cNvSpPr txBox="0"/>
          <p:nvPr/>
        </p:nvSpPr>
        <p:spPr>
          <a:xfrm>
            <a:off x="2552700" y="1930896"/>
            <a:ext cx="2652712" cy="304800"/>
          </a:xfrm>
          <a:prstGeom prst="rect">
            <a:avLst/>
          </a:prstGeom>
          <a:solidFill>
            <a:srgbClr val="000000"/>
          </a:solidFill>
          <a:ln>
            <a:noFill/>
          </a:ln>
        </p:spPr>
      </p:sp>
      <p:sp>
        <p:nvSpPr>
          <p:cNvPr id="4" name="Data mark 4"/>
          <p:cNvSpPr txBox="0"/>
          <p:nvPr/>
        </p:nvSpPr>
        <p:spPr>
          <a:xfrm>
            <a:off x="2552700" y="2402384"/>
            <a:ext cx="2376488" cy="304800"/>
          </a:xfrm>
          <a:prstGeom prst="rect">
            <a:avLst/>
          </a:prstGeom>
          <a:solidFill>
            <a:srgbClr val="000000"/>
          </a:solidFill>
          <a:ln>
            <a:noFill/>
          </a:ln>
        </p:spPr>
      </p:sp>
      <p:sp>
        <p:nvSpPr>
          <p:cNvPr id="5" name="Data mark 5"/>
          <p:cNvSpPr txBox="0"/>
          <p:nvPr/>
        </p:nvSpPr>
        <p:spPr>
          <a:xfrm>
            <a:off x="2552700" y="2873871"/>
            <a:ext cx="2286000" cy="304800"/>
          </a:xfrm>
          <a:prstGeom prst="rect">
            <a:avLst/>
          </a:prstGeom>
          <a:solidFill>
            <a:srgbClr val="000000"/>
          </a:solidFill>
          <a:ln>
            <a:noFill/>
          </a:ln>
        </p:spPr>
      </p:sp>
      <p:sp>
        <p:nvSpPr>
          <p:cNvPr id="6" name="Text 6"/>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22 · Descriptive index · Sample sizes differ</a:t>
            </a:r>
            <a:endParaRPr lang="en-US"/>
          </a:p>
        </p:txBody>
      </p:sp>
      <p:sp>
        <p:nvSpPr>
          <p:cNvPr id="7" name="Text 7"/>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15</a:t>
            </a:r>
            <a:endParaRPr lang="en-US"/>
          </a:p>
        </p:txBody>
      </p:sp>
      <p:sp>
        <p:nvSpPr>
          <p:cNvPr id="8" name="Text 8"/>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Sharing practices can be measured</a:t>
            </a:r>
            <a:endParaRPr lang="en-US"/>
          </a:p>
        </p:txBody>
      </p:sp>
      <p:sp>
        <p:nvSpPr>
          <p:cNvPr id="9" name="Text 9"/>
          <p:cNvSpPr txBox="1"/>
          <p:nvPr/>
        </p:nvSpPr>
        <p:spPr>
          <a:xfrm>
            <a:off x="609600" y="1092696"/>
            <a:ext cx="7962900" cy="252412"/>
          </a:xfrm>
          <a:prstGeom prst="rect">
            <a:avLst/>
          </a:prstGeom>
          <a:noFill/>
          <a:ln>
            <a:noFill/>
          </a:ln>
        </p:spPr>
        <p:txBody>
          <a:bodyPr wrap="square" lIns="0" rIns="0" tIns="0" bIns="0" anchor="t"/>
          <a:lstStyle/>
          <a:p>
            <a:pPr algn="l">
              <a:lnSpc>
                <a:spcPts val="1838"/>
              </a:lnSpc>
              <a:spcBef>
                <a:spcPts val="0"/>
              </a:spcBef>
              <a:spcAft>
                <a:spcPts val="0"/>
              </a:spcAft>
              <a:buNone/>
            </a:pPr>
            <a:r>
              <a:rPr lang="en-US" sz="1425" b="0" i="0" spc="0">
                <a:solidFill>
                  <a:srgbClr val="333333"/>
                </a:solidFill>
                <a:latin typeface="Arial"/>
                <a:ea typeface="Arial"/>
                <a:cs typeface="Arial"/>
              </a:rPr>
              <a:t xml:space="preserve">Deposit · Code · Registration</a:t>
            </a:r>
            <a:endParaRPr lang="en-US"/>
          </a:p>
        </p:txBody>
      </p:sp>
      <p:sp>
        <p:nvSpPr>
          <p:cNvPr id="10" name="Text 10"/>
          <p:cNvSpPr txBox="1"/>
          <p:nvPr/>
        </p:nvSpPr>
        <p:spPr>
          <a:xfrm>
            <a:off x="609600" y="1492746"/>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Charité</a:t>
            </a:r>
            <a:endParaRPr lang="en-US"/>
          </a:p>
        </p:txBody>
      </p:sp>
      <p:sp>
        <p:nvSpPr>
          <p:cNvPr id="11" name="Text 11"/>
          <p:cNvSpPr txBox="1"/>
          <p:nvPr/>
        </p:nvSpPr>
        <p:spPr>
          <a:xfrm>
            <a:off x="7258050" y="1478459"/>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D7263D"/>
                </a:solidFill>
                <a:latin typeface="Arial"/>
                <a:ea typeface="Arial"/>
                <a:cs typeface="Arial"/>
              </a:rPr>
              <a:t xml:space="preserve">4.4×</a:t>
            </a:r>
            <a:endParaRPr lang="en-US"/>
          </a:p>
        </p:txBody>
      </p:sp>
      <p:sp>
        <p:nvSpPr>
          <p:cNvPr id="12" name="Text 12"/>
          <p:cNvSpPr txBox="1"/>
          <p:nvPr/>
        </p:nvSpPr>
        <p:spPr>
          <a:xfrm>
            <a:off x="609600" y="1964234"/>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Oxford</a:t>
            </a:r>
            <a:endParaRPr lang="en-US"/>
          </a:p>
        </p:txBody>
      </p:sp>
      <p:sp>
        <p:nvSpPr>
          <p:cNvPr id="13" name="Text 13"/>
          <p:cNvSpPr txBox="1"/>
          <p:nvPr/>
        </p:nvSpPr>
        <p:spPr>
          <a:xfrm>
            <a:off x="7258050" y="1949946"/>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2.9×</a:t>
            </a:r>
            <a:endParaRPr lang="en-US"/>
          </a:p>
        </p:txBody>
      </p:sp>
      <p:sp>
        <p:nvSpPr>
          <p:cNvPr id="14" name="Text 14"/>
          <p:cNvSpPr txBox="1"/>
          <p:nvPr/>
        </p:nvSpPr>
        <p:spPr>
          <a:xfrm>
            <a:off x="609600" y="2435721"/>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UKE Hamburg</a:t>
            </a:r>
            <a:endParaRPr lang="en-US"/>
          </a:p>
        </p:txBody>
      </p:sp>
      <p:sp>
        <p:nvSpPr>
          <p:cNvPr id="15" name="Text 15"/>
          <p:cNvSpPr txBox="1"/>
          <p:nvPr/>
        </p:nvSpPr>
        <p:spPr>
          <a:xfrm>
            <a:off x="7258050" y="2421434"/>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2.6×</a:t>
            </a:r>
            <a:endParaRPr lang="en-US"/>
          </a:p>
        </p:txBody>
      </p:sp>
      <p:sp>
        <p:nvSpPr>
          <p:cNvPr id="16" name="Text 16"/>
          <p:cNvSpPr txBox="1"/>
          <p:nvPr/>
        </p:nvSpPr>
        <p:spPr>
          <a:xfrm>
            <a:off x="609600" y="2907209"/>
            <a:ext cx="184785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Edinburgh</a:t>
            </a:r>
            <a:endParaRPr lang="en-US"/>
          </a:p>
        </p:txBody>
      </p:sp>
      <p:sp>
        <p:nvSpPr>
          <p:cNvPr id="17" name="Text 17"/>
          <p:cNvSpPr txBox="1"/>
          <p:nvPr/>
        </p:nvSpPr>
        <p:spPr>
          <a:xfrm>
            <a:off x="7258050" y="2892921"/>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2.5×</a:t>
            </a:r>
            <a:endParaRPr lang="en-US"/>
          </a:p>
        </p:txBody>
      </p:sp>
      <p:sp>
        <p:nvSpPr>
          <p:cNvPr id="18" name="Text 18"/>
          <p:cNvSpPr txBox="1"/>
          <p:nvPr/>
        </p:nvSpPr>
        <p:spPr>
          <a:xfrm>
            <a:off x="609600" y="3312021"/>
            <a:ext cx="7962900" cy="242888"/>
          </a:xfrm>
          <a:prstGeom prst="rect">
            <a:avLst/>
          </a:prstGeom>
          <a:noFill/>
          <a:ln>
            <a:noFill/>
          </a:ln>
        </p:spPr>
        <p:txBody>
          <a:bodyPr wrap="square" lIns="0" rIns="0" tIns="0" bIns="0" anchor="t"/>
          <a:lstStyle/>
          <a:p>
            <a:pPr algn="l">
              <a:lnSpc>
                <a:spcPts val="1762"/>
              </a:lnSpc>
              <a:spcBef>
                <a:spcPts val="0"/>
              </a:spcBef>
              <a:spcAft>
                <a:spcPts val="0"/>
              </a:spcAft>
              <a:buNone/>
            </a:pPr>
            <a:r>
              <a:rPr lang="en-US" sz="1350" b="0" i="0" spc="0">
                <a:solidFill>
                  <a:srgbClr val="333333"/>
                </a:solidFill>
                <a:latin typeface="Arial"/>
                <a:ea typeface="Arial"/>
                <a:cs typeface="Arial"/>
              </a:rPr>
              <a:t xml:space="preserve">Relative to the stroke average</a:t>
            </a:r>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 mark 2"/>
          <p:cNvSpPr txBox="0"/>
          <p:nvPr/>
        </p:nvSpPr>
        <p:spPr>
          <a:xfrm>
            <a:off x="3028950" y="1664196"/>
            <a:ext cx="2657475" cy="571500"/>
          </a:xfrm>
          <a:prstGeom prst="rect">
            <a:avLst/>
          </a:prstGeom>
          <a:solidFill>
            <a:srgbClr val="000000"/>
          </a:solidFill>
          <a:ln>
            <a:noFill/>
          </a:ln>
        </p:spPr>
      </p:sp>
      <p:sp>
        <p:nvSpPr>
          <p:cNvPr id="3" name="Data mark 3"/>
          <p:cNvSpPr txBox="0"/>
          <p:nvPr/>
        </p:nvSpPr>
        <p:spPr>
          <a:xfrm>
            <a:off x="3028950" y="2711946"/>
            <a:ext cx="2657475" cy="571500"/>
          </a:xfrm>
          <a:prstGeom prst="rect">
            <a:avLst/>
          </a:prstGeom>
          <a:solidFill>
            <a:srgbClr val="D7263D"/>
          </a:solidFill>
          <a:ln>
            <a:noFill/>
          </a:ln>
        </p:spPr>
      </p:sp>
      <p:sp>
        <p:nvSpPr>
          <p:cNvPr id="4" name="Text 4"/>
          <p:cNvSpPr txBox="1"/>
          <p:nvPr/>
        </p:nvSpPr>
        <p:spPr>
          <a:xfrm>
            <a:off x="609600" y="4686300"/>
            <a:ext cx="7086600" cy="1714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555555"/>
                </a:solidFill>
                <a:latin typeface="Arial"/>
                <a:ea typeface="Arial"/>
                <a:cs typeface="Arial"/>
              </a:rPr>
              <a:t xml:space="preserve">Reference 24 · Bergeat et al. · JAMA Network Open</a:t>
            </a:r>
            <a:endParaRPr lang="en-US"/>
          </a:p>
        </p:txBody>
      </p:sp>
      <p:sp>
        <p:nvSpPr>
          <p:cNvPr id="5" name="Text 5"/>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16</a:t>
            </a:r>
            <a:endParaRPr lang="en-US"/>
          </a:p>
        </p:txBody>
      </p:sp>
      <p:sp>
        <p:nvSpPr>
          <p:cNvPr id="6" name="Text 6"/>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A rule does not ensure access</a:t>
            </a:r>
            <a:endParaRPr lang="en-US"/>
          </a:p>
        </p:txBody>
      </p:sp>
      <p:sp>
        <p:nvSpPr>
          <p:cNvPr id="7" name="Text 7"/>
          <p:cNvSpPr txBox="1"/>
          <p:nvPr/>
        </p:nvSpPr>
        <p:spPr>
          <a:xfrm>
            <a:off x="609600" y="1187946"/>
            <a:ext cx="796290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0" i="0" spc="0">
                <a:solidFill>
                  <a:srgbClr val="333333"/>
                </a:solidFill>
                <a:latin typeface="Arial"/>
                <a:ea typeface="Arial"/>
                <a:cs typeface="Arial"/>
              </a:rPr>
              <a:t xml:space="preserve">Obtainable data from surgical trials</a:t>
            </a:r>
            <a:endParaRPr lang="en-US"/>
          </a:p>
        </p:txBody>
      </p:sp>
      <p:sp>
        <p:nvSpPr>
          <p:cNvPr id="8" name="Text 8"/>
          <p:cNvSpPr txBox="1"/>
          <p:nvPr/>
        </p:nvSpPr>
        <p:spPr>
          <a:xfrm>
            <a:off x="609600" y="1830884"/>
            <a:ext cx="232410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Before ICMJE rule</a:t>
            </a:r>
            <a:endParaRPr lang="en-US"/>
          </a:p>
        </p:txBody>
      </p:sp>
      <p:sp>
        <p:nvSpPr>
          <p:cNvPr id="9" name="Text 9"/>
          <p:cNvSpPr txBox="1"/>
          <p:nvPr/>
        </p:nvSpPr>
        <p:spPr>
          <a:xfrm>
            <a:off x="7448550" y="1816596"/>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000000"/>
                </a:solidFill>
                <a:latin typeface="Arial"/>
                <a:ea typeface="Arial"/>
                <a:cs typeface="Arial"/>
              </a:rPr>
              <a:t xml:space="preserve">3.1%</a:t>
            </a:r>
            <a:endParaRPr lang="en-US"/>
          </a:p>
        </p:txBody>
      </p:sp>
      <p:sp>
        <p:nvSpPr>
          <p:cNvPr id="10" name="Text 10"/>
          <p:cNvSpPr txBox="1"/>
          <p:nvPr/>
        </p:nvSpPr>
        <p:spPr>
          <a:xfrm>
            <a:off x="609600" y="2878634"/>
            <a:ext cx="2324100" cy="257175"/>
          </a:xfrm>
          <a:prstGeom prst="rect">
            <a:avLst/>
          </a:prstGeom>
          <a:noFill/>
          <a:ln>
            <a:noFill/>
          </a:ln>
        </p:spPr>
        <p:txBody>
          <a:bodyPr wrap="square" lIns="0" rIns="0" tIns="0" bIns="0" anchor="t"/>
          <a:lstStyle/>
          <a:p>
            <a:pPr algn="l">
              <a:lnSpc>
                <a:spcPts val="1875"/>
              </a:lnSpc>
              <a:spcBef>
                <a:spcPts val="0"/>
              </a:spcBef>
              <a:spcAft>
                <a:spcPts val="0"/>
              </a:spcAft>
              <a:buNone/>
            </a:pPr>
            <a:r>
              <a:rPr lang="en-US" sz="1500" b="1" i="0" spc="0">
                <a:solidFill>
                  <a:srgbClr val="000000"/>
                </a:solidFill>
                <a:latin typeface="Arial"/>
                <a:ea typeface="Arial"/>
                <a:cs typeface="Arial"/>
              </a:rPr>
              <a:t xml:space="preserve">After ICMJE rule</a:t>
            </a:r>
            <a:endParaRPr lang="en-US"/>
          </a:p>
        </p:txBody>
      </p:sp>
      <p:sp>
        <p:nvSpPr>
          <p:cNvPr id="11" name="Text 11"/>
          <p:cNvSpPr txBox="1"/>
          <p:nvPr/>
        </p:nvSpPr>
        <p:spPr>
          <a:xfrm>
            <a:off x="7448550" y="2864346"/>
            <a:ext cx="752475" cy="285750"/>
          </a:xfrm>
          <a:prstGeom prst="rect">
            <a:avLst/>
          </a:prstGeom>
          <a:noFill/>
          <a:ln>
            <a:noFill/>
          </a:ln>
        </p:spPr>
        <p:txBody>
          <a:bodyPr wrap="square" lIns="0" rIns="0" tIns="0" bIns="0" anchor="t"/>
          <a:lstStyle/>
          <a:p>
            <a:pPr algn="l">
              <a:lnSpc>
                <a:spcPts val="2100"/>
              </a:lnSpc>
              <a:spcBef>
                <a:spcPts val="0"/>
              </a:spcBef>
              <a:spcAft>
                <a:spcPts val="0"/>
              </a:spcAft>
              <a:buNone/>
            </a:pPr>
            <a:r>
              <a:rPr lang="en-US" sz="1725" b="1" i="0" spc="0">
                <a:solidFill>
                  <a:srgbClr val="D7263D"/>
                </a:solidFill>
                <a:latin typeface="Arial"/>
                <a:ea typeface="Arial"/>
                <a:cs typeface="Arial"/>
              </a:rPr>
              <a:t xml:space="preserve">3.1%</a:t>
            </a:r>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2"/>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17</a:t>
            </a:r>
            <a:endParaRPr lang="en-US"/>
          </a:p>
        </p:txBody>
      </p:sp>
      <p:sp>
        <p:nvSpPr>
          <p:cNvPr id="3" name="Text 3"/>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A proposal for the WSO</a:t>
            </a:r>
            <a:endParaRPr lang="en-US"/>
          </a:p>
        </p:txBody>
      </p:sp>
      <p:sp>
        <p:nvSpPr>
          <p:cNvPr id="4" name="Text 4"/>
          <p:cNvSpPr txBox="1"/>
          <p:nvPr/>
        </p:nvSpPr>
        <p:spPr>
          <a:xfrm>
            <a:off x="609600" y="1387971"/>
            <a:ext cx="7962900" cy="404812"/>
          </a:xfrm>
          <a:prstGeom prst="rect">
            <a:avLst/>
          </a:prstGeom>
          <a:noFill/>
          <a:ln>
            <a:noFill/>
          </a:ln>
        </p:spPr>
        <p:txBody>
          <a:bodyPr wrap="square" lIns="0" rIns="0" tIns="0" bIns="0" anchor="t"/>
          <a:lstStyle/>
          <a:p>
            <a:pPr algn="l">
              <a:lnSpc>
                <a:spcPts val="3038"/>
              </a:lnSpc>
              <a:spcBef>
                <a:spcPts val="0"/>
              </a:spcBef>
              <a:spcAft>
                <a:spcPts val="0"/>
              </a:spcAft>
              <a:buNone/>
            </a:pPr>
            <a:r>
              <a:rPr lang="en-US" sz="2325" b="1" i="0" spc="0">
                <a:solidFill>
                  <a:srgbClr val="000000"/>
                </a:solidFill>
                <a:latin typeface="Arial"/>
                <a:ea typeface="Arial"/>
                <a:cs typeface="Arial"/>
              </a:rPr>
              <a:t xml:space="preserve">Create a WSO task force.</a:t>
            </a:r>
            <a:endParaRPr lang="en-US"/>
          </a:p>
        </p:txBody>
      </p:sp>
      <p:sp>
        <p:nvSpPr>
          <p:cNvPr id="5" name="Text 5"/>
          <p:cNvSpPr txBox="1"/>
          <p:nvPr/>
        </p:nvSpPr>
        <p:spPr>
          <a:xfrm>
            <a:off x="609600" y="2202359"/>
            <a:ext cx="7962900" cy="404812"/>
          </a:xfrm>
          <a:prstGeom prst="rect">
            <a:avLst/>
          </a:prstGeom>
          <a:noFill/>
          <a:ln>
            <a:noFill/>
          </a:ln>
        </p:spPr>
        <p:txBody>
          <a:bodyPr wrap="square" lIns="0" rIns="0" tIns="0" bIns="0" anchor="t"/>
          <a:lstStyle/>
          <a:p>
            <a:pPr algn="l">
              <a:lnSpc>
                <a:spcPts val="3038"/>
              </a:lnSpc>
              <a:spcBef>
                <a:spcPts val="0"/>
              </a:spcBef>
              <a:spcAft>
                <a:spcPts val="0"/>
              </a:spcAft>
              <a:buNone/>
            </a:pPr>
            <a:r>
              <a:rPr lang="en-US" sz="2325" b="1" i="0" spc="0">
                <a:solidFill>
                  <a:srgbClr val="000000"/>
                </a:solidFill>
                <a:latin typeface="Arial"/>
                <a:ea typeface="Arial"/>
                <a:cs typeface="Arial"/>
              </a:rPr>
              <a:t xml:space="preserve">Reward verified sharing.</a:t>
            </a:r>
            <a:endParaRPr lang="en-US"/>
          </a:p>
        </p:txBody>
      </p:sp>
      <p:sp>
        <p:nvSpPr>
          <p:cNvPr id="6" name="Text 6"/>
          <p:cNvSpPr txBox="1"/>
          <p:nvPr/>
        </p:nvSpPr>
        <p:spPr>
          <a:xfrm>
            <a:off x="609600" y="3016746"/>
            <a:ext cx="7962900" cy="404812"/>
          </a:xfrm>
          <a:prstGeom prst="rect">
            <a:avLst/>
          </a:prstGeom>
          <a:noFill/>
          <a:ln>
            <a:noFill/>
          </a:ln>
        </p:spPr>
        <p:txBody>
          <a:bodyPr wrap="square" lIns="0" rIns="0" tIns="0" bIns="0" anchor="t"/>
          <a:lstStyle/>
          <a:p>
            <a:pPr algn="l">
              <a:lnSpc>
                <a:spcPts val="3038"/>
              </a:lnSpc>
              <a:spcBef>
                <a:spcPts val="0"/>
              </a:spcBef>
              <a:spcAft>
                <a:spcPts val="0"/>
              </a:spcAft>
              <a:buNone/>
            </a:pPr>
            <a:r>
              <a:rPr lang="en-US" sz="2325" b="1" i="0" spc="0">
                <a:solidFill>
                  <a:srgbClr val="000000"/>
                </a:solidFill>
                <a:latin typeface="Arial"/>
                <a:ea typeface="Arial"/>
                <a:cs typeface="Arial"/>
              </a:rPr>
              <a:t xml:space="preserve">Track progress through this benchmark.</a:t>
            </a:r>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llustration 2" descr="Benchmark"/>
          <p:cNvPicPr>
            <a:picLocks noChangeAspect="1"/>
          </p:cNvPicPr>
          <p:nvPr/>
        </p:nvPicPr>
        <p:blipFill>
          <a:blip r:embed="rIdV6Image2"/>
          <a:stretch>
            <a:fillRect/>
          </a:stretch>
        </p:blipFill>
        <p:spPr>
          <a:xfrm>
            <a:off x="609600" y="1459409"/>
            <a:ext cx="1524000" cy="1524000"/>
          </a:xfrm>
          <a:prstGeom prst="rect">
            <a:avLst/>
          </a:prstGeom>
        </p:spPr>
      </p:pic>
      <p:pic>
        <p:nvPicPr>
          <p:cNvPr id="3" name="Illustration 3" descr="Code and data"/>
          <p:cNvPicPr>
            <a:picLocks noChangeAspect="1"/>
          </p:cNvPicPr>
          <p:nvPr/>
        </p:nvPicPr>
        <p:blipFill>
          <a:blip r:embed="rIdV6Image3"/>
          <a:stretch>
            <a:fillRect/>
          </a:stretch>
        </p:blipFill>
        <p:spPr>
          <a:xfrm>
            <a:off x="3362325" y="1459409"/>
            <a:ext cx="1524000" cy="1524000"/>
          </a:xfrm>
          <a:prstGeom prst="rect">
            <a:avLst/>
          </a:prstGeom>
        </p:spPr>
      </p:pic>
      <p:pic>
        <p:nvPicPr>
          <p:cNvPr id="4" name="Illustration 4" descr="References"/>
          <p:cNvPicPr>
            <a:picLocks noChangeAspect="1"/>
          </p:cNvPicPr>
          <p:nvPr/>
        </p:nvPicPr>
        <p:blipFill>
          <a:blip r:embed="rIdV6Image4"/>
          <a:stretch>
            <a:fillRect/>
          </a:stretch>
        </p:blipFill>
        <p:spPr>
          <a:xfrm>
            <a:off x="6115050" y="1459409"/>
            <a:ext cx="1524000" cy="1524000"/>
          </a:xfrm>
          <a:prstGeom prst="rect">
            <a:avLst/>
          </a:prstGeom>
        </p:spPr>
      </p:pic>
      <p:sp>
        <p:nvSpPr>
          <p:cNvPr id="5" name="Text 5"/>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18</a:t>
            </a:r>
            <a:endParaRPr lang="en-US"/>
          </a:p>
        </p:txBody>
      </p:sp>
      <p:sp>
        <p:nvSpPr>
          <p:cNvPr id="6" name="Text 6"/>
          <p:cNvSpPr txBox="1"/>
          <p:nvPr/>
        </p:nvSpPr>
        <p:spPr>
          <a:xfrm>
            <a:off x="609600" y="609600"/>
            <a:ext cx="7962900" cy="368796"/>
          </a:xfrm>
          <a:prstGeom prst="rect">
            <a:avLst/>
          </a:prstGeom>
          <a:noFill/>
          <a:ln>
            <a:noFill/>
          </a:ln>
        </p:spPr>
        <p:txBody>
          <a:bodyPr wrap="square" lIns="0" rIns="0" tIns="0" bIns="0" anchor="t"/>
          <a:lstStyle/>
          <a:p>
            <a:pPr algn="l">
              <a:lnSpc>
                <a:spcPts val="2754"/>
              </a:lnSpc>
              <a:spcBef>
                <a:spcPts val="0"/>
              </a:spcBef>
              <a:spcAft>
                <a:spcPts val="0"/>
              </a:spcAft>
              <a:buNone/>
            </a:pPr>
            <a:r>
              <a:rPr lang="en-US" sz="2550" b="1" i="0" spc="-56">
                <a:solidFill>
                  <a:srgbClr val="000000"/>
                </a:solidFill>
                <a:latin typeface="Arial"/>
                <a:ea typeface="Arial"/>
                <a:cs typeface="Arial"/>
              </a:rPr>
              <a:t xml:space="preserve">Measure, share, and improve stroke research</a:t>
            </a:r>
            <a:endParaRPr lang="en-US"/>
          </a:p>
        </p:txBody>
      </p:sp>
      <p:sp>
        <p:nvSpPr>
          <p:cNvPr id="7" name="Text 7"/>
          <p:cNvSpPr txBox="1"/>
          <p:nvPr/>
        </p:nvSpPr>
        <p:spPr>
          <a:xfrm>
            <a:off x="609600" y="3097709"/>
            <a:ext cx="1075730"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1" i="0" spc="0">
                <a:solidFill>
                  <a:srgbClr val="000000"/>
                </a:solidFill>
                <a:latin typeface="Arial"/>
                <a:ea typeface="Arial"/>
                <a:cs typeface="Arial"/>
              </a:rPr>
              <a:t xml:space="preserve">Benchmark</a:t>
            </a:r>
            <a:endParaRPr lang="en-US"/>
          </a:p>
        </p:txBody>
      </p:sp>
      <p:sp>
        <p:nvSpPr>
          <p:cNvPr id="8" name="Text 8"/>
          <p:cNvSpPr txBox="1"/>
          <p:nvPr/>
        </p:nvSpPr>
        <p:spPr>
          <a:xfrm>
            <a:off x="3362325" y="3097709"/>
            <a:ext cx="1350615"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1" i="0" spc="0">
                <a:solidFill>
                  <a:srgbClr val="000000"/>
                </a:solidFill>
                <a:latin typeface="Arial"/>
                <a:ea typeface="Arial"/>
                <a:cs typeface="Arial"/>
              </a:rPr>
              <a:t xml:space="preserve">Code and data</a:t>
            </a:r>
            <a:endParaRPr lang="en-US"/>
          </a:p>
        </p:txBody>
      </p:sp>
      <p:sp>
        <p:nvSpPr>
          <p:cNvPr id="9" name="Text 9"/>
          <p:cNvSpPr txBox="1"/>
          <p:nvPr/>
        </p:nvSpPr>
        <p:spPr>
          <a:xfrm>
            <a:off x="6115050" y="3097709"/>
            <a:ext cx="1065312" cy="266700"/>
          </a:xfrm>
          <a:prstGeom prst="rect">
            <a:avLst/>
          </a:prstGeom>
          <a:noFill/>
          <a:ln>
            <a:noFill/>
          </a:ln>
        </p:spPr>
        <p:txBody>
          <a:bodyPr wrap="square" lIns="0" rIns="0" tIns="0" bIns="0" anchor="t"/>
          <a:lstStyle/>
          <a:p>
            <a:pPr algn="l">
              <a:lnSpc>
                <a:spcPts val="1950"/>
              </a:lnSpc>
              <a:spcBef>
                <a:spcPts val="0"/>
              </a:spcBef>
              <a:spcAft>
                <a:spcPts val="0"/>
              </a:spcAft>
              <a:buNone/>
            </a:pPr>
            <a:r>
              <a:rPr lang="en-US" sz="1500" b="1" i="0" spc="0">
                <a:solidFill>
                  <a:srgbClr val="000000"/>
                </a:solidFill>
                <a:latin typeface="Arial"/>
                <a:ea typeface="Arial"/>
                <a:cs typeface="Arial"/>
              </a:rPr>
              <a:t xml:space="preserve">References</a:t>
            </a:r>
            <a:endParaRPr lang="en-US"/>
          </a:p>
        </p:txBody>
      </p:sp>
      <p:sp>
        <p:nvSpPr>
          <p:cNvPr id="10" name="Text 10"/>
          <p:cNvSpPr txBox="1"/>
          <p:nvPr/>
        </p:nvSpPr>
        <p:spPr>
          <a:xfrm>
            <a:off x="609600" y="4148138"/>
            <a:ext cx="7962900" cy="252412"/>
          </a:xfrm>
          <a:prstGeom prst="rect">
            <a:avLst/>
          </a:prstGeom>
          <a:noFill/>
          <a:ln>
            <a:noFill/>
          </a:ln>
        </p:spPr>
        <p:txBody>
          <a:bodyPr wrap="square" lIns="0" rIns="0" tIns="0" bIns="0" anchor="t"/>
          <a:lstStyle/>
          <a:p>
            <a:pPr algn="l">
              <a:lnSpc>
                <a:spcPts val="1838"/>
              </a:lnSpc>
              <a:spcBef>
                <a:spcPts val="0"/>
              </a:spcBef>
              <a:spcAft>
                <a:spcPts val="0"/>
              </a:spcAft>
              <a:buNone/>
            </a:pPr>
            <a:r>
              <a:rPr lang="en-US" sz="1425" b="1" i="0" spc="0">
                <a:solidFill>
                  <a:srgbClr val="000000"/>
                </a:solidFill>
                <a:latin typeface="Arial"/>
                <a:ea typeface="Arial"/>
                <a:cs typeface="Arial"/>
              </a:rPr>
              <a:t xml:space="preserve">Sebastian Fridman · sfridma@uwo.ca</a:t>
            </a:r>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Illustration 2" descr="References"/>
          <p:cNvPicPr>
            <a:picLocks noChangeAspect="1"/>
          </p:cNvPicPr>
          <p:nvPr/>
        </p:nvPicPr>
        <p:blipFill>
          <a:blip r:embed="rIdV6Image2"/>
          <a:stretch>
            <a:fillRect/>
          </a:stretch>
        </p:blipFill>
        <p:spPr>
          <a:xfrm>
            <a:off x="7391400" y="1049982"/>
            <a:ext cx="1143000" cy="1143000"/>
          </a:xfrm>
          <a:prstGeom prst="rect">
            <a:avLst/>
          </a:prstGeom>
        </p:spPr>
      </p:pic>
      <p:sp>
        <p:nvSpPr>
          <p:cNvPr id="3" name="Text 3"/>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19</a:t>
            </a:r>
            <a:endParaRPr lang="en-US"/>
          </a:p>
        </p:txBody>
      </p:sp>
      <p:sp>
        <p:nvSpPr>
          <p:cNvPr id="4" name="Text 4"/>
          <p:cNvSpPr txBox="1"/>
          <p:nvPr/>
        </p:nvSpPr>
        <p:spPr>
          <a:xfrm>
            <a:off x="609600" y="609600"/>
            <a:ext cx="7962900" cy="307032"/>
          </a:xfrm>
          <a:prstGeom prst="rect">
            <a:avLst/>
          </a:prstGeom>
          <a:noFill/>
          <a:ln>
            <a:noFill/>
          </a:ln>
        </p:spPr>
        <p:txBody>
          <a:bodyPr wrap="square" lIns="0" rIns="0" tIns="0" bIns="0" anchor="t"/>
          <a:lstStyle/>
          <a:p>
            <a:pPr algn="l">
              <a:lnSpc>
                <a:spcPts val="2268"/>
              </a:lnSpc>
              <a:spcBef>
                <a:spcPts val="0"/>
              </a:spcBef>
              <a:spcAft>
                <a:spcPts val="0"/>
              </a:spcAft>
              <a:buNone/>
            </a:pPr>
            <a:r>
              <a:rPr lang="en-US" sz="2100" b="1" i="0" spc="-56">
                <a:solidFill>
                  <a:srgbClr val="000000"/>
                </a:solidFill>
                <a:latin typeface="Arial"/>
                <a:ea typeface="Arial"/>
                <a:cs typeface="Arial"/>
              </a:rPr>
              <a:t xml:space="preserve">References</a:t>
            </a:r>
            <a:endParaRPr lang="en-US"/>
          </a:p>
        </p:txBody>
      </p:sp>
      <p:sp>
        <p:nvSpPr>
          <p:cNvPr id="5" name="Text 5"/>
          <p:cNvSpPr txBox="1"/>
          <p:nvPr/>
        </p:nvSpPr>
        <p:spPr>
          <a:xfrm>
            <a:off x="571500" y="10499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a:t>
            </a:r>
            <a:endParaRPr lang="en-US"/>
          </a:p>
        </p:txBody>
      </p:sp>
      <p:sp>
        <p:nvSpPr>
          <p:cNvPr id="6" name="Text 6"/>
          <p:cNvSpPr txBox="1"/>
          <p:nvPr/>
        </p:nvSpPr>
        <p:spPr>
          <a:xfrm>
            <a:off x="866775" y="10499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Yushkevich PA et al. Neuroimage. 2006</a:t>
            </a:r>
            <a:endParaRPr lang="en-US"/>
          </a:p>
        </p:txBody>
      </p:sp>
      <p:sp>
        <p:nvSpPr>
          <p:cNvPr id="7" name="Text 7"/>
          <p:cNvSpPr txBox="1"/>
          <p:nvPr/>
        </p:nvSpPr>
        <p:spPr>
          <a:xfrm>
            <a:off x="571500" y="12214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2</a:t>
            </a:r>
            <a:endParaRPr lang="en-US"/>
          </a:p>
        </p:txBody>
      </p:sp>
      <p:sp>
        <p:nvSpPr>
          <p:cNvPr id="8" name="Text 8"/>
          <p:cNvSpPr txBox="1"/>
          <p:nvPr/>
        </p:nvSpPr>
        <p:spPr>
          <a:xfrm>
            <a:off x="866775" y="12214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de la Rosa E et al. Nat Commun. 2025</a:t>
            </a:r>
            <a:endParaRPr lang="en-US"/>
          </a:p>
        </p:txBody>
      </p:sp>
      <p:sp>
        <p:nvSpPr>
          <p:cNvPr id="9" name="Text 9"/>
          <p:cNvSpPr txBox="1"/>
          <p:nvPr/>
        </p:nvSpPr>
        <p:spPr>
          <a:xfrm>
            <a:off x="571500" y="13928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3</a:t>
            </a:r>
            <a:endParaRPr lang="en-US"/>
          </a:p>
        </p:txBody>
      </p:sp>
      <p:sp>
        <p:nvSpPr>
          <p:cNvPr id="10" name="Text 10"/>
          <p:cNvSpPr txBox="1"/>
          <p:nvPr/>
        </p:nvSpPr>
        <p:spPr>
          <a:xfrm>
            <a:off x="866775" y="13928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Rorden C et al. Neuroimage. 2012</a:t>
            </a:r>
            <a:endParaRPr lang="en-US"/>
          </a:p>
        </p:txBody>
      </p:sp>
      <p:sp>
        <p:nvSpPr>
          <p:cNvPr id="11" name="Text 11"/>
          <p:cNvSpPr txBox="1"/>
          <p:nvPr/>
        </p:nvSpPr>
        <p:spPr>
          <a:xfrm>
            <a:off x="571500" y="15643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4</a:t>
            </a:r>
            <a:endParaRPr lang="en-US"/>
          </a:p>
        </p:txBody>
      </p:sp>
      <p:sp>
        <p:nvSpPr>
          <p:cNvPr id="12" name="Text 12"/>
          <p:cNvSpPr txBox="1"/>
          <p:nvPr/>
        </p:nvSpPr>
        <p:spPr>
          <a:xfrm>
            <a:off x="866775" y="15643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Avants BB et al. Med Image Anal. 2008</a:t>
            </a:r>
            <a:endParaRPr lang="en-US"/>
          </a:p>
        </p:txBody>
      </p:sp>
      <p:sp>
        <p:nvSpPr>
          <p:cNvPr id="13" name="Text 13"/>
          <p:cNvSpPr txBox="1"/>
          <p:nvPr/>
        </p:nvSpPr>
        <p:spPr>
          <a:xfrm>
            <a:off x="571500" y="17357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5</a:t>
            </a:r>
            <a:endParaRPr lang="en-US"/>
          </a:p>
        </p:txBody>
      </p:sp>
      <p:sp>
        <p:nvSpPr>
          <p:cNvPr id="14" name="Text 14"/>
          <p:cNvSpPr txBox="1"/>
          <p:nvPr/>
        </p:nvSpPr>
        <p:spPr>
          <a:xfrm>
            <a:off x="866775" y="17357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Bates E et al. Nat Neurosci. 2003</a:t>
            </a:r>
            <a:endParaRPr lang="en-US"/>
          </a:p>
        </p:txBody>
      </p:sp>
      <p:sp>
        <p:nvSpPr>
          <p:cNvPr id="15" name="Text 15"/>
          <p:cNvSpPr txBox="1"/>
          <p:nvPr/>
        </p:nvSpPr>
        <p:spPr>
          <a:xfrm>
            <a:off x="571500" y="19072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6</a:t>
            </a:r>
            <a:endParaRPr lang="en-US"/>
          </a:p>
        </p:txBody>
      </p:sp>
      <p:sp>
        <p:nvSpPr>
          <p:cNvPr id="16" name="Text 16"/>
          <p:cNvSpPr txBox="1"/>
          <p:nvPr/>
        </p:nvSpPr>
        <p:spPr>
          <a:xfrm>
            <a:off x="866775" y="19072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Pustina D et al. Neuropsychologia. 2018</a:t>
            </a:r>
            <a:endParaRPr lang="en-US"/>
          </a:p>
        </p:txBody>
      </p:sp>
      <p:sp>
        <p:nvSpPr>
          <p:cNvPr id="17" name="Text 17"/>
          <p:cNvSpPr txBox="1"/>
          <p:nvPr/>
        </p:nvSpPr>
        <p:spPr>
          <a:xfrm>
            <a:off x="3962400" y="10499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7</a:t>
            </a:r>
            <a:endParaRPr lang="en-US"/>
          </a:p>
        </p:txBody>
      </p:sp>
      <p:sp>
        <p:nvSpPr>
          <p:cNvPr id="18" name="Text 18"/>
          <p:cNvSpPr txBox="1"/>
          <p:nvPr/>
        </p:nvSpPr>
        <p:spPr>
          <a:xfrm>
            <a:off x="4257675" y="10499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Boes AD et al. Brain. 2015</a:t>
            </a:r>
            <a:endParaRPr lang="en-US"/>
          </a:p>
        </p:txBody>
      </p:sp>
      <p:sp>
        <p:nvSpPr>
          <p:cNvPr id="19" name="Text 19"/>
          <p:cNvSpPr txBox="1"/>
          <p:nvPr/>
        </p:nvSpPr>
        <p:spPr>
          <a:xfrm>
            <a:off x="3962400" y="12214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8</a:t>
            </a:r>
            <a:endParaRPr lang="en-US"/>
          </a:p>
        </p:txBody>
      </p:sp>
      <p:sp>
        <p:nvSpPr>
          <p:cNvPr id="20" name="Text 20"/>
          <p:cNvSpPr txBox="1"/>
          <p:nvPr/>
        </p:nvSpPr>
        <p:spPr>
          <a:xfrm>
            <a:off x="4257675" y="12214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Foulon C et al. Gigascience. 2018</a:t>
            </a:r>
            <a:endParaRPr lang="en-US"/>
          </a:p>
        </p:txBody>
      </p:sp>
      <p:sp>
        <p:nvSpPr>
          <p:cNvPr id="21" name="Text 21"/>
          <p:cNvSpPr txBox="1"/>
          <p:nvPr/>
        </p:nvSpPr>
        <p:spPr>
          <a:xfrm>
            <a:off x="3962400" y="13928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9</a:t>
            </a:r>
            <a:endParaRPr lang="en-US"/>
          </a:p>
        </p:txBody>
      </p:sp>
      <p:sp>
        <p:nvSpPr>
          <p:cNvPr id="22" name="Text 22"/>
          <p:cNvSpPr txBox="1"/>
          <p:nvPr/>
        </p:nvSpPr>
        <p:spPr>
          <a:xfrm>
            <a:off x="4257675" y="13928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Gorgolewski KJ et al. Sci Data. 2016</a:t>
            </a:r>
            <a:endParaRPr lang="en-US"/>
          </a:p>
        </p:txBody>
      </p:sp>
      <p:sp>
        <p:nvSpPr>
          <p:cNvPr id="23" name="Text 23"/>
          <p:cNvSpPr txBox="1"/>
          <p:nvPr/>
        </p:nvSpPr>
        <p:spPr>
          <a:xfrm>
            <a:off x="3962400" y="15643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10</a:t>
            </a:r>
            <a:endParaRPr lang="en-US"/>
          </a:p>
        </p:txBody>
      </p:sp>
      <p:sp>
        <p:nvSpPr>
          <p:cNvPr id="24" name="Text 24"/>
          <p:cNvSpPr txBox="1"/>
          <p:nvPr/>
        </p:nvSpPr>
        <p:spPr>
          <a:xfrm>
            <a:off x="4257675" y="15643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Markiewicz CJ et al. Elife. 2021</a:t>
            </a:r>
            <a:endParaRPr lang="en-US"/>
          </a:p>
        </p:txBody>
      </p:sp>
      <p:sp>
        <p:nvSpPr>
          <p:cNvPr id="25" name="Text 25"/>
          <p:cNvSpPr txBox="1"/>
          <p:nvPr/>
        </p:nvSpPr>
        <p:spPr>
          <a:xfrm>
            <a:off x="3962400" y="17357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11</a:t>
            </a:r>
            <a:endParaRPr lang="en-US"/>
          </a:p>
        </p:txBody>
      </p:sp>
      <p:sp>
        <p:nvSpPr>
          <p:cNvPr id="26" name="Text 26"/>
          <p:cNvSpPr txBox="1"/>
          <p:nvPr/>
        </p:nvSpPr>
        <p:spPr>
          <a:xfrm>
            <a:off x="4257675" y="17357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Liew SL et al. Sci Data. 2022</a:t>
            </a:r>
            <a:endParaRPr lang="en-US"/>
          </a:p>
        </p:txBody>
      </p:sp>
      <p:sp>
        <p:nvSpPr>
          <p:cNvPr id="27" name="Text 27"/>
          <p:cNvSpPr txBox="1"/>
          <p:nvPr/>
        </p:nvSpPr>
        <p:spPr>
          <a:xfrm>
            <a:off x="3962400" y="19072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12</a:t>
            </a:r>
            <a:endParaRPr lang="en-US"/>
          </a:p>
        </p:txBody>
      </p:sp>
      <p:sp>
        <p:nvSpPr>
          <p:cNvPr id="28" name="Text 28"/>
          <p:cNvSpPr txBox="1"/>
          <p:nvPr/>
        </p:nvSpPr>
        <p:spPr>
          <a:xfrm>
            <a:off x="4257675" y="19072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Hernandez Petzsche MR et al. Sci Data. 2022</a:t>
            </a:r>
            <a:endParaRPr lang="en-US"/>
          </a:p>
        </p:txBody>
      </p:sp>
      <p:sp>
        <p:nvSpPr>
          <p:cNvPr id="29" name="Text 29"/>
          <p:cNvSpPr txBox="1"/>
          <p:nvPr/>
        </p:nvSpPr>
        <p:spPr>
          <a:xfrm>
            <a:off x="7391400" y="2250132"/>
            <a:ext cx="1181100"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333333"/>
                </a:solidFill>
                <a:latin typeface="Arial"/>
                <a:ea typeface="Arial"/>
                <a:cs typeface="Arial"/>
              </a:rPr>
              <a:t xml:space="preserve">Full list with DOIs</a:t>
            </a:r>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2"/>
          <p:cNvSpPr txBox="1"/>
          <p:nvPr/>
        </p:nvSpPr>
        <p:spPr>
          <a:xfrm>
            <a:off x="7924800" y="4686300"/>
            <a:ext cx="609600" cy="171450"/>
          </a:xfrm>
          <a:prstGeom prst="rect">
            <a:avLst/>
          </a:prstGeom>
          <a:noFill/>
          <a:ln>
            <a:noFill/>
          </a:ln>
        </p:spPr>
        <p:txBody>
          <a:bodyPr wrap="square" lIns="0" rIns="0" tIns="0" bIns="0" anchor="t"/>
          <a:lstStyle/>
          <a:p>
            <a:pPr algn="r">
              <a:lnSpc>
                <a:spcPts val="1200"/>
              </a:lnSpc>
              <a:spcBef>
                <a:spcPts val="0"/>
              </a:spcBef>
              <a:spcAft>
                <a:spcPts val="0"/>
              </a:spcAft>
              <a:buNone/>
            </a:pPr>
            <a:r>
              <a:rPr lang="en-US" sz="975" b="0" i="0" spc="0">
                <a:solidFill>
                  <a:srgbClr val="555555"/>
                </a:solidFill>
                <a:latin typeface="Arial"/>
                <a:ea typeface="Arial"/>
                <a:cs typeface="Arial"/>
              </a:rPr>
              <a:t xml:space="preserve">20</a:t>
            </a:r>
            <a:endParaRPr lang="en-US"/>
          </a:p>
        </p:txBody>
      </p:sp>
      <p:sp>
        <p:nvSpPr>
          <p:cNvPr id="3" name="Text 3"/>
          <p:cNvSpPr txBox="1"/>
          <p:nvPr/>
        </p:nvSpPr>
        <p:spPr>
          <a:xfrm>
            <a:off x="609600" y="609600"/>
            <a:ext cx="7962900" cy="307032"/>
          </a:xfrm>
          <a:prstGeom prst="rect">
            <a:avLst/>
          </a:prstGeom>
          <a:noFill/>
          <a:ln>
            <a:noFill/>
          </a:ln>
        </p:spPr>
        <p:txBody>
          <a:bodyPr wrap="square" lIns="0" rIns="0" tIns="0" bIns="0" anchor="t"/>
          <a:lstStyle/>
          <a:p>
            <a:pPr algn="l">
              <a:lnSpc>
                <a:spcPts val="2268"/>
              </a:lnSpc>
              <a:spcBef>
                <a:spcPts val="0"/>
              </a:spcBef>
              <a:spcAft>
                <a:spcPts val="0"/>
              </a:spcAft>
              <a:buNone/>
            </a:pPr>
            <a:r>
              <a:rPr lang="en-US" sz="2100" b="1" i="0" spc="-56">
                <a:solidFill>
                  <a:srgbClr val="000000"/>
                </a:solidFill>
                <a:latin typeface="Arial"/>
                <a:ea typeface="Arial"/>
                <a:cs typeface="Arial"/>
              </a:rPr>
              <a:t xml:space="preserve">References, continued</a:t>
            </a:r>
            <a:endParaRPr lang="en-US"/>
          </a:p>
        </p:txBody>
      </p:sp>
      <p:sp>
        <p:nvSpPr>
          <p:cNvPr id="4" name="Text 4"/>
          <p:cNvSpPr txBox="1"/>
          <p:nvPr/>
        </p:nvSpPr>
        <p:spPr>
          <a:xfrm>
            <a:off x="571500" y="10499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13</a:t>
            </a:r>
            <a:endParaRPr lang="en-US"/>
          </a:p>
        </p:txBody>
      </p:sp>
      <p:sp>
        <p:nvSpPr>
          <p:cNvPr id="5" name="Text 5"/>
          <p:cNvSpPr txBox="1"/>
          <p:nvPr/>
        </p:nvSpPr>
        <p:spPr>
          <a:xfrm>
            <a:off x="866775" y="10499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Gibson M et al. Sci Data. 2024</a:t>
            </a:r>
            <a:endParaRPr lang="en-US"/>
          </a:p>
        </p:txBody>
      </p:sp>
      <p:sp>
        <p:nvSpPr>
          <p:cNvPr id="6" name="Text 6"/>
          <p:cNvSpPr txBox="1"/>
          <p:nvPr/>
        </p:nvSpPr>
        <p:spPr>
          <a:xfrm>
            <a:off x="571500" y="12214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14</a:t>
            </a:r>
            <a:endParaRPr lang="en-US"/>
          </a:p>
        </p:txBody>
      </p:sp>
      <p:sp>
        <p:nvSpPr>
          <p:cNvPr id="7" name="Text 7"/>
          <p:cNvSpPr txBox="1"/>
          <p:nvPr/>
        </p:nvSpPr>
        <p:spPr>
          <a:xfrm>
            <a:off x="866775" y="12214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National Academies of Sciences et al.</a:t>
            </a:r>
            <a:endParaRPr lang="en-US"/>
          </a:p>
        </p:txBody>
      </p:sp>
      <p:sp>
        <p:nvSpPr>
          <p:cNvPr id="8" name="Text 8"/>
          <p:cNvSpPr txBox="1"/>
          <p:nvPr/>
        </p:nvSpPr>
        <p:spPr>
          <a:xfrm>
            <a:off x="571500" y="13928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15</a:t>
            </a:r>
            <a:endParaRPr lang="en-US"/>
          </a:p>
        </p:txBody>
      </p:sp>
      <p:sp>
        <p:nvSpPr>
          <p:cNvPr id="9" name="Text 9"/>
          <p:cNvSpPr txBox="1"/>
          <p:nvPr/>
        </p:nvSpPr>
        <p:spPr>
          <a:xfrm>
            <a:off x="866775" y="13928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Open Science Collaboration. Science. 2015</a:t>
            </a:r>
            <a:endParaRPr lang="en-US"/>
          </a:p>
        </p:txBody>
      </p:sp>
      <p:sp>
        <p:nvSpPr>
          <p:cNvPr id="10" name="Text 10"/>
          <p:cNvSpPr txBox="1"/>
          <p:nvPr/>
        </p:nvSpPr>
        <p:spPr>
          <a:xfrm>
            <a:off x="571500" y="15643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16</a:t>
            </a:r>
            <a:endParaRPr lang="en-US"/>
          </a:p>
        </p:txBody>
      </p:sp>
      <p:sp>
        <p:nvSpPr>
          <p:cNvPr id="11" name="Text 11"/>
          <p:cNvSpPr txBox="1"/>
          <p:nvPr/>
        </p:nvSpPr>
        <p:spPr>
          <a:xfrm>
            <a:off x="866775" y="15643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Tyner AH et al. Nature. 2026</a:t>
            </a:r>
            <a:endParaRPr lang="en-US"/>
          </a:p>
        </p:txBody>
      </p:sp>
      <p:sp>
        <p:nvSpPr>
          <p:cNvPr id="12" name="Text 12"/>
          <p:cNvSpPr txBox="1"/>
          <p:nvPr/>
        </p:nvSpPr>
        <p:spPr>
          <a:xfrm>
            <a:off x="571500" y="17357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17</a:t>
            </a:r>
            <a:endParaRPr lang="en-US"/>
          </a:p>
        </p:txBody>
      </p:sp>
      <p:sp>
        <p:nvSpPr>
          <p:cNvPr id="13" name="Text 13"/>
          <p:cNvSpPr txBox="1"/>
          <p:nvPr/>
        </p:nvSpPr>
        <p:spPr>
          <a:xfrm>
            <a:off x="866775" y="17357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Rauh S et al. Res Integr Peer Rev. 2020</a:t>
            </a:r>
            <a:endParaRPr lang="en-US"/>
          </a:p>
        </p:txBody>
      </p:sp>
      <p:sp>
        <p:nvSpPr>
          <p:cNvPr id="14" name="Text 14"/>
          <p:cNvSpPr txBox="1"/>
          <p:nvPr/>
        </p:nvSpPr>
        <p:spPr>
          <a:xfrm>
            <a:off x="571500" y="19072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18</a:t>
            </a:r>
            <a:endParaRPr lang="en-US"/>
          </a:p>
        </p:txBody>
      </p:sp>
      <p:sp>
        <p:nvSpPr>
          <p:cNvPr id="15" name="Text 15"/>
          <p:cNvSpPr txBox="1"/>
          <p:nvPr/>
        </p:nvSpPr>
        <p:spPr>
          <a:xfrm>
            <a:off x="866775" y="19072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Heckerman GO et al. Elife. 2025</a:t>
            </a:r>
            <a:endParaRPr lang="en-US"/>
          </a:p>
        </p:txBody>
      </p:sp>
      <p:sp>
        <p:nvSpPr>
          <p:cNvPr id="16" name="Text 16"/>
          <p:cNvSpPr txBox="1"/>
          <p:nvPr/>
        </p:nvSpPr>
        <p:spPr>
          <a:xfrm>
            <a:off x="3962400" y="10499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19</a:t>
            </a:r>
            <a:endParaRPr lang="en-US"/>
          </a:p>
        </p:txBody>
      </p:sp>
      <p:sp>
        <p:nvSpPr>
          <p:cNvPr id="17" name="Text 17"/>
          <p:cNvSpPr txBox="1"/>
          <p:nvPr/>
        </p:nvSpPr>
        <p:spPr>
          <a:xfrm>
            <a:off x="4257675" y="10499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Scutt P et al. BMJ Open. 2020</a:t>
            </a:r>
            <a:endParaRPr lang="en-US"/>
          </a:p>
        </p:txBody>
      </p:sp>
      <p:sp>
        <p:nvSpPr>
          <p:cNvPr id="18" name="Text 18"/>
          <p:cNvSpPr txBox="1"/>
          <p:nvPr/>
        </p:nvSpPr>
        <p:spPr>
          <a:xfrm>
            <a:off x="3962400" y="122143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20</a:t>
            </a:r>
            <a:endParaRPr lang="en-US"/>
          </a:p>
        </p:txBody>
      </p:sp>
      <p:sp>
        <p:nvSpPr>
          <p:cNvPr id="19" name="Text 19"/>
          <p:cNvSpPr txBox="1"/>
          <p:nvPr/>
        </p:nvSpPr>
        <p:spPr>
          <a:xfrm>
            <a:off x="4257675" y="122143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Priem J et al. arXiv. 2022</a:t>
            </a:r>
            <a:endParaRPr lang="en-US"/>
          </a:p>
        </p:txBody>
      </p:sp>
      <p:sp>
        <p:nvSpPr>
          <p:cNvPr id="20" name="Text 20"/>
          <p:cNvSpPr txBox="1"/>
          <p:nvPr/>
        </p:nvSpPr>
        <p:spPr>
          <a:xfrm>
            <a:off x="3962400" y="1392882"/>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21</a:t>
            </a:r>
            <a:endParaRPr lang="en-US"/>
          </a:p>
        </p:txBody>
      </p:sp>
      <p:sp>
        <p:nvSpPr>
          <p:cNvPr id="21" name="Text 21"/>
          <p:cNvSpPr txBox="1"/>
          <p:nvPr/>
        </p:nvSpPr>
        <p:spPr>
          <a:xfrm>
            <a:off x="4257675" y="1392882"/>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Rosonovski S et al. Nucleic Acids Res. 2024</a:t>
            </a:r>
            <a:endParaRPr lang="en-US"/>
          </a:p>
        </p:txBody>
      </p:sp>
      <p:sp>
        <p:nvSpPr>
          <p:cNvPr id="22" name="Text 22"/>
          <p:cNvSpPr txBox="1"/>
          <p:nvPr/>
        </p:nvSpPr>
        <p:spPr>
          <a:xfrm>
            <a:off x="3962400" y="1564332"/>
            <a:ext cx="228600" cy="304800"/>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22</a:t>
            </a:r>
            <a:endParaRPr lang="en-US"/>
          </a:p>
        </p:txBody>
      </p:sp>
      <p:sp>
        <p:nvSpPr>
          <p:cNvPr id="23" name="Text 23"/>
          <p:cNvSpPr txBox="1"/>
          <p:nvPr/>
        </p:nvSpPr>
        <p:spPr>
          <a:xfrm>
            <a:off x="4257675" y="1564332"/>
            <a:ext cx="2905125" cy="304800"/>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Fridman S. Stroke Open-Science Benchmark, run of 2026-10-13</a:t>
            </a:r>
            <a:endParaRPr lang="en-US"/>
          </a:p>
        </p:txBody>
      </p:sp>
      <p:sp>
        <p:nvSpPr>
          <p:cNvPr id="24" name="Text 24"/>
          <p:cNvSpPr txBox="1"/>
          <p:nvPr/>
        </p:nvSpPr>
        <p:spPr>
          <a:xfrm>
            <a:off x="3962400" y="1878657"/>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23</a:t>
            </a:r>
            <a:endParaRPr lang="en-US"/>
          </a:p>
        </p:txBody>
      </p:sp>
      <p:sp>
        <p:nvSpPr>
          <p:cNvPr id="25" name="Text 25"/>
          <p:cNvSpPr txBox="1"/>
          <p:nvPr/>
        </p:nvSpPr>
        <p:spPr>
          <a:xfrm>
            <a:off x="4257675" y="1878657"/>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Gabelica M et al. J Clin Epidemiol. 2022</a:t>
            </a:r>
            <a:endParaRPr lang="en-US"/>
          </a:p>
        </p:txBody>
      </p:sp>
      <p:sp>
        <p:nvSpPr>
          <p:cNvPr id="26" name="Text 26"/>
          <p:cNvSpPr txBox="1"/>
          <p:nvPr/>
        </p:nvSpPr>
        <p:spPr>
          <a:xfrm>
            <a:off x="3962400" y="2050107"/>
            <a:ext cx="228600" cy="161925"/>
          </a:xfrm>
          <a:prstGeom prst="rect">
            <a:avLst/>
          </a:prstGeom>
          <a:noFill/>
          <a:ln>
            <a:noFill/>
          </a:ln>
        </p:spPr>
        <p:txBody>
          <a:bodyPr wrap="square" lIns="0" rIns="0" tIns="0" bIns="0" anchor="t"/>
          <a:lstStyle/>
          <a:p>
            <a:pPr algn="r">
              <a:lnSpc>
                <a:spcPts val="1125"/>
              </a:lnSpc>
              <a:spcBef>
                <a:spcPts val="0"/>
              </a:spcBef>
              <a:spcAft>
                <a:spcPts val="0"/>
              </a:spcAft>
              <a:buNone/>
            </a:pPr>
            <a:r>
              <a:rPr lang="en-US" sz="900" b="0" i="0" spc="0">
                <a:solidFill>
                  <a:srgbClr val="555555"/>
                </a:solidFill>
                <a:latin typeface="Arial"/>
                <a:ea typeface="Arial"/>
                <a:cs typeface="Arial"/>
              </a:rPr>
              <a:t xml:space="preserve">24</a:t>
            </a:r>
            <a:endParaRPr lang="en-US"/>
          </a:p>
        </p:txBody>
      </p:sp>
      <p:sp>
        <p:nvSpPr>
          <p:cNvPr id="27" name="Text 27"/>
          <p:cNvSpPr txBox="1"/>
          <p:nvPr/>
        </p:nvSpPr>
        <p:spPr>
          <a:xfrm>
            <a:off x="4257675" y="2050107"/>
            <a:ext cx="2905125" cy="161925"/>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000000"/>
                </a:solidFill>
                <a:latin typeface="Arial"/>
                <a:ea typeface="Arial"/>
                <a:cs typeface="Arial"/>
              </a:rPr>
              <a:t xml:space="preserve">Bergeat D et al. JAMA Netw Open. 2022</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science in stroke research</dc:title>
  <dc:subject>World Stroke Congress 2026, Seoul: The latest in stroke implementation science</dc:subject>
  <dc:creator>Sebastian Fridman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