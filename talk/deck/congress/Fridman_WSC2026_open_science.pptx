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4.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Lst>
  <p:notesMasterIdLst>
    <p:notesMasterId r:id="rId9"/>
  </p:notesMasterIdLst>
  <p:sldIdLst>
    <p:sldId id="256" r:id="rId5"/>
    <p:sldId id="260" r:id="rId6"/>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 name="Google Shape;3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One sentence, no agenda slide: I want to tell you how this project started, what it found, and what I think we should do with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to disclose. Required by the congress; leave it up for a second and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Thirty to forty seconds, first person, nothing read. Replace the bracketed sentence with the real episode: the point is that you have been on the receiving end of a closed literature. Alternatives if the draft is not right: a published model that could not be retrained because the training set was never released; a perfusion-threshold result two groups reproduced with opposite signs because the processing code differed.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are the speaker’s former fields; say so. One minute. The last line is the bridge to stroke.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asked: in the animal work one in seven experiments was never published (Sena 2010). One minute, three examples the room knows. Do not editorialise on any single trial; the point is heterogeneity that cannot be resolved from the papers alone. Confirm that the embolisation trio is the example you meant.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Forty-five seconds. Implementation science applied to research practice itself: you cannot improve what you do not measure.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Forty-five seconds. The method is the credibility.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the selection can be changed by anyone. On the card, neuroscience leads on code, GitHub, deposit and preprints, partly because its title term "neural", which brings in about 45% of that corpus, also catches machine-learning papers. If asked: neurology 129,644, cardiology 312,703, neuroscience 509,973 articles.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good-news slide. Let it land, then turn it on the next one. Stroke sits between cardiology and neurology every year through 2024; in the incomplete 2025 it is just above cardiology (75% vs 74%). The peak so far is 77% in 2023. Do not rank neuroscience: about 45% of it comes only from the title term “neural”, much of it machine learning; without those papers it is 67% open access. It is above stroke until 2019 and below neurology in 2024 and 2025.</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 is still filling in. Green fills in last, as repository copies appear after embargoes end, but it was already down to 4% in 2024, so its fall does not rest on the partial year.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nearly doubled, 2.8% to 5.3%, from a low base: stroke 4.6% over the decade, cardiology 4.1%, neurology 2.4%, neuroscience 1.0%; neuroscience's term "neural" pulls in machine-learning papers, and without them it is still only about 1.5%. The neuroscience preprint line also reflects "neural": machine-learning papers, many on arXiv. Then the pivot: so we read the full text.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Seoul is a high-income audience with LMIC trialists in the room. Open access rises as income falls: 67% high, 70% upper-middle, 75% lower-middle (88% low, only 400 articles, do not lean on it).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75% open access, none with a data-repository link in the abstract or metadata; 1.3% of 1,293 audited full texts deposit or name a public source.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Recomputed every six months. Say the n out loud: Charité 129 audited articles, Oxford 177, Hamburg-Eppendorf 109; Nature Communications 30, PeerJ 31 (25 of them deposit). The top two in the figure are both Charité: the Center for Stroke Research Berlin (5.2×) is part of it (4.4×). The figure ranks the 60 institutions with the most audited articles (82 or more); with every institution at 50 or more, the German Center for Neurodegenerative Diseases (5.6×, 61 audited) and the Berlin Institute of Health at Charité (5.2×, 64) also lead, then Zurich (4.7×, 64). Small counts are a hint, not a ranking: GitHub is rare (1.3%), so one more GitHub mention in 100 audited articles adds about 0.26, and the order shifts between runs. Countries need 50 audited articles: at 30, Russia, with 43 audited, would be second at 2.2×. The baselines pool the 2015-2025 audit with every year weighted the same, and the signals rose over the decade (deposit or public source 0.7% in 2015, 9.8% in 2025), so an index also reflects which years an entity published in. Stroke sits above the average, not among the leaders of the 99 journals; the dashboard keeps only the 40 largest journals and 25 largest countries, so there Stroke ranks third and Belgium and Ireland do not appear. Oxford is also listed as a funder in OpenAlex (4.9×, 33 audited); it is an institution, so I leave it out of the funders. Also on the lists: PeerJ deposits in 81%; funders NIDCD, NIBIB, HHS, Horizon 2020 and BMBF; Ireland 1.7×. The point is not the names: the measurement exists, is cheap, and is what a prize would recognise.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pivot of the talk. Four numbers, then the sentence in serif. No more studies here; the evidence brief has them if asked.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fifteen. Invite the WSO leadership in the room to take the task force home. Say which items cost nothing and which need money.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line, then stop. Leave the links and the QR codes up during questions. Thank the session chairs.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dpi="0" rotWithShape="1">
          <a:blip r:embed="rId2">
            <a:lum/>
          </a:blip>
          <a:srcRect/>
          <a:stretch>
            <a:fillRect/>
          </a:stretch>
        </a:blip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511175" y="3226175"/>
            <a:ext cx="3679500" cy="1010400"/>
          </a:xfrm>
          <a:prstGeom prst="rect">
            <a:avLst/>
          </a:prstGeom>
        </p:spPr>
        <p:txBody>
          <a:bodyPr spcFirstLastPara="1" wrap="square" lIns="91425" tIns="91425" rIns="91425" bIns="91425" anchor="b" anchorCtr="0">
            <a:normAutofit/>
          </a:bodyPr>
          <a:lstStyle>
            <a:lvl1pPr lvl="0">
              <a:spcBef>
                <a:spcPts val="0"/>
              </a:spcBef>
              <a:spcAft>
                <a:spcPts val="0"/>
              </a:spcAft>
              <a:buClr>
                <a:srgbClr val="1D429C"/>
              </a:buClr>
              <a:buSzPts val="3000"/>
              <a:buNone/>
              <a:defRPr sz="4000" b="1">
                <a:solidFill>
                  <a:schemeClr val="bg1"/>
                </a:solidFill>
              </a:defRPr>
            </a:lvl1pPr>
            <a:lvl2pPr lvl="1" algn="ctr">
              <a:spcBef>
                <a:spcPts val="0"/>
              </a:spcBef>
              <a:spcAft>
                <a:spcPts val="0"/>
              </a:spcAft>
              <a:buClr>
                <a:srgbClr val="333132"/>
              </a:buClr>
              <a:buSzPts val="3000"/>
              <a:buNone/>
              <a:defRPr sz="4000" b="1">
                <a:solidFill>
                  <a:srgbClr val="333132"/>
                </a:solidFill>
              </a:defRPr>
            </a:lvl2pPr>
            <a:lvl3pPr lvl="2" algn="ctr">
              <a:spcBef>
                <a:spcPts val="0"/>
              </a:spcBef>
              <a:spcAft>
                <a:spcPts val="0"/>
              </a:spcAft>
              <a:buClr>
                <a:srgbClr val="333132"/>
              </a:buClr>
              <a:buSzPts val="3000"/>
              <a:buNone/>
              <a:defRPr sz="4000" b="1">
                <a:solidFill>
                  <a:srgbClr val="333132"/>
                </a:solidFill>
              </a:defRPr>
            </a:lvl3pPr>
            <a:lvl4pPr lvl="3" algn="ctr">
              <a:spcBef>
                <a:spcPts val="0"/>
              </a:spcBef>
              <a:spcAft>
                <a:spcPts val="0"/>
              </a:spcAft>
              <a:buClr>
                <a:srgbClr val="333132"/>
              </a:buClr>
              <a:buSzPts val="3000"/>
              <a:buNone/>
              <a:defRPr sz="4000" b="1">
                <a:solidFill>
                  <a:srgbClr val="333132"/>
                </a:solidFill>
              </a:defRPr>
            </a:lvl4pPr>
            <a:lvl5pPr lvl="4" algn="ctr">
              <a:spcBef>
                <a:spcPts val="0"/>
              </a:spcBef>
              <a:spcAft>
                <a:spcPts val="0"/>
              </a:spcAft>
              <a:buClr>
                <a:srgbClr val="333132"/>
              </a:buClr>
              <a:buSzPts val="3000"/>
              <a:buNone/>
              <a:defRPr sz="4000" b="1">
                <a:solidFill>
                  <a:srgbClr val="333132"/>
                </a:solidFill>
              </a:defRPr>
            </a:lvl5pPr>
            <a:lvl6pPr lvl="5" algn="ctr">
              <a:spcBef>
                <a:spcPts val="0"/>
              </a:spcBef>
              <a:spcAft>
                <a:spcPts val="0"/>
              </a:spcAft>
              <a:buClr>
                <a:srgbClr val="333132"/>
              </a:buClr>
              <a:buSzPts val="3000"/>
              <a:buNone/>
              <a:defRPr sz="4000" b="1">
                <a:solidFill>
                  <a:srgbClr val="333132"/>
                </a:solidFill>
              </a:defRPr>
            </a:lvl6pPr>
            <a:lvl7pPr lvl="6" algn="ctr">
              <a:spcBef>
                <a:spcPts val="0"/>
              </a:spcBef>
              <a:spcAft>
                <a:spcPts val="0"/>
              </a:spcAft>
              <a:buClr>
                <a:srgbClr val="333132"/>
              </a:buClr>
              <a:buSzPts val="3000"/>
              <a:buNone/>
              <a:defRPr sz="4000" b="1">
                <a:solidFill>
                  <a:srgbClr val="333132"/>
                </a:solidFill>
              </a:defRPr>
            </a:lvl7pPr>
            <a:lvl8pPr lvl="7" algn="ctr">
              <a:spcBef>
                <a:spcPts val="0"/>
              </a:spcBef>
              <a:spcAft>
                <a:spcPts val="0"/>
              </a:spcAft>
              <a:buClr>
                <a:srgbClr val="333132"/>
              </a:buClr>
              <a:buSzPts val="3000"/>
              <a:buNone/>
              <a:defRPr sz="4000" b="1">
                <a:solidFill>
                  <a:srgbClr val="333132"/>
                </a:solidFill>
              </a:defRPr>
            </a:lvl8pPr>
            <a:lvl9pPr lvl="8" algn="ctr">
              <a:spcBef>
                <a:spcPts val="0"/>
              </a:spcBef>
              <a:spcAft>
                <a:spcPts val="0"/>
              </a:spcAft>
              <a:buClr>
                <a:srgbClr val="333132"/>
              </a:buClr>
              <a:buSzPts val="3000"/>
              <a:buNone/>
              <a:defRPr sz="4000" b="1">
                <a:solidFill>
                  <a:srgbClr val="333132"/>
                </a:solidFill>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dpi="0" rotWithShape="1">
          <a:blip r:embed="rId2">
            <a:lum/>
          </a:blip>
          <a:srcRect/>
          <a:stretch>
            <a:fillRect/>
          </a:stretch>
        </a:blip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ctrTitle"/>
          </p:nvPr>
        </p:nvSpPr>
        <p:spPr>
          <a:xfrm>
            <a:off x="511175" y="3226175"/>
            <a:ext cx="3679500" cy="1010400"/>
          </a:xfrm>
          <a:prstGeom prst="rect">
            <a:avLst/>
          </a:prstGeom>
        </p:spPr>
        <p:txBody>
          <a:bodyPr spcFirstLastPara="1" wrap="square" lIns="91425" tIns="91425" rIns="91425" bIns="91425" anchor="b" anchorCtr="0">
            <a:normAutofit/>
          </a:bodyPr>
          <a:lstStyle>
            <a:lvl1pPr lvl="0">
              <a:spcBef>
                <a:spcPts val="0"/>
              </a:spcBef>
              <a:spcAft>
                <a:spcPts val="0"/>
              </a:spcAft>
              <a:buClr>
                <a:srgbClr val="1D429C"/>
              </a:buClr>
              <a:buSzPts val="3000"/>
              <a:buNone/>
              <a:defRPr sz="4000" b="1">
                <a:solidFill>
                  <a:srgbClr val="1D429C"/>
                </a:solidFill>
              </a:defRPr>
            </a:lvl1pPr>
            <a:lvl2pPr lvl="1" algn="ctr">
              <a:spcBef>
                <a:spcPts val="0"/>
              </a:spcBef>
              <a:spcAft>
                <a:spcPts val="0"/>
              </a:spcAft>
              <a:buClr>
                <a:srgbClr val="333132"/>
              </a:buClr>
              <a:buSzPts val="3000"/>
              <a:buNone/>
              <a:defRPr sz="4000" b="1">
                <a:solidFill>
                  <a:srgbClr val="333132"/>
                </a:solidFill>
              </a:defRPr>
            </a:lvl2pPr>
            <a:lvl3pPr lvl="2" algn="ctr">
              <a:spcBef>
                <a:spcPts val="0"/>
              </a:spcBef>
              <a:spcAft>
                <a:spcPts val="0"/>
              </a:spcAft>
              <a:buClr>
                <a:srgbClr val="333132"/>
              </a:buClr>
              <a:buSzPts val="3000"/>
              <a:buNone/>
              <a:defRPr sz="4000" b="1">
                <a:solidFill>
                  <a:srgbClr val="333132"/>
                </a:solidFill>
              </a:defRPr>
            </a:lvl3pPr>
            <a:lvl4pPr lvl="3" algn="ctr">
              <a:spcBef>
                <a:spcPts val="0"/>
              </a:spcBef>
              <a:spcAft>
                <a:spcPts val="0"/>
              </a:spcAft>
              <a:buClr>
                <a:srgbClr val="333132"/>
              </a:buClr>
              <a:buSzPts val="3000"/>
              <a:buNone/>
              <a:defRPr sz="4000" b="1">
                <a:solidFill>
                  <a:srgbClr val="333132"/>
                </a:solidFill>
              </a:defRPr>
            </a:lvl4pPr>
            <a:lvl5pPr lvl="4" algn="ctr">
              <a:spcBef>
                <a:spcPts val="0"/>
              </a:spcBef>
              <a:spcAft>
                <a:spcPts val="0"/>
              </a:spcAft>
              <a:buClr>
                <a:srgbClr val="333132"/>
              </a:buClr>
              <a:buSzPts val="3000"/>
              <a:buNone/>
              <a:defRPr sz="4000" b="1">
                <a:solidFill>
                  <a:srgbClr val="333132"/>
                </a:solidFill>
              </a:defRPr>
            </a:lvl5pPr>
            <a:lvl6pPr lvl="5" algn="ctr">
              <a:spcBef>
                <a:spcPts val="0"/>
              </a:spcBef>
              <a:spcAft>
                <a:spcPts val="0"/>
              </a:spcAft>
              <a:buClr>
                <a:srgbClr val="333132"/>
              </a:buClr>
              <a:buSzPts val="3000"/>
              <a:buNone/>
              <a:defRPr sz="4000" b="1">
                <a:solidFill>
                  <a:srgbClr val="333132"/>
                </a:solidFill>
              </a:defRPr>
            </a:lvl6pPr>
            <a:lvl7pPr lvl="6" algn="ctr">
              <a:spcBef>
                <a:spcPts val="0"/>
              </a:spcBef>
              <a:spcAft>
                <a:spcPts val="0"/>
              </a:spcAft>
              <a:buClr>
                <a:srgbClr val="333132"/>
              </a:buClr>
              <a:buSzPts val="3000"/>
              <a:buNone/>
              <a:defRPr sz="4000" b="1">
                <a:solidFill>
                  <a:srgbClr val="333132"/>
                </a:solidFill>
              </a:defRPr>
            </a:lvl7pPr>
            <a:lvl8pPr lvl="7" algn="ctr">
              <a:spcBef>
                <a:spcPts val="0"/>
              </a:spcBef>
              <a:spcAft>
                <a:spcPts val="0"/>
              </a:spcAft>
              <a:buClr>
                <a:srgbClr val="333132"/>
              </a:buClr>
              <a:buSzPts val="3000"/>
              <a:buNone/>
              <a:defRPr sz="4000" b="1">
                <a:solidFill>
                  <a:srgbClr val="333132"/>
                </a:solidFill>
              </a:defRPr>
            </a:lvl8pPr>
            <a:lvl9pPr lvl="8" algn="ctr">
              <a:spcBef>
                <a:spcPts val="0"/>
              </a:spcBef>
              <a:spcAft>
                <a:spcPts val="0"/>
              </a:spcAft>
              <a:buClr>
                <a:srgbClr val="333132"/>
              </a:buClr>
              <a:buSzPts val="3000"/>
              <a:buNone/>
              <a:defRPr sz="4000" b="1">
                <a:solidFill>
                  <a:srgbClr val="333132"/>
                </a:solidFill>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blipFill dpi="0" rotWithShape="1">
          <a:blip r:embed="rId2">
            <a:lum/>
          </a:blip>
          <a:srcRect/>
          <a:stretch>
            <a:fillRect/>
          </a:stretch>
        </a:blipFill>
        <a:effectLst/>
      </p:bgPr>
    </p:bg>
    <p:spTree>
      <p:nvGrpSpPr>
        <p:cNvPr id="1" name="Shape 12"/>
        <p:cNvGrpSpPr/>
        <p:nvPr/>
      </p:nvGrpSpPr>
      <p:grpSpPr>
        <a:xfrm>
          <a:off x="0" y="0"/>
          <a:ext cx="0" cy="0"/>
          <a:chOff x="0" y="0"/>
          <a:chExt cx="0" cy="0"/>
        </a:xfrm>
      </p:grpSpPr>
      <p:sp>
        <p:nvSpPr>
          <p:cNvPr id="13" name="Google Shape;13;p4"/>
          <p:cNvSpPr txBox="1">
            <a:spLocks noGrp="1"/>
          </p:cNvSpPr>
          <p:nvPr>
            <p:ph type="title"/>
          </p:nvPr>
        </p:nvSpPr>
        <p:spPr>
          <a:xfrm>
            <a:off x="311700" y="289150"/>
            <a:ext cx="591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7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4" name="Google Shape;14;p4"/>
          <p:cNvSpPr txBox="1">
            <a:spLocks noGrp="1"/>
          </p:cNvSpPr>
          <p:nvPr>
            <p:ph type="body" idx="1"/>
          </p:nvPr>
        </p:nvSpPr>
        <p:spPr>
          <a:xfrm>
            <a:off x="311700" y="1214900"/>
            <a:ext cx="8520600" cy="31905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blipFill dpi="0" rotWithShape="1">
          <a:blip r:embed="rId2">
            <a:lum/>
          </a:blip>
          <a:srcRect/>
          <a:stretch>
            <a:fillRect/>
          </a:stretch>
        </a:blipFill>
        <a:effectLst/>
      </p:bgPr>
    </p:bg>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311700" y="289150"/>
            <a:ext cx="591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7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5"/>
          <p:cNvSpPr txBox="1">
            <a:spLocks noGrp="1"/>
          </p:cNvSpPr>
          <p:nvPr>
            <p:ph type="body" idx="1"/>
          </p:nvPr>
        </p:nvSpPr>
        <p:spPr>
          <a:xfrm>
            <a:off x="311701" y="1152475"/>
            <a:ext cx="3999900" cy="32190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18" name="Google Shape;18;p5"/>
          <p:cNvSpPr txBox="1">
            <a:spLocks noGrp="1"/>
          </p:cNvSpPr>
          <p:nvPr>
            <p:ph type="body" idx="2"/>
          </p:nvPr>
        </p:nvSpPr>
        <p:spPr>
          <a:xfrm>
            <a:off x="4832401" y="1152475"/>
            <a:ext cx="3999900" cy="32190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dpi="0" rotWithShape="1">
          <a:blip r:embed="rId6">
            <a:lum/>
          </a:blip>
          <a:srcRect/>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289150"/>
            <a:ext cx="591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rgbClr val="1D429C"/>
              </a:buClr>
              <a:buSzPts val="2700"/>
              <a:buNone/>
              <a:defRPr sz="2700" b="1">
                <a:solidFill>
                  <a:srgbClr val="1D429C"/>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363800"/>
            <a:ext cx="8520600" cy="34809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51B848"/>
              </a:buClr>
              <a:buSzPts val="1800"/>
              <a:buChar char="●"/>
              <a:defRPr sz="1800">
                <a:solidFill>
                  <a:srgbClr val="51B848"/>
                </a:solidFill>
              </a:defRPr>
            </a:lvl1pPr>
            <a:lvl2pPr marL="914400" lvl="1" indent="-317500">
              <a:lnSpc>
                <a:spcPct val="115000"/>
              </a:lnSpc>
              <a:spcBef>
                <a:spcPts val="0"/>
              </a:spcBef>
              <a:spcAft>
                <a:spcPts val="0"/>
              </a:spcAft>
              <a:buClr>
                <a:srgbClr val="51B848"/>
              </a:buClr>
              <a:buSzPts val="1400"/>
              <a:buChar char="○"/>
              <a:defRPr>
                <a:solidFill>
                  <a:srgbClr val="51B848"/>
                </a:solidFill>
              </a:defRPr>
            </a:lvl2pPr>
            <a:lvl3pPr marL="1371600" lvl="2" indent="-317500">
              <a:lnSpc>
                <a:spcPct val="115000"/>
              </a:lnSpc>
              <a:spcBef>
                <a:spcPts val="0"/>
              </a:spcBef>
              <a:spcAft>
                <a:spcPts val="0"/>
              </a:spcAft>
              <a:buClr>
                <a:srgbClr val="51B848"/>
              </a:buClr>
              <a:buSzPts val="1400"/>
              <a:buChar char="■"/>
              <a:defRPr>
                <a:solidFill>
                  <a:srgbClr val="51B848"/>
                </a:solidFill>
              </a:defRPr>
            </a:lvl3pPr>
            <a:lvl4pPr marL="1828800" lvl="3" indent="-317500">
              <a:lnSpc>
                <a:spcPct val="115000"/>
              </a:lnSpc>
              <a:spcBef>
                <a:spcPts val="0"/>
              </a:spcBef>
              <a:spcAft>
                <a:spcPts val="0"/>
              </a:spcAft>
              <a:buClr>
                <a:srgbClr val="51B848"/>
              </a:buClr>
              <a:buSzPts val="1400"/>
              <a:buChar char="●"/>
              <a:defRPr>
                <a:solidFill>
                  <a:srgbClr val="51B848"/>
                </a:solidFill>
              </a:defRPr>
            </a:lvl4pPr>
            <a:lvl5pPr marL="2286000" lvl="4" indent="-317500">
              <a:lnSpc>
                <a:spcPct val="115000"/>
              </a:lnSpc>
              <a:spcBef>
                <a:spcPts val="0"/>
              </a:spcBef>
              <a:spcAft>
                <a:spcPts val="0"/>
              </a:spcAft>
              <a:buClr>
                <a:srgbClr val="51B848"/>
              </a:buClr>
              <a:buSzPts val="1400"/>
              <a:buChar char="○"/>
              <a:defRPr>
                <a:solidFill>
                  <a:srgbClr val="51B848"/>
                </a:solidFill>
              </a:defRPr>
            </a:lvl5pPr>
            <a:lvl6pPr marL="2743200" lvl="5" indent="-317500">
              <a:lnSpc>
                <a:spcPct val="115000"/>
              </a:lnSpc>
              <a:spcBef>
                <a:spcPts val="0"/>
              </a:spcBef>
              <a:spcAft>
                <a:spcPts val="0"/>
              </a:spcAft>
              <a:buClr>
                <a:srgbClr val="51B848"/>
              </a:buClr>
              <a:buSzPts val="1400"/>
              <a:buChar char="■"/>
              <a:defRPr>
                <a:solidFill>
                  <a:srgbClr val="51B848"/>
                </a:solidFill>
              </a:defRPr>
            </a:lvl6pPr>
            <a:lvl7pPr marL="3200400" lvl="6" indent="-317500">
              <a:lnSpc>
                <a:spcPct val="115000"/>
              </a:lnSpc>
              <a:spcBef>
                <a:spcPts val="0"/>
              </a:spcBef>
              <a:spcAft>
                <a:spcPts val="0"/>
              </a:spcAft>
              <a:buClr>
                <a:srgbClr val="51B848"/>
              </a:buClr>
              <a:buSzPts val="1400"/>
              <a:buChar char="●"/>
              <a:defRPr>
                <a:solidFill>
                  <a:srgbClr val="51B848"/>
                </a:solidFill>
              </a:defRPr>
            </a:lvl7pPr>
            <a:lvl8pPr marL="3657600" lvl="7" indent="-317500">
              <a:lnSpc>
                <a:spcPct val="115000"/>
              </a:lnSpc>
              <a:spcBef>
                <a:spcPts val="0"/>
              </a:spcBef>
              <a:spcAft>
                <a:spcPts val="0"/>
              </a:spcAft>
              <a:buClr>
                <a:srgbClr val="51B848"/>
              </a:buClr>
              <a:buSzPts val="1400"/>
              <a:buChar char="○"/>
              <a:defRPr>
                <a:solidFill>
                  <a:srgbClr val="51B848"/>
                </a:solidFill>
              </a:defRPr>
            </a:lvl8pPr>
            <a:lvl9pPr marL="4114800" lvl="8" indent="-317500">
              <a:lnSpc>
                <a:spcPct val="115000"/>
              </a:lnSpc>
              <a:spcBef>
                <a:spcPts val="0"/>
              </a:spcBef>
              <a:spcAft>
                <a:spcPts val="0"/>
              </a:spcAft>
              <a:buClr>
                <a:srgbClr val="51B848"/>
              </a:buClr>
              <a:buSzPts val="1400"/>
              <a:buChar char="■"/>
              <a:defRPr>
                <a:solidFill>
                  <a:srgbClr val="51B848"/>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8.jpg"/><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9.jpg"/><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10.jp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image" Target="../media/image13.jpg"/><Relationship Id="rId6"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image" Target="../media/image17.jp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sv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sv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Shape 40"/>
        <p:cNvGrpSpPr/>
        <p:nvPr/>
      </p:nvGrpSpPr>
      <p:grpSpPr>
        <a:xfrm>
          <a:off x="0" y="0"/>
          <a:ext cx="0" cy="0"/>
          <a:chOff x="0" y="0"/>
          <a:chExt cx="0" cy="0"/>
        </a:xfrm>
      </p:grpSpPr>
      <p:sp>
        <p:nvSpPr>
          <p:cNvPr id="41" name="Google Shape;41;p13"/>
          <p:cNvSpPr txBox="1">
            <a:spLocks noGrp="1"/>
          </p:cNvSpPr>
          <p:nvPr>
            <p:ph type="ctrTitle"/>
          </p:nvPr>
        </p:nvSpPr>
        <p:spPr>
          <a:xfrm>
            <a:off x="548640" y="1572768"/>
            <a:ext cx="4846320" cy="1143000"/>
          </a:xfrm>
          <a:prstGeom prst="rect">
            <a:avLst/>
          </a:prstGeom>
        </p:spPr>
        <p:txBody>
          <a:bodyPr spcFirstLastPara="1" wrap="square" lIns="0" tIns="0" rIns="0" bIns="0" anchor="t" anchorCtr="0">
            <a:noAutofit/>
          </a:bodyPr>
          <a:lstStyle/>
          <a:p>
            <a:pPr algn="l">
              <a:lnSpc>
                <a:spcPct val="100000"/>
              </a:lnSpc>
              <a:spcBef>
                <a:spcPts val="0"/>
              </a:spcBef>
              <a:spcAft>
                <a:spcPts val="0"/>
              </a:spcAft>
            </a:pPr>
            <a:r>
              <a:rPr sz="3200" b="1" i="0">
                <a:solidFill>
                  <a:srgbClr val="FFFFFF"/>
                </a:solidFill>
                <a:latin typeface="Arial"/>
                <a:ea typeface="Arial"/>
                <a:cs typeface="Arial"/>
              </a:rPr>
              <a:t>Open science in stroke research</a:t>
            </a:r>
            <a:endParaRPr dirty="0">
              <a:solidFill>
                <a:schemeClr val="bg1"/>
              </a:solidFill>
              <a:latin typeface="DINOT" panose="020B0504020101020102" pitchFamily="34" charset="0"/>
            </a:endParaRPr>
          </a:p>
        </p:txBody>
      </p:sp>
      <p:sp>
        <p:nvSpPr>
          <p:cNvPr id="42" name="TextBox 41"/>
          <p:cNvSpPr txBox="1"/>
          <p:nvPr/>
        </p:nvSpPr>
        <p:spPr>
          <a:xfrm>
            <a:off x="548640" y="2724912"/>
            <a:ext cx="4754880" cy="566928"/>
          </a:xfrm>
          <a:prstGeom prst="rect">
            <a:avLst/>
          </a:prstGeom>
          <a:noFill/>
        </p:spPr>
        <p:txBody>
          <a:bodyPr wrap="square" lIns="0" rIns="0" tIns="0" bIns="0" anchor="t">
            <a:noAutofit/>
          </a:bodyPr>
          <a:lstStyle/>
          <a:p>
            <a:pPr algn="l">
              <a:lnSpc>
                <a:spcPct val="100000"/>
              </a:lnSpc>
              <a:spcBef>
                <a:spcPts val="0"/>
              </a:spcBef>
              <a:spcAft>
                <a:spcPts val="0"/>
              </a:spcAft>
            </a:pPr>
            <a:r>
              <a:rPr sz="1600" b="0" i="0">
                <a:solidFill>
                  <a:srgbClr val="DCE6F5"/>
                </a:solidFill>
                <a:latin typeface="Arial"/>
                <a:ea typeface="Arial"/>
                <a:cs typeface="Arial"/>
              </a:rPr>
              <a:t>Measuring reproducibility and transparency, and what to do with the numbers</a:t>
            </a:r>
          </a:p>
        </p:txBody>
      </p:sp>
      <p:sp>
        <p:nvSpPr>
          <p:cNvPr id="43" name="TextBox 42"/>
          <p:cNvSpPr txBox="1"/>
          <p:nvPr/>
        </p:nvSpPr>
        <p:spPr>
          <a:xfrm>
            <a:off x="548640" y="3611880"/>
            <a:ext cx="4754880" cy="566928"/>
          </a:xfrm>
          <a:prstGeom prst="rect">
            <a:avLst/>
          </a:prstGeom>
          <a:noFill/>
        </p:spPr>
        <p:txBody>
          <a:bodyPr wrap="square" lIns="0" rIns="0" tIns="0" bIns="0" anchor="t">
            <a:noAutofit/>
          </a:bodyPr>
          <a:lstStyle/>
          <a:p>
            <a:pPr algn="l">
              <a:lnSpc>
                <a:spcPct val="100000"/>
              </a:lnSpc>
              <a:spcBef>
                <a:spcPts val="0"/>
              </a:spcBef>
              <a:spcAft>
                <a:spcPts val="300"/>
              </a:spcAft>
            </a:pPr>
            <a:r>
              <a:rPr sz="1600" b="1" i="0">
                <a:solidFill>
                  <a:srgbClr val="FFFFFF"/>
                </a:solidFill>
                <a:latin typeface="Arial"/>
                <a:ea typeface="Arial"/>
                <a:cs typeface="Arial"/>
              </a:rPr>
              <a:t>Sebastian Fridman, MD</a:t>
            </a:r>
          </a:p>
          <a:p>
            <a:pPr algn="l">
              <a:lnSpc>
                <a:spcPct val="100000"/>
              </a:lnSpc>
              <a:spcBef>
                <a:spcPts val="0"/>
              </a:spcBef>
              <a:spcAft>
                <a:spcPts val="0"/>
              </a:spcAft>
            </a:pPr>
            <a:r>
              <a:rPr sz="1200" b="0" i="0">
                <a:solidFill>
                  <a:srgbClr val="DCE6F5"/>
                </a:solidFill>
                <a:latin typeface="Arial"/>
                <a:ea typeface="Arial"/>
                <a:cs typeface="Arial"/>
              </a:rPr>
              <a:t>Western University · London Health Sciences Centre · Canada</a:t>
            </a:r>
          </a:p>
        </p:txBody>
      </p:sp>
      <p:sp>
        <p:nvSpPr>
          <p:cNvPr id="44" name="TextBox 43"/>
          <p:cNvSpPr txBox="1"/>
          <p:nvPr/>
        </p:nvSpPr>
        <p:spPr>
          <a:xfrm>
            <a:off x="548640" y="4389120"/>
            <a:ext cx="475488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DCE6F5"/>
                </a:solidFill>
                <a:latin typeface="Arial"/>
                <a:ea typeface="Arial"/>
                <a:cs typeface="Arial"/>
              </a:rPr>
              <a:t>The latest in stroke implementation science · Thursday 22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310896" y="283464"/>
          <a:ext cx="4325112" cy="731520"/>
        </p:xfrm>
        <a:graphic>
          <a:graphicData uri="http://schemas.openxmlformats.org/drawingml/2006/table">
            <a:tbl>
              <a:tblPr firstRow="0" bandRow="0"/>
              <a:tblGrid>
                <a:gridCol w="438912"/>
                <a:gridCol w="3886200"/>
              </a:tblGrid>
              <a:tr h="365760">
                <a:tc>
                  <a:txBody>
                    <a:bodyPr wrap="square"/>
                    <a:lstStyle/>
                    <a:p>
                      <a:pPr algn="ctr"/>
                      <a:r>
                        <a:rPr sz="1500" i="0" b="0">
                          <a:solidFill>
                            <a:srgbClr val="FFFFFF"/>
                          </a:solidFill>
                          <a:latin typeface="Arial"/>
                        </a:rPr>
                        <a:t>x</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2E247A"/>
                    </a:solidFill>
                  </a:tcPr>
                </a:tc>
                <a:tc>
                  <a:txBody>
                    <a:bodyPr wrap="square"/>
                    <a:lstStyle/>
                    <a:p>
                      <a:pPr algn="l"/>
                      <a:r>
                        <a:rPr sz="1500" i="0" b="0">
                          <a:solidFill>
                            <a:srgbClr val="000000"/>
                          </a:solidFill>
                          <a:latin typeface="Arial"/>
                        </a:rPr>
                        <a:t>No, nothing to disclose</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52AE32"/>
                    </a:solidFill>
                  </a:tcPr>
                </a:tc>
              </a:tr>
              <a:tr h="365760">
                <a:tc>
                  <a:txBody>
                    <a:bodyPr wrap="square"/>
                    <a:lstStyle/>
                    <a:p>
                      <a:pPr algn="ctr"/>
                      <a:r>
                        <a:rPr sz="1500" i="0" b="0">
                          <a:solidFill>
                            <a:srgbClr val="FFFFFF"/>
                          </a:solidFill>
                          <a:latin typeface="Arial"/>
                        </a:rPr>
                        <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2E247A"/>
                    </a:solidFill>
                  </a:tcPr>
                </a:tc>
                <a:tc>
                  <a:txBody>
                    <a:bodyPr wrap="square"/>
                    <a:lstStyle/>
                    <a:p>
                      <a:pPr algn="l"/>
                      <a:r>
                        <a:rPr sz="1500" i="0" b="0">
                          <a:solidFill>
                            <a:srgbClr val="000000"/>
                          </a:solidFill>
                          <a:latin typeface="Arial"/>
                        </a:rPr>
                        <a:t>Yes, please specify:</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52AE32"/>
                    </a:solidFill>
                  </a:tcPr>
                </a:tc>
              </a:tr>
            </a:tbl>
          </a:graphicData>
        </a:graphic>
      </p:graphicFrame>
      <p:graphicFrame>
        <p:nvGraphicFramePr>
          <p:cNvPr id="3" name="Table 2"/>
          <p:cNvGraphicFramePr>
            <a:graphicFrameLocks noGrp="1"/>
          </p:cNvGraphicFramePr>
          <p:nvPr/>
        </p:nvGraphicFramePr>
        <p:xfrm>
          <a:off x="274320" y="1490472"/>
          <a:ext cx="7781540" cy="2441448"/>
        </p:xfrm>
        <a:graphic>
          <a:graphicData uri="http://schemas.openxmlformats.org/drawingml/2006/table">
            <a:tbl>
              <a:tblPr firstRow="0" bandRow="0"/>
              <a:tblGrid>
                <a:gridCol w="1895504"/>
                <a:gridCol w="676174"/>
                <a:gridCol w="809191"/>
                <a:gridCol w="604122"/>
                <a:gridCol w="609665"/>
                <a:gridCol w="654004"/>
                <a:gridCol w="609665"/>
                <a:gridCol w="681716"/>
                <a:gridCol w="1241499"/>
              </a:tblGrid>
              <a:tr h="685800">
                <a:tc>
                  <a:txBody>
                    <a:bodyPr wrap="square"/>
                    <a:lstStyle/>
                    <a:p>
                      <a:pPr algn="ctr"/>
                      <a:r>
                        <a:rPr sz="900" i="1" b="0">
                          <a:solidFill>
                            <a:srgbClr val="FFFFFF"/>
                          </a:solidFill>
                          <a:latin typeface="Arial"/>
                        </a:rPr>
                        <a:t>Company Name</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Honoraria/ Expenses</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Consulting/ Advisory Board</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Funded Research</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Royalties/ Patent</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Stock Options</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Ownership/ Equity Position</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Employee</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i="1" b="0">
                          <a:solidFill>
                            <a:srgbClr val="FFFFFF"/>
                          </a:solidFill>
                          <a:latin typeface="Arial"/>
                        </a:rPr>
                        <a:t>Other (please specify)</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r>
              <a:tr h="438912">
                <a:tc>
                  <a:txBody>
                    <a:bodyPr wrap="square"/>
                    <a:lstStyle/>
                    <a:p>
                      <a:pPr algn="l"/>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200" i="0" b="0">
                          <a:solidFill>
                            <a:srgbClr val="000000"/>
                          </a:solidFill>
                          <a:latin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bl>
          </a:graphicData>
        </a:graphic>
      </p:graphicFrame>
    </p:spTree>
    <p:extLst>
      <p:ext uri="{BB962C8B-B14F-4D97-AF65-F5344CB8AC3E}">
        <p14:creationId xmlns:p14="http://schemas.microsoft.com/office/powerpoint/2010/main" val="2972448883"/>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The moment this started</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01  </a:t>
            </a:r>
            <a:r>
              <a:rPr sz="1100" b="0" i="0">
                <a:solidFill>
                  <a:srgbClr val="5F5F5F"/>
                </a:solidFill>
                <a:latin typeface="Arial"/>
                <a:ea typeface="Arial"/>
                <a:cs typeface="Arial"/>
              </a:rPr>
              <a:t>Where I come from</a:t>
            </a:r>
          </a:p>
        </p:txBody>
      </p:sp>
      <p:sp>
        <p:nvSpPr>
          <p:cNvPr id="4" name="TextBox 3"/>
          <p:cNvSpPr txBox="1"/>
          <p:nvPr/>
        </p:nvSpPr>
        <p:spPr>
          <a:xfrm>
            <a:off x="310896" y="1143000"/>
            <a:ext cx="6949440" cy="2194560"/>
          </a:xfrm>
          <a:prstGeom prst="rect">
            <a:avLst/>
          </a:prstGeom>
          <a:noFill/>
        </p:spPr>
        <p:txBody>
          <a:bodyPr wrap="square" lIns="0" rIns="0" tIns="0" bIns="0" anchor="t">
            <a:noAutofit/>
          </a:bodyPr>
          <a:lstStyle/>
          <a:p>
            <a:pPr algn="l">
              <a:lnSpc>
                <a:spcPct val="100000"/>
              </a:lnSpc>
              <a:spcBef>
                <a:spcPts val="0"/>
              </a:spcBef>
              <a:spcAft>
                <a:spcPts val="0"/>
              </a:spcAft>
            </a:pPr>
            <a:r>
              <a:rPr sz="2000" b="0" i="1">
                <a:solidFill>
                  <a:srgbClr val="1F1F1F"/>
                </a:solidFill>
                <a:latin typeface="Arial"/>
                <a:ea typeface="Arial"/>
                <a:cs typeface="Arial"/>
              </a:rPr>
              <a:t>I came to stroke from imaging and neuroscience. [In 20__ I tried to build on a published result: the data were “available on request”, the code was not there, and the request went unanswered. I could not tell whether the finding was wrong or I was.]</a:t>
            </a:r>
          </a:p>
        </p:txBody>
      </p:sp>
      <p:sp>
        <p:nvSpPr>
          <p:cNvPr id="5" name="TextBox 4"/>
          <p:cNvSpPr txBox="1"/>
          <p:nvPr/>
        </p:nvSpPr>
        <p:spPr>
          <a:xfrm>
            <a:off x="310896" y="3977639"/>
            <a:ext cx="7223760" cy="320040"/>
          </a:xfrm>
          <a:prstGeom prst="rect">
            <a:avLst/>
          </a:prstGeom>
          <a:noFill/>
        </p:spPr>
        <p:txBody>
          <a:bodyPr wrap="square" lIns="0" rIns="0" tIns="0" bIns="0" anchor="t">
            <a:noAutofit/>
          </a:bodyPr>
          <a:lstStyle/>
          <a:p>
            <a:pPr algn="l">
              <a:lnSpc>
                <a:spcPct val="100000"/>
              </a:lnSpc>
              <a:spcBef>
                <a:spcPts val="0"/>
              </a:spcBef>
              <a:spcAft>
                <a:spcPts val="0"/>
              </a:spcAft>
            </a:pPr>
            <a:r>
              <a:rPr sz="1400" b="0" i="0">
                <a:solidFill>
                  <a:srgbClr val="5F5F5F"/>
                </a:solidFill>
                <a:latin typeface="Arial"/>
                <a:ea typeface="Arial"/>
                <a:cs typeface="Arial"/>
              </a:rPr>
              <a:t>imaging   ·   neuroscience   ·   neurology   ·   </a:t>
            </a:r>
            <a:r>
              <a:rPr sz="1400" b="1" i="0">
                <a:solidFill>
                  <a:srgbClr val="D7263D"/>
                </a:solidFill>
                <a:latin typeface="Arial"/>
                <a:ea typeface="Arial"/>
                <a:cs typeface="Arial"/>
              </a:rPr>
              <a:t>stroke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749808"/>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The fields next door had their crisis first</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02  </a:t>
            </a:r>
            <a:r>
              <a:rPr sz="1100" b="0" i="0">
                <a:solidFill>
                  <a:srgbClr val="5F5F5F"/>
                </a:solidFill>
                <a:latin typeface="Arial"/>
                <a:ea typeface="Arial"/>
                <a:cs typeface="Arial"/>
              </a:rPr>
              <a:t>Why open science</a:t>
            </a:r>
          </a:p>
        </p:txBody>
      </p:sp>
      <p:sp>
        <p:nvSpPr>
          <p:cNvPr id="4" name="Rectangle 3"/>
          <p:cNvSpPr/>
          <p:nvPr/>
        </p:nvSpPr>
        <p:spPr>
          <a:xfrm>
            <a:off x="310896" y="1097280"/>
            <a:ext cx="1805940" cy="22860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0624" y="1207007"/>
            <a:ext cx="1586484" cy="2066543"/>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Psychology</a:t>
            </a:r>
          </a:p>
          <a:p>
            <a:pPr algn="l">
              <a:lnSpc>
                <a:spcPct val="100000"/>
              </a:lnSpc>
              <a:spcBef>
                <a:spcPts val="0"/>
              </a:spcBef>
              <a:spcAft>
                <a:spcPts val="400"/>
              </a:spcAft>
            </a:pPr>
            <a:r>
              <a:rPr sz="3000" b="1" i="0">
                <a:solidFill>
                  <a:srgbClr val="D7263D"/>
                </a:solidFill>
                <a:latin typeface="Arial"/>
                <a:ea typeface="Arial"/>
                <a:cs typeface="Arial"/>
              </a:rPr>
              <a:t>36%</a:t>
            </a:r>
          </a:p>
          <a:p>
            <a:pPr algn="l">
              <a:lnSpc>
                <a:spcPct val="100000"/>
              </a:lnSpc>
              <a:spcBef>
                <a:spcPts val="0"/>
              </a:spcBef>
              <a:spcAft>
                <a:spcPts val="300"/>
              </a:spcAft>
            </a:pPr>
            <a:r>
              <a:rPr sz="1100" b="0" i="0">
                <a:solidFill>
                  <a:srgbClr val="3A3A3A"/>
                </a:solidFill>
                <a:latin typeface="Arial"/>
                <a:ea typeface="Arial"/>
                <a:cs typeface="Arial"/>
              </a:rPr>
              <a:t>of 100 published findings replicated with a significant result; effect sizes about half the originals</a:t>
            </a:r>
          </a:p>
          <a:p>
            <a:pPr algn="l">
              <a:lnSpc>
                <a:spcPct val="100000"/>
              </a:lnSpc>
              <a:spcBef>
                <a:spcPts val="0"/>
              </a:spcBef>
              <a:spcAft>
                <a:spcPts val="0"/>
              </a:spcAft>
            </a:pPr>
            <a:r>
              <a:rPr sz="1000" b="0" i="0">
                <a:solidFill>
                  <a:srgbClr val="5F5F5F"/>
                </a:solidFill>
                <a:latin typeface="Arial"/>
                <a:ea typeface="Arial"/>
                <a:cs typeface="Arial"/>
              </a:rPr>
              <a:t>Open Science Collaboration, Science 2015</a:t>
            </a:r>
          </a:p>
        </p:txBody>
      </p:sp>
      <p:sp>
        <p:nvSpPr>
          <p:cNvPr id="6" name="Rectangle 5"/>
          <p:cNvSpPr/>
          <p:nvPr/>
        </p:nvSpPr>
        <p:spPr>
          <a:xfrm>
            <a:off x="2116836" y="1097280"/>
            <a:ext cx="1805940" cy="22860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26564" y="1207007"/>
            <a:ext cx="1586484" cy="2066543"/>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Neuroscience</a:t>
            </a:r>
          </a:p>
          <a:p>
            <a:pPr algn="l">
              <a:lnSpc>
                <a:spcPct val="100000"/>
              </a:lnSpc>
              <a:spcBef>
                <a:spcPts val="0"/>
              </a:spcBef>
              <a:spcAft>
                <a:spcPts val="400"/>
              </a:spcAft>
            </a:pPr>
            <a:r>
              <a:rPr sz="3000" b="1" i="0">
                <a:solidFill>
                  <a:srgbClr val="D7263D"/>
                </a:solidFill>
                <a:latin typeface="Arial"/>
                <a:ea typeface="Arial"/>
                <a:cs typeface="Arial"/>
              </a:rPr>
              <a:t>21%</a:t>
            </a:r>
          </a:p>
          <a:p>
            <a:pPr algn="l">
              <a:lnSpc>
                <a:spcPct val="100000"/>
              </a:lnSpc>
              <a:spcBef>
                <a:spcPts val="0"/>
              </a:spcBef>
              <a:spcAft>
                <a:spcPts val="300"/>
              </a:spcAft>
            </a:pPr>
            <a:r>
              <a:rPr sz="1100" b="0" i="0">
                <a:solidFill>
                  <a:srgbClr val="3A3A3A"/>
                </a:solidFill>
                <a:latin typeface="Arial"/>
                <a:ea typeface="Arial"/>
                <a:cs typeface="Arial"/>
              </a:rPr>
              <a:t>median statistical power of neuroscience studies</a:t>
            </a:r>
          </a:p>
          <a:p>
            <a:pPr algn="l">
              <a:lnSpc>
                <a:spcPct val="100000"/>
              </a:lnSpc>
              <a:spcBef>
                <a:spcPts val="0"/>
              </a:spcBef>
              <a:spcAft>
                <a:spcPts val="0"/>
              </a:spcAft>
            </a:pPr>
            <a:r>
              <a:rPr sz="1000" b="0" i="0">
                <a:solidFill>
                  <a:srgbClr val="5F5F5F"/>
                </a:solidFill>
                <a:latin typeface="Arial"/>
                <a:ea typeface="Arial"/>
                <a:cs typeface="Arial"/>
              </a:rPr>
              <a:t>Button et al., Nat Rev Neurosci 2013</a:t>
            </a:r>
          </a:p>
        </p:txBody>
      </p:sp>
      <p:sp>
        <p:nvSpPr>
          <p:cNvPr id="8" name="Rectangle 7"/>
          <p:cNvSpPr/>
          <p:nvPr/>
        </p:nvSpPr>
        <p:spPr>
          <a:xfrm>
            <a:off x="3922776" y="1097280"/>
            <a:ext cx="1805940" cy="22860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32504" y="1207007"/>
            <a:ext cx="1586484" cy="2066543"/>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Preclinical cancer</a:t>
            </a:r>
          </a:p>
          <a:p>
            <a:pPr algn="l">
              <a:lnSpc>
                <a:spcPct val="100000"/>
              </a:lnSpc>
              <a:spcBef>
                <a:spcPts val="0"/>
              </a:spcBef>
              <a:spcAft>
                <a:spcPts val="400"/>
              </a:spcAft>
            </a:pPr>
            <a:r>
              <a:rPr sz="3000" b="1" i="0">
                <a:solidFill>
                  <a:srgbClr val="D7263D"/>
                </a:solidFill>
                <a:latin typeface="Arial"/>
                <a:ea typeface="Arial"/>
                <a:cs typeface="Arial"/>
              </a:rPr>
              <a:t>6 of 53</a:t>
            </a:r>
          </a:p>
          <a:p>
            <a:pPr algn="l">
              <a:lnSpc>
                <a:spcPct val="100000"/>
              </a:lnSpc>
              <a:spcBef>
                <a:spcPts val="0"/>
              </a:spcBef>
              <a:spcAft>
                <a:spcPts val="300"/>
              </a:spcAft>
            </a:pPr>
            <a:r>
              <a:rPr sz="1100" b="0" i="0">
                <a:solidFill>
                  <a:srgbClr val="3A3A3A"/>
                </a:solidFill>
                <a:latin typeface="Arial"/>
                <a:ea typeface="Arial"/>
                <a:cs typeface="Arial"/>
              </a:rPr>
              <a:t>landmark findings that Amgen could reproduce</a:t>
            </a:r>
          </a:p>
          <a:p>
            <a:pPr algn="l">
              <a:lnSpc>
                <a:spcPct val="100000"/>
              </a:lnSpc>
              <a:spcBef>
                <a:spcPts val="0"/>
              </a:spcBef>
              <a:spcAft>
                <a:spcPts val="0"/>
              </a:spcAft>
            </a:pPr>
            <a:r>
              <a:rPr sz="1000" b="0" i="0">
                <a:solidFill>
                  <a:srgbClr val="5F5F5F"/>
                </a:solidFill>
                <a:latin typeface="Arial"/>
                <a:ea typeface="Arial"/>
                <a:cs typeface="Arial"/>
              </a:rPr>
              <a:t>Begley and Ellis, Nature 2012</a:t>
            </a:r>
          </a:p>
        </p:txBody>
      </p:sp>
      <p:sp>
        <p:nvSpPr>
          <p:cNvPr id="10" name="Rectangle 9"/>
          <p:cNvSpPr/>
          <p:nvPr/>
        </p:nvSpPr>
        <p:spPr>
          <a:xfrm>
            <a:off x="5728716" y="1097280"/>
            <a:ext cx="1805940" cy="22860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38444" y="1207007"/>
            <a:ext cx="1586484" cy="2066543"/>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Across science</a:t>
            </a:r>
          </a:p>
          <a:p>
            <a:pPr algn="l">
              <a:lnSpc>
                <a:spcPct val="100000"/>
              </a:lnSpc>
              <a:spcBef>
                <a:spcPts val="0"/>
              </a:spcBef>
              <a:spcAft>
                <a:spcPts val="400"/>
              </a:spcAft>
            </a:pPr>
            <a:r>
              <a:rPr sz="3000" b="1" i="0">
                <a:solidFill>
                  <a:srgbClr val="D7263D"/>
                </a:solidFill>
                <a:latin typeface="Arial"/>
                <a:ea typeface="Arial"/>
                <a:cs typeface="Arial"/>
              </a:rPr>
              <a:t>70%</a:t>
            </a:r>
          </a:p>
          <a:p>
            <a:pPr algn="l">
              <a:lnSpc>
                <a:spcPct val="100000"/>
              </a:lnSpc>
              <a:spcBef>
                <a:spcPts val="0"/>
              </a:spcBef>
              <a:spcAft>
                <a:spcPts val="300"/>
              </a:spcAft>
            </a:pPr>
            <a:r>
              <a:rPr sz="1100" b="0" i="0">
                <a:solidFill>
                  <a:srgbClr val="3A3A3A"/>
                </a:solidFill>
                <a:latin typeface="Arial"/>
                <a:ea typeface="Arial"/>
                <a:cs typeface="Arial"/>
              </a:rPr>
              <a:t>of 1,576 researchers had failed to reproduce another group’s experiment; 52% called it a significant crisis</a:t>
            </a:r>
          </a:p>
          <a:p>
            <a:pPr algn="l">
              <a:lnSpc>
                <a:spcPct val="100000"/>
              </a:lnSpc>
              <a:spcBef>
                <a:spcPts val="0"/>
              </a:spcBef>
              <a:spcAft>
                <a:spcPts val="0"/>
              </a:spcAft>
            </a:pPr>
            <a:r>
              <a:rPr sz="1000" b="0" i="0">
                <a:solidFill>
                  <a:srgbClr val="5F5F5F"/>
                </a:solidFill>
                <a:latin typeface="Arial"/>
                <a:ea typeface="Arial"/>
                <a:cs typeface="Arial"/>
              </a:rPr>
              <a:t>Baker, Nature 2016</a:t>
            </a:r>
          </a:p>
        </p:txBody>
      </p:sp>
      <p:cxnSp>
        <p:nvCxnSpPr>
          <p:cNvPr id="12" name="Connector 11"/>
          <p:cNvCxnSpPr/>
          <p:nvPr/>
        </p:nvCxnSpPr>
        <p:spPr>
          <a:xfrm>
            <a:off x="310896" y="3547872"/>
            <a:ext cx="7223760" cy="0"/>
          </a:xfrm>
          <a:prstGeom prst="line">
            <a:avLst/>
          </a:prstGeom>
          <a:ln w="12700">
            <a:solidFill>
              <a:srgbClr val="1F1F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10896" y="3657600"/>
            <a:ext cx="1600200" cy="73152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What those fields did about it</a:t>
            </a:r>
          </a:p>
        </p:txBody>
      </p:sp>
      <p:sp>
        <p:nvSpPr>
          <p:cNvPr id="14" name="TextBox 13"/>
          <p:cNvSpPr txBox="1"/>
          <p:nvPr/>
        </p:nvSpPr>
        <p:spPr>
          <a:xfrm>
            <a:off x="2093976" y="3657600"/>
            <a:ext cx="5440680" cy="777240"/>
          </a:xfrm>
          <a:prstGeom prst="rect">
            <a:avLst/>
          </a:prstGeom>
          <a:noFill/>
        </p:spPr>
        <p:txBody>
          <a:bodyPr wrap="square" lIns="0" rIns="0" tIns="0" bIns="0" anchor="t">
            <a:noAutofit/>
          </a:bodyPr>
          <a:lstStyle/>
          <a:p>
            <a:pPr algn="l">
              <a:lnSpc>
                <a:spcPct val="100000"/>
              </a:lnSpc>
              <a:spcBef>
                <a:spcPts val="0"/>
              </a:spcBef>
              <a:spcAft>
                <a:spcPts val="0"/>
              </a:spcAft>
            </a:pPr>
            <a:r>
              <a:rPr sz="1200" b="0" i="0">
                <a:solidFill>
                  <a:srgbClr val="3A3A3A"/>
                </a:solidFill>
                <a:latin typeface="Arial"/>
                <a:ea typeface="Arial"/>
                <a:cs typeface="Arial"/>
              </a:rPr>
              <a:t>Preregistration and Registered Reports in more than 300 journals, open-data badges, the Open Science Framework, data and code as a condition of publication. In Registered Reports, 44% of results are positive, against 96% in the standard literature (Scheel 2021).</a:t>
            </a:r>
          </a:p>
        </p:txBody>
      </p:sp>
      <p:sp>
        <p:nvSpPr>
          <p:cNvPr id="15" name="TextBox 14"/>
          <p:cNvSpPr txBox="1"/>
          <p:nvPr/>
        </p:nvSpPr>
        <p:spPr>
          <a:xfrm>
            <a:off x="310896" y="4773168"/>
            <a:ext cx="7040880" cy="182880"/>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Psychology and neuroscience measured themselves, it hurt, and they changed how they publish.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749808"/>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Same question, different answers, and no way to tell why from the papers alone</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03  </a:t>
            </a:r>
            <a:r>
              <a:rPr sz="1100" b="0" i="0">
                <a:solidFill>
                  <a:srgbClr val="5F5F5F"/>
                </a:solidFill>
                <a:latin typeface="Arial"/>
                <a:ea typeface="Arial"/>
                <a:cs typeface="Arial"/>
              </a:rPr>
              <a:t>Stroke is not immune</a:t>
            </a:r>
          </a:p>
        </p:txBody>
      </p:sp>
      <p:cxnSp>
        <p:nvCxnSpPr>
          <p:cNvPr id="4" name="Connector 3"/>
          <p:cNvCxnSpPr/>
          <p:nvPr/>
        </p:nvCxnSpPr>
        <p:spPr>
          <a:xfrm>
            <a:off x="310896" y="1261872"/>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10896" y="1353312"/>
            <a:ext cx="1600200" cy="649224"/>
          </a:xfrm>
          <a:prstGeom prst="rect">
            <a:avLst/>
          </a:prstGeom>
          <a:noFill/>
        </p:spPr>
        <p:txBody>
          <a:bodyPr wrap="square" lIns="0" rIns="0" tIns="0" bIns="0" anchor="t">
            <a:noAutofit/>
          </a:bodyPr>
          <a:lstStyle/>
          <a:p>
            <a:pPr algn="l">
              <a:lnSpc>
                <a:spcPct val="100000"/>
              </a:lnSpc>
              <a:spcBef>
                <a:spcPts val="0"/>
              </a:spcBef>
              <a:spcAft>
                <a:spcPts val="0"/>
              </a:spcAft>
            </a:pPr>
            <a:r>
              <a:rPr sz="1250" b="1" i="0">
                <a:solidFill>
                  <a:srgbClr val="1F1F1F"/>
                </a:solidFill>
                <a:latin typeface="Arial"/>
                <a:ea typeface="Arial"/>
                <a:cs typeface="Arial"/>
              </a:rPr>
              <a:t>Preclinical</a:t>
            </a:r>
          </a:p>
        </p:txBody>
      </p:sp>
      <p:sp>
        <p:nvSpPr>
          <p:cNvPr id="6" name="TextBox 5"/>
          <p:cNvSpPr txBox="1"/>
          <p:nvPr/>
        </p:nvSpPr>
        <p:spPr>
          <a:xfrm>
            <a:off x="2048255" y="1353312"/>
            <a:ext cx="4160520" cy="649224"/>
          </a:xfrm>
          <a:prstGeom prst="rect">
            <a:avLst/>
          </a:prstGeom>
          <a:noFill/>
        </p:spPr>
        <p:txBody>
          <a:bodyPr wrap="square" lIns="0" rIns="0" tIns="0" bIns="0" anchor="t">
            <a:noAutofit/>
          </a:bodyPr>
          <a:lstStyle/>
          <a:p>
            <a:pPr algn="l">
              <a:lnSpc>
                <a:spcPct val="100000"/>
              </a:lnSpc>
              <a:spcBef>
                <a:spcPts val="0"/>
              </a:spcBef>
              <a:spcAft>
                <a:spcPts val="0"/>
              </a:spcAft>
            </a:pPr>
            <a:r>
              <a:rPr sz="1250" b="0" i="0">
                <a:solidFill>
                  <a:srgbClr val="1F1F1F"/>
                </a:solidFill>
                <a:latin typeface="Arial"/>
                <a:ea typeface="Arial"/>
                <a:cs typeface="Arial"/>
              </a:rPr>
              <a:t>1,026 neuroprotectants tested in animal stroke; none translated. Publication bias overstated efficacy by about a third. NXY-059: SAINT I positive, SAINT II negative.</a:t>
            </a:r>
          </a:p>
        </p:txBody>
      </p:sp>
      <p:sp>
        <p:nvSpPr>
          <p:cNvPr id="7" name="TextBox 6"/>
          <p:cNvSpPr txBox="1"/>
          <p:nvPr/>
        </p:nvSpPr>
        <p:spPr>
          <a:xfrm>
            <a:off x="6345936" y="1353312"/>
            <a:ext cx="1188720" cy="649224"/>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F5F5F"/>
                </a:solidFill>
                <a:latin typeface="Arial"/>
                <a:ea typeface="Arial"/>
                <a:cs typeface="Arial"/>
              </a:rPr>
              <a:t>O’Collins 2006; Sena 2010; Lees 2006; Shuaib 2007</a:t>
            </a:r>
          </a:p>
        </p:txBody>
      </p:sp>
      <p:cxnSp>
        <p:nvCxnSpPr>
          <p:cNvPr id="8" name="Connector 7"/>
          <p:cNvCxnSpPr/>
          <p:nvPr/>
        </p:nvCxnSpPr>
        <p:spPr>
          <a:xfrm>
            <a:off x="310896" y="2048255"/>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10896" y="2139696"/>
            <a:ext cx="1600200" cy="649224"/>
          </a:xfrm>
          <a:prstGeom prst="rect">
            <a:avLst/>
          </a:prstGeom>
          <a:noFill/>
        </p:spPr>
        <p:txBody>
          <a:bodyPr wrap="square" lIns="0" rIns="0" tIns="0" bIns="0" anchor="t">
            <a:noAutofit/>
          </a:bodyPr>
          <a:lstStyle/>
          <a:p>
            <a:pPr algn="l">
              <a:lnSpc>
                <a:spcPct val="100000"/>
              </a:lnSpc>
              <a:spcBef>
                <a:spcPts val="0"/>
              </a:spcBef>
              <a:spcAft>
                <a:spcPts val="0"/>
              </a:spcAft>
            </a:pPr>
            <a:r>
              <a:rPr sz="1250" b="1" i="0">
                <a:solidFill>
                  <a:srgbClr val="1F1F1F"/>
                </a:solidFill>
                <a:latin typeface="Arial"/>
                <a:ea typeface="Arial"/>
                <a:cs typeface="Arial"/>
              </a:rPr>
              <a:t>Tirofiban</a:t>
            </a:r>
          </a:p>
        </p:txBody>
      </p:sp>
      <p:sp>
        <p:nvSpPr>
          <p:cNvPr id="10" name="TextBox 9"/>
          <p:cNvSpPr txBox="1"/>
          <p:nvPr/>
        </p:nvSpPr>
        <p:spPr>
          <a:xfrm>
            <a:off x="2048255" y="2139696"/>
            <a:ext cx="4160520" cy="649224"/>
          </a:xfrm>
          <a:prstGeom prst="rect">
            <a:avLst/>
          </a:prstGeom>
          <a:noFill/>
        </p:spPr>
        <p:txBody>
          <a:bodyPr wrap="square" lIns="0" rIns="0" tIns="0" bIns="0" anchor="t">
            <a:noAutofit/>
          </a:bodyPr>
          <a:lstStyle/>
          <a:p>
            <a:pPr algn="l">
              <a:lnSpc>
                <a:spcPct val="100000"/>
              </a:lnSpc>
              <a:spcBef>
                <a:spcPts val="0"/>
              </a:spcBef>
              <a:spcAft>
                <a:spcPts val="0"/>
              </a:spcAft>
            </a:pPr>
            <a:r>
              <a:rPr sz="1250" b="0" i="0">
                <a:solidFill>
                  <a:srgbClr val="1F1F1F"/>
                </a:solidFill>
                <a:latin typeface="Arial"/>
                <a:ea typeface="Arial"/>
                <a:cs typeface="Arial"/>
              </a:rPr>
              <a:t>No benefit before thrombectomy in RESCUE BT (2022). Benefit without a large-vessel occlusion in RESCUE BT2 (2023). A different question, or a different answer?</a:t>
            </a:r>
          </a:p>
        </p:txBody>
      </p:sp>
      <p:sp>
        <p:nvSpPr>
          <p:cNvPr id="11" name="TextBox 10"/>
          <p:cNvSpPr txBox="1"/>
          <p:nvPr/>
        </p:nvSpPr>
        <p:spPr>
          <a:xfrm>
            <a:off x="6345936" y="2139696"/>
            <a:ext cx="1188720" cy="649224"/>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F5F5F"/>
                </a:solidFill>
                <a:latin typeface="Arial"/>
                <a:ea typeface="Arial"/>
                <a:cs typeface="Arial"/>
              </a:rPr>
              <a:t>Qiu 2022, JAMA; Zi 2023, NEJM</a:t>
            </a:r>
          </a:p>
        </p:txBody>
      </p:sp>
      <p:cxnSp>
        <p:nvCxnSpPr>
          <p:cNvPr id="12" name="Connector 11"/>
          <p:cNvCxnSpPr/>
          <p:nvPr/>
        </p:nvCxnSpPr>
        <p:spPr>
          <a:xfrm>
            <a:off x="310896" y="2834639"/>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10896" y="2926079"/>
            <a:ext cx="1600200" cy="594360"/>
          </a:xfrm>
          <a:prstGeom prst="rect">
            <a:avLst/>
          </a:prstGeom>
          <a:noFill/>
        </p:spPr>
        <p:txBody>
          <a:bodyPr wrap="square" lIns="0" rIns="0" tIns="0" bIns="0" anchor="t">
            <a:noAutofit/>
          </a:bodyPr>
          <a:lstStyle/>
          <a:p>
            <a:pPr algn="l">
              <a:lnSpc>
                <a:spcPct val="100000"/>
              </a:lnSpc>
              <a:spcBef>
                <a:spcPts val="0"/>
              </a:spcBef>
              <a:spcAft>
                <a:spcPts val="0"/>
              </a:spcAft>
            </a:pPr>
            <a:r>
              <a:rPr sz="1250" b="1" i="0">
                <a:solidFill>
                  <a:srgbClr val="1F1F1F"/>
                </a:solidFill>
                <a:latin typeface="Arial"/>
                <a:ea typeface="Arial"/>
                <a:cs typeface="Arial"/>
              </a:rPr>
              <a:t>Middle meningeal artery embolisation</a:t>
            </a:r>
          </a:p>
        </p:txBody>
      </p:sp>
      <p:sp>
        <p:nvSpPr>
          <p:cNvPr id="14" name="TextBox 13"/>
          <p:cNvSpPr txBox="1"/>
          <p:nvPr/>
        </p:nvSpPr>
        <p:spPr>
          <a:xfrm>
            <a:off x="2048255" y="2926079"/>
            <a:ext cx="4160520" cy="594360"/>
          </a:xfrm>
          <a:prstGeom prst="rect">
            <a:avLst/>
          </a:prstGeom>
          <a:noFill/>
        </p:spPr>
        <p:txBody>
          <a:bodyPr wrap="square" lIns="0" rIns="0" tIns="0" bIns="0" anchor="t">
            <a:noAutofit/>
          </a:bodyPr>
          <a:lstStyle/>
          <a:p>
            <a:pPr algn="l">
              <a:lnSpc>
                <a:spcPct val="100000"/>
              </a:lnSpc>
              <a:spcBef>
                <a:spcPts val="0"/>
              </a:spcBef>
              <a:spcAft>
                <a:spcPts val="0"/>
              </a:spcAft>
            </a:pPr>
            <a:r>
              <a:rPr sz="1250" b="0" i="0">
                <a:solidFill>
                  <a:srgbClr val="1F1F1F"/>
                </a:solidFill>
                <a:latin typeface="Arial"/>
                <a:ea typeface="Arial"/>
                <a:cs typeface="Arial"/>
              </a:rPr>
              <a:t>Three trials in one NEJM issue: EMBOLISE positive (recurrence 4% vs 11%), STEM positive, MAGIC-MT neutral (6.7% vs 9.9%).</a:t>
            </a:r>
          </a:p>
        </p:txBody>
      </p:sp>
      <p:sp>
        <p:nvSpPr>
          <p:cNvPr id="15" name="TextBox 14"/>
          <p:cNvSpPr txBox="1"/>
          <p:nvPr/>
        </p:nvSpPr>
        <p:spPr>
          <a:xfrm>
            <a:off x="6345936" y="2926079"/>
            <a:ext cx="1188720" cy="59436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F5F5F"/>
                </a:solidFill>
                <a:latin typeface="Arial"/>
                <a:ea typeface="Arial"/>
                <a:cs typeface="Arial"/>
              </a:rPr>
              <a:t>Davies, Fiorella, Liu 2024, NEJM</a:t>
            </a:r>
          </a:p>
        </p:txBody>
      </p:sp>
      <p:cxnSp>
        <p:nvCxnSpPr>
          <p:cNvPr id="16" name="Connector 15"/>
          <p:cNvCxnSpPr/>
          <p:nvPr/>
        </p:nvCxnSpPr>
        <p:spPr>
          <a:xfrm>
            <a:off x="310896" y="3566159"/>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0896" y="3931920"/>
            <a:ext cx="7223760" cy="640080"/>
          </a:xfrm>
          <a:prstGeom prst="rect">
            <a:avLst/>
          </a:prstGeom>
          <a:noFill/>
        </p:spPr>
        <p:txBody>
          <a:bodyPr wrap="square" lIns="0" rIns="0" tIns="0" bIns="0" anchor="t">
            <a:noAutofit/>
          </a:bodyPr>
          <a:lstStyle/>
          <a:p>
            <a:pPr algn="l">
              <a:lnSpc>
                <a:spcPct val="100000"/>
              </a:lnSpc>
              <a:spcBef>
                <a:spcPts val="0"/>
              </a:spcBef>
              <a:spcAft>
                <a:spcPts val="0"/>
              </a:spcAft>
            </a:pPr>
            <a:r>
              <a:rPr sz="1500" b="0" i="1">
                <a:solidFill>
                  <a:srgbClr val="1F1F1F"/>
                </a:solidFill>
                <a:latin typeface="Arial"/>
                <a:ea typeface="Arial"/>
                <a:cs typeface="Arial"/>
              </a:rPr>
              <a:t>Replication is how a field finds out which result to trust. Without the protocols, the data and the code, we are left arguing about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749808"/>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Four questions a field should be able to answer about its own literature</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04  </a:t>
            </a:r>
            <a:r>
              <a:rPr sz="1100" b="0" i="0">
                <a:solidFill>
                  <a:srgbClr val="5F5F5F"/>
                </a:solidFill>
                <a:latin typeface="Arial"/>
                <a:ea typeface="Arial"/>
                <a:cs typeface="Arial"/>
              </a:rPr>
              <a:t>What open science is made of</a:t>
            </a:r>
          </a:p>
        </p:txBody>
      </p:sp>
      <p:sp>
        <p:nvSpPr>
          <p:cNvPr id="4" name="Rectangle 3"/>
          <p:cNvSpPr/>
          <p:nvPr/>
        </p:nvSpPr>
        <p:spPr>
          <a:xfrm>
            <a:off x="310896" y="1261872"/>
            <a:ext cx="1805940" cy="20574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9768" y="1371600"/>
            <a:ext cx="1568196" cy="1874519"/>
          </a:xfrm>
          <a:prstGeom prst="rect">
            <a:avLst/>
          </a:prstGeom>
          <a:noFill/>
        </p:spPr>
        <p:txBody>
          <a:bodyPr wrap="square" lIns="0" rIns="0" tIns="0" bIns="0" anchor="t">
            <a:noAutofit/>
          </a:bodyPr>
          <a:lstStyle/>
          <a:p>
            <a:pPr algn="l">
              <a:lnSpc>
                <a:spcPct val="100000"/>
              </a:lnSpc>
              <a:spcBef>
                <a:spcPts val="0"/>
              </a:spcBef>
              <a:spcAft>
                <a:spcPts val="400"/>
              </a:spcAft>
            </a:pPr>
            <a:r>
              <a:rPr sz="1100" b="1" i="0">
                <a:solidFill>
                  <a:srgbClr val="D7263D"/>
                </a:solidFill>
                <a:latin typeface="Arial"/>
                <a:ea typeface="Arial"/>
                <a:cs typeface="Arial"/>
              </a:rPr>
              <a:t>Read it</a:t>
            </a:r>
          </a:p>
          <a:p>
            <a:pPr algn="l">
              <a:lnSpc>
                <a:spcPct val="100000"/>
              </a:lnSpc>
              <a:spcBef>
                <a:spcPts val="0"/>
              </a:spcBef>
              <a:spcAft>
                <a:spcPts val="600"/>
              </a:spcAft>
            </a:pPr>
            <a:r>
              <a:rPr sz="1500" b="1" i="0">
                <a:solidFill>
                  <a:srgbClr val="1F1F1F"/>
                </a:solidFill>
                <a:latin typeface="Arial"/>
                <a:ea typeface="Arial"/>
                <a:cs typeface="Arial"/>
              </a:rPr>
              <a:t>Can people read it?</a:t>
            </a:r>
          </a:p>
          <a:p>
            <a:pPr algn="l">
              <a:lnSpc>
                <a:spcPct val="100000"/>
              </a:lnSpc>
              <a:spcBef>
                <a:spcPts val="0"/>
              </a:spcBef>
              <a:spcAft>
                <a:spcPts val="600"/>
              </a:spcAft>
            </a:pPr>
            <a:r>
              <a:rPr sz="1200" b="0" i="0">
                <a:solidFill>
                  <a:srgbClr val="1F1F1F"/>
                </a:solidFill>
                <a:latin typeface="Arial"/>
                <a:ea typeface="Arial"/>
                <a:cs typeface="Arial"/>
              </a:rPr>
              <a:t>Open access, and by which route</a:t>
            </a:r>
          </a:p>
          <a:p>
            <a:pPr algn="l">
              <a:lnSpc>
                <a:spcPct val="100000"/>
              </a:lnSpc>
              <a:spcBef>
                <a:spcPts val="0"/>
              </a:spcBef>
              <a:spcAft>
                <a:spcPts val="0"/>
              </a:spcAft>
            </a:pPr>
            <a:r>
              <a:rPr sz="1100" b="0" i="0">
                <a:solidFill>
                  <a:srgbClr val="5F5F5F"/>
                </a:solidFill>
                <a:latin typeface="Arial"/>
                <a:ea typeface="Arial"/>
                <a:cs typeface="Arial"/>
              </a:rPr>
              <a:t>Diamond, gold, hybrid, green, bronze or closed</a:t>
            </a:r>
          </a:p>
        </p:txBody>
      </p:sp>
      <p:sp>
        <p:nvSpPr>
          <p:cNvPr id="6" name="Rectangle 5"/>
          <p:cNvSpPr/>
          <p:nvPr/>
        </p:nvSpPr>
        <p:spPr>
          <a:xfrm>
            <a:off x="2116836" y="1261872"/>
            <a:ext cx="1805940" cy="20574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35708" y="1371600"/>
            <a:ext cx="1568196" cy="1874519"/>
          </a:xfrm>
          <a:prstGeom prst="rect">
            <a:avLst/>
          </a:prstGeom>
          <a:noFill/>
        </p:spPr>
        <p:txBody>
          <a:bodyPr wrap="square" lIns="0" rIns="0" tIns="0" bIns="0" anchor="t">
            <a:noAutofit/>
          </a:bodyPr>
          <a:lstStyle/>
          <a:p>
            <a:pPr algn="l">
              <a:lnSpc>
                <a:spcPct val="100000"/>
              </a:lnSpc>
              <a:spcBef>
                <a:spcPts val="0"/>
              </a:spcBef>
              <a:spcAft>
                <a:spcPts val="400"/>
              </a:spcAft>
            </a:pPr>
            <a:r>
              <a:rPr sz="1100" b="1" i="0">
                <a:solidFill>
                  <a:srgbClr val="D7263D"/>
                </a:solidFill>
                <a:latin typeface="Arial"/>
                <a:ea typeface="Arial"/>
                <a:cs typeface="Arial"/>
              </a:rPr>
              <a:t>Check it</a:t>
            </a:r>
          </a:p>
          <a:p>
            <a:pPr algn="l">
              <a:lnSpc>
                <a:spcPct val="100000"/>
              </a:lnSpc>
              <a:spcBef>
                <a:spcPts val="0"/>
              </a:spcBef>
              <a:spcAft>
                <a:spcPts val="600"/>
              </a:spcAft>
            </a:pPr>
            <a:r>
              <a:rPr sz="1500" b="1" i="0">
                <a:solidFill>
                  <a:srgbClr val="1F1F1F"/>
                </a:solidFill>
                <a:latin typeface="Arial"/>
                <a:ea typeface="Arial"/>
                <a:cs typeface="Arial"/>
              </a:rPr>
              <a:t>Can they check it?</a:t>
            </a:r>
          </a:p>
          <a:p>
            <a:pPr algn="l">
              <a:lnSpc>
                <a:spcPct val="100000"/>
              </a:lnSpc>
              <a:spcBef>
                <a:spcPts val="0"/>
              </a:spcBef>
              <a:spcAft>
                <a:spcPts val="600"/>
              </a:spcAft>
            </a:pPr>
            <a:r>
              <a:rPr sz="1200" b="0" i="0">
                <a:solidFill>
                  <a:srgbClr val="1F1F1F"/>
                </a:solidFill>
                <a:latin typeface="Arial"/>
                <a:ea typeface="Arial"/>
                <a:cs typeface="Arial"/>
              </a:rPr>
              <a:t>Data and code that someone else can run</a:t>
            </a:r>
          </a:p>
          <a:p>
            <a:pPr algn="l">
              <a:lnSpc>
                <a:spcPct val="100000"/>
              </a:lnSpc>
              <a:spcBef>
                <a:spcPts val="0"/>
              </a:spcBef>
              <a:spcAft>
                <a:spcPts val="0"/>
              </a:spcAft>
            </a:pPr>
            <a:r>
              <a:rPr sz="1100" b="0" i="0">
                <a:solidFill>
                  <a:srgbClr val="5F5F5F"/>
                </a:solidFill>
                <a:latin typeface="Arial"/>
                <a:ea typeface="Arial"/>
                <a:cs typeface="Arial"/>
              </a:rPr>
              <a:t>Repository links, GitHub, data-availability statements</a:t>
            </a:r>
          </a:p>
        </p:txBody>
      </p:sp>
      <p:sp>
        <p:nvSpPr>
          <p:cNvPr id="8" name="Rectangle 7"/>
          <p:cNvSpPr/>
          <p:nvPr/>
        </p:nvSpPr>
        <p:spPr>
          <a:xfrm>
            <a:off x="3922776" y="1261872"/>
            <a:ext cx="1805940" cy="20574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41648" y="1371600"/>
            <a:ext cx="1568196" cy="1874519"/>
          </a:xfrm>
          <a:prstGeom prst="rect">
            <a:avLst/>
          </a:prstGeom>
          <a:noFill/>
        </p:spPr>
        <p:txBody>
          <a:bodyPr wrap="square" lIns="0" rIns="0" tIns="0" bIns="0" anchor="t">
            <a:noAutofit/>
          </a:bodyPr>
          <a:lstStyle/>
          <a:p>
            <a:pPr algn="l">
              <a:lnSpc>
                <a:spcPct val="100000"/>
              </a:lnSpc>
              <a:spcBef>
                <a:spcPts val="0"/>
              </a:spcBef>
              <a:spcAft>
                <a:spcPts val="400"/>
              </a:spcAft>
            </a:pPr>
            <a:r>
              <a:rPr sz="1100" b="1" i="0">
                <a:solidFill>
                  <a:srgbClr val="D7263D"/>
                </a:solidFill>
                <a:latin typeface="Arial"/>
                <a:ea typeface="Arial"/>
                <a:cs typeface="Arial"/>
              </a:rPr>
              <a:t>Reuse it</a:t>
            </a:r>
          </a:p>
          <a:p>
            <a:pPr algn="l">
              <a:lnSpc>
                <a:spcPct val="100000"/>
              </a:lnSpc>
              <a:spcBef>
                <a:spcPts val="0"/>
              </a:spcBef>
              <a:spcAft>
                <a:spcPts val="600"/>
              </a:spcAft>
            </a:pPr>
            <a:r>
              <a:rPr sz="1500" b="1" i="0">
                <a:solidFill>
                  <a:srgbClr val="1F1F1F"/>
                </a:solidFill>
                <a:latin typeface="Arial"/>
                <a:ea typeface="Arial"/>
                <a:cs typeface="Arial"/>
              </a:rPr>
              <a:t>Can they reuse it?</a:t>
            </a:r>
          </a:p>
          <a:p>
            <a:pPr algn="l">
              <a:lnSpc>
                <a:spcPct val="100000"/>
              </a:lnSpc>
              <a:spcBef>
                <a:spcPts val="0"/>
              </a:spcBef>
              <a:spcAft>
                <a:spcPts val="600"/>
              </a:spcAft>
            </a:pPr>
            <a:r>
              <a:rPr sz="1200" b="0" i="0">
                <a:solidFill>
                  <a:srgbClr val="1F1F1F"/>
                </a:solidFill>
                <a:latin typeface="Arial"/>
                <a:ea typeface="Arial"/>
                <a:cs typeface="Arial"/>
              </a:rPr>
              <a:t>Deposited, not promised on request</a:t>
            </a:r>
          </a:p>
          <a:p>
            <a:pPr algn="l">
              <a:lnSpc>
                <a:spcPct val="100000"/>
              </a:lnSpc>
              <a:spcBef>
                <a:spcPts val="0"/>
              </a:spcBef>
              <a:spcAft>
                <a:spcPts val="0"/>
              </a:spcAft>
            </a:pPr>
            <a:r>
              <a:rPr sz="1100" b="0" i="0">
                <a:solidFill>
                  <a:srgbClr val="5F5F5F"/>
                </a:solidFill>
                <a:latin typeface="Arial"/>
                <a:ea typeface="Arial"/>
                <a:cs typeface="Arial"/>
              </a:rPr>
              <a:t>A repository or a controlled-access platform</a:t>
            </a:r>
          </a:p>
        </p:txBody>
      </p:sp>
      <p:sp>
        <p:nvSpPr>
          <p:cNvPr id="10" name="Rectangle 9"/>
          <p:cNvSpPr/>
          <p:nvPr/>
        </p:nvSpPr>
        <p:spPr>
          <a:xfrm>
            <a:off x="5728716" y="1261872"/>
            <a:ext cx="1805940" cy="205740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7588" y="1371600"/>
            <a:ext cx="1568196" cy="1874519"/>
          </a:xfrm>
          <a:prstGeom prst="rect">
            <a:avLst/>
          </a:prstGeom>
          <a:noFill/>
        </p:spPr>
        <p:txBody>
          <a:bodyPr wrap="square" lIns="0" rIns="0" tIns="0" bIns="0" anchor="t">
            <a:noAutofit/>
          </a:bodyPr>
          <a:lstStyle/>
          <a:p>
            <a:pPr algn="l">
              <a:lnSpc>
                <a:spcPct val="100000"/>
              </a:lnSpc>
              <a:spcBef>
                <a:spcPts val="0"/>
              </a:spcBef>
              <a:spcAft>
                <a:spcPts val="400"/>
              </a:spcAft>
            </a:pPr>
            <a:r>
              <a:rPr sz="1100" b="1" i="0">
                <a:solidFill>
                  <a:srgbClr val="D7263D"/>
                </a:solidFill>
                <a:latin typeface="Arial"/>
                <a:ea typeface="Arial"/>
                <a:cs typeface="Arial"/>
              </a:rPr>
              <a:t>Plan it</a:t>
            </a:r>
          </a:p>
          <a:p>
            <a:pPr algn="l">
              <a:lnSpc>
                <a:spcPct val="100000"/>
              </a:lnSpc>
              <a:spcBef>
                <a:spcPts val="0"/>
              </a:spcBef>
              <a:spcAft>
                <a:spcPts val="600"/>
              </a:spcAft>
            </a:pPr>
            <a:r>
              <a:rPr sz="1500" b="1" i="0">
                <a:solidFill>
                  <a:srgbClr val="1F1F1F"/>
                </a:solidFill>
                <a:latin typeface="Arial"/>
                <a:ea typeface="Arial"/>
                <a:cs typeface="Arial"/>
              </a:rPr>
              <a:t>Was it planned in advance?</a:t>
            </a:r>
          </a:p>
          <a:p>
            <a:pPr algn="l">
              <a:lnSpc>
                <a:spcPct val="100000"/>
              </a:lnSpc>
              <a:spcBef>
                <a:spcPts val="0"/>
              </a:spcBef>
              <a:spcAft>
                <a:spcPts val="600"/>
              </a:spcAft>
            </a:pPr>
            <a:r>
              <a:rPr sz="1200" b="0" i="0">
                <a:solidFill>
                  <a:srgbClr val="1F1F1F"/>
                </a:solidFill>
                <a:latin typeface="Arial"/>
                <a:ea typeface="Arial"/>
                <a:cs typeface="Arial"/>
              </a:rPr>
              <a:t>Registration and preregistration</a:t>
            </a:r>
          </a:p>
          <a:p>
            <a:pPr algn="l">
              <a:lnSpc>
                <a:spcPct val="100000"/>
              </a:lnSpc>
              <a:spcBef>
                <a:spcPts val="0"/>
              </a:spcBef>
              <a:spcAft>
                <a:spcPts val="0"/>
              </a:spcAft>
            </a:pPr>
            <a:r>
              <a:rPr sz="1100" b="0" i="0">
                <a:solidFill>
                  <a:srgbClr val="5F5F5F"/>
                </a:solidFill>
                <a:latin typeface="Arial"/>
                <a:ea typeface="Arial"/>
                <a:cs typeface="Arial"/>
              </a:rPr>
              <a:t>Trial registries, PROSPERO, Registered Reports</a:t>
            </a:r>
          </a:p>
        </p:txBody>
      </p:sp>
      <p:sp>
        <p:nvSpPr>
          <p:cNvPr id="12" name="Rectangle 11"/>
          <p:cNvSpPr/>
          <p:nvPr/>
        </p:nvSpPr>
        <p:spPr>
          <a:xfrm>
            <a:off x="310896" y="3611880"/>
            <a:ext cx="45720" cy="566928"/>
          </a:xfrm>
          <a:prstGeom prst="rect">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 y="3611880"/>
            <a:ext cx="7040880" cy="566928"/>
          </a:xfrm>
          <a:prstGeom prst="rect">
            <a:avLst/>
          </a:prstGeom>
          <a:noFill/>
        </p:spPr>
        <p:txBody>
          <a:bodyPr wrap="square" lIns="0" rIns="0" tIns="0" bIns="0" anchor="ctr">
            <a:noAutofit/>
          </a:bodyPr>
          <a:lstStyle/>
          <a:p>
            <a:pPr algn="l">
              <a:lnSpc>
                <a:spcPct val="100000"/>
              </a:lnSpc>
              <a:spcBef>
                <a:spcPts val="0"/>
              </a:spcBef>
              <a:spcAft>
                <a:spcPts val="0"/>
              </a:spcAft>
            </a:pPr>
            <a:r>
              <a:rPr sz="1350" b="0" i="0">
                <a:solidFill>
                  <a:srgbClr val="1F1F1F"/>
                </a:solidFill>
                <a:latin typeface="Arial"/>
                <a:ea typeface="Arial"/>
                <a:cs typeface="Arial"/>
              </a:rPr>
              <a:t>Reproducibility audits exist for neurology, cardiology and general medicine. </a:t>
            </a:r>
            <a:r>
              <a:rPr sz="1350" b="1" i="0">
                <a:solidFill>
                  <a:srgbClr val="1F1F1F"/>
                </a:solidFill>
                <a:latin typeface="Arial"/>
                <a:ea typeface="Arial"/>
                <a:cs typeface="Arial"/>
              </a:rPr>
              <a:t>None existed for stroke.</a:t>
            </a:r>
            <a:r>
              <a:rPr sz="1050" b="0" i="0">
                <a:solidFill>
                  <a:srgbClr val="5F5F5F"/>
                </a:solidFill>
                <a:latin typeface="Arial"/>
                <a:ea typeface="Arial"/>
                <a:cs typeface="Arial"/>
              </a:rPr>
              <a:t>  Rauh 2020; Heckerman 2025; Scutt 2020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749808"/>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A living pipeline measures the stroke literature every six months</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05  </a:t>
            </a:r>
            <a:r>
              <a:rPr sz="1100" b="0" i="0">
                <a:solidFill>
                  <a:srgbClr val="5F5F5F"/>
                </a:solidFill>
                <a:latin typeface="Arial"/>
                <a:ea typeface="Arial"/>
                <a:cs typeface="Arial"/>
              </a:rPr>
              <a:t>How we measured</a:t>
            </a:r>
          </a:p>
        </p:txBody>
      </p:sp>
      <p:cxnSp>
        <p:nvCxnSpPr>
          <p:cNvPr id="4" name="Connector 3"/>
          <p:cNvCxnSpPr/>
          <p:nvPr/>
        </p:nvCxnSpPr>
        <p:spPr>
          <a:xfrm>
            <a:off x="310896" y="1188720"/>
            <a:ext cx="434340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10896" y="1252728"/>
            <a:ext cx="868680" cy="36576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Retrieve</a:t>
            </a:r>
          </a:p>
        </p:txBody>
      </p:sp>
      <p:sp>
        <p:nvSpPr>
          <p:cNvPr id="6" name="TextBox 5"/>
          <p:cNvSpPr txBox="1"/>
          <p:nvPr/>
        </p:nvSpPr>
        <p:spPr>
          <a:xfrm>
            <a:off x="1225296" y="1252728"/>
            <a:ext cx="342900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OpenAlex, 2015 onward; stroke plus neurology, neuroscience, cardiology</a:t>
            </a:r>
          </a:p>
        </p:txBody>
      </p:sp>
      <p:cxnSp>
        <p:nvCxnSpPr>
          <p:cNvPr id="7" name="Connector 6"/>
          <p:cNvCxnSpPr/>
          <p:nvPr/>
        </p:nvCxnSpPr>
        <p:spPr>
          <a:xfrm>
            <a:off x="310896" y="1645920"/>
            <a:ext cx="434340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10896" y="1709928"/>
            <a:ext cx="868680" cy="36576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Clean</a:t>
            </a:r>
          </a:p>
        </p:txBody>
      </p:sp>
      <p:sp>
        <p:nvSpPr>
          <p:cNvPr id="9" name="TextBox 8"/>
          <p:cNvSpPr txBox="1"/>
          <p:nvPr/>
        </p:nvSpPr>
        <p:spPr>
          <a:xfrm>
            <a:off x="1225296" y="1709928"/>
            <a:ext cx="342900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Journal articles and reviews with a DOI; datasets, preprints, errata and chapters out</a:t>
            </a:r>
          </a:p>
        </p:txBody>
      </p:sp>
      <p:cxnSp>
        <p:nvCxnSpPr>
          <p:cNvPr id="10" name="Connector 9"/>
          <p:cNvCxnSpPr/>
          <p:nvPr/>
        </p:nvCxnSpPr>
        <p:spPr>
          <a:xfrm>
            <a:off x="310896" y="2103120"/>
            <a:ext cx="434340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10896" y="2167127"/>
            <a:ext cx="868680" cy="36576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Detect</a:t>
            </a:r>
          </a:p>
        </p:txBody>
      </p:sp>
      <p:sp>
        <p:nvSpPr>
          <p:cNvPr id="12" name="TextBox 11"/>
          <p:cNvSpPr txBox="1"/>
          <p:nvPr/>
        </p:nvSpPr>
        <p:spPr>
          <a:xfrm>
            <a:off x="1225296" y="2167127"/>
            <a:ext cx="342900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Open-access status, repository links, preprint versions, registration identifiers</a:t>
            </a:r>
          </a:p>
        </p:txBody>
      </p:sp>
      <p:cxnSp>
        <p:nvCxnSpPr>
          <p:cNvPr id="13" name="Connector 12"/>
          <p:cNvCxnSpPr/>
          <p:nvPr/>
        </p:nvCxnSpPr>
        <p:spPr>
          <a:xfrm>
            <a:off x="310896" y="2560320"/>
            <a:ext cx="434340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10896" y="2624327"/>
            <a:ext cx="868680" cy="36576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Read</a:t>
            </a:r>
          </a:p>
        </p:txBody>
      </p:sp>
      <p:sp>
        <p:nvSpPr>
          <p:cNvPr id="15" name="TextBox 14"/>
          <p:cNvSpPr txBox="1"/>
          <p:nvPr/>
        </p:nvSpPr>
        <p:spPr>
          <a:xfrm>
            <a:off x="1225296" y="2624327"/>
            <a:ext cx="342900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Data-availability statements in up to 1,500 open-access full texts per year, via Europe PMC</a:t>
            </a:r>
          </a:p>
        </p:txBody>
      </p:sp>
      <p:cxnSp>
        <p:nvCxnSpPr>
          <p:cNvPr id="16" name="Connector 15"/>
          <p:cNvCxnSpPr/>
          <p:nvPr/>
        </p:nvCxnSpPr>
        <p:spPr>
          <a:xfrm>
            <a:off x="310896" y="3017520"/>
            <a:ext cx="434340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0896" y="3081527"/>
            <a:ext cx="868680" cy="365760"/>
          </a:xfrm>
          <a:prstGeom prst="rect">
            <a:avLst/>
          </a:prstGeom>
          <a:noFill/>
        </p:spPr>
        <p:txBody>
          <a:bodyPr wrap="square" lIns="0" rIns="0" tIns="0" bIns="0" anchor="t">
            <a:noAutofit/>
          </a:bodyPr>
          <a:lstStyle/>
          <a:p>
            <a:pPr algn="l">
              <a:lnSpc>
                <a:spcPct val="100000"/>
              </a:lnSpc>
              <a:spcBef>
                <a:spcPts val="0"/>
              </a:spcBef>
              <a:spcAft>
                <a:spcPts val="0"/>
              </a:spcAft>
            </a:pPr>
            <a:r>
              <a:rPr sz="1200" b="1" i="0">
                <a:solidFill>
                  <a:srgbClr val="1F1F1F"/>
                </a:solidFill>
                <a:latin typeface="Arial"/>
                <a:ea typeface="Arial"/>
                <a:cs typeface="Arial"/>
              </a:rPr>
              <a:t>Publish</a:t>
            </a:r>
          </a:p>
        </p:txBody>
      </p:sp>
      <p:sp>
        <p:nvSpPr>
          <p:cNvPr id="18" name="TextBox 17"/>
          <p:cNvSpPr txBox="1"/>
          <p:nvPr/>
        </p:nvSpPr>
        <p:spPr>
          <a:xfrm>
            <a:off x="1225296" y="3081527"/>
            <a:ext cx="3429000" cy="38404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Open code, open data, public dashboard; re-run every six months</a:t>
            </a:r>
          </a:p>
        </p:txBody>
      </p:sp>
      <p:sp>
        <p:nvSpPr>
          <p:cNvPr id="19" name="TextBox 18"/>
          <p:cNvSpPr txBox="1"/>
          <p:nvPr/>
        </p:nvSpPr>
        <p:spPr>
          <a:xfrm>
            <a:off x="310896" y="3611880"/>
            <a:ext cx="1417320" cy="731520"/>
          </a:xfrm>
          <a:prstGeom prst="rect">
            <a:avLst/>
          </a:prstGeom>
          <a:noFill/>
        </p:spPr>
        <p:txBody>
          <a:bodyPr wrap="square" lIns="0" rIns="0" tIns="0" bIns="0" anchor="t">
            <a:noAutofit/>
          </a:bodyPr>
          <a:lstStyle/>
          <a:p>
            <a:pPr algn="l">
              <a:lnSpc>
                <a:spcPct val="100000"/>
              </a:lnSpc>
              <a:spcBef>
                <a:spcPts val="0"/>
              </a:spcBef>
              <a:spcAft>
                <a:spcPts val="0"/>
              </a:spcAft>
            </a:pPr>
            <a:r>
              <a:rPr sz="2400" b="1" i="0">
                <a:solidFill>
                  <a:srgbClr val="1F1F1F"/>
                </a:solidFill>
                <a:latin typeface="Arial"/>
                <a:ea typeface="Arial"/>
                <a:cs typeface="Arial"/>
              </a:rPr>
              <a:t>140,281</a:t>
            </a:r>
          </a:p>
          <a:p>
            <a:pPr algn="l">
              <a:lnSpc>
                <a:spcPct val="100000"/>
              </a:lnSpc>
              <a:spcBef>
                <a:spcPts val="0"/>
              </a:spcBef>
              <a:spcAft>
                <a:spcPts val="0"/>
              </a:spcAft>
            </a:pPr>
            <a:r>
              <a:rPr sz="1050" b="0" i="0">
                <a:solidFill>
                  <a:srgbClr val="5F5F5F"/>
                </a:solidFill>
                <a:latin typeface="Arial"/>
                <a:ea typeface="Arial"/>
                <a:cs typeface="Arial"/>
              </a:rPr>
              <a:t>stroke articles and reviews</a:t>
            </a:r>
          </a:p>
        </p:txBody>
      </p:sp>
      <p:sp>
        <p:nvSpPr>
          <p:cNvPr id="20" name="TextBox 19"/>
          <p:cNvSpPr txBox="1"/>
          <p:nvPr/>
        </p:nvSpPr>
        <p:spPr>
          <a:xfrm>
            <a:off x="1773936" y="3611880"/>
            <a:ext cx="1417320" cy="731520"/>
          </a:xfrm>
          <a:prstGeom prst="rect">
            <a:avLst/>
          </a:prstGeom>
          <a:noFill/>
        </p:spPr>
        <p:txBody>
          <a:bodyPr wrap="square" lIns="0" rIns="0" tIns="0" bIns="0" anchor="t">
            <a:noAutofit/>
          </a:bodyPr>
          <a:lstStyle/>
          <a:p>
            <a:pPr algn="l">
              <a:lnSpc>
                <a:spcPct val="100000"/>
              </a:lnSpc>
              <a:spcBef>
                <a:spcPts val="0"/>
              </a:spcBef>
              <a:spcAft>
                <a:spcPts val="0"/>
              </a:spcAft>
            </a:pPr>
            <a:r>
              <a:rPr sz="2400" b="1" i="0">
                <a:solidFill>
                  <a:srgbClr val="1F1F1F"/>
                </a:solidFill>
                <a:latin typeface="Arial"/>
                <a:ea typeface="Arial"/>
                <a:cs typeface="Arial"/>
              </a:rPr>
              <a:t>16,362</a:t>
            </a:r>
          </a:p>
          <a:p>
            <a:pPr algn="l">
              <a:lnSpc>
                <a:spcPct val="100000"/>
              </a:lnSpc>
              <a:spcBef>
                <a:spcPts val="0"/>
              </a:spcBef>
              <a:spcAft>
                <a:spcPts val="0"/>
              </a:spcAft>
            </a:pPr>
            <a:r>
              <a:rPr sz="1050" b="0" i="0">
                <a:solidFill>
                  <a:srgbClr val="5F5F5F"/>
                </a:solidFill>
                <a:latin typeface="Arial"/>
                <a:ea typeface="Arial"/>
                <a:cs typeface="Arial"/>
              </a:rPr>
              <a:t>stroke full texts read</a:t>
            </a:r>
          </a:p>
        </p:txBody>
      </p:sp>
      <p:sp>
        <p:nvSpPr>
          <p:cNvPr id="21" name="TextBox 20"/>
          <p:cNvSpPr txBox="1"/>
          <p:nvPr/>
        </p:nvSpPr>
        <p:spPr>
          <a:xfrm>
            <a:off x="3236976" y="3611880"/>
            <a:ext cx="1417320" cy="731520"/>
          </a:xfrm>
          <a:prstGeom prst="rect">
            <a:avLst/>
          </a:prstGeom>
          <a:noFill/>
        </p:spPr>
        <p:txBody>
          <a:bodyPr wrap="square" lIns="0" rIns="0" tIns="0" bIns="0" anchor="t">
            <a:noAutofit/>
          </a:bodyPr>
          <a:lstStyle/>
          <a:p>
            <a:pPr algn="l">
              <a:lnSpc>
                <a:spcPct val="100000"/>
              </a:lnSpc>
              <a:spcBef>
                <a:spcPts val="0"/>
              </a:spcBef>
              <a:spcAft>
                <a:spcPts val="0"/>
              </a:spcAft>
            </a:pPr>
            <a:r>
              <a:rPr sz="2400" b="1" i="0">
                <a:solidFill>
                  <a:srgbClr val="1F1F1F"/>
                </a:solidFill>
                <a:latin typeface="Arial"/>
                <a:ea typeface="Arial"/>
                <a:cs typeface="Arial"/>
              </a:rPr>
              <a:t>4</a:t>
            </a:r>
          </a:p>
          <a:p>
            <a:pPr algn="l">
              <a:lnSpc>
                <a:spcPct val="100000"/>
              </a:lnSpc>
              <a:spcBef>
                <a:spcPts val="0"/>
              </a:spcBef>
              <a:spcAft>
                <a:spcPts val="0"/>
              </a:spcAft>
            </a:pPr>
            <a:r>
              <a:rPr sz="1050" b="0" i="0">
                <a:solidFill>
                  <a:srgbClr val="5F5F5F"/>
                </a:solidFill>
                <a:latin typeface="Arial"/>
                <a:ea typeface="Arial"/>
                <a:cs typeface="Arial"/>
              </a:rPr>
              <a:t>fields, 2015 to 2025</a:t>
            </a:r>
          </a:p>
        </p:txBody>
      </p:sp>
      <p:pic>
        <p:nvPicPr>
          <p:cNvPr id="22" name="Picture 21" descr="matrix.jpg"/>
          <p:cNvPicPr>
            <a:picLocks noChangeAspect="1"/>
          </p:cNvPicPr>
          <p:nvPr/>
        </p:nvPicPr>
        <p:blipFill>
          <a:blip r:embed="rId3"/>
          <a:stretch>
            <a:fillRect/>
          </a:stretch>
        </p:blipFill>
        <p:spPr>
          <a:xfrm>
            <a:off x="4846320" y="1143000"/>
            <a:ext cx="2688335" cy="3371020"/>
          </a:xfrm>
          <a:prstGeom prst="rect">
            <a:avLst/>
          </a:prstGeom>
        </p:spPr>
      </p:pic>
      <p:sp>
        <p:nvSpPr>
          <p:cNvPr id="23" name="TextBox 22"/>
          <p:cNvSpPr txBox="1"/>
          <p:nvPr/>
        </p:nvSpPr>
        <p:spPr>
          <a:xfrm>
            <a:off x="310896" y="4626864"/>
            <a:ext cx="7040880" cy="329184"/>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friseeb.github.io/stroke_open_science_outputs · Abstract and metadata signals are lower bounds; the full-text audit narrows the gap for data sharing.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Stroke went open access: 53% in 2015, 75% in 2024</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06  </a:t>
            </a:r>
            <a:r>
              <a:rPr sz="1100" b="0" i="0">
                <a:solidFill>
                  <a:srgbClr val="5F5F5F"/>
                </a:solidFill>
                <a:latin typeface="Arial"/>
                <a:ea typeface="Arial"/>
                <a:cs typeface="Arial"/>
              </a:rPr>
              <a:t>Finding 1</a:t>
            </a:r>
          </a:p>
        </p:txBody>
      </p:sp>
      <p:pic>
        <p:nvPicPr>
          <p:cNvPr id="4" name="Picture 3" descr="trend_oa.jpg"/>
          <p:cNvPicPr>
            <a:picLocks noChangeAspect="1"/>
          </p:cNvPicPr>
          <p:nvPr/>
        </p:nvPicPr>
        <p:blipFill>
          <a:blip r:embed="rId3"/>
          <a:stretch>
            <a:fillRect/>
          </a:stretch>
        </p:blipFill>
        <p:spPr>
          <a:xfrm>
            <a:off x="310896" y="987552"/>
            <a:ext cx="7223760" cy="2742771"/>
          </a:xfrm>
          <a:prstGeom prst="rect">
            <a:avLst/>
          </a:prstGeom>
        </p:spPr>
      </p:pic>
      <p:sp>
        <p:nvSpPr>
          <p:cNvPr id="5" name="TextBox 4"/>
          <p:cNvSpPr txBox="1"/>
          <p:nvPr/>
        </p:nvSpPr>
        <p:spPr>
          <a:xfrm>
            <a:off x="310896" y="4626864"/>
            <a:ext cx="7040880" cy="329184"/>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Open access = any OpenAlex status other than closed. Stroke 66% over the decade; cardiology 70%, neurology 62%, neuroscience 65% (its title term “neural” also catches machine-learning papers). 2025 is incomplete.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The growth in open access was paid for, not deposited</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07  </a:t>
            </a:r>
            <a:r>
              <a:rPr sz="1100" b="0" i="0">
                <a:solidFill>
                  <a:srgbClr val="5F5F5F"/>
                </a:solidFill>
                <a:latin typeface="Arial"/>
                <a:ea typeface="Arial"/>
                <a:cs typeface="Arial"/>
              </a:rPr>
              <a:t>Finding 2</a:t>
            </a:r>
          </a:p>
        </p:txBody>
      </p:sp>
      <p:pic>
        <p:nvPicPr>
          <p:cNvPr id="4" name="Picture 3" descr="oa_status.jpg"/>
          <p:cNvPicPr>
            <a:picLocks noChangeAspect="1"/>
          </p:cNvPicPr>
          <p:nvPr/>
        </p:nvPicPr>
        <p:blipFill>
          <a:blip r:embed="rId3"/>
          <a:stretch>
            <a:fillRect/>
          </a:stretch>
        </p:blipFill>
        <p:spPr>
          <a:xfrm>
            <a:off x="310896" y="987552"/>
            <a:ext cx="4160520" cy="2707005"/>
          </a:xfrm>
          <a:prstGeom prst="rect">
            <a:avLst/>
          </a:prstGeom>
        </p:spPr>
      </p:pic>
      <p:sp>
        <p:nvSpPr>
          <p:cNvPr id="5" name="TextBox 4"/>
          <p:cNvSpPr txBox="1"/>
          <p:nvPr/>
        </p:nvSpPr>
        <p:spPr>
          <a:xfrm>
            <a:off x="4617720" y="1051560"/>
            <a:ext cx="2459736" cy="228600"/>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5F5F5F"/>
                </a:solidFill>
                <a:latin typeface="Arial"/>
                <a:ea typeface="Arial"/>
                <a:cs typeface="Arial"/>
              </a:rPr>
              <a:t>Route, 2015 to 2025</a:t>
            </a:r>
          </a:p>
        </p:txBody>
      </p:sp>
      <p:sp>
        <p:nvSpPr>
          <p:cNvPr id="6" name="TextBox 5"/>
          <p:cNvSpPr txBox="1"/>
          <p:nvPr/>
        </p:nvSpPr>
        <p:spPr>
          <a:xfrm>
            <a:off x="7077456" y="1051560"/>
            <a:ext cx="457200" cy="228600"/>
          </a:xfrm>
          <a:prstGeom prst="rect">
            <a:avLst/>
          </a:prstGeom>
          <a:noFill/>
        </p:spPr>
        <p:txBody>
          <a:bodyPr wrap="square" lIns="0" rIns="0" tIns="0" bIns="0" anchor="t">
            <a:noAutofit/>
          </a:bodyPr>
          <a:lstStyle/>
          <a:p>
            <a:pPr algn="r">
              <a:lnSpc>
                <a:spcPct val="100000"/>
              </a:lnSpc>
              <a:spcBef>
                <a:spcPts val="0"/>
              </a:spcBef>
              <a:spcAft>
                <a:spcPts val="0"/>
              </a:spcAft>
            </a:pPr>
            <a:r>
              <a:rPr sz="1100" b="1" i="0">
                <a:solidFill>
                  <a:srgbClr val="5F5F5F"/>
                </a:solidFill>
                <a:latin typeface="Arial"/>
                <a:ea typeface="Arial"/>
                <a:cs typeface="Arial"/>
              </a:rPr>
              <a:t>Share</a:t>
            </a:r>
          </a:p>
        </p:txBody>
      </p:sp>
      <p:cxnSp>
        <p:nvCxnSpPr>
          <p:cNvPr id="7" name="Connector 6"/>
          <p:cNvCxnSpPr/>
          <p:nvPr/>
        </p:nvCxnSpPr>
        <p:spPr>
          <a:xfrm>
            <a:off x="4617720" y="1298448"/>
            <a:ext cx="2916936" cy="0"/>
          </a:xfrm>
          <a:prstGeom prst="line">
            <a:avLst/>
          </a:prstGeom>
          <a:ln w="12700">
            <a:solidFill>
              <a:srgbClr val="1F1F1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617720" y="1353312"/>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Gold, paid journal</a:t>
            </a:r>
          </a:p>
        </p:txBody>
      </p:sp>
      <p:sp>
        <p:nvSpPr>
          <p:cNvPr id="9" name="TextBox 8"/>
          <p:cNvSpPr txBox="1"/>
          <p:nvPr/>
        </p:nvSpPr>
        <p:spPr>
          <a:xfrm>
            <a:off x="7077456" y="1353312"/>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25%</a:t>
            </a:r>
          </a:p>
        </p:txBody>
      </p:sp>
      <p:sp>
        <p:nvSpPr>
          <p:cNvPr id="10" name="TextBox 9"/>
          <p:cNvSpPr txBox="1"/>
          <p:nvPr/>
        </p:nvSpPr>
        <p:spPr>
          <a:xfrm>
            <a:off x="4617720" y="1618488"/>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Diamond, free journal</a:t>
            </a:r>
          </a:p>
        </p:txBody>
      </p:sp>
      <p:sp>
        <p:nvSpPr>
          <p:cNvPr id="11" name="TextBox 10"/>
          <p:cNvSpPr txBox="1"/>
          <p:nvPr/>
        </p:nvSpPr>
        <p:spPr>
          <a:xfrm>
            <a:off x="7077456" y="1618488"/>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16%</a:t>
            </a:r>
          </a:p>
        </p:txBody>
      </p:sp>
      <p:sp>
        <p:nvSpPr>
          <p:cNvPr id="12" name="TextBox 11"/>
          <p:cNvSpPr txBox="1"/>
          <p:nvPr/>
        </p:nvSpPr>
        <p:spPr>
          <a:xfrm>
            <a:off x="4617720" y="1883664"/>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Hybrid, paid in a subscription journal</a:t>
            </a:r>
          </a:p>
        </p:txBody>
      </p:sp>
      <p:sp>
        <p:nvSpPr>
          <p:cNvPr id="13" name="TextBox 12"/>
          <p:cNvSpPr txBox="1"/>
          <p:nvPr/>
        </p:nvSpPr>
        <p:spPr>
          <a:xfrm>
            <a:off x="7077456" y="1883664"/>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10%</a:t>
            </a:r>
          </a:p>
        </p:txBody>
      </p:sp>
      <p:sp>
        <p:nvSpPr>
          <p:cNvPr id="14" name="TextBox 13"/>
          <p:cNvSpPr txBox="1"/>
          <p:nvPr/>
        </p:nvSpPr>
        <p:spPr>
          <a:xfrm>
            <a:off x="4617720" y="2148840"/>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Bronze, free to read, no licence</a:t>
            </a:r>
          </a:p>
        </p:txBody>
      </p:sp>
      <p:sp>
        <p:nvSpPr>
          <p:cNvPr id="15" name="TextBox 14"/>
          <p:cNvSpPr txBox="1"/>
          <p:nvPr/>
        </p:nvSpPr>
        <p:spPr>
          <a:xfrm>
            <a:off x="7077456" y="2148840"/>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10%</a:t>
            </a:r>
          </a:p>
        </p:txBody>
      </p:sp>
      <p:sp>
        <p:nvSpPr>
          <p:cNvPr id="16" name="TextBox 15"/>
          <p:cNvSpPr txBox="1"/>
          <p:nvPr/>
        </p:nvSpPr>
        <p:spPr>
          <a:xfrm>
            <a:off x="4617720" y="2414016"/>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Green, repository copy</a:t>
            </a:r>
          </a:p>
        </p:txBody>
      </p:sp>
      <p:sp>
        <p:nvSpPr>
          <p:cNvPr id="17" name="TextBox 16"/>
          <p:cNvSpPr txBox="1"/>
          <p:nvPr/>
        </p:nvSpPr>
        <p:spPr>
          <a:xfrm>
            <a:off x="7077456" y="2414016"/>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6%</a:t>
            </a:r>
          </a:p>
        </p:txBody>
      </p:sp>
      <p:sp>
        <p:nvSpPr>
          <p:cNvPr id="18" name="TextBox 17"/>
          <p:cNvSpPr txBox="1"/>
          <p:nvPr/>
        </p:nvSpPr>
        <p:spPr>
          <a:xfrm>
            <a:off x="4617720" y="2679192"/>
            <a:ext cx="2459736" cy="246888"/>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1F1F1F"/>
                </a:solidFill>
                <a:latin typeface="Arial"/>
                <a:ea typeface="Arial"/>
                <a:cs typeface="Arial"/>
              </a:rPr>
              <a:t>Closed</a:t>
            </a:r>
          </a:p>
        </p:txBody>
      </p:sp>
      <p:sp>
        <p:nvSpPr>
          <p:cNvPr id="19" name="TextBox 18"/>
          <p:cNvSpPr txBox="1"/>
          <p:nvPr/>
        </p:nvSpPr>
        <p:spPr>
          <a:xfrm>
            <a:off x="7077456" y="2679192"/>
            <a:ext cx="457200" cy="246888"/>
          </a:xfrm>
          <a:prstGeom prst="rect">
            <a:avLst/>
          </a:prstGeom>
          <a:noFill/>
        </p:spPr>
        <p:txBody>
          <a:bodyPr wrap="square" lIns="0" rIns="0" tIns="0" bIns="0" anchor="t">
            <a:noAutofit/>
          </a:bodyPr>
          <a:lstStyle/>
          <a:p>
            <a:pPr algn="r">
              <a:lnSpc>
                <a:spcPct val="100000"/>
              </a:lnSpc>
              <a:spcBef>
                <a:spcPts val="0"/>
              </a:spcBef>
              <a:spcAft>
                <a:spcPts val="0"/>
              </a:spcAft>
            </a:pPr>
            <a:r>
              <a:rPr sz="1100" b="0" i="0">
                <a:solidFill>
                  <a:srgbClr val="1F1F1F"/>
                </a:solidFill>
                <a:latin typeface="Arial"/>
                <a:ea typeface="Arial"/>
                <a:cs typeface="Arial"/>
              </a:rPr>
              <a:t>34%</a:t>
            </a:r>
          </a:p>
        </p:txBody>
      </p:sp>
      <p:sp>
        <p:nvSpPr>
          <p:cNvPr id="20" name="TextBox 19"/>
          <p:cNvSpPr txBox="1"/>
          <p:nvPr/>
        </p:nvSpPr>
        <p:spPr>
          <a:xfrm>
            <a:off x="4617720" y="3054096"/>
            <a:ext cx="2916936" cy="1143000"/>
          </a:xfrm>
          <a:prstGeom prst="rect">
            <a:avLst/>
          </a:prstGeom>
          <a:noFill/>
        </p:spPr>
        <p:txBody>
          <a:bodyPr wrap="square" lIns="0" rIns="0" tIns="0" bIns="0" anchor="t">
            <a:noAutofit/>
          </a:bodyPr>
          <a:lstStyle/>
          <a:p>
            <a:pPr algn="l">
              <a:lnSpc>
                <a:spcPct val="100000"/>
              </a:lnSpc>
              <a:spcBef>
                <a:spcPts val="0"/>
              </a:spcBef>
              <a:spcAft>
                <a:spcPts val="0"/>
              </a:spcAft>
            </a:pPr>
            <a:r>
              <a:rPr sz="1100" b="0" i="0">
                <a:solidFill>
                  <a:srgbClr val="3A3A3A"/>
                </a:solidFill>
                <a:latin typeface="Arial"/>
                <a:ea typeface="Arial"/>
                <a:cs typeface="Arial"/>
              </a:rPr>
              <a:t>From 2015 to 2024 gold, a paid route, grew the most (+18 points); diamond (+9) outgrew hybrid (+7). Green fell from 9% in 2015 to 3% in 2025. Bronze can be withdrawn at any time.</a:t>
            </a:r>
          </a:p>
        </p:txBody>
      </p:sp>
      <p:sp>
        <p:nvSpPr>
          <p:cNvPr id="21" name="TextBox 20"/>
          <p:cNvSpPr txBox="1"/>
          <p:nvPr/>
        </p:nvSpPr>
        <p:spPr>
          <a:xfrm>
            <a:off x="310896" y="4773168"/>
            <a:ext cx="7040880" cy="182880"/>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Open access became a transaction between funders and publishers. It did not come with openness of anything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In abstracts, data and code did not move in ten years</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08  </a:t>
            </a:r>
            <a:r>
              <a:rPr sz="1100" b="0" i="0">
                <a:solidFill>
                  <a:srgbClr val="5F5F5F"/>
                </a:solidFill>
                <a:latin typeface="Arial"/>
                <a:ea typeface="Arial"/>
                <a:cs typeface="Arial"/>
              </a:rPr>
              <a:t>Finding 3</a:t>
            </a:r>
          </a:p>
        </p:txBody>
      </p:sp>
      <p:pic>
        <p:nvPicPr>
          <p:cNvPr id="4" name="Picture 3" descr="trend_data.jpg"/>
          <p:cNvPicPr>
            <a:picLocks noChangeAspect="1"/>
          </p:cNvPicPr>
          <p:nvPr/>
        </p:nvPicPr>
        <p:blipFill>
          <a:blip r:embed="rId3"/>
          <a:stretch>
            <a:fillRect/>
          </a:stretch>
        </p:blipFill>
        <p:spPr>
          <a:xfrm>
            <a:off x="310896" y="932688"/>
            <a:ext cx="2316480" cy="879538"/>
          </a:xfrm>
          <a:prstGeom prst="rect">
            <a:avLst/>
          </a:prstGeom>
        </p:spPr>
      </p:pic>
      <p:sp>
        <p:nvSpPr>
          <p:cNvPr id="5" name="TextBox 4"/>
          <p:cNvSpPr txBox="1"/>
          <p:nvPr/>
        </p:nvSpPr>
        <p:spPr>
          <a:xfrm>
            <a:off x="310896" y="1847088"/>
            <a:ext cx="2316480" cy="201168"/>
          </a:xfrm>
          <a:prstGeom prst="rect">
            <a:avLst/>
          </a:prstGeom>
          <a:noFill/>
        </p:spPr>
        <p:txBody>
          <a:bodyPr wrap="square" lIns="0" rIns="0" tIns="0" bIns="0" anchor="t">
            <a:noAutofit/>
          </a:bodyPr>
          <a:lstStyle/>
          <a:p>
            <a:pPr algn="ctr">
              <a:lnSpc>
                <a:spcPct val="100000"/>
              </a:lnSpc>
              <a:spcBef>
                <a:spcPts val="0"/>
              </a:spcBef>
              <a:spcAft>
                <a:spcPts val="0"/>
              </a:spcAft>
            </a:pPr>
            <a:r>
              <a:rPr sz="1000" b="0" i="0">
                <a:solidFill>
                  <a:srgbClr val="5F5F5F"/>
                </a:solidFill>
                <a:latin typeface="Arial"/>
                <a:ea typeface="Arial"/>
                <a:cs typeface="Arial"/>
              </a:rPr>
              <a:t>Data in a public repository</a:t>
            </a:r>
          </a:p>
        </p:txBody>
      </p:sp>
      <p:pic>
        <p:nvPicPr>
          <p:cNvPr id="6" name="Picture 5" descr="trend_code.jpg"/>
          <p:cNvPicPr>
            <a:picLocks noChangeAspect="1"/>
          </p:cNvPicPr>
          <p:nvPr/>
        </p:nvPicPr>
        <p:blipFill>
          <a:blip r:embed="rId4"/>
          <a:stretch>
            <a:fillRect/>
          </a:stretch>
        </p:blipFill>
        <p:spPr>
          <a:xfrm>
            <a:off x="2764536" y="932688"/>
            <a:ext cx="2316480" cy="879538"/>
          </a:xfrm>
          <a:prstGeom prst="rect">
            <a:avLst/>
          </a:prstGeom>
        </p:spPr>
      </p:pic>
      <p:sp>
        <p:nvSpPr>
          <p:cNvPr id="7" name="TextBox 6"/>
          <p:cNvSpPr txBox="1"/>
          <p:nvPr/>
        </p:nvSpPr>
        <p:spPr>
          <a:xfrm>
            <a:off x="2764536" y="1847088"/>
            <a:ext cx="2316480" cy="201168"/>
          </a:xfrm>
          <a:prstGeom prst="rect">
            <a:avLst/>
          </a:prstGeom>
          <a:noFill/>
        </p:spPr>
        <p:txBody>
          <a:bodyPr wrap="square" lIns="0" rIns="0" tIns="0" bIns="0" anchor="t">
            <a:noAutofit/>
          </a:bodyPr>
          <a:lstStyle/>
          <a:p>
            <a:pPr algn="ctr">
              <a:lnSpc>
                <a:spcPct val="100000"/>
              </a:lnSpc>
              <a:spcBef>
                <a:spcPts val="0"/>
              </a:spcBef>
              <a:spcAft>
                <a:spcPts val="0"/>
              </a:spcAft>
            </a:pPr>
            <a:r>
              <a:rPr sz="1000" b="0" i="0">
                <a:solidFill>
                  <a:srgbClr val="5F5F5F"/>
                </a:solidFill>
                <a:latin typeface="Arial"/>
                <a:ea typeface="Arial"/>
                <a:cs typeface="Arial"/>
              </a:rPr>
              <a:t>GitHub or code link</a:t>
            </a:r>
          </a:p>
        </p:txBody>
      </p:sp>
      <p:pic>
        <p:nvPicPr>
          <p:cNvPr id="8" name="Picture 7" descr="trend_preprint.jpg"/>
          <p:cNvPicPr>
            <a:picLocks noChangeAspect="1"/>
          </p:cNvPicPr>
          <p:nvPr/>
        </p:nvPicPr>
        <p:blipFill>
          <a:blip r:embed="rId5"/>
          <a:stretch>
            <a:fillRect/>
          </a:stretch>
        </p:blipFill>
        <p:spPr>
          <a:xfrm>
            <a:off x="5218176" y="932688"/>
            <a:ext cx="2316480" cy="879538"/>
          </a:xfrm>
          <a:prstGeom prst="rect">
            <a:avLst/>
          </a:prstGeom>
        </p:spPr>
      </p:pic>
      <p:sp>
        <p:nvSpPr>
          <p:cNvPr id="9" name="TextBox 8"/>
          <p:cNvSpPr txBox="1"/>
          <p:nvPr/>
        </p:nvSpPr>
        <p:spPr>
          <a:xfrm>
            <a:off x="5218176" y="1847088"/>
            <a:ext cx="2316480" cy="201168"/>
          </a:xfrm>
          <a:prstGeom prst="rect">
            <a:avLst/>
          </a:prstGeom>
          <a:noFill/>
        </p:spPr>
        <p:txBody>
          <a:bodyPr wrap="square" lIns="0" rIns="0" tIns="0" bIns="0" anchor="t">
            <a:noAutofit/>
          </a:bodyPr>
          <a:lstStyle/>
          <a:p>
            <a:pPr algn="ctr">
              <a:lnSpc>
                <a:spcPct val="100000"/>
              </a:lnSpc>
              <a:spcBef>
                <a:spcPts val="0"/>
              </a:spcBef>
              <a:spcAft>
                <a:spcPts val="0"/>
              </a:spcAft>
            </a:pPr>
            <a:r>
              <a:rPr sz="1000" b="0" i="0">
                <a:solidFill>
                  <a:srgbClr val="5F5F5F"/>
                </a:solidFill>
                <a:latin typeface="Arial"/>
                <a:ea typeface="Arial"/>
                <a:cs typeface="Arial"/>
              </a:rPr>
              <a:t>Preprint version</a:t>
            </a:r>
          </a:p>
        </p:txBody>
      </p:sp>
      <p:sp>
        <p:nvSpPr>
          <p:cNvPr id="10" name="Rectangle 9"/>
          <p:cNvSpPr/>
          <p:nvPr/>
        </p:nvSpPr>
        <p:spPr>
          <a:xfrm>
            <a:off x="310896" y="2176272"/>
            <a:ext cx="1805940" cy="178308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 y="2286000"/>
            <a:ext cx="1586484" cy="1563624"/>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Data in a repository</a:t>
            </a:r>
          </a:p>
          <a:p>
            <a:pPr algn="l">
              <a:lnSpc>
                <a:spcPct val="100000"/>
              </a:lnSpc>
              <a:spcBef>
                <a:spcPts val="0"/>
              </a:spcBef>
              <a:spcAft>
                <a:spcPts val="400"/>
              </a:spcAft>
            </a:pPr>
            <a:r>
              <a:rPr sz="2800" b="1" i="0">
                <a:solidFill>
                  <a:srgbClr val="D7263D"/>
                </a:solidFill>
                <a:latin typeface="Arial"/>
                <a:ea typeface="Arial"/>
                <a:cs typeface="Arial"/>
              </a:rPr>
              <a:t>0.2%</a:t>
            </a:r>
          </a:p>
          <a:p>
            <a:pPr algn="l">
              <a:lnSpc>
                <a:spcPct val="100000"/>
              </a:lnSpc>
              <a:spcBef>
                <a:spcPts val="0"/>
              </a:spcBef>
              <a:spcAft>
                <a:spcPts val="0"/>
              </a:spcAft>
            </a:pPr>
            <a:r>
              <a:rPr sz="1100" b="0" i="0">
                <a:solidFill>
                  <a:srgbClr val="3A3A3A"/>
                </a:solidFill>
                <a:latin typeface="Arial"/>
                <a:ea typeface="Arial"/>
                <a:cs typeface="Arial"/>
              </a:rPr>
              <a:t>of stroke articles in 2024; 0.2% in 2015, never above 0.6%</a:t>
            </a:r>
          </a:p>
        </p:txBody>
      </p:sp>
      <p:sp>
        <p:nvSpPr>
          <p:cNvPr id="12" name="Rectangle 11"/>
          <p:cNvSpPr/>
          <p:nvPr/>
        </p:nvSpPr>
        <p:spPr>
          <a:xfrm>
            <a:off x="2116836" y="2176272"/>
            <a:ext cx="1805940" cy="178308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26564" y="2286000"/>
            <a:ext cx="1586484" cy="1563624"/>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Code link</a:t>
            </a:r>
          </a:p>
          <a:p>
            <a:pPr algn="l">
              <a:lnSpc>
                <a:spcPct val="100000"/>
              </a:lnSpc>
              <a:spcBef>
                <a:spcPts val="0"/>
              </a:spcBef>
              <a:spcAft>
                <a:spcPts val="400"/>
              </a:spcAft>
            </a:pPr>
            <a:r>
              <a:rPr sz="2800" b="1" i="0">
                <a:solidFill>
                  <a:srgbClr val="D7263D"/>
                </a:solidFill>
                <a:latin typeface="Arial"/>
                <a:ea typeface="Arial"/>
                <a:cs typeface="Arial"/>
              </a:rPr>
              <a:t>&lt;0.1%</a:t>
            </a:r>
          </a:p>
          <a:p>
            <a:pPr algn="l">
              <a:lnSpc>
                <a:spcPct val="100000"/>
              </a:lnSpc>
              <a:spcBef>
                <a:spcPts val="0"/>
              </a:spcBef>
              <a:spcAft>
                <a:spcPts val="0"/>
              </a:spcAft>
            </a:pPr>
            <a:r>
              <a:rPr sz="1100" b="0" i="0">
                <a:solidFill>
                  <a:srgbClr val="3A3A3A"/>
                </a:solidFill>
                <a:latin typeface="Arial"/>
                <a:ea typeface="Arial"/>
                <a:cs typeface="Arial"/>
              </a:rPr>
              <a:t>every year 2015-2024; GitHub in 2.5% of 2024 full texts</a:t>
            </a:r>
          </a:p>
        </p:txBody>
      </p:sp>
      <p:sp>
        <p:nvSpPr>
          <p:cNvPr id="14" name="Rectangle 13"/>
          <p:cNvSpPr/>
          <p:nvPr/>
        </p:nvSpPr>
        <p:spPr>
          <a:xfrm>
            <a:off x="3922776" y="2176272"/>
            <a:ext cx="1805940" cy="178308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32504" y="2286000"/>
            <a:ext cx="1586484" cy="1563624"/>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Preprint version</a:t>
            </a:r>
          </a:p>
          <a:p>
            <a:pPr algn="l">
              <a:lnSpc>
                <a:spcPct val="100000"/>
              </a:lnSpc>
              <a:spcBef>
                <a:spcPts val="0"/>
              </a:spcBef>
              <a:spcAft>
                <a:spcPts val="400"/>
              </a:spcAft>
            </a:pPr>
            <a:r>
              <a:rPr sz="2800" b="1" i="0">
                <a:solidFill>
                  <a:srgbClr val="D7263D"/>
                </a:solidFill>
                <a:latin typeface="Arial"/>
                <a:ea typeface="Arial"/>
                <a:cs typeface="Arial"/>
              </a:rPr>
              <a:t>2.7%</a:t>
            </a:r>
          </a:p>
          <a:p>
            <a:pPr algn="l">
              <a:lnSpc>
                <a:spcPct val="100000"/>
              </a:lnSpc>
              <a:spcBef>
                <a:spcPts val="0"/>
              </a:spcBef>
              <a:spcAft>
                <a:spcPts val="0"/>
              </a:spcAft>
            </a:pPr>
            <a:r>
              <a:rPr sz="1100" b="0" i="0">
                <a:solidFill>
                  <a:srgbClr val="3A3A3A"/>
                </a:solidFill>
                <a:latin typeface="Arial"/>
                <a:ea typeface="Arial"/>
                <a:cs typeface="Arial"/>
              </a:rPr>
              <a:t>in 2024; 1.5% in 2015-2025. A lower bound, partly publisher-driven</a:t>
            </a:r>
          </a:p>
        </p:txBody>
      </p:sp>
      <p:sp>
        <p:nvSpPr>
          <p:cNvPr id="16" name="Rectangle 15"/>
          <p:cNvSpPr/>
          <p:nvPr/>
        </p:nvSpPr>
        <p:spPr>
          <a:xfrm>
            <a:off x="5728716" y="2176272"/>
            <a:ext cx="1805940" cy="1783080"/>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8444" y="2286000"/>
            <a:ext cx="1586484" cy="1563624"/>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Registration ID in the abstract</a:t>
            </a:r>
          </a:p>
          <a:p>
            <a:pPr algn="l">
              <a:lnSpc>
                <a:spcPct val="100000"/>
              </a:lnSpc>
              <a:spcBef>
                <a:spcPts val="0"/>
              </a:spcBef>
              <a:spcAft>
                <a:spcPts val="400"/>
              </a:spcAft>
            </a:pPr>
            <a:r>
              <a:rPr sz="2800" b="1" i="0">
                <a:solidFill>
                  <a:srgbClr val="1F1F1F"/>
                </a:solidFill>
                <a:latin typeface="Arial"/>
                <a:ea typeface="Arial"/>
                <a:cs typeface="Arial"/>
              </a:rPr>
              <a:t>5.3%</a:t>
            </a:r>
          </a:p>
          <a:p>
            <a:pPr algn="l">
              <a:lnSpc>
                <a:spcPct val="100000"/>
              </a:lnSpc>
              <a:spcBef>
                <a:spcPts val="0"/>
              </a:spcBef>
              <a:spcAft>
                <a:spcPts val="0"/>
              </a:spcAft>
            </a:pPr>
            <a:r>
              <a:rPr sz="1100" b="0" i="0">
                <a:solidFill>
                  <a:srgbClr val="3A3A3A"/>
                </a:solidFill>
                <a:latin typeface="Arial"/>
                <a:ea typeface="Arial"/>
                <a:cs typeface="Arial"/>
              </a:rPr>
              <a:t>in 2024, from 2.8% in 2015; stroke ahead of cardiology, neurology and neuroscience</a:t>
            </a:r>
          </a:p>
        </p:txBody>
      </p:sp>
      <p:sp>
        <p:nvSpPr>
          <p:cNvPr id="18" name="TextBox 17"/>
          <p:cNvSpPr txBox="1"/>
          <p:nvPr/>
        </p:nvSpPr>
        <p:spPr>
          <a:xfrm>
            <a:off x="310896" y="4480560"/>
            <a:ext cx="7040880" cy="475488"/>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High impact is barely better at sharing: top-cited or IF 10+ articles (16% of the corpus) are 74% open access vs 65%, registration 10.0% vs 3.5%, but data 0.45% vs 0.34%, code 0.08% vs 0.06%. These are lower bounds from abstracts and metadata. So we read the full text.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What data-availability statements actually say</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09  </a:t>
            </a:r>
            <a:r>
              <a:rPr sz="1100" b="0" i="0">
                <a:solidFill>
                  <a:srgbClr val="5F5F5F"/>
                </a:solidFill>
                <a:latin typeface="Arial"/>
                <a:ea typeface="Arial"/>
                <a:cs typeface="Arial"/>
              </a:rPr>
              <a:t>The full-text audit</a:t>
            </a:r>
          </a:p>
        </p:txBody>
      </p:sp>
      <p:sp>
        <p:nvSpPr>
          <p:cNvPr id="4" name="Rectangle 3"/>
          <p:cNvSpPr/>
          <p:nvPr/>
        </p:nvSpPr>
        <p:spPr>
          <a:xfrm>
            <a:off x="310896" y="932688"/>
            <a:ext cx="2407920" cy="1298448"/>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0624" y="1042416"/>
            <a:ext cx="2188464" cy="1078992"/>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Write a statement</a:t>
            </a:r>
          </a:p>
          <a:p>
            <a:pPr algn="l">
              <a:lnSpc>
                <a:spcPct val="100000"/>
              </a:lnSpc>
              <a:spcBef>
                <a:spcPts val="0"/>
              </a:spcBef>
              <a:spcAft>
                <a:spcPts val="400"/>
              </a:spcAft>
            </a:pPr>
            <a:r>
              <a:rPr sz="2800" b="1" i="0">
                <a:solidFill>
                  <a:srgbClr val="1F1F1F"/>
                </a:solidFill>
                <a:latin typeface="Arial"/>
                <a:ea typeface="Arial"/>
                <a:cs typeface="Arial"/>
              </a:rPr>
              <a:t>74%</a:t>
            </a:r>
          </a:p>
          <a:p>
            <a:pPr algn="l">
              <a:lnSpc>
                <a:spcPct val="100000"/>
              </a:lnSpc>
              <a:spcBef>
                <a:spcPts val="0"/>
              </a:spcBef>
              <a:spcAft>
                <a:spcPts val="0"/>
              </a:spcAft>
            </a:pPr>
            <a:r>
              <a:rPr sz="1100" b="0" i="0">
                <a:solidFill>
                  <a:srgbClr val="3A3A3A"/>
                </a:solidFill>
                <a:latin typeface="Arial"/>
                <a:ea typeface="Arial"/>
                <a:cs typeface="Arial"/>
              </a:rPr>
              <a:t>in 2025, from 14% in 2015; arrived with the journal mandates</a:t>
            </a:r>
          </a:p>
        </p:txBody>
      </p:sp>
      <p:sp>
        <p:nvSpPr>
          <p:cNvPr id="6" name="Rectangle 5"/>
          <p:cNvSpPr/>
          <p:nvPr/>
        </p:nvSpPr>
        <p:spPr>
          <a:xfrm>
            <a:off x="2718816" y="932688"/>
            <a:ext cx="2407920" cy="1298448"/>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28544" y="1042416"/>
            <a:ext cx="2188464" cy="1078992"/>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Say “available on request”</a:t>
            </a:r>
          </a:p>
          <a:p>
            <a:pPr algn="l">
              <a:lnSpc>
                <a:spcPct val="100000"/>
              </a:lnSpc>
              <a:spcBef>
                <a:spcPts val="0"/>
              </a:spcBef>
              <a:spcAft>
                <a:spcPts val="400"/>
              </a:spcAft>
            </a:pPr>
            <a:r>
              <a:rPr sz="2800" b="1" i="0">
                <a:solidFill>
                  <a:srgbClr val="D7263D"/>
                </a:solidFill>
                <a:latin typeface="Arial"/>
                <a:ea typeface="Arial"/>
                <a:cs typeface="Arial"/>
              </a:rPr>
              <a:t>29%</a:t>
            </a:r>
          </a:p>
          <a:p>
            <a:pPr algn="l">
              <a:lnSpc>
                <a:spcPct val="100000"/>
              </a:lnSpc>
              <a:spcBef>
                <a:spcPts val="0"/>
              </a:spcBef>
              <a:spcAft>
                <a:spcPts val="0"/>
              </a:spcAft>
            </a:pPr>
            <a:r>
              <a:rPr sz="1100" b="0" i="0">
                <a:solidFill>
                  <a:srgbClr val="3A3A3A"/>
                </a:solidFill>
                <a:latin typeface="Arial"/>
                <a:ea typeface="Arial"/>
                <a:cs typeface="Arial"/>
              </a:rPr>
              <a:t>in 2025, from 0.6% in 2015; now the largest answer</a:t>
            </a:r>
          </a:p>
        </p:txBody>
      </p:sp>
      <p:sp>
        <p:nvSpPr>
          <p:cNvPr id="8" name="Rectangle 7"/>
          <p:cNvSpPr/>
          <p:nvPr/>
        </p:nvSpPr>
        <p:spPr>
          <a:xfrm>
            <a:off x="5126736" y="932688"/>
            <a:ext cx="2407920" cy="1298448"/>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36464" y="1042416"/>
            <a:ext cx="2188464" cy="1078992"/>
          </a:xfrm>
          <a:prstGeom prst="rect">
            <a:avLst/>
          </a:prstGeom>
          <a:noFill/>
        </p:spPr>
        <p:txBody>
          <a:bodyPr wrap="square" lIns="0" rIns="0" tIns="0" bIns="0" anchor="t">
            <a:noAutofit/>
          </a:bodyPr>
          <a:lstStyle/>
          <a:p>
            <a:pPr algn="l">
              <a:lnSpc>
                <a:spcPct val="100000"/>
              </a:lnSpc>
              <a:spcBef>
                <a:spcPts val="0"/>
              </a:spcBef>
              <a:spcAft>
                <a:spcPts val="400"/>
              </a:spcAft>
            </a:pPr>
            <a:r>
              <a:rPr sz="1150" b="1" i="0">
                <a:solidFill>
                  <a:srgbClr val="1F1F1F"/>
                </a:solidFill>
                <a:latin typeface="Arial"/>
                <a:ea typeface="Arial"/>
                <a:cs typeface="Arial"/>
              </a:rPr>
              <a:t>Deposit or public source</a:t>
            </a:r>
          </a:p>
          <a:p>
            <a:pPr algn="l">
              <a:lnSpc>
                <a:spcPct val="100000"/>
              </a:lnSpc>
              <a:spcBef>
                <a:spcPts val="0"/>
              </a:spcBef>
              <a:spcAft>
                <a:spcPts val="400"/>
              </a:spcAft>
            </a:pPr>
            <a:r>
              <a:rPr sz="2800" b="1" i="0">
                <a:solidFill>
                  <a:srgbClr val="D7263D"/>
                </a:solidFill>
                <a:latin typeface="Arial"/>
                <a:ea typeface="Arial"/>
                <a:cs typeface="Arial"/>
              </a:rPr>
              <a:t>9.8%</a:t>
            </a:r>
          </a:p>
          <a:p>
            <a:pPr algn="l">
              <a:lnSpc>
                <a:spcPct val="100000"/>
              </a:lnSpc>
              <a:spcBef>
                <a:spcPts val="0"/>
              </a:spcBef>
              <a:spcAft>
                <a:spcPts val="0"/>
              </a:spcAft>
            </a:pPr>
            <a:r>
              <a:rPr sz="1100" b="0" i="0">
                <a:solidFill>
                  <a:srgbClr val="3A3A3A"/>
                </a:solidFill>
                <a:latin typeface="Arial"/>
                <a:ea typeface="Arial"/>
                <a:cs typeface="Arial"/>
              </a:rPr>
              <a:t>in 2025, from 0.7% in 2015; own deposit 5.9%</a:t>
            </a:r>
          </a:p>
        </p:txBody>
      </p:sp>
      <p:pic>
        <p:nvPicPr>
          <p:cNvPr id="10" name="Picture 9" descr="das_year.jpg"/>
          <p:cNvPicPr>
            <a:picLocks noChangeAspect="1"/>
          </p:cNvPicPr>
          <p:nvPr/>
        </p:nvPicPr>
        <p:blipFill>
          <a:blip r:embed="rId3"/>
          <a:stretch>
            <a:fillRect/>
          </a:stretch>
        </p:blipFill>
        <p:spPr>
          <a:xfrm>
            <a:off x="310896" y="2331720"/>
            <a:ext cx="5776810" cy="2103120"/>
          </a:xfrm>
          <a:prstGeom prst="rect">
            <a:avLst/>
          </a:prstGeom>
        </p:spPr>
      </p:pic>
      <p:sp>
        <p:nvSpPr>
          <p:cNvPr id="11" name="TextBox 10"/>
          <p:cNvSpPr txBox="1"/>
          <p:nvPr/>
        </p:nvSpPr>
        <p:spPr>
          <a:xfrm>
            <a:off x="310896" y="4480560"/>
            <a:ext cx="7040880" cy="475488"/>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16,362 open-access stroke full texts, up to 1,500 per year, Europe PMC; optimistic for stroke overall. Elsewhere, “on request” delivers little: 6.8% of authors shared when asked (Gabelica 2022); 20% of 391 vascular and cognitive trials, median 241 days (Scutt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749808"/>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Reading access has been solved for the global South by free routes. Reuse has not.</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10  </a:t>
            </a:r>
            <a:r>
              <a:rPr sz="1100" b="0" i="0">
                <a:solidFill>
                  <a:srgbClr val="5F5F5F"/>
                </a:solidFill>
                <a:latin typeface="Arial"/>
                <a:ea typeface="Arial"/>
                <a:cs typeface="Arial"/>
              </a:rPr>
              <a:t>Who pays to be read, and who shares</a:t>
            </a:r>
          </a:p>
        </p:txBody>
      </p:sp>
      <p:pic>
        <p:nvPicPr>
          <p:cNvPr id="4" name="Picture 3" descr="eq_route.jpg"/>
          <p:cNvPicPr>
            <a:picLocks noChangeAspect="1"/>
          </p:cNvPicPr>
          <p:nvPr/>
        </p:nvPicPr>
        <p:blipFill>
          <a:blip r:embed="rId3"/>
          <a:stretch>
            <a:fillRect/>
          </a:stretch>
        </p:blipFill>
        <p:spPr>
          <a:xfrm>
            <a:off x="310896" y="1234440"/>
            <a:ext cx="3520439" cy="2301826"/>
          </a:xfrm>
          <a:prstGeom prst="rect">
            <a:avLst/>
          </a:prstGeom>
        </p:spPr>
      </p:pic>
      <p:sp>
        <p:nvSpPr>
          <p:cNvPr id="5" name="TextBox 4"/>
          <p:cNvSpPr txBox="1"/>
          <p:nvPr/>
        </p:nvSpPr>
        <p:spPr>
          <a:xfrm>
            <a:off x="310896" y="3566160"/>
            <a:ext cx="3520440" cy="365760"/>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F5F5F"/>
                </a:solidFill>
                <a:latin typeface="Arial"/>
                <a:ea typeface="Arial"/>
                <a:cs typeface="Arial"/>
              </a:rPr>
              <a:t>Open-access route by World Bank income group of the first author’s country</a:t>
            </a:r>
          </a:p>
        </p:txBody>
      </p:sp>
      <p:pic>
        <p:nvPicPr>
          <p:cNvPr id="6" name="Picture 5" descr="eq_ft.jpg"/>
          <p:cNvPicPr>
            <a:picLocks noChangeAspect="1"/>
          </p:cNvPicPr>
          <p:nvPr/>
        </p:nvPicPr>
        <p:blipFill>
          <a:blip r:embed="rId4"/>
          <a:stretch>
            <a:fillRect/>
          </a:stretch>
        </p:blipFill>
        <p:spPr>
          <a:xfrm>
            <a:off x="3977639" y="1234440"/>
            <a:ext cx="3551197" cy="1627632"/>
          </a:xfrm>
          <a:prstGeom prst="rect">
            <a:avLst/>
          </a:prstGeom>
        </p:spPr>
      </p:pic>
      <p:sp>
        <p:nvSpPr>
          <p:cNvPr id="7" name="TextBox 6"/>
          <p:cNvSpPr txBox="1"/>
          <p:nvPr/>
        </p:nvSpPr>
        <p:spPr>
          <a:xfrm>
            <a:off x="3977639" y="2880360"/>
            <a:ext cx="3557016" cy="201168"/>
          </a:xfrm>
          <a:prstGeom prst="rect">
            <a:avLst/>
          </a:prstGeom>
          <a:noFill/>
        </p:spPr>
        <p:txBody>
          <a:bodyPr wrap="square" lIns="0" rIns="0" tIns="0" bIns="0" anchor="t">
            <a:noAutofit/>
          </a:bodyPr>
          <a:lstStyle/>
          <a:p>
            <a:pPr algn="l">
              <a:lnSpc>
                <a:spcPct val="100000"/>
              </a:lnSpc>
              <a:spcBef>
                <a:spcPts val="0"/>
              </a:spcBef>
              <a:spcAft>
                <a:spcPts val="0"/>
              </a:spcAft>
            </a:pPr>
            <a:r>
              <a:rPr sz="1000" b="0" i="0">
                <a:solidFill>
                  <a:srgbClr val="5F5F5F"/>
                </a:solidFill>
                <a:latin typeface="Arial"/>
                <a:ea typeface="Arial"/>
                <a:cs typeface="Arial"/>
              </a:rPr>
              <a:t>What the full text shows, by income group</a:t>
            </a:r>
          </a:p>
        </p:txBody>
      </p:sp>
      <p:sp>
        <p:nvSpPr>
          <p:cNvPr id="8" name="TextBox 7"/>
          <p:cNvSpPr txBox="1"/>
          <p:nvPr/>
        </p:nvSpPr>
        <p:spPr>
          <a:xfrm>
            <a:off x="3977639" y="3154680"/>
            <a:ext cx="3557016" cy="1051560"/>
          </a:xfrm>
          <a:prstGeom prst="rect">
            <a:avLst/>
          </a:prstGeom>
          <a:noFill/>
        </p:spPr>
        <p:txBody>
          <a:bodyPr wrap="square" lIns="0" rIns="0" tIns="0" bIns="0" anchor="t">
            <a:noAutofit/>
          </a:bodyPr>
          <a:lstStyle/>
          <a:p>
            <a:pPr algn="l">
              <a:lnSpc>
                <a:spcPct val="100000"/>
              </a:lnSpc>
              <a:spcBef>
                <a:spcPts val="0"/>
              </a:spcBef>
              <a:spcAft>
                <a:spcPts val="0"/>
              </a:spcAft>
            </a:pPr>
            <a:r>
              <a:rPr sz="1200" b="0" i="0">
                <a:solidFill>
                  <a:srgbClr val="1F1F1F"/>
                </a:solidFill>
                <a:latin typeface="Arial"/>
                <a:ea typeface="Arial"/>
                <a:cs typeface="Arial"/>
              </a:rPr>
              <a:t>Lower-middle-income authors publish 42% through routes that cost nothing (high income 19%), yet over 2015-2025 deposit or name public data in 1.8% (high 4.0%), mention GitHub in 0.3% (1.6%) and a trial registration in 5.7% (15.0%).</a:t>
            </a:r>
          </a:p>
        </p:txBody>
      </p:sp>
      <p:sp>
        <p:nvSpPr>
          <p:cNvPr id="9" name="TextBox 8"/>
          <p:cNvSpPr txBox="1"/>
          <p:nvPr/>
        </p:nvSpPr>
        <p:spPr>
          <a:xfrm>
            <a:off x="310896" y="4626864"/>
            <a:ext cx="7040880" cy="329184"/>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Income group known for 85% of the corpus: high 62%, upper-middle 32% (mostly China), lower-middle 6%, low 0.3% (400 articles). Korea: 5,490 first-author articles, 75% open access.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A commitment index, verified in the full text</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11  </a:t>
            </a:r>
            <a:r>
              <a:rPr sz="1100" b="0" i="0">
                <a:solidFill>
                  <a:srgbClr val="5F5F5F"/>
                </a:solidFill>
                <a:latin typeface="Arial"/>
                <a:ea typeface="Arial"/>
                <a:cs typeface="Arial"/>
              </a:rPr>
              <a:t>Who is already doing it</a:t>
            </a:r>
          </a:p>
        </p:txBody>
      </p:sp>
      <p:pic>
        <p:nvPicPr>
          <p:cNvPr id="4" name="Picture 3" descr="cm_inst.jpg"/>
          <p:cNvPicPr>
            <a:picLocks noChangeAspect="1"/>
          </p:cNvPicPr>
          <p:nvPr/>
        </p:nvPicPr>
        <p:blipFill>
          <a:blip r:embed="rId3"/>
          <a:stretch>
            <a:fillRect/>
          </a:stretch>
        </p:blipFill>
        <p:spPr>
          <a:xfrm>
            <a:off x="310896" y="932688"/>
            <a:ext cx="6650181" cy="2286000"/>
          </a:xfrm>
          <a:prstGeom prst="rect">
            <a:avLst/>
          </a:prstGeom>
        </p:spPr>
      </p:pic>
      <p:sp>
        <p:nvSpPr>
          <p:cNvPr id="5" name="TextBox 4"/>
          <p:cNvSpPr txBox="1"/>
          <p:nvPr/>
        </p:nvSpPr>
        <p:spPr>
          <a:xfrm>
            <a:off x="310896" y="3291840"/>
            <a:ext cx="7223760" cy="566928"/>
          </a:xfrm>
          <a:prstGeom prst="rect">
            <a:avLst/>
          </a:prstGeom>
          <a:noFill/>
        </p:spPr>
        <p:txBody>
          <a:bodyPr wrap="square" lIns="0" rIns="0" tIns="0" bIns="0" anchor="t">
            <a:noAutofit/>
          </a:bodyPr>
          <a:lstStyle/>
          <a:p>
            <a:pPr algn="l">
              <a:lnSpc>
                <a:spcPct val="100000"/>
              </a:lnSpc>
              <a:spcBef>
                <a:spcPts val="0"/>
              </a:spcBef>
              <a:spcAft>
                <a:spcPts val="0"/>
              </a:spcAft>
            </a:pPr>
            <a:r>
              <a:rPr sz="1150" b="0" i="0">
                <a:solidFill>
                  <a:srgbClr val="3A3A3A"/>
                </a:solidFill>
                <a:latin typeface="Arial"/>
                <a:ea typeface="Arial"/>
                <a:cs typeface="Arial"/>
              </a:rPr>
              <a:t>Journals: Nature Communications, Brain Communications, PeerJ, NeuroImage Clinical lead; </a:t>
            </a:r>
            <a:r>
              <a:rPr sz="1150" b="0" i="1">
                <a:solidFill>
                  <a:srgbClr val="3A3A3A"/>
                </a:solidFill>
                <a:latin typeface="Arial"/>
                <a:ea typeface="Arial"/>
                <a:cs typeface="Arial"/>
              </a:rPr>
              <a:t>Stroke</a:t>
            </a:r>
            <a:r>
              <a:rPr sz="1150" b="0" i="0">
                <a:solidFill>
                  <a:srgbClr val="3A3A3A"/>
                </a:solidFill>
                <a:latin typeface="Arial"/>
                <a:ea typeface="Arial"/>
                <a:cs typeface="Arial"/>
              </a:rPr>
              <a:t> is about 15th of 99, at 1.5×. Funders: US federal institutes, ANR, Swiss Heart Foundation, Leducq, DFG. Countries: Belgium 2.4×, Germany 2.2×, Switzerland 2.0×, France 1.8×, UK 1.5×.</a:t>
            </a:r>
          </a:p>
        </p:txBody>
      </p:sp>
      <p:sp>
        <p:nvSpPr>
          <p:cNvPr id="6" name="TextBox 5"/>
          <p:cNvSpPr txBox="1"/>
          <p:nvPr/>
        </p:nvSpPr>
        <p:spPr>
          <a:xfrm>
            <a:off x="310896" y="4480560"/>
            <a:ext cx="7040880" cy="475488"/>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Index = mean over three full-text signals of the entity’s rate ÷ the stroke audit rate: data deposited or public source (4.2%), GitHub (1.3%), trial registration (14.1%). 1 = stroke average. Institutions: the 60 with the most audited articles (82+ each); countries 50+, journals and funders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Rules produced statements. Incentives produce data.</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12  </a:t>
            </a:r>
            <a:r>
              <a:rPr sz="1100" b="0" i="0">
                <a:solidFill>
                  <a:srgbClr val="5F5F5F"/>
                </a:solidFill>
                <a:latin typeface="Arial"/>
                <a:ea typeface="Arial"/>
                <a:cs typeface="Arial"/>
              </a:rPr>
              <a:t>Why mandates alone did not work</a:t>
            </a:r>
          </a:p>
        </p:txBody>
      </p:sp>
      <p:cxnSp>
        <p:nvCxnSpPr>
          <p:cNvPr id="4" name="Connector 3"/>
          <p:cNvCxnSpPr/>
          <p:nvPr/>
        </p:nvCxnSpPr>
        <p:spPr>
          <a:xfrm>
            <a:off x="310896" y="987552"/>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10896" y="1051560"/>
            <a:ext cx="1691640" cy="548640"/>
          </a:xfrm>
          <a:prstGeom prst="rect">
            <a:avLst/>
          </a:prstGeom>
          <a:noFill/>
        </p:spPr>
        <p:txBody>
          <a:bodyPr wrap="square" lIns="0" rIns="0" tIns="0" bIns="0" anchor="ctr">
            <a:noAutofit/>
          </a:bodyPr>
          <a:lstStyle/>
          <a:p>
            <a:pPr algn="l">
              <a:lnSpc>
                <a:spcPct val="100000"/>
              </a:lnSpc>
              <a:spcBef>
                <a:spcPts val="0"/>
              </a:spcBef>
              <a:spcAft>
                <a:spcPts val="0"/>
              </a:spcAft>
            </a:pPr>
            <a:r>
              <a:rPr sz="2200" b="1" i="0">
                <a:solidFill>
                  <a:srgbClr val="D7263D"/>
                </a:solidFill>
                <a:latin typeface="Arial"/>
                <a:ea typeface="Arial"/>
                <a:cs typeface="Arial"/>
              </a:rPr>
              <a:t>3.1% to 3.1%</a:t>
            </a:r>
          </a:p>
        </p:txBody>
      </p:sp>
      <p:sp>
        <p:nvSpPr>
          <p:cNvPr id="6" name="TextBox 5"/>
          <p:cNvSpPr txBox="1"/>
          <p:nvPr/>
        </p:nvSpPr>
        <p:spPr>
          <a:xfrm>
            <a:off x="2093976" y="1051560"/>
            <a:ext cx="4114800" cy="548640"/>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F1F1F"/>
                </a:solidFill>
                <a:latin typeface="Arial"/>
                <a:ea typeface="Arial"/>
                <a:cs typeface="Arial"/>
              </a:rPr>
              <a:t>Data obtainable from surgical trials before and after the ICMJE statement requirement.</a:t>
            </a:r>
          </a:p>
        </p:txBody>
      </p:sp>
      <p:sp>
        <p:nvSpPr>
          <p:cNvPr id="7" name="TextBox 6"/>
          <p:cNvSpPr txBox="1"/>
          <p:nvPr/>
        </p:nvSpPr>
        <p:spPr>
          <a:xfrm>
            <a:off x="6345936" y="1051560"/>
            <a:ext cx="1188720" cy="548640"/>
          </a:xfrm>
          <a:prstGeom prst="rect">
            <a:avLst/>
          </a:prstGeom>
          <a:noFill/>
        </p:spPr>
        <p:txBody>
          <a:bodyPr wrap="square" lIns="0" rIns="0" tIns="0" bIns="0" anchor="ctr">
            <a:noAutofit/>
          </a:bodyPr>
          <a:lstStyle/>
          <a:p>
            <a:pPr algn="l">
              <a:lnSpc>
                <a:spcPct val="100000"/>
              </a:lnSpc>
              <a:spcBef>
                <a:spcPts val="0"/>
              </a:spcBef>
              <a:spcAft>
                <a:spcPts val="0"/>
              </a:spcAft>
            </a:pPr>
            <a:r>
              <a:rPr sz="1000" b="0" i="0">
                <a:solidFill>
                  <a:srgbClr val="5F5F5F"/>
                </a:solidFill>
                <a:latin typeface="Arial"/>
                <a:ea typeface="Arial"/>
                <a:cs typeface="Arial"/>
              </a:rPr>
              <a:t>Bergeat 2022, JAMA Netw Open</a:t>
            </a:r>
          </a:p>
        </p:txBody>
      </p:sp>
      <p:cxnSp>
        <p:nvCxnSpPr>
          <p:cNvPr id="8" name="Connector 7"/>
          <p:cNvCxnSpPr/>
          <p:nvPr/>
        </p:nvCxnSpPr>
        <p:spPr>
          <a:xfrm>
            <a:off x="310896" y="1664208"/>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10896" y="1728216"/>
            <a:ext cx="1691640" cy="548640"/>
          </a:xfrm>
          <a:prstGeom prst="rect">
            <a:avLst/>
          </a:prstGeom>
          <a:noFill/>
        </p:spPr>
        <p:txBody>
          <a:bodyPr wrap="square" lIns="0" rIns="0" tIns="0" bIns="0" anchor="ctr">
            <a:noAutofit/>
          </a:bodyPr>
          <a:lstStyle/>
          <a:p>
            <a:pPr algn="l">
              <a:lnSpc>
                <a:spcPct val="100000"/>
              </a:lnSpc>
              <a:spcBef>
                <a:spcPts val="0"/>
              </a:spcBef>
              <a:spcAft>
                <a:spcPts val="0"/>
              </a:spcAft>
            </a:pPr>
            <a:r>
              <a:rPr sz="2200" b="1" i="0">
                <a:solidFill>
                  <a:srgbClr val="D7263D"/>
                </a:solidFill>
                <a:latin typeface="Arial"/>
                <a:ea typeface="Arial"/>
                <a:cs typeface="Arial"/>
              </a:rPr>
              <a:t>OR 0.9</a:t>
            </a:r>
          </a:p>
        </p:txBody>
      </p:sp>
      <p:sp>
        <p:nvSpPr>
          <p:cNvPr id="10" name="TextBox 9"/>
          <p:cNvSpPr txBox="1"/>
          <p:nvPr/>
        </p:nvSpPr>
        <p:spPr>
          <a:xfrm>
            <a:off x="2093976" y="1728216"/>
            <a:ext cx="4114800" cy="548640"/>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F1F1F"/>
                </a:solidFill>
                <a:latin typeface="Arial"/>
                <a:ea typeface="Arial"/>
                <a:cs typeface="Arial"/>
              </a:rPr>
              <a:t>Open-data badges in the only medical randomised trial, at BMJ Open. The same badges took Psychological Science from under 3% to 39% open data.</a:t>
            </a:r>
          </a:p>
        </p:txBody>
      </p:sp>
      <p:sp>
        <p:nvSpPr>
          <p:cNvPr id="11" name="TextBox 10"/>
          <p:cNvSpPr txBox="1"/>
          <p:nvPr/>
        </p:nvSpPr>
        <p:spPr>
          <a:xfrm>
            <a:off x="6345936" y="1728216"/>
            <a:ext cx="1188720" cy="548640"/>
          </a:xfrm>
          <a:prstGeom prst="rect">
            <a:avLst/>
          </a:prstGeom>
          <a:noFill/>
        </p:spPr>
        <p:txBody>
          <a:bodyPr wrap="square" lIns="0" rIns="0" tIns="0" bIns="0" anchor="ctr">
            <a:noAutofit/>
          </a:bodyPr>
          <a:lstStyle/>
          <a:p>
            <a:pPr algn="l">
              <a:lnSpc>
                <a:spcPct val="100000"/>
              </a:lnSpc>
              <a:spcBef>
                <a:spcPts val="0"/>
              </a:spcBef>
              <a:spcAft>
                <a:spcPts val="0"/>
              </a:spcAft>
            </a:pPr>
            <a:r>
              <a:rPr sz="1000" b="0" i="0">
                <a:solidFill>
                  <a:srgbClr val="5F5F5F"/>
                </a:solidFill>
                <a:latin typeface="Arial"/>
                <a:ea typeface="Arial"/>
                <a:cs typeface="Arial"/>
              </a:rPr>
              <a:t>Rowhani-Farid 2020; Kidwell 2016</a:t>
            </a:r>
          </a:p>
        </p:txBody>
      </p:sp>
      <p:cxnSp>
        <p:nvCxnSpPr>
          <p:cNvPr id="12" name="Connector 11"/>
          <p:cNvCxnSpPr/>
          <p:nvPr/>
        </p:nvCxnSpPr>
        <p:spPr>
          <a:xfrm>
            <a:off x="310896" y="2340864"/>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10896" y="2404872"/>
            <a:ext cx="1691640" cy="548640"/>
          </a:xfrm>
          <a:prstGeom prst="rect">
            <a:avLst/>
          </a:prstGeom>
          <a:noFill/>
        </p:spPr>
        <p:txBody>
          <a:bodyPr wrap="square" lIns="0" rIns="0" tIns="0" bIns="0" anchor="ctr">
            <a:noAutofit/>
          </a:bodyPr>
          <a:lstStyle/>
          <a:p>
            <a:pPr algn="l">
              <a:lnSpc>
                <a:spcPct val="100000"/>
              </a:lnSpc>
              <a:spcBef>
                <a:spcPts val="0"/>
              </a:spcBef>
              <a:spcAft>
                <a:spcPts val="0"/>
              </a:spcAft>
            </a:pPr>
            <a:r>
              <a:rPr sz="2200" b="1" i="0">
                <a:solidFill>
                  <a:srgbClr val="D7263D"/>
                </a:solidFill>
                <a:latin typeface="Arial"/>
                <a:ea typeface="Arial"/>
                <a:cs typeface="Arial"/>
              </a:rPr>
              <a:t>0 of 92</a:t>
            </a:r>
          </a:p>
        </p:txBody>
      </p:sp>
      <p:sp>
        <p:nvSpPr>
          <p:cNvPr id="14" name="TextBox 13"/>
          <p:cNvSpPr txBox="1"/>
          <p:nvPr/>
        </p:nvSpPr>
        <p:spPr>
          <a:xfrm>
            <a:off x="2093976" y="2404872"/>
            <a:ext cx="4114800" cy="548640"/>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F1F1F"/>
                </a:solidFill>
                <a:latin typeface="Arial"/>
                <a:ea typeface="Arial"/>
                <a:cs typeface="Arial"/>
              </a:rPr>
              <a:t>Biomedical promotion guidelines worldwide that mention data sharing, registration or open access.</a:t>
            </a:r>
          </a:p>
        </p:txBody>
      </p:sp>
      <p:sp>
        <p:nvSpPr>
          <p:cNvPr id="15" name="TextBox 14"/>
          <p:cNvSpPr txBox="1"/>
          <p:nvPr/>
        </p:nvSpPr>
        <p:spPr>
          <a:xfrm>
            <a:off x="6345936" y="2404872"/>
            <a:ext cx="1188720" cy="548640"/>
          </a:xfrm>
          <a:prstGeom prst="rect">
            <a:avLst/>
          </a:prstGeom>
          <a:noFill/>
        </p:spPr>
        <p:txBody>
          <a:bodyPr wrap="square" lIns="0" rIns="0" tIns="0" bIns="0" anchor="ctr">
            <a:noAutofit/>
          </a:bodyPr>
          <a:lstStyle/>
          <a:p>
            <a:pPr algn="l">
              <a:lnSpc>
                <a:spcPct val="100000"/>
              </a:lnSpc>
              <a:spcBef>
                <a:spcPts val="0"/>
              </a:spcBef>
              <a:spcAft>
                <a:spcPts val="0"/>
              </a:spcAft>
            </a:pPr>
            <a:r>
              <a:rPr sz="1000" b="0" i="0">
                <a:solidFill>
                  <a:srgbClr val="5F5F5F"/>
                </a:solidFill>
                <a:latin typeface="Arial"/>
                <a:ea typeface="Arial"/>
                <a:cs typeface="Arial"/>
              </a:rPr>
              <a:t>Rice 2020, BMJ</a:t>
            </a:r>
          </a:p>
        </p:txBody>
      </p:sp>
      <p:cxnSp>
        <p:nvCxnSpPr>
          <p:cNvPr id="16" name="Connector 15"/>
          <p:cNvCxnSpPr/>
          <p:nvPr/>
        </p:nvCxnSpPr>
        <p:spPr>
          <a:xfrm>
            <a:off x="310896" y="3017520"/>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0896" y="3081527"/>
            <a:ext cx="1691640" cy="548640"/>
          </a:xfrm>
          <a:prstGeom prst="rect">
            <a:avLst/>
          </a:prstGeom>
          <a:noFill/>
        </p:spPr>
        <p:txBody>
          <a:bodyPr wrap="square" lIns="0" rIns="0" tIns="0" bIns="0" anchor="ctr">
            <a:noAutofit/>
          </a:bodyPr>
          <a:lstStyle/>
          <a:p>
            <a:pPr algn="l">
              <a:lnSpc>
                <a:spcPct val="100000"/>
              </a:lnSpc>
              <a:spcBef>
                <a:spcPts val="0"/>
              </a:spcBef>
              <a:spcAft>
                <a:spcPts val="0"/>
              </a:spcAft>
            </a:pPr>
            <a:r>
              <a:rPr sz="2200" b="1" i="0">
                <a:solidFill>
                  <a:srgbClr val="1F1F1F"/>
                </a:solidFill>
                <a:latin typeface="Arial"/>
                <a:ea typeface="Arial"/>
                <a:cs typeface="Arial"/>
              </a:rPr>
              <a:t>44% vs 96%</a:t>
            </a:r>
          </a:p>
        </p:txBody>
      </p:sp>
      <p:sp>
        <p:nvSpPr>
          <p:cNvPr id="18" name="TextBox 17"/>
          <p:cNvSpPr txBox="1"/>
          <p:nvPr/>
        </p:nvSpPr>
        <p:spPr>
          <a:xfrm>
            <a:off x="2093976" y="3081527"/>
            <a:ext cx="4114800" cy="548640"/>
          </a:xfrm>
          <a:prstGeom prst="rect">
            <a:avLst/>
          </a:prstGeom>
          <a:noFill/>
        </p:spPr>
        <p:txBody>
          <a:bodyPr wrap="square" lIns="0" rIns="0" tIns="0" bIns="0" anchor="ctr">
            <a:noAutofit/>
          </a:bodyPr>
          <a:lstStyle/>
          <a:p>
            <a:pPr algn="l">
              <a:lnSpc>
                <a:spcPct val="100000"/>
              </a:lnSpc>
              <a:spcBef>
                <a:spcPts val="0"/>
              </a:spcBef>
              <a:spcAft>
                <a:spcPts val="0"/>
              </a:spcAft>
            </a:pPr>
            <a:r>
              <a:rPr sz="1150" b="0" i="0">
                <a:solidFill>
                  <a:srgbClr val="1F1F1F"/>
                </a:solidFill>
                <a:latin typeface="Arial"/>
                <a:ea typeface="Arial"/>
                <a:cs typeface="Arial"/>
              </a:rPr>
              <a:t>Positive results in Registered Reports versus the standard literature. Changing when review happens changes what gets published.</a:t>
            </a:r>
          </a:p>
        </p:txBody>
      </p:sp>
      <p:sp>
        <p:nvSpPr>
          <p:cNvPr id="19" name="TextBox 18"/>
          <p:cNvSpPr txBox="1"/>
          <p:nvPr/>
        </p:nvSpPr>
        <p:spPr>
          <a:xfrm>
            <a:off x="6345936" y="3081527"/>
            <a:ext cx="1188720" cy="548640"/>
          </a:xfrm>
          <a:prstGeom prst="rect">
            <a:avLst/>
          </a:prstGeom>
          <a:noFill/>
        </p:spPr>
        <p:txBody>
          <a:bodyPr wrap="square" lIns="0" rIns="0" tIns="0" bIns="0" anchor="ctr">
            <a:noAutofit/>
          </a:bodyPr>
          <a:lstStyle/>
          <a:p>
            <a:pPr algn="l">
              <a:lnSpc>
                <a:spcPct val="100000"/>
              </a:lnSpc>
              <a:spcBef>
                <a:spcPts val="0"/>
              </a:spcBef>
              <a:spcAft>
                <a:spcPts val="0"/>
              </a:spcAft>
            </a:pPr>
            <a:r>
              <a:rPr sz="1000" b="0" i="0">
                <a:solidFill>
                  <a:srgbClr val="5F5F5F"/>
                </a:solidFill>
                <a:latin typeface="Arial"/>
                <a:ea typeface="Arial"/>
                <a:cs typeface="Arial"/>
              </a:rPr>
              <a:t>Scheel 2021</a:t>
            </a:r>
          </a:p>
        </p:txBody>
      </p:sp>
      <p:cxnSp>
        <p:nvCxnSpPr>
          <p:cNvPr id="20" name="Connector 19"/>
          <p:cNvCxnSpPr/>
          <p:nvPr/>
        </p:nvCxnSpPr>
        <p:spPr>
          <a:xfrm>
            <a:off x="310896" y="3694176"/>
            <a:ext cx="7223760" cy="0"/>
          </a:xfrm>
          <a:prstGeom prst="line">
            <a:avLst/>
          </a:prstGeom>
          <a:ln w="9525">
            <a:solidFill>
              <a:srgbClr val="C8C8C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0896" y="3822191"/>
            <a:ext cx="7223760" cy="566928"/>
          </a:xfrm>
          <a:prstGeom prst="rect">
            <a:avLst/>
          </a:prstGeom>
          <a:noFill/>
        </p:spPr>
        <p:txBody>
          <a:bodyPr wrap="square" lIns="0" rIns="0" tIns="0" bIns="0" anchor="t">
            <a:noAutofit/>
          </a:bodyPr>
          <a:lstStyle/>
          <a:p>
            <a:pPr algn="l">
              <a:lnSpc>
                <a:spcPct val="100000"/>
              </a:lnSpc>
              <a:spcBef>
                <a:spcPts val="0"/>
              </a:spcBef>
              <a:spcAft>
                <a:spcPts val="0"/>
              </a:spcAft>
            </a:pPr>
            <a:r>
              <a:rPr sz="1500" b="0" i="1">
                <a:solidFill>
                  <a:srgbClr val="1F1F1F"/>
                </a:solidFill>
                <a:latin typeface="Arial"/>
                <a:ea typeface="Arial"/>
                <a:cs typeface="Arial"/>
              </a:rPr>
              <a:t>Stroke researchers are not less honest than psychologists. They respond to the same incentives, and ours point the other way.</a:t>
            </a:r>
          </a:p>
        </p:txBody>
      </p:sp>
      <p:sp>
        <p:nvSpPr>
          <p:cNvPr id="22" name="TextBox 21"/>
          <p:cNvSpPr txBox="1"/>
          <p:nvPr/>
        </p:nvSpPr>
        <p:spPr>
          <a:xfrm>
            <a:off x="310896" y="4626864"/>
            <a:ext cx="7040880" cy="329184"/>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Cardiology survey, n = 198: funding named the most essential incentive; “policy alone will not lead to implementation” (Cobey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itle 1"/>
          <p:cNvSpPr>
            <a:spLocks noGrp="1"/>
          </p:cNvSpPr>
          <p:nvPr>
            <p:ph type="title"/>
          </p:nvPr>
        </p:nvSpPr>
        <p:spPr>
          <a:xfrm>
            <a:off x="310896" y="347472"/>
            <a:ext cx="7223760" cy="411480"/>
          </a:xfrm>
        </p:spPr>
        <p:txBody>
          <a:bodyPr wrap="square" lIns="0" rIns="0" tIns="0" bIns="0" anchor="t">
            <a:noAutofit/>
          </a:bodyPr>
          <a:lstStyle/>
          <a:p>
            <a:pPr algn="l">
              <a:lnSpc>
                <a:spcPct val="100000"/>
              </a:lnSpc>
              <a:spcBef>
                <a:spcPts val="0"/>
              </a:spcBef>
              <a:spcAft>
                <a:spcPts val="0"/>
              </a:spcAft>
            </a:pPr>
            <a:r>
              <a:rPr sz="2100" b="1" i="0">
                <a:solidFill>
                  <a:srgbClr val="1D429C"/>
                </a:solidFill>
                <a:latin typeface="Arial"/>
                <a:ea typeface="Arial"/>
                <a:cs typeface="Arial"/>
              </a:rPr>
              <a:t>A task force, a prize, and awareness</a:t>
            </a:r>
          </a:p>
        </p:txBody>
      </p:sp>
      <p:sp>
        <p:nvSpPr>
          <p:cNvPr id="3" name="TextBox 2"/>
          <p:cNvSpPr txBox="1"/>
          <p:nvPr/>
        </p:nvSpPr>
        <p:spPr>
          <a:xfrm>
            <a:off x="310896" y="155448"/>
            <a:ext cx="722376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D7263D"/>
                </a:solidFill>
                <a:latin typeface="Arial"/>
                <a:ea typeface="Arial"/>
                <a:cs typeface="Arial"/>
              </a:rPr>
              <a:t>13  </a:t>
            </a:r>
            <a:r>
              <a:rPr sz="1100" b="0" i="0">
                <a:solidFill>
                  <a:srgbClr val="5F5F5F"/>
                </a:solidFill>
                <a:latin typeface="Arial"/>
                <a:ea typeface="Arial"/>
                <a:cs typeface="Arial"/>
              </a:rPr>
              <a:t>What to do next</a:t>
            </a:r>
          </a:p>
        </p:txBody>
      </p:sp>
      <p:sp>
        <p:nvSpPr>
          <p:cNvPr id="4" name="Rectangle 3"/>
          <p:cNvSpPr/>
          <p:nvPr/>
        </p:nvSpPr>
        <p:spPr>
          <a:xfrm>
            <a:off x="310896" y="932688"/>
            <a:ext cx="2407920" cy="3456432"/>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9768" y="1024128"/>
            <a:ext cx="2170175" cy="3291840"/>
          </a:xfrm>
          <a:prstGeom prst="rect">
            <a:avLst/>
          </a:prstGeom>
          <a:noFill/>
        </p:spPr>
        <p:txBody>
          <a:bodyPr wrap="square" lIns="0" rIns="0" tIns="0" bIns="0" anchor="t">
            <a:noAutofit/>
          </a:bodyPr>
          <a:lstStyle/>
          <a:p>
            <a:pPr algn="l">
              <a:lnSpc>
                <a:spcPct val="100000"/>
              </a:lnSpc>
              <a:spcBef>
                <a:spcPts val="0"/>
              </a:spcBef>
              <a:spcAft>
                <a:spcPts val="200"/>
              </a:spcAft>
            </a:pPr>
            <a:r>
              <a:rPr sz="2200" b="1" i="0">
                <a:solidFill>
                  <a:srgbClr val="D7263D"/>
                </a:solidFill>
                <a:latin typeface="Arial"/>
                <a:ea typeface="Arial"/>
                <a:cs typeface="Arial"/>
              </a:rPr>
              <a:t>1</a:t>
            </a:r>
          </a:p>
          <a:p>
            <a:pPr algn="l">
              <a:lnSpc>
                <a:spcPct val="100000"/>
              </a:lnSpc>
              <a:spcBef>
                <a:spcPts val="0"/>
              </a:spcBef>
              <a:spcAft>
                <a:spcPts val="600"/>
              </a:spcAft>
            </a:pPr>
            <a:r>
              <a:rPr sz="1350" b="1" i="0">
                <a:solidFill>
                  <a:srgbClr val="1F1F1F"/>
                </a:solidFill>
                <a:latin typeface="Arial"/>
                <a:ea typeface="Arial"/>
                <a:cs typeface="Arial"/>
              </a:rPr>
              <a:t>A WSO task force on open science</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A position statement: no stroke society has one</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Retire “available on request” in Stroke, IJS, ESJ and JSCVD: a repository, VISTA or Vivli, or a stated reason</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Registered Reports for stroke trials, with in-principle acceptance tied to WSO and ESO grants</a:t>
            </a:r>
          </a:p>
          <a:p>
            <a:pPr algn="l" marL="152400" indent="-152400">
              <a:lnSpc>
                <a:spcPct val="100000"/>
              </a:lnSpc>
              <a:spcBef>
                <a:spcPts val="0"/>
              </a:spcBef>
              <a:spcAft>
                <a:spcPts val="0"/>
              </a:spcAft>
              <a:buFont typeface="Arial"/>
              <a:buChar char="•"/>
            </a:pPr>
            <a:r>
              <a:rPr sz="1100" b="0" i="0">
                <a:solidFill>
                  <a:srgbClr val="1F1F1F"/>
                </a:solidFill>
                <a:latin typeface="Arial"/>
                <a:ea typeface="Arial"/>
                <a:cs typeface="Arial"/>
              </a:rPr>
              <a:t>Embargoed sharing as the trial default, twelve months after publication</a:t>
            </a:r>
          </a:p>
        </p:txBody>
      </p:sp>
      <p:sp>
        <p:nvSpPr>
          <p:cNvPr id="6" name="Rectangle 5"/>
          <p:cNvSpPr/>
          <p:nvPr/>
        </p:nvSpPr>
        <p:spPr>
          <a:xfrm>
            <a:off x="2718816" y="932688"/>
            <a:ext cx="2407920" cy="3456432"/>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7687" y="1024128"/>
            <a:ext cx="2170175" cy="3291840"/>
          </a:xfrm>
          <a:prstGeom prst="rect">
            <a:avLst/>
          </a:prstGeom>
          <a:noFill/>
        </p:spPr>
        <p:txBody>
          <a:bodyPr wrap="square" lIns="0" rIns="0" tIns="0" bIns="0" anchor="t">
            <a:noAutofit/>
          </a:bodyPr>
          <a:lstStyle/>
          <a:p>
            <a:pPr algn="l">
              <a:lnSpc>
                <a:spcPct val="100000"/>
              </a:lnSpc>
              <a:spcBef>
                <a:spcPts val="0"/>
              </a:spcBef>
              <a:spcAft>
                <a:spcPts val="200"/>
              </a:spcAft>
            </a:pPr>
            <a:r>
              <a:rPr sz="2200" b="1" i="0">
                <a:solidFill>
                  <a:srgbClr val="D7263D"/>
                </a:solidFill>
                <a:latin typeface="Arial"/>
                <a:ea typeface="Arial"/>
                <a:cs typeface="Arial"/>
              </a:rPr>
              <a:t>2</a:t>
            </a:r>
          </a:p>
          <a:p>
            <a:pPr algn="l">
              <a:lnSpc>
                <a:spcPct val="100000"/>
              </a:lnSpc>
              <a:spcBef>
                <a:spcPts val="0"/>
              </a:spcBef>
              <a:spcAft>
                <a:spcPts val="600"/>
              </a:spcAft>
            </a:pPr>
            <a:r>
              <a:rPr sz="1350" b="1" i="0">
                <a:solidFill>
                  <a:srgbClr val="1F1F1F"/>
                </a:solidFill>
                <a:latin typeface="Arial"/>
                <a:ea typeface="Arial"/>
                <a:cs typeface="Arial"/>
              </a:rPr>
              <a:t>A prize for the teams that share</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The commitment index: verified in the full text, recomputed every six months</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Institutions, journals, funders and countries</a:t>
            </a:r>
          </a:p>
          <a:p>
            <a:pPr algn="l" marL="152400" indent="-152400">
              <a:lnSpc>
                <a:spcPct val="100000"/>
              </a:lnSpc>
              <a:spcBef>
                <a:spcPts val="0"/>
              </a:spcBef>
              <a:spcAft>
                <a:spcPts val="0"/>
              </a:spcAft>
              <a:buFont typeface="Arial"/>
              <a:buChar char="•"/>
            </a:pPr>
            <a:r>
              <a:rPr sz="1100" b="0" i="0">
                <a:solidFill>
                  <a:srgbClr val="1F1F1F"/>
                </a:solidFill>
                <a:latin typeface="Arial"/>
                <a:ea typeface="Arial"/>
                <a:cs typeface="Arial"/>
              </a:rPr>
              <a:t>On the Einstein Foundation model, presented at this congress</a:t>
            </a:r>
          </a:p>
        </p:txBody>
      </p:sp>
      <p:sp>
        <p:nvSpPr>
          <p:cNvPr id="8" name="Rectangle 7"/>
          <p:cNvSpPr/>
          <p:nvPr/>
        </p:nvSpPr>
        <p:spPr>
          <a:xfrm>
            <a:off x="5126736" y="932688"/>
            <a:ext cx="2407920" cy="3456432"/>
          </a:xfrm>
          <a:prstGeom prst="rect">
            <a:avLst/>
          </a:prstGeom>
          <a:no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45608" y="1024128"/>
            <a:ext cx="2170175" cy="3291840"/>
          </a:xfrm>
          <a:prstGeom prst="rect">
            <a:avLst/>
          </a:prstGeom>
          <a:noFill/>
        </p:spPr>
        <p:txBody>
          <a:bodyPr wrap="square" lIns="0" rIns="0" tIns="0" bIns="0" anchor="t">
            <a:noAutofit/>
          </a:bodyPr>
          <a:lstStyle/>
          <a:p>
            <a:pPr algn="l">
              <a:lnSpc>
                <a:spcPct val="100000"/>
              </a:lnSpc>
              <a:spcBef>
                <a:spcPts val="0"/>
              </a:spcBef>
              <a:spcAft>
                <a:spcPts val="200"/>
              </a:spcAft>
            </a:pPr>
            <a:r>
              <a:rPr sz="2200" b="1" i="0">
                <a:solidFill>
                  <a:srgbClr val="D7263D"/>
                </a:solidFill>
                <a:latin typeface="Arial"/>
                <a:ea typeface="Arial"/>
                <a:cs typeface="Arial"/>
              </a:rPr>
              <a:t>3</a:t>
            </a:r>
          </a:p>
          <a:p>
            <a:pPr algn="l">
              <a:lnSpc>
                <a:spcPct val="100000"/>
              </a:lnSpc>
              <a:spcBef>
                <a:spcPts val="0"/>
              </a:spcBef>
              <a:spcAft>
                <a:spcPts val="600"/>
              </a:spcAft>
            </a:pPr>
            <a:r>
              <a:rPr sz="1350" b="1" i="0">
                <a:solidFill>
                  <a:srgbClr val="1F1F1F"/>
                </a:solidFill>
                <a:latin typeface="Arial"/>
                <a:ea typeface="Arial"/>
                <a:cs typeface="Arial"/>
              </a:rPr>
              <a:t>Awareness</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The public benchmark, updated every six months</a:t>
            </a:r>
          </a:p>
          <a:p>
            <a:pPr algn="l" marL="152400" indent="-152400">
              <a:lnSpc>
                <a:spcPct val="100000"/>
              </a:lnSpc>
              <a:spcBef>
                <a:spcPts val="0"/>
              </a:spcBef>
              <a:spcAft>
                <a:spcPts val="400"/>
              </a:spcAft>
              <a:buFont typeface="Arial"/>
              <a:buChar char="•"/>
            </a:pPr>
            <a:r>
              <a:rPr sz="1100" b="0" i="0">
                <a:solidFill>
                  <a:srgbClr val="1F1F1F"/>
                </a:solidFill>
                <a:latin typeface="Arial"/>
                <a:ea typeface="Arial"/>
                <a:cs typeface="Arial"/>
              </a:rPr>
              <a:t>Open-science items in promotion criteria: 0 of 92 guidelines today</a:t>
            </a:r>
          </a:p>
          <a:p>
            <a:pPr algn="l" marL="152400" indent="-152400">
              <a:lnSpc>
                <a:spcPct val="100000"/>
              </a:lnSpc>
              <a:spcBef>
                <a:spcPts val="0"/>
              </a:spcBef>
              <a:spcAft>
                <a:spcPts val="0"/>
              </a:spcAft>
              <a:buFont typeface="Arial"/>
              <a:buChar char="•"/>
            </a:pPr>
            <a:r>
              <a:rPr sz="1100" b="0" i="0">
                <a:solidFill>
                  <a:srgbClr val="1F1F1F"/>
                </a:solidFill>
                <a:latin typeface="Arial"/>
                <a:ea typeface="Arial"/>
                <a:cs typeface="Arial"/>
              </a:rPr>
              <a:t>Targets to discuss: data in a repository or controlled-access platform for 25% of stroke articles by 2030; “on request” under 10%; one Registered Report track in a stroke journal by 2028</a:t>
            </a:r>
          </a:p>
        </p:txBody>
      </p:sp>
      <p:sp>
        <p:nvSpPr>
          <p:cNvPr id="10" name="TextBox 9"/>
          <p:cNvSpPr txBox="1"/>
          <p:nvPr/>
        </p:nvSpPr>
        <p:spPr>
          <a:xfrm>
            <a:off x="310896" y="4645152"/>
            <a:ext cx="7040880" cy="310896"/>
          </a:xfrm>
          <a:prstGeom prst="rect">
            <a:avLst/>
          </a:prstGeom>
          <a:noFill/>
        </p:spPr>
        <p:txBody>
          <a:bodyPr wrap="square" lIns="0" rIns="0" tIns="0" bIns="0" anchor="b">
            <a:noAutofit/>
          </a:bodyPr>
          <a:lstStyle/>
          <a:p>
            <a:pPr algn="l">
              <a:lnSpc>
                <a:spcPct val="100000"/>
              </a:lnSpc>
              <a:spcBef>
                <a:spcPts val="0"/>
              </a:spcBef>
              <a:spcAft>
                <a:spcPts val="0"/>
              </a:spcAft>
            </a:pPr>
            <a:r>
              <a:rPr sz="1000" b="0" i="0">
                <a:solidFill>
                  <a:srgbClr val="5F5F5F"/>
                </a:solidFill>
                <a:latin typeface="Arial"/>
                <a:ea typeface="Arial"/>
                <a:cs typeface="Arial"/>
              </a:rPr>
              <a:t>The statement, retiring “on request” and promotion criteria cost nothing. Registered Reports, the prize and the infrastructure need money, and the infrastructure mostly exists: VISTA, ATLAS, ENIGMA.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p:sp>
        <p:nvSpPr>
          <p:cNvPr id="2" name="TextBox 1"/>
          <p:cNvSpPr txBox="1"/>
          <p:nvPr/>
        </p:nvSpPr>
        <p:spPr>
          <a:xfrm>
            <a:off x="548640" y="1325880"/>
            <a:ext cx="4846320" cy="822960"/>
          </a:xfrm>
          <a:prstGeom prst="rect">
            <a:avLst/>
          </a:prstGeom>
          <a:noFill/>
        </p:spPr>
        <p:txBody>
          <a:bodyPr wrap="square" lIns="0" rIns="0" tIns="0" bIns="0" anchor="t">
            <a:noAutofit/>
          </a:bodyPr>
          <a:lstStyle/>
          <a:p>
            <a:pPr algn="l">
              <a:lnSpc>
                <a:spcPct val="100000"/>
              </a:lnSpc>
              <a:spcBef>
                <a:spcPts val="0"/>
              </a:spcBef>
              <a:spcAft>
                <a:spcPts val="0"/>
              </a:spcAft>
            </a:pPr>
            <a:r>
              <a:rPr sz="1700" b="0" i="1">
                <a:solidFill>
                  <a:srgbClr val="FFFFFF"/>
                </a:solidFill>
                <a:latin typeface="Arial"/>
                <a:ea typeface="Arial"/>
                <a:cs typeface="Arial"/>
              </a:rPr>
              <a:t>We measured ourselves. The numbers are not flattering, but they are measurable, which means they are improvable.</a:t>
            </a:r>
          </a:p>
        </p:txBody>
      </p:sp>
      <p:sp>
        <p:nvSpPr>
          <p:cNvPr id="3" name="TextBox 2"/>
          <p:cNvSpPr txBox="1"/>
          <p:nvPr/>
        </p:nvSpPr>
        <p:spPr>
          <a:xfrm>
            <a:off x="548640" y="2258568"/>
            <a:ext cx="4572000" cy="201168"/>
          </a:xfrm>
          <a:prstGeom prst="rect">
            <a:avLst/>
          </a:prstGeom>
          <a:noFill/>
        </p:spPr>
        <p:txBody>
          <a:bodyPr wrap="square" lIns="0" rIns="0" tIns="0" bIns="0" anchor="t">
            <a:noAutofit/>
          </a:bodyPr>
          <a:lstStyle/>
          <a:p>
            <a:pPr algn="l">
              <a:lnSpc>
                <a:spcPct val="100000"/>
              </a:lnSpc>
              <a:spcBef>
                <a:spcPts val="0"/>
              </a:spcBef>
              <a:spcAft>
                <a:spcPts val="0"/>
              </a:spcAft>
            </a:pPr>
            <a:r>
              <a:rPr sz="1100" b="1" i="0">
                <a:solidFill>
                  <a:srgbClr val="8CD17A"/>
                </a:solidFill>
                <a:latin typeface="Arial"/>
                <a:ea typeface="Arial"/>
                <a:cs typeface="Arial"/>
              </a:rPr>
              <a:t>COLLABORATE</a:t>
            </a:r>
          </a:p>
        </p:txBody>
      </p:sp>
      <p:pic>
        <p:nvPicPr>
          <p:cNvPr id="4" name="Picture 3" descr="qr_dashboard.jpg"/>
          <p:cNvPicPr>
            <a:picLocks noChangeAspect="1"/>
          </p:cNvPicPr>
          <p:nvPr/>
        </p:nvPicPr>
        <p:blipFill>
          <a:blip r:embed="rId3"/>
          <a:stretch>
            <a:fillRect/>
          </a:stretch>
        </p:blipFill>
        <p:spPr>
          <a:xfrm>
            <a:off x="548640" y="2523744"/>
            <a:ext cx="786384" cy="786384"/>
          </a:xfrm>
          <a:prstGeom prst="rect">
            <a:avLst/>
          </a:prstGeom>
        </p:spPr>
      </p:pic>
      <p:sp>
        <p:nvSpPr>
          <p:cNvPr id="5" name="TextBox 4"/>
          <p:cNvSpPr txBox="1"/>
          <p:nvPr/>
        </p:nvSpPr>
        <p:spPr>
          <a:xfrm>
            <a:off x="1463040" y="2523744"/>
            <a:ext cx="4023360" cy="786384"/>
          </a:xfrm>
          <a:prstGeom prst="rect">
            <a:avLst/>
          </a:prstGeom>
          <a:noFill/>
        </p:spPr>
        <p:txBody>
          <a:bodyPr wrap="square" lIns="0" rIns="0" tIns="0" bIns="0" anchor="ctr">
            <a:noAutofit/>
          </a:bodyPr>
          <a:lstStyle/>
          <a:p>
            <a:pPr algn="l">
              <a:lnSpc>
                <a:spcPct val="100000"/>
              </a:lnSpc>
              <a:spcBef>
                <a:spcPts val="0"/>
              </a:spcBef>
              <a:spcAft>
                <a:spcPts val="200"/>
              </a:spcAft>
            </a:pPr>
            <a:r>
              <a:rPr sz="1200" b="1" i="0">
                <a:solidFill>
                  <a:srgbClr val="FFFFFF"/>
                </a:solidFill>
                <a:latin typeface="Arial"/>
                <a:ea typeface="Arial"/>
                <a:cs typeface="Arial"/>
              </a:rPr>
              <a:t>Stroke Open-Science Benchmark</a:t>
            </a:r>
          </a:p>
          <a:p>
            <a:pPr algn="l">
              <a:lnSpc>
                <a:spcPct val="100000"/>
              </a:lnSpc>
              <a:spcBef>
                <a:spcPts val="0"/>
              </a:spcBef>
              <a:spcAft>
                <a:spcPts val="200"/>
              </a:spcAft>
            </a:pPr>
            <a:r>
              <a:rPr sz="1100" b="0" i="0">
                <a:solidFill>
                  <a:srgbClr val="FFFFFF"/>
                </a:solidFill>
                <a:latin typeface="Arial"/>
                <a:ea typeface="Arial"/>
                <a:cs typeface="Arial"/>
              </a:rPr>
              <a:t>friseeb.github.io/stroke_open_science_outputs</a:t>
            </a:r>
          </a:p>
          <a:p>
            <a:pPr algn="l">
              <a:lnSpc>
                <a:spcPct val="100000"/>
              </a:lnSpc>
              <a:spcBef>
                <a:spcPts val="0"/>
              </a:spcBef>
              <a:spcAft>
                <a:spcPts val="0"/>
              </a:spcAft>
            </a:pPr>
            <a:r>
              <a:rPr sz="1050" b="0" i="0">
                <a:solidFill>
                  <a:srgbClr val="DCE6F5"/>
                </a:solidFill>
                <a:latin typeface="Arial"/>
                <a:ea typeface="Arial"/>
                <a:cs typeface="Arial"/>
              </a:rPr>
              <a:t>Explore it, challenge it, run it on your field</a:t>
            </a:r>
          </a:p>
        </p:txBody>
      </p:sp>
      <p:pic>
        <p:nvPicPr>
          <p:cNvPr id="6" name="Picture 5" descr="qr_repo.jpg"/>
          <p:cNvPicPr>
            <a:picLocks noChangeAspect="1"/>
          </p:cNvPicPr>
          <p:nvPr/>
        </p:nvPicPr>
        <p:blipFill>
          <a:blip r:embed="rId4"/>
          <a:stretch>
            <a:fillRect/>
          </a:stretch>
        </p:blipFill>
        <p:spPr>
          <a:xfrm>
            <a:off x="548640" y="3419856"/>
            <a:ext cx="786384" cy="786384"/>
          </a:xfrm>
          <a:prstGeom prst="rect">
            <a:avLst/>
          </a:prstGeom>
        </p:spPr>
      </p:pic>
      <p:sp>
        <p:nvSpPr>
          <p:cNvPr id="7" name="TextBox 6"/>
          <p:cNvSpPr txBox="1"/>
          <p:nvPr/>
        </p:nvSpPr>
        <p:spPr>
          <a:xfrm>
            <a:off x="1463040" y="3419856"/>
            <a:ext cx="4023360" cy="786384"/>
          </a:xfrm>
          <a:prstGeom prst="rect">
            <a:avLst/>
          </a:prstGeom>
          <a:noFill/>
        </p:spPr>
        <p:txBody>
          <a:bodyPr wrap="square" lIns="0" rIns="0" tIns="0" bIns="0" anchor="ctr">
            <a:noAutofit/>
          </a:bodyPr>
          <a:lstStyle/>
          <a:p>
            <a:pPr algn="l">
              <a:lnSpc>
                <a:spcPct val="100000"/>
              </a:lnSpc>
              <a:spcBef>
                <a:spcPts val="0"/>
              </a:spcBef>
              <a:spcAft>
                <a:spcPts val="200"/>
              </a:spcAft>
            </a:pPr>
            <a:r>
              <a:rPr sz="1200" b="1" i="0">
                <a:solidFill>
                  <a:srgbClr val="FFFFFF"/>
                </a:solidFill>
                <a:latin typeface="Arial"/>
                <a:ea typeface="Arial"/>
                <a:cs typeface="Arial"/>
              </a:rPr>
              <a:t>Code and data</a:t>
            </a:r>
          </a:p>
          <a:p>
            <a:pPr algn="l">
              <a:lnSpc>
                <a:spcPct val="100000"/>
              </a:lnSpc>
              <a:spcBef>
                <a:spcPts val="0"/>
              </a:spcBef>
              <a:spcAft>
                <a:spcPts val="200"/>
              </a:spcAft>
            </a:pPr>
            <a:r>
              <a:rPr sz="1100" b="0" i="0">
                <a:solidFill>
                  <a:srgbClr val="FFFFFF"/>
                </a:solidFill>
                <a:latin typeface="Arial"/>
                <a:ea typeface="Arial"/>
                <a:cs typeface="Arial"/>
              </a:rPr>
              <a:t>github.com/Friseeb/stroke_open_science</a:t>
            </a:r>
          </a:p>
          <a:p>
            <a:pPr algn="l">
              <a:lnSpc>
                <a:spcPct val="100000"/>
              </a:lnSpc>
              <a:spcBef>
                <a:spcPts val="0"/>
              </a:spcBef>
              <a:spcAft>
                <a:spcPts val="0"/>
              </a:spcAft>
            </a:pPr>
            <a:r>
              <a:rPr sz="1050" b="0" i="0">
                <a:solidFill>
                  <a:srgbClr val="DCE6F5"/>
                </a:solidFill>
                <a:latin typeface="Arial"/>
                <a:ea typeface="Arial"/>
                <a:cs typeface="Arial"/>
              </a:rPr>
              <a:t>Open source; the next run is January 2027</a:t>
            </a:r>
          </a:p>
        </p:txBody>
      </p:sp>
      <p:sp>
        <p:nvSpPr>
          <p:cNvPr id="8" name="TextBox 7"/>
          <p:cNvSpPr txBox="1"/>
          <p:nvPr/>
        </p:nvSpPr>
        <p:spPr>
          <a:xfrm>
            <a:off x="548640" y="4370832"/>
            <a:ext cx="4846320" cy="585216"/>
          </a:xfrm>
          <a:prstGeom prst="rect">
            <a:avLst/>
          </a:prstGeom>
          <a:noFill/>
        </p:spPr>
        <p:txBody>
          <a:bodyPr wrap="square" lIns="0" rIns="0" tIns="0" bIns="0" anchor="t">
            <a:noAutofit/>
          </a:bodyPr>
          <a:lstStyle/>
          <a:p>
            <a:pPr algn="l">
              <a:lnSpc>
                <a:spcPct val="100000"/>
              </a:lnSpc>
              <a:spcBef>
                <a:spcPts val="0"/>
              </a:spcBef>
              <a:spcAft>
                <a:spcPts val="200"/>
              </a:spcAft>
            </a:pPr>
            <a:r>
              <a:rPr sz="1200" b="1" i="0">
                <a:solidFill>
                  <a:srgbClr val="FFFFFF"/>
                </a:solidFill>
                <a:latin typeface="Arial"/>
                <a:ea typeface="Arial"/>
                <a:cs typeface="Arial"/>
              </a:rPr>
              <a:t>Sebastian Fridman · </a:t>
            </a:r>
            <a:r>
              <a:rPr sz="1200" b="1" i="0">
                <a:solidFill>
                  <a:srgbClr val="8CD17A"/>
                </a:solidFill>
                <a:latin typeface="Arial"/>
                <a:ea typeface="Arial"/>
                <a:cs typeface="Arial"/>
              </a:rPr>
              <a:t>sfridma@uwo.ca</a:t>
            </a:r>
          </a:p>
          <a:p>
            <a:pPr algn="l">
              <a:lnSpc>
                <a:spcPct val="100000"/>
              </a:lnSpc>
              <a:spcBef>
                <a:spcPts val="0"/>
              </a:spcBef>
              <a:spcAft>
                <a:spcPts val="200"/>
              </a:spcAft>
            </a:pPr>
            <a:r>
              <a:rPr sz="1050" b="0" i="0">
                <a:solidFill>
                  <a:srgbClr val="DCE6F5"/>
                </a:solidFill>
                <a:latin typeface="Arial"/>
                <a:ea typeface="Arial"/>
                <a:cs typeface="Arial"/>
              </a:rPr>
              <a:t>Western University · London Health Sciences Centre</a:t>
            </a:r>
          </a:p>
          <a:p>
            <a:pPr algn="l">
              <a:lnSpc>
                <a:spcPct val="100000"/>
              </a:lnSpc>
              <a:spcBef>
                <a:spcPts val="0"/>
              </a:spcBef>
              <a:spcAft>
                <a:spcPts val="0"/>
              </a:spcAft>
            </a:pPr>
            <a:r>
              <a:rPr sz="1050" b="0" i="0">
                <a:solidFill>
                  <a:srgbClr val="DCE6F5"/>
                </a:solidFill>
                <a:latin typeface="Arial"/>
                <a:ea typeface="Arial"/>
                <a:cs typeface="Arial"/>
              </a:rPr>
              <a:t>Write to join the task force or to audit your own field</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FolderID xmlns="eb3f7de7-c935-4ca6-a12c-1f73773710ec" xsi:nil="true"/>
    <KenesDocumentTypeId xmlns="eb3f7de7-c935-4ca6-a12c-1f73773710ec" xsi:nil="true"/>
    <Confidential1 xmlns="eb3f7de7-c935-4ca6-a12c-1f73773710ec">false</Confidential1>
    <Final xmlns="eb3f7de7-c935-4ca6-a12c-1f73773710ec">false</Final>
    <_ip_UnifiedCompliancePolicyUIAction xmlns="http://schemas.microsoft.com/sharepoint/v3" xsi:nil="true"/>
    <lcf76f155ced4ddcb4097134ff3c332f xmlns="1c14aaab-0828-4cd2-9ca4-1807938f7b2f">
      <Terms xmlns="http://schemas.microsoft.com/office/infopath/2007/PartnerControls"/>
    </lcf76f155ced4ddcb4097134ff3c332f>
    <TaxCatchAll xmlns="eb3f7de7-c935-4ca6-a12c-1f73773710ec"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Kenes Document" ma:contentTypeID="0x01010037EA2DD516505C4D92B92F8677CFB68500BEE62B47A0604044B5F0266DF4D773BE" ma:contentTypeVersion="14" ma:contentTypeDescription="" ma:contentTypeScope="" ma:versionID="f330009d3d64ad65e401ddba6879b21d">
  <xsd:schema xmlns:xsd="http://www.w3.org/2001/XMLSchema" xmlns:xs="http://www.w3.org/2001/XMLSchema" xmlns:p="http://schemas.microsoft.com/office/2006/metadata/properties" xmlns:ns1="http://schemas.microsoft.com/sharepoint/v3" xmlns:ns2="eb3f7de7-c935-4ca6-a12c-1f73773710ec" xmlns:ns3="1c14aaab-0828-4cd2-9ca4-1807938f7b2f" targetNamespace="http://schemas.microsoft.com/office/2006/metadata/properties" ma:root="true" ma:fieldsID="dd50c4edf9878564f12732a0bae11ddc" ns1:_="" ns2:_="" ns3:_="">
    <xsd:import namespace="http://schemas.microsoft.com/sharepoint/v3"/>
    <xsd:import namespace="eb3f7de7-c935-4ca6-a12c-1f73773710ec"/>
    <xsd:import namespace="1c14aaab-0828-4cd2-9ca4-1807938f7b2f"/>
    <xsd:element name="properties">
      <xsd:complexType>
        <xsd:sequence>
          <xsd:element name="documentManagement">
            <xsd:complexType>
              <xsd:all>
                <xsd:element ref="ns2:FolderID" minOccurs="0"/>
                <xsd:element ref="ns2:KenesDocumentTypeId" minOccurs="0"/>
                <xsd:element ref="ns2:Confidential1" minOccurs="0"/>
                <xsd:element ref="ns2:Final" minOccurs="0"/>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1:_ip_UnifiedCompliancePolicyProperties" minOccurs="0"/>
                <xsd:element ref="ns1:_ip_UnifiedCompliancePolicyUIAction" minOccurs="0"/>
                <xsd:element ref="ns3:MediaServiceDateTaken"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Unified Compliance Policy Properties" ma:hidden="true" ma:internalName="_ip_UnifiedCompliancePolicyProperties">
      <xsd:simpleType>
        <xsd:restriction base="dms:Note"/>
      </xsd:simpleType>
    </xsd:element>
    <xsd:element name="_ip_UnifiedCompliancePolicyUIAction" ma:index="1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f7de7-c935-4ca6-a12c-1f73773710ec" elementFormDefault="qualified">
    <xsd:import namespace="http://schemas.microsoft.com/office/2006/documentManagement/types"/>
    <xsd:import namespace="http://schemas.microsoft.com/office/infopath/2007/PartnerControls"/>
    <xsd:element name="FolderID" ma:index="2" nillable="true" ma:displayName="FolderID" ma:list="{62b5239b-3564-444d-88a9-03f6d13d411f}" ma:internalName="FolderID" ma:showField="Title" ma:web="eb3f7de7-c935-4ca6-a12c-1f73773710ec">
      <xsd:simpleType>
        <xsd:restriction base="dms:Lookup"/>
      </xsd:simpleType>
    </xsd:element>
    <xsd:element name="KenesDocumentTypeId" ma:index="3" nillable="true" ma:displayName="KenesDocumentTypeId" ma:list="{5ca2ab15-5c4e-45db-95e6-5cb4dd45d1b1}" ma:internalName="KenesDocumentTypeId" ma:showField="Title" ma:web="eb3f7de7-c935-4ca6-a12c-1f73773710ec">
      <xsd:simpleType>
        <xsd:restriction base="dms:Lookup"/>
      </xsd:simpleType>
    </xsd:element>
    <xsd:element name="Confidential1" ma:index="4" nillable="true" ma:displayName="Confidential" ma:default="0" ma:internalName="Confidential1">
      <xsd:simpleType>
        <xsd:restriction base="dms:Boolean"/>
      </xsd:simpleType>
    </xsd:element>
    <xsd:element name="Final" ma:index="5" nillable="true" ma:displayName="Final" ma:default="0" ma:internalName="Final">
      <xsd:simpleType>
        <xsd:restriction base="dms:Boolean"/>
      </xsd:simpleType>
    </xsd:element>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7eb20398-0988-4e55-b57f-05d62d7b8281}" ma:internalName="TaxCatchAll" ma:showField="CatchAllData" ma:web="eb3f7de7-c935-4ca6-a12c-1f73773710ec">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c14aaab-0828-4cd2-9ca4-1807938f7b2f"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720c72ca-3d5e-4053-bfc4-d5117e56c934" ma:termSetId="09814cd3-568e-fe90-9814-8d621ff8fb84" ma:anchorId="fba54fb3-c3e1-fe81-a776-ca4b69148c4d" ma:open="true" ma:isKeyword="false">
      <xsd:complexType>
        <xsd:sequence>
          <xsd:element ref="pc:Terms" minOccurs="0" maxOccurs="1"/>
        </xsd:sequence>
      </xsd:complexType>
    </xsd:element>
    <xsd:element name="MediaServiceOCR" ma:index="24" nillable="true" ma:displayName="Extracted Text" ma:internalName="MediaServiceOCR" ma:readOnly="true">
      <xsd:simpleType>
        <xsd:restriction base="dms:Note">
          <xsd:maxLength value="255"/>
        </xsd:restriction>
      </xsd:simpleType>
    </xsd:element>
    <xsd:element name="MediaServiceGenerationTime" ma:index="25" nillable="true" ma:displayName="MediaServiceGenerationTime" ma:hidden="true" ma:internalName="MediaServiceGenerationTime" ma:readOnly="true">
      <xsd:simpleType>
        <xsd:restriction base="dms:Text"/>
      </xsd:simpleType>
    </xsd:element>
    <xsd:element name="MediaServiceEventHashCode" ma:index="26" nillable="true" ma:displayName="MediaServiceEventHashCode" ma:hidden="true" ma:internalName="MediaServiceEventHashCode"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7E687F-38DE-4D5E-B522-6D9148A0FD40}">
  <ds:schemaRefs>
    <ds:schemaRef ds:uri="http://schemas.microsoft.com/office/2006/metadata/properties"/>
    <ds:schemaRef ds:uri="http://schemas.microsoft.com/office/infopath/2007/PartnerControls"/>
    <ds:schemaRef ds:uri="http://schemas.microsoft.com/sharepoint/v3"/>
    <ds:schemaRef ds:uri="f41fa17a-99c4-4c5f-bcb4-a52bd907e64f"/>
    <ds:schemaRef ds:uri="eb3f7de7-c935-4ca6-a12c-1f73773710ec"/>
    <ds:schemaRef ds:uri="1c14aaab-0828-4cd2-9ca4-1807938f7b2f"/>
  </ds:schemaRefs>
</ds:datastoreItem>
</file>

<file path=customXml/itemProps2.xml><?xml version="1.0" encoding="utf-8"?>
<ds:datastoreItem xmlns:ds="http://schemas.openxmlformats.org/officeDocument/2006/customXml" ds:itemID="{E02D2F5B-B587-4325-A444-A9CDD5E120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eb3f7de7-c935-4ca6-a12c-1f73773710ec"/>
    <ds:schemaRef ds:uri="1c14aaab-0828-4cd2-9ca4-1807938f7b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76E6AA8-327C-475A-988E-14B9EDF74DF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21</TotalTime>
  <Words>3</Words>
  <Application>Microsoft Office PowerPoint</Application>
  <PresentationFormat>On-screen Show (16:9)</PresentationFormat>
  <Paragraphs>1</Paragraphs>
  <Slides>4</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DINOT</vt:lpstr>
      <vt:lpstr>Simple Light</vt:lpstr>
      <vt:lpstr>WRITE TITLE HERE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Dilyana Hristova</dc:creator>
  <cp:lastModifiedBy>Adam Bouchard</cp:lastModifiedBy>
  <cp:revision>4</cp:revision>
  <dcterms:modified xsi:type="dcterms:W3CDTF">2026-10-07T07:04:50Z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0x01010037EA2DD516505C4D92B92F8677CFB68500BEE62B47A0604044B5F0266DF4D773BE</vt:lpwstr>
  </property>
  <property fmtid="{D5CDD505-2E9C-101B-9397-08002B2CF9AE}" pid="3" name="MediaServiceImageTags">
    <vt:lpwstr/>
  </property>
</Properties>
</file>