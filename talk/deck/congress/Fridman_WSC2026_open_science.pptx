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9"/>
  </p:notesMasterIdLst>
  <p:sldIdLst>
    <p:sldId id="256" r:id="rId5"/>
    <p:sldId id="260" r:id="rId6"/>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 name="Google Shape;3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One sentence, no agenda slide: I want to tell you how this project started, what it found, and what I think we should do with it.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Required by the congress. Tick one box by typing an x in the blue cell, and list any company in the table. The congress's published faculty disclosure list shows Speakers Bureau, Regeneron/Bayer, under Other; confirm it, or ask wsc@kenes.com to correct it.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Thirty to forty seconds, first person, nothing read. Replace the bracketed sentence with the real episode: the point is that you have been on the receiving end of a closed literature. Alternatives if the draft is not right: a published model that could not be retrained because the training set was never released; a perfusion-threshold result two groups reproduced with opposite signs because the processing code differed.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These are the speaker’s former fields; say so. One minute. The last line is the bridge to stroke.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If asked: in the animal work one in seven experiments was never published (Sena 2010). One minute, three examples the room knows. Do not editorialise on any single trial; the point is heterogeneity that cannot be resolved from the papers alone. Confirm that the embolisation trio is the example you meant.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Forty-five seconds. Implementation science applied to research practice itself: you cannot improve what you do not measure.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Forty-five seconds. The method is the credibility. One published run, 13 October 2026: 231,580 OpenAlex records from six title terms, 2015 to 2026, of which 140,281 are stroke journal articles and reviews with a DOI from 2015 to 2025. The full-text audit reads up to 1,500 open-access articles per year in each field through Europe PMC, 16,362 for stroke. Open-access full text only, so those rates run high, and a pooled rate gives every year the same weight, so I lead with single years and say "over the decade" when I pool. Everything that follows is on the dashboard, where the selection can be changed by anyone. On the card, neuroscience leads on code, GitHub, deposit and preprints, partly because its title term "neural", which brings in about 45% of that corpus, also catches machine-learning papers. If asked: neurology 129,644, cardiology 312,703, neuroscience 509,973 articles.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good-news slide. Let it land, then turn it on the next one. Stroke sits between cardiology and neurology every year through 2024; in the incomplete 2025 it is just above cardiology (75% vs 74%). The peak so far is 77% in 2023. Do not rank neuroscience: about 45% of it comes only from the title term “neural”, much of it machine learning; without those papers it is 67% open access. It is above stroke until 2019 and below neurology in 2024 and 2025.</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For this room: diamond is a long tail of about 4,800 free journals. Cureus is the largest (1,187 articles), then Journal of Physical Therapy Science (487) and Journal of Stroke (334). About a quarter of Korean (27%) and Japanese (25%) first-author articles are diamond; Chinese 5%. Gold plus hybrid is about half of the open articles over the decade (52% with 2025, 49% through 2024) and the majority every year since 2021: 35% in 2015, 53% in 2021, 59% in 2024. One sentence on APCs and the equity angle; the equity slide comes later. The growth figures stop at 2024 because 2025 is still filling in. Green fills in last, as repository copies appear after embargoes end, but it was already down to 4% in 2024, so its fall does not rest on the partial year.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the caveat before anyone says it for you: lower bounds from abstracts. Preprints did move, from under 0.2% before 2019 to 2.7% in 2024, but only as far as OpenAlex links them (it merged many preprint records into their articles in early October), and about half are on Research Square or SSRN, mostly publisher routes at submission (In Review, Lancet and Elsevier). GitHub in full text: 2.5% of the 1,500 audited 2024 articles, 1.3% pooled over the decade with every year weighted the same; the code chart counts GitHub or code links in abstracts, and the high-impact line also counts Zenodo and OSF links. Registration nearly doubled, 2.8% to 5.3%, from a low base: stroke 4.6% over the decade, cardiology 4.1%, neurology 2.4%, neuroscience 1.0%; neuroscience's term "neural" pulls in machine-learning papers, and without them it is still only about 1.5%. The neuroscience preprint line also reflects "neural": machine-learning papers, many on arXiv. Then the pivot: so we read the full text.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slide people photograph. Three numbers, slowly. Against the other fields, 2022 to 2025: stroke says “on request” more than any other field (30%; neurology 27%, neuroscience 26%, cardiology 24%), writes statements as often as any of them (69%; neuroscience 72%, neurology 64%, cardiology 61%), and deposits or names a public dataset at the level of the other clinical fields (6.9%; cardiology 7.3%, neurology 5.6%), well under neuroscience (17.5%). Neuroscience caveat: its title term “neural” also catches machine-learning papers; without them neuroscience writes statements in 68% (stroke 69%) and deposits 13.6%. If asked for the decade: “on request” 19% and deposit or public source 4.2%, pooled over yearly samples of up to 1,500, so every year weighs the same; they are not corpus rates. Full text versus abstract for the same audited articles, 2015 to 2025 pooled the same way: GitHub in 1.3% of full texts vs code, OSF or Zenodo links in 0.07% of abstracts; trial registration 14.1% vs 7.5%. If asked about top journals: 0.6% of top-journal RCTs that declared sharing had downloadable data (Danchev 2021).</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Seoul is a high-income audience with LMIC trialists in the room. Open access rises as income falls: 67% high, 70% upper-middle, 75% lower-middle (88% low, only 400 articles, do not lean on it). Upper-middle-income authors pay an APC for 43%. The data and code that lower-income teams could build on are not there, and their own work is the least likely to be shared: a data statement in 23% of lower-middle-income full texts (high 43%, upper-middle 57%), from only 609 audited articles. These full-text rates pool 2015-2025 over the audit's sample of up to 1,500 open-access full texts a year, so they average equal yearly samples, not the corpus. The gap holds in 2022-2025 alone: a statement in 37% of lower-middle vs 65% high and 78% upper-middle; deposit or public source 3.0% vs 6.2% and 8.7%. That is the inequality open science can close. Korea: 5,490 first-author articles, 75% open access, none with a data-repository link in the abstract or metadata; 1.3% of 1,293 audited full texts deposit or name a public source.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Recomputed every six months. Say the n out loud: Charité 129 audited articles, Oxford 177, Hamburg-Eppendorf 109; Nature Communications 30, PeerJ 31 (25 of them deposit). The top two in the figure are both Charité: the Center for Stroke Research Berlin (5.2×) is part of it (4.4×). The figure ranks the 60 institutions with the most audited articles (82 or more); with every institution at 50 or more, the German Center for Neurodegenerative Diseases (5.6×, 61 audited) and the Berlin Institute of Health at Charité (5.2×, 64) also lead, then Zurich (4.7×, 64). Small counts are a hint, not a ranking: GitHub is rare (1.3%), so one more GitHub mention in 100 audited articles adds about 0.26, and the order shifts between runs. Countries need 50 audited articles: at 30, Russia, with 43 audited, would be second at 2.2×. The baselines pool the 2015-2025 audit with every year weighted the same, and the signals rose over the decade (deposit or public source 0.7% in 2015, 9.8% in 2025), so an index also reflects which years an entity published in. Stroke sits above the average, not among the leaders of the 99 journals; the dashboard keeps only the 40 largest journals and 25 largest countries, so there Stroke ranks third and Belgium and Ireland do not appear. Oxford is also listed as a funder in OpenAlex (4.9×, 33 audited); it is an institution, so I leave it out of the funders. Also on the lists: PeerJ deposits in 81%; funders NIDCD, NIBIB, HHS, Horizon 2020 and BMBF; Ireland 1.7×. The point is not the names: the measurement exists, is cheap, and is what a prize would recognise.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pivot of the talk. Four numbers, then the sentence in serif. No more studies here; the evidence brief has them if asked.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minutes fifteen. Invite the WSO leadership in the room to take the task force home. Say which items cost nothing and which need money.</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line, then stop. Leave the links and the QR codes up during questions. Thank the session chairs.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dpi="0" rotWithShape="1">
          <a:blip r:embed="rId2">
            <a:lum/>
          </a:blip>
          <a:srcRect/>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11175" y="3226175"/>
            <a:ext cx="3679500" cy="1010400"/>
          </a:xfrm>
          <a:prstGeom prst="rect">
            <a:avLst/>
          </a:prstGeom>
        </p:spPr>
        <p:txBody>
          <a:bodyPr spcFirstLastPara="1" wrap="square" lIns="91425" tIns="91425" rIns="91425" bIns="91425" anchor="b" anchorCtr="0">
            <a:normAutofit/>
          </a:bodyPr>
          <a:lstStyle>
            <a:lvl1pPr lvl="0">
              <a:spcBef>
                <a:spcPts val="0"/>
              </a:spcBef>
              <a:spcAft>
                <a:spcPts val="0"/>
              </a:spcAft>
              <a:buClr>
                <a:srgbClr val="1D429C"/>
              </a:buClr>
              <a:buSzPts val="3000"/>
              <a:buNone/>
              <a:defRPr sz="4000" b="1">
                <a:solidFill>
                  <a:schemeClr val="bg1"/>
                </a:solidFill>
              </a:defRPr>
            </a:lvl1pPr>
            <a:lvl2pPr lvl="1" algn="ctr">
              <a:spcBef>
                <a:spcPts val="0"/>
              </a:spcBef>
              <a:spcAft>
                <a:spcPts val="0"/>
              </a:spcAft>
              <a:buClr>
                <a:srgbClr val="333132"/>
              </a:buClr>
              <a:buSzPts val="3000"/>
              <a:buNone/>
              <a:defRPr sz="4000" b="1">
                <a:solidFill>
                  <a:srgbClr val="333132"/>
                </a:solidFill>
              </a:defRPr>
            </a:lvl2pPr>
            <a:lvl3pPr lvl="2" algn="ctr">
              <a:spcBef>
                <a:spcPts val="0"/>
              </a:spcBef>
              <a:spcAft>
                <a:spcPts val="0"/>
              </a:spcAft>
              <a:buClr>
                <a:srgbClr val="333132"/>
              </a:buClr>
              <a:buSzPts val="3000"/>
              <a:buNone/>
              <a:defRPr sz="4000" b="1">
                <a:solidFill>
                  <a:srgbClr val="333132"/>
                </a:solidFill>
              </a:defRPr>
            </a:lvl3pPr>
            <a:lvl4pPr lvl="3" algn="ctr">
              <a:spcBef>
                <a:spcPts val="0"/>
              </a:spcBef>
              <a:spcAft>
                <a:spcPts val="0"/>
              </a:spcAft>
              <a:buClr>
                <a:srgbClr val="333132"/>
              </a:buClr>
              <a:buSzPts val="3000"/>
              <a:buNone/>
              <a:defRPr sz="4000" b="1">
                <a:solidFill>
                  <a:srgbClr val="333132"/>
                </a:solidFill>
              </a:defRPr>
            </a:lvl4pPr>
            <a:lvl5pPr lvl="4" algn="ctr">
              <a:spcBef>
                <a:spcPts val="0"/>
              </a:spcBef>
              <a:spcAft>
                <a:spcPts val="0"/>
              </a:spcAft>
              <a:buClr>
                <a:srgbClr val="333132"/>
              </a:buClr>
              <a:buSzPts val="3000"/>
              <a:buNone/>
              <a:defRPr sz="4000" b="1">
                <a:solidFill>
                  <a:srgbClr val="333132"/>
                </a:solidFill>
              </a:defRPr>
            </a:lvl5pPr>
            <a:lvl6pPr lvl="5" algn="ctr">
              <a:spcBef>
                <a:spcPts val="0"/>
              </a:spcBef>
              <a:spcAft>
                <a:spcPts val="0"/>
              </a:spcAft>
              <a:buClr>
                <a:srgbClr val="333132"/>
              </a:buClr>
              <a:buSzPts val="3000"/>
              <a:buNone/>
              <a:defRPr sz="4000" b="1">
                <a:solidFill>
                  <a:srgbClr val="333132"/>
                </a:solidFill>
              </a:defRPr>
            </a:lvl6pPr>
            <a:lvl7pPr lvl="6" algn="ctr">
              <a:spcBef>
                <a:spcPts val="0"/>
              </a:spcBef>
              <a:spcAft>
                <a:spcPts val="0"/>
              </a:spcAft>
              <a:buClr>
                <a:srgbClr val="333132"/>
              </a:buClr>
              <a:buSzPts val="3000"/>
              <a:buNone/>
              <a:defRPr sz="4000" b="1">
                <a:solidFill>
                  <a:srgbClr val="333132"/>
                </a:solidFill>
              </a:defRPr>
            </a:lvl7pPr>
            <a:lvl8pPr lvl="7" algn="ctr">
              <a:spcBef>
                <a:spcPts val="0"/>
              </a:spcBef>
              <a:spcAft>
                <a:spcPts val="0"/>
              </a:spcAft>
              <a:buClr>
                <a:srgbClr val="333132"/>
              </a:buClr>
              <a:buSzPts val="3000"/>
              <a:buNone/>
              <a:defRPr sz="4000" b="1">
                <a:solidFill>
                  <a:srgbClr val="333132"/>
                </a:solidFill>
              </a:defRPr>
            </a:lvl8pPr>
            <a:lvl9pPr lvl="8" algn="ctr">
              <a:spcBef>
                <a:spcPts val="0"/>
              </a:spcBef>
              <a:spcAft>
                <a:spcPts val="0"/>
              </a:spcAft>
              <a:buClr>
                <a:srgbClr val="333132"/>
              </a:buClr>
              <a:buSzPts val="3000"/>
              <a:buNone/>
              <a:defRPr sz="4000" b="1">
                <a:solidFill>
                  <a:srgbClr val="333132"/>
                </a:solidFill>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dpi="0" rotWithShape="1">
          <a:blip r:embed="rId2">
            <a:lum/>
          </a:blip>
          <a:srcRect/>
          <a:stretch>
            <a:fillRect/>
          </a:stretch>
        </a:blipFill>
        <a:effectLst/>
      </p:bgPr>
    </p:bg>
    <p:spTree>
      <p:nvGrpSpPr>
        <p:cNvPr id="1" name="Shape 10"/>
        <p:cNvGrpSpPr/>
        <p:nvPr/>
      </p:nvGrpSpPr>
      <p:grpSpPr>
        <a:xfrm>
          <a:off x="0" y="0"/>
          <a:ext cx="0" cy="0"/>
          <a:chOff x="0" y="0"/>
          <a:chExt cx="0" cy="0"/>
        </a:xfrm>
      </p:grpSpPr>
      <p:sp>
        <p:nvSpPr>
          <p:cNvPr id="11" name="Google Shape;11;p3"/>
          <p:cNvSpPr txBox="1">
            <a:spLocks noGrp="1"/>
          </p:cNvSpPr>
          <p:nvPr>
            <p:ph type="ctrTitle"/>
          </p:nvPr>
        </p:nvSpPr>
        <p:spPr>
          <a:xfrm>
            <a:off x="511175" y="3226175"/>
            <a:ext cx="3679500" cy="1010400"/>
          </a:xfrm>
          <a:prstGeom prst="rect">
            <a:avLst/>
          </a:prstGeom>
        </p:spPr>
        <p:txBody>
          <a:bodyPr spcFirstLastPara="1" wrap="square" lIns="91425" tIns="91425" rIns="91425" bIns="91425" anchor="b" anchorCtr="0">
            <a:normAutofit/>
          </a:bodyPr>
          <a:lstStyle>
            <a:lvl1pPr lvl="0">
              <a:spcBef>
                <a:spcPts val="0"/>
              </a:spcBef>
              <a:spcAft>
                <a:spcPts val="0"/>
              </a:spcAft>
              <a:buClr>
                <a:srgbClr val="1D429C"/>
              </a:buClr>
              <a:buSzPts val="3000"/>
              <a:buNone/>
              <a:defRPr sz="4000" b="1">
                <a:solidFill>
                  <a:srgbClr val="1D429C"/>
                </a:solidFill>
              </a:defRPr>
            </a:lvl1pPr>
            <a:lvl2pPr lvl="1" algn="ctr">
              <a:spcBef>
                <a:spcPts val="0"/>
              </a:spcBef>
              <a:spcAft>
                <a:spcPts val="0"/>
              </a:spcAft>
              <a:buClr>
                <a:srgbClr val="333132"/>
              </a:buClr>
              <a:buSzPts val="3000"/>
              <a:buNone/>
              <a:defRPr sz="4000" b="1">
                <a:solidFill>
                  <a:srgbClr val="333132"/>
                </a:solidFill>
              </a:defRPr>
            </a:lvl2pPr>
            <a:lvl3pPr lvl="2" algn="ctr">
              <a:spcBef>
                <a:spcPts val="0"/>
              </a:spcBef>
              <a:spcAft>
                <a:spcPts val="0"/>
              </a:spcAft>
              <a:buClr>
                <a:srgbClr val="333132"/>
              </a:buClr>
              <a:buSzPts val="3000"/>
              <a:buNone/>
              <a:defRPr sz="4000" b="1">
                <a:solidFill>
                  <a:srgbClr val="333132"/>
                </a:solidFill>
              </a:defRPr>
            </a:lvl3pPr>
            <a:lvl4pPr lvl="3" algn="ctr">
              <a:spcBef>
                <a:spcPts val="0"/>
              </a:spcBef>
              <a:spcAft>
                <a:spcPts val="0"/>
              </a:spcAft>
              <a:buClr>
                <a:srgbClr val="333132"/>
              </a:buClr>
              <a:buSzPts val="3000"/>
              <a:buNone/>
              <a:defRPr sz="4000" b="1">
                <a:solidFill>
                  <a:srgbClr val="333132"/>
                </a:solidFill>
              </a:defRPr>
            </a:lvl4pPr>
            <a:lvl5pPr lvl="4" algn="ctr">
              <a:spcBef>
                <a:spcPts val="0"/>
              </a:spcBef>
              <a:spcAft>
                <a:spcPts val="0"/>
              </a:spcAft>
              <a:buClr>
                <a:srgbClr val="333132"/>
              </a:buClr>
              <a:buSzPts val="3000"/>
              <a:buNone/>
              <a:defRPr sz="4000" b="1">
                <a:solidFill>
                  <a:srgbClr val="333132"/>
                </a:solidFill>
              </a:defRPr>
            </a:lvl5pPr>
            <a:lvl6pPr lvl="5" algn="ctr">
              <a:spcBef>
                <a:spcPts val="0"/>
              </a:spcBef>
              <a:spcAft>
                <a:spcPts val="0"/>
              </a:spcAft>
              <a:buClr>
                <a:srgbClr val="333132"/>
              </a:buClr>
              <a:buSzPts val="3000"/>
              <a:buNone/>
              <a:defRPr sz="4000" b="1">
                <a:solidFill>
                  <a:srgbClr val="333132"/>
                </a:solidFill>
              </a:defRPr>
            </a:lvl6pPr>
            <a:lvl7pPr lvl="6" algn="ctr">
              <a:spcBef>
                <a:spcPts val="0"/>
              </a:spcBef>
              <a:spcAft>
                <a:spcPts val="0"/>
              </a:spcAft>
              <a:buClr>
                <a:srgbClr val="333132"/>
              </a:buClr>
              <a:buSzPts val="3000"/>
              <a:buNone/>
              <a:defRPr sz="4000" b="1">
                <a:solidFill>
                  <a:srgbClr val="333132"/>
                </a:solidFill>
              </a:defRPr>
            </a:lvl7pPr>
            <a:lvl8pPr lvl="7" algn="ctr">
              <a:spcBef>
                <a:spcPts val="0"/>
              </a:spcBef>
              <a:spcAft>
                <a:spcPts val="0"/>
              </a:spcAft>
              <a:buClr>
                <a:srgbClr val="333132"/>
              </a:buClr>
              <a:buSzPts val="3000"/>
              <a:buNone/>
              <a:defRPr sz="4000" b="1">
                <a:solidFill>
                  <a:srgbClr val="333132"/>
                </a:solidFill>
              </a:defRPr>
            </a:lvl8pPr>
            <a:lvl9pPr lvl="8" algn="ctr">
              <a:spcBef>
                <a:spcPts val="0"/>
              </a:spcBef>
              <a:spcAft>
                <a:spcPts val="0"/>
              </a:spcAft>
              <a:buClr>
                <a:srgbClr val="333132"/>
              </a:buClr>
              <a:buSzPts val="3000"/>
              <a:buNone/>
              <a:defRPr sz="4000" b="1">
                <a:solidFill>
                  <a:srgbClr val="333132"/>
                </a:solidFill>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dpi="0" rotWithShape="1">
          <a:blip r:embed="rId2">
            <a:lum/>
          </a:blip>
          <a:srcRect/>
          <a:stretch>
            <a:fillRect/>
          </a:stretch>
        </a:blipFill>
        <a:effectLst/>
      </p:bgPr>
    </p:bg>
    <p:spTree>
      <p:nvGrpSpPr>
        <p:cNvPr id="1" name="Shape 12"/>
        <p:cNvGrpSpPr/>
        <p:nvPr/>
      </p:nvGrpSpPr>
      <p:grpSpPr>
        <a:xfrm>
          <a:off x="0" y="0"/>
          <a:ext cx="0" cy="0"/>
          <a:chOff x="0" y="0"/>
          <a:chExt cx="0" cy="0"/>
        </a:xfrm>
      </p:grpSpPr>
      <p:sp>
        <p:nvSpPr>
          <p:cNvPr id="13" name="Google Shape;13;p4"/>
          <p:cNvSpPr txBox="1">
            <a:spLocks noGrp="1"/>
          </p:cNvSpPr>
          <p:nvPr>
            <p:ph type="title"/>
          </p:nvPr>
        </p:nvSpPr>
        <p:spPr>
          <a:xfrm>
            <a:off x="311700" y="289150"/>
            <a:ext cx="591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7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 name="Google Shape;14;p4"/>
          <p:cNvSpPr txBox="1">
            <a:spLocks noGrp="1"/>
          </p:cNvSpPr>
          <p:nvPr>
            <p:ph type="body" idx="1"/>
          </p:nvPr>
        </p:nvSpPr>
        <p:spPr>
          <a:xfrm>
            <a:off x="311700" y="1214900"/>
            <a:ext cx="8520600" cy="31905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dpi="0" rotWithShape="1">
          <a:blip r:embed="rId2">
            <a:lum/>
          </a:blip>
          <a:srcRect/>
          <a:stretch>
            <a:fillRect/>
          </a:stretch>
        </a:blipFill>
        <a:effectLst/>
      </p:bgPr>
    </p:bg>
    <p:spTree>
      <p:nvGrpSpPr>
        <p:cNvPr id="1" name="Shape 15"/>
        <p:cNvGrpSpPr/>
        <p:nvPr/>
      </p:nvGrpSpPr>
      <p:grpSpPr>
        <a:xfrm>
          <a:off x="0" y="0"/>
          <a:ext cx="0" cy="0"/>
          <a:chOff x="0" y="0"/>
          <a:chExt cx="0" cy="0"/>
        </a:xfrm>
      </p:grpSpPr>
      <p:sp>
        <p:nvSpPr>
          <p:cNvPr id="16" name="Google Shape;16;p5"/>
          <p:cNvSpPr txBox="1">
            <a:spLocks noGrp="1"/>
          </p:cNvSpPr>
          <p:nvPr>
            <p:ph type="title"/>
          </p:nvPr>
        </p:nvSpPr>
        <p:spPr>
          <a:xfrm>
            <a:off x="311700" y="289150"/>
            <a:ext cx="591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7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5"/>
          <p:cNvSpPr txBox="1">
            <a:spLocks noGrp="1"/>
          </p:cNvSpPr>
          <p:nvPr>
            <p:ph type="body" idx="1"/>
          </p:nvPr>
        </p:nvSpPr>
        <p:spPr>
          <a:xfrm>
            <a:off x="311701" y="1152475"/>
            <a:ext cx="3999900" cy="32190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18" name="Google Shape;18;p5"/>
          <p:cNvSpPr txBox="1">
            <a:spLocks noGrp="1"/>
          </p:cNvSpPr>
          <p:nvPr>
            <p:ph type="body" idx="2"/>
          </p:nvPr>
        </p:nvSpPr>
        <p:spPr>
          <a:xfrm>
            <a:off x="4832401" y="1152475"/>
            <a:ext cx="3999900" cy="32190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6">
            <a:lum/>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9150"/>
            <a:ext cx="591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1D429C"/>
              </a:buClr>
              <a:buSzPts val="2700"/>
              <a:buNone/>
              <a:defRPr sz="2700" b="1">
                <a:solidFill>
                  <a:srgbClr val="1D429C"/>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363800"/>
            <a:ext cx="8520600" cy="3480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51B848"/>
              </a:buClr>
              <a:buSzPts val="1800"/>
              <a:buChar char="●"/>
              <a:defRPr sz="1800">
                <a:solidFill>
                  <a:srgbClr val="51B848"/>
                </a:solidFill>
              </a:defRPr>
            </a:lvl1pPr>
            <a:lvl2pPr marL="914400" lvl="1" indent="-317500">
              <a:lnSpc>
                <a:spcPct val="115000"/>
              </a:lnSpc>
              <a:spcBef>
                <a:spcPts val="0"/>
              </a:spcBef>
              <a:spcAft>
                <a:spcPts val="0"/>
              </a:spcAft>
              <a:buClr>
                <a:srgbClr val="51B848"/>
              </a:buClr>
              <a:buSzPts val="1400"/>
              <a:buChar char="○"/>
              <a:defRPr>
                <a:solidFill>
                  <a:srgbClr val="51B848"/>
                </a:solidFill>
              </a:defRPr>
            </a:lvl2pPr>
            <a:lvl3pPr marL="1371600" lvl="2" indent="-317500">
              <a:lnSpc>
                <a:spcPct val="115000"/>
              </a:lnSpc>
              <a:spcBef>
                <a:spcPts val="0"/>
              </a:spcBef>
              <a:spcAft>
                <a:spcPts val="0"/>
              </a:spcAft>
              <a:buClr>
                <a:srgbClr val="51B848"/>
              </a:buClr>
              <a:buSzPts val="1400"/>
              <a:buChar char="■"/>
              <a:defRPr>
                <a:solidFill>
                  <a:srgbClr val="51B848"/>
                </a:solidFill>
              </a:defRPr>
            </a:lvl3pPr>
            <a:lvl4pPr marL="1828800" lvl="3" indent="-317500">
              <a:lnSpc>
                <a:spcPct val="115000"/>
              </a:lnSpc>
              <a:spcBef>
                <a:spcPts val="0"/>
              </a:spcBef>
              <a:spcAft>
                <a:spcPts val="0"/>
              </a:spcAft>
              <a:buClr>
                <a:srgbClr val="51B848"/>
              </a:buClr>
              <a:buSzPts val="1400"/>
              <a:buChar char="●"/>
              <a:defRPr>
                <a:solidFill>
                  <a:srgbClr val="51B848"/>
                </a:solidFill>
              </a:defRPr>
            </a:lvl4pPr>
            <a:lvl5pPr marL="2286000" lvl="4" indent="-317500">
              <a:lnSpc>
                <a:spcPct val="115000"/>
              </a:lnSpc>
              <a:spcBef>
                <a:spcPts val="0"/>
              </a:spcBef>
              <a:spcAft>
                <a:spcPts val="0"/>
              </a:spcAft>
              <a:buClr>
                <a:srgbClr val="51B848"/>
              </a:buClr>
              <a:buSzPts val="1400"/>
              <a:buChar char="○"/>
              <a:defRPr>
                <a:solidFill>
                  <a:srgbClr val="51B848"/>
                </a:solidFill>
              </a:defRPr>
            </a:lvl5pPr>
            <a:lvl6pPr marL="2743200" lvl="5" indent="-317500">
              <a:lnSpc>
                <a:spcPct val="115000"/>
              </a:lnSpc>
              <a:spcBef>
                <a:spcPts val="0"/>
              </a:spcBef>
              <a:spcAft>
                <a:spcPts val="0"/>
              </a:spcAft>
              <a:buClr>
                <a:srgbClr val="51B848"/>
              </a:buClr>
              <a:buSzPts val="1400"/>
              <a:buChar char="■"/>
              <a:defRPr>
                <a:solidFill>
                  <a:srgbClr val="51B848"/>
                </a:solidFill>
              </a:defRPr>
            </a:lvl6pPr>
            <a:lvl7pPr marL="3200400" lvl="6" indent="-317500">
              <a:lnSpc>
                <a:spcPct val="115000"/>
              </a:lnSpc>
              <a:spcBef>
                <a:spcPts val="0"/>
              </a:spcBef>
              <a:spcAft>
                <a:spcPts val="0"/>
              </a:spcAft>
              <a:buClr>
                <a:srgbClr val="51B848"/>
              </a:buClr>
              <a:buSzPts val="1400"/>
              <a:buChar char="●"/>
              <a:defRPr>
                <a:solidFill>
                  <a:srgbClr val="51B848"/>
                </a:solidFill>
              </a:defRPr>
            </a:lvl7pPr>
            <a:lvl8pPr marL="3657600" lvl="7" indent="-317500">
              <a:lnSpc>
                <a:spcPct val="115000"/>
              </a:lnSpc>
              <a:spcBef>
                <a:spcPts val="0"/>
              </a:spcBef>
              <a:spcAft>
                <a:spcPts val="0"/>
              </a:spcAft>
              <a:buClr>
                <a:srgbClr val="51B848"/>
              </a:buClr>
              <a:buSzPts val="1400"/>
              <a:buChar char="○"/>
              <a:defRPr>
                <a:solidFill>
                  <a:srgbClr val="51B848"/>
                </a:solidFill>
              </a:defRPr>
            </a:lvl8pPr>
            <a:lvl9pPr marL="4114800" lvl="8" indent="-317500">
              <a:lnSpc>
                <a:spcPct val="115000"/>
              </a:lnSpc>
              <a:spcBef>
                <a:spcPts val="0"/>
              </a:spcBef>
              <a:spcAft>
                <a:spcPts val="0"/>
              </a:spcAft>
              <a:buClr>
                <a:srgbClr val="51B848"/>
              </a:buClr>
              <a:buSzPts val="1400"/>
              <a:buChar char="■"/>
              <a:defRPr>
                <a:solidFill>
                  <a:srgbClr val="51B848"/>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8.jp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9.jp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10.jpg"/><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14.jpg"/><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15.jpg"/><Relationship Id="rId4" Type="http://schemas.openxmlformats.org/officeDocument/2006/relationships/image" Target="../media/image16.jpg"/><Relationship Id="rId5"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image" Target="../media/image17.jp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sv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sv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a:lum/>
            <a:extLst>
              <a:ext uri="{96DAC541-7B7A-43D3-8B79-37D633B846F1}">
                <asvg:svgBlip xmlns:asvg="http://schemas.microsoft.com/office/drawing/2016/SVG/main" r:embed="rId3"/>
              </a:ext>
            </a:extLst>
          </a:blip>
          <a:srcRect/>
          <a:stretch>
            <a:fillRect/>
          </a:stretch>
        </a:blipFill>
        <a:effectLst/>
      </p:bgPr>
    </p:bg>
    <p:spTree>
      <p:nvGrpSpPr>
        <p:cNvPr id="1" name="Shape 40"/>
        <p:cNvGrpSpPr/>
        <p:nvPr/>
      </p:nvGrpSpPr>
      <p:grpSpPr>
        <a:xfrm>
          <a:off x="0" y="0"/>
          <a:ext cx="0" cy="0"/>
          <a:chOff x="0" y="0"/>
          <a:chExt cx="0" cy="0"/>
        </a:xfrm>
      </p:grpSpPr>
      <p:sp>
        <p:nvSpPr>
          <p:cNvPr id="41" name="Google Shape;41;p13"/>
          <p:cNvSpPr txBox="1">
            <a:spLocks noGrp="1"/>
          </p:cNvSpPr>
          <p:nvPr>
            <p:ph type="ctrTitle"/>
          </p:nvPr>
        </p:nvSpPr>
        <p:spPr>
          <a:xfrm>
            <a:off x="548640" y="1572768"/>
            <a:ext cx="4846320" cy="1143000"/>
          </a:xfrm>
          <a:prstGeom prst="rect">
            <a:avLst/>
          </a:prstGeom>
        </p:spPr>
        <p:txBody>
          <a:bodyPr spcFirstLastPara="1" wrap="square" lIns="0" tIns="0" rIns="0" bIns="0" anchor="t" anchorCtr="0">
            <a:noAutofit/>
          </a:bodyPr>
          <a:lstStyle/>
          <a:p>
            <a:pPr algn="l">
              <a:lnSpc>
                <a:spcPct val="100000"/>
              </a:lnSpc>
              <a:spcBef>
                <a:spcPts val="0"/>
              </a:spcBef>
              <a:spcAft>
                <a:spcPts val="0"/>
              </a:spcAft>
            </a:pPr>
            <a:r>
              <a:rPr sz="3200" b="1" i="0">
                <a:solidFill>
                  <a:srgbClr val="FFFFFF"/>
                </a:solidFill>
                <a:latin typeface="Arial"/>
                <a:ea typeface="Arial"/>
                <a:cs typeface="Arial"/>
              </a:rPr>
              <a:t>Open science in stroke research</a:t>
            </a:r>
            <a:endParaRPr dirty="0">
              <a:solidFill>
                <a:schemeClr val="bg1"/>
              </a:solidFill>
              <a:latin typeface="DINOT" panose="020B0504020101020102" pitchFamily="34" charset="0"/>
            </a:endParaRPr>
          </a:p>
        </p:txBody>
      </p:sp>
      <p:sp>
        <p:nvSpPr>
          <p:cNvPr id="42" name="TextBox 41"/>
          <p:cNvSpPr txBox="1"/>
          <p:nvPr/>
        </p:nvSpPr>
        <p:spPr>
          <a:xfrm>
            <a:off x="548640" y="2724912"/>
            <a:ext cx="4754880" cy="566928"/>
          </a:xfrm>
          <a:prstGeom prst="rect">
            <a:avLst/>
          </a:prstGeom>
          <a:noFill/>
        </p:spPr>
        <p:txBody>
          <a:bodyPr wrap="square" lIns="0" rIns="0" tIns="0" bIns="0" anchor="t">
            <a:noAutofit/>
          </a:bodyPr>
          <a:lstStyle/>
          <a:p>
            <a:pPr algn="l">
              <a:lnSpc>
                <a:spcPct val="100000"/>
              </a:lnSpc>
              <a:spcBef>
                <a:spcPts val="0"/>
              </a:spcBef>
              <a:spcAft>
                <a:spcPts val="0"/>
              </a:spcAft>
            </a:pPr>
            <a:r>
              <a:rPr sz="1600" b="0" i="0">
                <a:solidFill>
                  <a:srgbClr val="DCE6F5"/>
                </a:solidFill>
                <a:latin typeface="Arial"/>
                <a:ea typeface="Arial"/>
                <a:cs typeface="Arial"/>
              </a:rPr>
              <a:t>Measuring reproducibility and transparency, and what to do with the numbers</a:t>
            </a:r>
          </a:p>
        </p:txBody>
      </p:sp>
      <p:sp>
        <p:nvSpPr>
          <p:cNvPr id="43" name="TextBox 42"/>
          <p:cNvSpPr txBox="1"/>
          <p:nvPr/>
        </p:nvSpPr>
        <p:spPr>
          <a:xfrm>
            <a:off x="548640" y="3611880"/>
            <a:ext cx="4754880" cy="566928"/>
          </a:xfrm>
          <a:prstGeom prst="rect">
            <a:avLst/>
          </a:prstGeom>
          <a:noFill/>
        </p:spPr>
        <p:txBody>
          <a:bodyPr wrap="square" lIns="0" rIns="0" tIns="0" bIns="0" anchor="t">
            <a:noAutofit/>
          </a:bodyPr>
          <a:lstStyle/>
          <a:p>
            <a:pPr algn="l">
              <a:lnSpc>
                <a:spcPct val="100000"/>
              </a:lnSpc>
              <a:spcBef>
                <a:spcPts val="0"/>
              </a:spcBef>
              <a:spcAft>
                <a:spcPts val="300"/>
              </a:spcAft>
            </a:pPr>
            <a:r>
              <a:rPr sz="1600" b="1" i="0">
                <a:solidFill>
                  <a:srgbClr val="FFFFFF"/>
                </a:solidFill>
                <a:latin typeface="Arial"/>
                <a:ea typeface="Arial"/>
                <a:cs typeface="Arial"/>
              </a:rPr>
              <a:t>Sebastian Fridman, MD</a:t>
            </a:r>
          </a:p>
          <a:p>
            <a:pPr algn="l">
              <a:lnSpc>
                <a:spcPct val="100000"/>
              </a:lnSpc>
              <a:spcBef>
                <a:spcPts val="0"/>
              </a:spcBef>
              <a:spcAft>
                <a:spcPts val="0"/>
              </a:spcAft>
            </a:pPr>
            <a:r>
              <a:rPr sz="1200" b="0" i="0">
                <a:solidFill>
                  <a:srgbClr val="DCE6F5"/>
                </a:solidFill>
                <a:latin typeface="Arial"/>
                <a:ea typeface="Arial"/>
                <a:cs typeface="Arial"/>
              </a:rPr>
              <a:t>Western University · London Health Sciences Centre · Canada</a:t>
            </a:r>
          </a:p>
        </p:txBody>
      </p:sp>
      <p:sp>
        <p:nvSpPr>
          <p:cNvPr id="44" name="TextBox 43"/>
          <p:cNvSpPr txBox="1"/>
          <p:nvPr/>
        </p:nvSpPr>
        <p:spPr>
          <a:xfrm>
            <a:off x="548640" y="4389120"/>
            <a:ext cx="4754880" cy="38404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DCE6F5"/>
                </a:solidFill>
                <a:latin typeface="Arial"/>
                <a:ea typeface="Arial"/>
                <a:cs typeface="Arial"/>
              </a:rPr>
              <a:t>The latest in stroke implementation science · Thursday 22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10896" y="283464"/>
          <a:ext cx="4325112" cy="731520"/>
        </p:xfrm>
        <a:graphic>
          <a:graphicData uri="http://schemas.openxmlformats.org/drawingml/2006/table">
            <a:tbl>
              <a:tblPr firstRow="0" bandRow="0"/>
              <a:tblGrid>
                <a:gridCol w="438912"/>
                <a:gridCol w="3886200"/>
              </a:tblGrid>
              <a:tr h="365760">
                <a:tc>
                  <a:txBody>
                    <a:bodyPr wrap="square"/>
                    <a:lstStyle/>
                    <a:p>
                      <a:pPr algn="ctr"/>
                      <a:r>
                        <a:rPr sz="1500" i="0" b="0">
                          <a:solidFill>
                            <a:srgbClr val="000000"/>
                          </a:solidFill>
                          <a:latin typeface="Arial"/>
                        </a:rPr>
                        <a:t/>
                      </a:r>
                    </a:p>
                  </a:txBody>
                  <a:tcPr marL="27432" marR="27432" marT="18288" marB="18288" anchor="ctr">
                    <a:lnL w="9525">
                      <a:solidFill>
                        <a:srgbClr val="000000"/>
                      </a:solidFill>
                    </a:lnL>
                    <a:lnR w="9525">
                      <a:solidFill>
                        <a:srgbClr val="000000"/>
                      </a:solidFill>
                    </a:lnR>
                    <a:lnT w="9525">
                      <a:solidFill>
                        <a:srgbClr val="000000"/>
                      </a:solidFill>
                    </a:lnT>
                    <a:lnB w="9525">
                      <a:solidFill>
                        <a:srgbClr val="000000"/>
                      </a:solidFill>
                    </a:lnB>
                    <a:solidFill>
                      <a:srgbClr val="2E247A"/>
                    </a:solidFill>
                  </a:tcPr>
                </a:tc>
                <a:tc>
                  <a:txBody>
                    <a:bodyPr wrap="square"/>
                    <a:lstStyle/>
                    <a:p>
                      <a:pPr algn="l"/>
                      <a:r>
                        <a:rPr sz="1500" i="0" b="0">
                          <a:solidFill>
                            <a:srgbClr val="000000"/>
                          </a:solidFill>
                          <a:latin typeface="Arial"/>
                        </a:rPr>
                        <a:t>No, nothing to disclose</a:t>
                      </a:r>
                    </a:p>
                  </a:txBody>
                  <a:tcPr marL="27432" marR="27432" marT="18288" marB="18288" anchor="ctr">
                    <a:lnL w="9525">
                      <a:solidFill>
                        <a:srgbClr val="000000"/>
                      </a:solidFill>
                    </a:lnL>
                    <a:lnR w="9525">
                      <a:solidFill>
                        <a:srgbClr val="000000"/>
                      </a:solidFill>
                    </a:lnR>
                    <a:lnT w="9525">
                      <a:solidFill>
                        <a:srgbClr val="000000"/>
                      </a:solidFill>
                    </a:lnT>
                    <a:lnB w="9525">
                      <a:solidFill>
                        <a:srgbClr val="000000"/>
                      </a:solidFill>
                    </a:lnB>
                    <a:solidFill>
                      <a:srgbClr val="52AE32"/>
                    </a:solidFill>
                  </a:tcPr>
                </a:tc>
              </a:tr>
              <a:tr h="365760">
                <a:tc>
                  <a:txBody>
                    <a:bodyPr wrap="square"/>
                    <a:lstStyle/>
                    <a:p>
                      <a:pPr algn="ctr"/>
                      <a:r>
                        <a:rPr sz="1500" i="0" b="0">
                          <a:solidFill>
                            <a:srgbClr val="000000"/>
                          </a:solidFill>
                          <a:latin typeface="Arial"/>
                        </a:rPr>
                        <a:t/>
                      </a:r>
                    </a:p>
                  </a:txBody>
                  <a:tcPr marL="27432" marR="27432" marT="18288" marB="18288" anchor="ctr">
                    <a:lnL w="9525">
                      <a:solidFill>
                        <a:srgbClr val="000000"/>
                      </a:solidFill>
                    </a:lnL>
                    <a:lnR w="9525">
                      <a:solidFill>
                        <a:srgbClr val="000000"/>
                      </a:solidFill>
                    </a:lnR>
                    <a:lnT w="9525">
                      <a:solidFill>
                        <a:srgbClr val="000000"/>
                      </a:solidFill>
                    </a:lnT>
                    <a:lnB w="9525">
                      <a:solidFill>
                        <a:srgbClr val="000000"/>
                      </a:solidFill>
                    </a:lnB>
                    <a:solidFill>
                      <a:srgbClr val="2E247A"/>
                    </a:solidFill>
                  </a:tcPr>
                </a:tc>
                <a:tc>
                  <a:txBody>
                    <a:bodyPr wrap="square"/>
                    <a:lstStyle/>
                    <a:p>
                      <a:pPr algn="l"/>
                      <a:r>
                        <a:rPr sz="1500" i="0" b="0">
                          <a:solidFill>
                            <a:srgbClr val="000000"/>
                          </a:solidFill>
                          <a:latin typeface="Arial"/>
                        </a:rPr>
                        <a:t>Yes, please specify:</a:t>
                      </a:r>
                    </a:p>
                  </a:txBody>
                  <a:tcPr marL="27432" marR="27432" marT="18288" marB="18288" anchor="ctr">
                    <a:lnL w="9525">
                      <a:solidFill>
                        <a:srgbClr val="000000"/>
                      </a:solidFill>
                    </a:lnL>
                    <a:lnR w="9525">
                      <a:solidFill>
                        <a:srgbClr val="000000"/>
                      </a:solidFill>
                    </a:lnR>
                    <a:lnT w="9525">
                      <a:solidFill>
                        <a:srgbClr val="000000"/>
                      </a:solidFill>
                    </a:lnT>
                    <a:lnB w="9525">
                      <a:solidFill>
                        <a:srgbClr val="000000"/>
                      </a:solidFill>
                    </a:lnB>
                    <a:solidFill>
                      <a:srgbClr val="52AE32"/>
                    </a:solidFill>
                  </a:tcPr>
                </a:tc>
              </a:tr>
            </a:tbl>
          </a:graphicData>
        </a:graphic>
      </p:graphicFrame>
      <p:graphicFrame>
        <p:nvGraphicFramePr>
          <p:cNvPr id="3" name="Table 2"/>
          <p:cNvGraphicFramePr>
            <a:graphicFrameLocks noGrp="1"/>
          </p:cNvGraphicFramePr>
          <p:nvPr/>
        </p:nvGraphicFramePr>
        <p:xfrm>
          <a:off x="274320" y="1490472"/>
          <a:ext cx="7781540" cy="2441448"/>
        </p:xfrm>
        <a:graphic>
          <a:graphicData uri="http://schemas.openxmlformats.org/drawingml/2006/table">
            <a:tbl>
              <a:tblPr firstRow="0" bandRow="0"/>
              <a:tblGrid>
                <a:gridCol w="1895504"/>
                <a:gridCol w="676174"/>
                <a:gridCol w="809191"/>
                <a:gridCol w="604122"/>
                <a:gridCol w="609665"/>
                <a:gridCol w="654004"/>
                <a:gridCol w="609665"/>
                <a:gridCol w="681716"/>
                <a:gridCol w="1241499"/>
              </a:tblGrid>
              <a:tr h="685800">
                <a:tc>
                  <a:txBody>
                    <a:bodyPr wrap="square"/>
                    <a:lstStyle/>
                    <a:p>
                      <a:pPr algn="ctr"/>
                      <a:r>
                        <a:rPr sz="900" i="1" b="0">
                          <a:solidFill>
                            <a:srgbClr val="FFFFFF"/>
                          </a:solidFill>
                          <a:latin typeface="Arial"/>
                        </a:rPr>
                        <a:t>Company Name</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Honoraria/ Expenses</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Consulting/ Advisory Board</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Funded Research</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Royalties/ Patent</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Stock Options</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Ownership/ Equity Position</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Employee</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c>
                  <a:txBody>
                    <a:bodyPr wrap="square"/>
                    <a:lstStyle/>
                    <a:p>
                      <a:pPr algn="ctr"/>
                      <a:r>
                        <a:rPr sz="900" i="1" b="0">
                          <a:solidFill>
                            <a:srgbClr val="FFFFFF"/>
                          </a:solidFill>
                          <a:latin typeface="Arial"/>
                        </a:rPr>
                        <a:t>Other (please specify)</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2E247A"/>
                    </a:solidFill>
                  </a:tcPr>
                </a:tc>
              </a:tr>
              <a:tr h="438912">
                <a:tc>
                  <a:txBody>
                    <a:bodyPr wrap="square"/>
                    <a:lstStyle/>
                    <a:p>
                      <a:pPr algn="l"/>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r>
              <a:tr h="438912">
                <a:tc>
                  <a:txBody>
                    <a:bodyPr wrap="square"/>
                    <a:lstStyle/>
                    <a:p>
                      <a:pPr algn="l"/>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r>
              <a:tr h="438912">
                <a:tc>
                  <a:txBody>
                    <a:bodyPr wrap="square"/>
                    <a:lstStyle/>
                    <a:p>
                      <a:pPr algn="l"/>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r>
              <a:tr h="438912">
                <a:tc>
                  <a:txBody>
                    <a:bodyPr wrap="square"/>
                    <a:lstStyle/>
                    <a:p>
                      <a:pPr algn="l"/>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c>
                  <a:txBody>
                    <a:bodyPr wrap="square"/>
                    <a:lstStyle/>
                    <a:p>
                      <a:pPr algn="ctr"/>
                      <a:r>
                        <a:rPr sz="1200" i="0" b="0">
                          <a:solidFill>
                            <a:srgbClr val="000000"/>
                          </a:solidFill>
                          <a:latin typeface="Arial"/>
                        </a:rPr>
                        <a:t/>
                      </a:r>
                    </a:p>
                  </a:txBody>
                  <a:tcPr marL="27432" marR="27432" marT="18288" marB="18288" anchor="ctr">
                    <a:lnL w="9525">
                      <a:solidFill>
                        <a:srgbClr val="808080"/>
                      </a:solidFill>
                    </a:lnL>
                    <a:lnR w="9525">
                      <a:solidFill>
                        <a:srgbClr val="808080"/>
                      </a:solidFill>
                    </a:lnR>
                    <a:lnT w="9525">
                      <a:solidFill>
                        <a:srgbClr val="808080"/>
                      </a:solidFill>
                    </a:lnT>
                    <a:lnB w="9525">
                      <a:solidFill>
                        <a:srgbClr val="808080"/>
                      </a:solidFill>
                    </a:lnB>
                    <a:solidFill>
                      <a:srgbClr val="52AE32"/>
                    </a:solidFill>
                  </a:tcPr>
                </a:tc>
              </a:tr>
            </a:tbl>
          </a:graphicData>
        </a:graphic>
      </p:graphicFrame>
    </p:spTree>
    <p:extLst>
      <p:ext uri="{BB962C8B-B14F-4D97-AF65-F5344CB8AC3E}">
        <p14:creationId xmlns:p14="http://schemas.microsoft.com/office/powerpoint/2010/main" val="2972448883"/>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The moment this started</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01  </a:t>
            </a:r>
            <a:r>
              <a:rPr sz="1100" b="0" i="0">
                <a:solidFill>
                  <a:srgbClr val="5F5F5F"/>
                </a:solidFill>
                <a:latin typeface="Arial"/>
                <a:ea typeface="Arial"/>
                <a:cs typeface="Arial"/>
              </a:rPr>
              <a:t>Where I come from</a:t>
            </a:r>
          </a:p>
        </p:txBody>
      </p:sp>
      <p:sp>
        <p:nvSpPr>
          <p:cNvPr id="4" name="TextBox 3"/>
          <p:cNvSpPr txBox="1"/>
          <p:nvPr/>
        </p:nvSpPr>
        <p:spPr>
          <a:xfrm>
            <a:off x="310896" y="1143000"/>
            <a:ext cx="6949440" cy="2194560"/>
          </a:xfrm>
          <a:prstGeom prst="rect">
            <a:avLst/>
          </a:prstGeom>
          <a:noFill/>
        </p:spPr>
        <p:txBody>
          <a:bodyPr wrap="square" lIns="0" rIns="0" tIns="0" bIns="0" anchor="t">
            <a:noAutofit/>
          </a:bodyPr>
          <a:lstStyle/>
          <a:p>
            <a:pPr algn="l">
              <a:lnSpc>
                <a:spcPct val="100000"/>
              </a:lnSpc>
              <a:spcBef>
                <a:spcPts val="0"/>
              </a:spcBef>
              <a:spcAft>
                <a:spcPts val="0"/>
              </a:spcAft>
            </a:pPr>
            <a:r>
              <a:rPr sz="2000" b="0" i="1">
                <a:solidFill>
                  <a:srgbClr val="1F1F1F"/>
                </a:solidFill>
                <a:latin typeface="Arial"/>
                <a:ea typeface="Arial"/>
                <a:cs typeface="Arial"/>
              </a:rPr>
              <a:t>I came to stroke from imaging and neuroscience. [In 20__ I tried to build on a published result: the data were “available on request”, the code was not there, and the request went unanswered. I could not tell whether the finding was wrong or I was.]</a:t>
            </a:r>
          </a:p>
        </p:txBody>
      </p:sp>
      <p:sp>
        <p:nvSpPr>
          <p:cNvPr id="5" name="TextBox 4"/>
          <p:cNvSpPr txBox="1"/>
          <p:nvPr/>
        </p:nvSpPr>
        <p:spPr>
          <a:xfrm>
            <a:off x="310896" y="3977639"/>
            <a:ext cx="7223760" cy="320040"/>
          </a:xfrm>
          <a:prstGeom prst="rect">
            <a:avLst/>
          </a:prstGeom>
          <a:noFill/>
        </p:spPr>
        <p:txBody>
          <a:bodyPr wrap="square" lIns="0" rIns="0" tIns="0" bIns="0" anchor="t">
            <a:noAutofit/>
          </a:bodyPr>
          <a:lstStyle/>
          <a:p>
            <a:pPr algn="l">
              <a:lnSpc>
                <a:spcPct val="100000"/>
              </a:lnSpc>
              <a:spcBef>
                <a:spcPts val="0"/>
              </a:spcBef>
              <a:spcAft>
                <a:spcPts val="0"/>
              </a:spcAft>
            </a:pPr>
            <a:r>
              <a:rPr sz="1400" b="0" i="0">
                <a:solidFill>
                  <a:srgbClr val="5F5F5F"/>
                </a:solidFill>
                <a:latin typeface="Arial"/>
                <a:ea typeface="Arial"/>
                <a:cs typeface="Arial"/>
              </a:rPr>
              <a:t>imaging   ·   neuroscience   ·   neurology   ·   </a:t>
            </a:r>
            <a:r>
              <a:rPr sz="1400" b="1" i="0">
                <a:solidFill>
                  <a:srgbClr val="D7263D"/>
                </a:solidFill>
                <a:latin typeface="Arial"/>
                <a:ea typeface="Arial"/>
                <a:cs typeface="Arial"/>
              </a:rPr>
              <a:t>stroke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749808"/>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The fields next door had their crisis first</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02  </a:t>
            </a:r>
            <a:r>
              <a:rPr sz="1100" b="0" i="0">
                <a:solidFill>
                  <a:srgbClr val="5F5F5F"/>
                </a:solidFill>
                <a:latin typeface="Arial"/>
                <a:ea typeface="Arial"/>
                <a:cs typeface="Arial"/>
              </a:rPr>
              <a:t>Why open science</a:t>
            </a:r>
          </a:p>
        </p:txBody>
      </p:sp>
      <p:sp>
        <p:nvSpPr>
          <p:cNvPr id="4" name="Rectangle 3"/>
          <p:cNvSpPr/>
          <p:nvPr/>
        </p:nvSpPr>
        <p:spPr>
          <a:xfrm>
            <a:off x="310896" y="1097280"/>
            <a:ext cx="1805940" cy="22860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0624" y="1207007"/>
            <a:ext cx="1586484" cy="2066543"/>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Psychology</a:t>
            </a:r>
          </a:p>
          <a:p>
            <a:pPr algn="l">
              <a:lnSpc>
                <a:spcPct val="100000"/>
              </a:lnSpc>
              <a:spcBef>
                <a:spcPts val="0"/>
              </a:spcBef>
              <a:spcAft>
                <a:spcPts val="400"/>
              </a:spcAft>
            </a:pPr>
            <a:r>
              <a:rPr sz="3000" b="1" i="0">
                <a:solidFill>
                  <a:srgbClr val="D7263D"/>
                </a:solidFill>
                <a:latin typeface="Arial"/>
                <a:ea typeface="Arial"/>
                <a:cs typeface="Arial"/>
              </a:rPr>
              <a:t>36%</a:t>
            </a:r>
          </a:p>
          <a:p>
            <a:pPr algn="l">
              <a:lnSpc>
                <a:spcPct val="100000"/>
              </a:lnSpc>
              <a:spcBef>
                <a:spcPts val="0"/>
              </a:spcBef>
              <a:spcAft>
                <a:spcPts val="300"/>
              </a:spcAft>
            </a:pPr>
            <a:r>
              <a:rPr sz="1100" b="0" i="0">
                <a:solidFill>
                  <a:srgbClr val="3A3A3A"/>
                </a:solidFill>
                <a:latin typeface="Arial"/>
                <a:ea typeface="Arial"/>
                <a:cs typeface="Arial"/>
              </a:rPr>
              <a:t>of 100 published findings replicated with a significant result; effect sizes about half the originals</a:t>
            </a:r>
          </a:p>
          <a:p>
            <a:pPr algn="l">
              <a:lnSpc>
                <a:spcPct val="100000"/>
              </a:lnSpc>
              <a:spcBef>
                <a:spcPts val="0"/>
              </a:spcBef>
              <a:spcAft>
                <a:spcPts val="0"/>
              </a:spcAft>
            </a:pPr>
            <a:r>
              <a:rPr sz="1000" b="0" i="0">
                <a:solidFill>
                  <a:srgbClr val="5F5F5F"/>
                </a:solidFill>
                <a:latin typeface="Arial"/>
                <a:ea typeface="Arial"/>
                <a:cs typeface="Arial"/>
              </a:rPr>
              <a:t>Open Science Collaboration, Science 2015</a:t>
            </a:r>
          </a:p>
        </p:txBody>
      </p:sp>
      <p:sp>
        <p:nvSpPr>
          <p:cNvPr id="6" name="Rectangle 5"/>
          <p:cNvSpPr/>
          <p:nvPr/>
        </p:nvSpPr>
        <p:spPr>
          <a:xfrm>
            <a:off x="2116836" y="1097280"/>
            <a:ext cx="1805940" cy="22860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26564" y="1207007"/>
            <a:ext cx="1586484" cy="2066543"/>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Neuroscience</a:t>
            </a:r>
          </a:p>
          <a:p>
            <a:pPr algn="l">
              <a:lnSpc>
                <a:spcPct val="100000"/>
              </a:lnSpc>
              <a:spcBef>
                <a:spcPts val="0"/>
              </a:spcBef>
              <a:spcAft>
                <a:spcPts val="400"/>
              </a:spcAft>
            </a:pPr>
            <a:r>
              <a:rPr sz="3000" b="1" i="0">
                <a:solidFill>
                  <a:srgbClr val="D7263D"/>
                </a:solidFill>
                <a:latin typeface="Arial"/>
                <a:ea typeface="Arial"/>
                <a:cs typeface="Arial"/>
              </a:rPr>
              <a:t>21%</a:t>
            </a:r>
          </a:p>
          <a:p>
            <a:pPr algn="l">
              <a:lnSpc>
                <a:spcPct val="100000"/>
              </a:lnSpc>
              <a:spcBef>
                <a:spcPts val="0"/>
              </a:spcBef>
              <a:spcAft>
                <a:spcPts val="300"/>
              </a:spcAft>
            </a:pPr>
            <a:r>
              <a:rPr sz="1100" b="0" i="0">
                <a:solidFill>
                  <a:srgbClr val="3A3A3A"/>
                </a:solidFill>
                <a:latin typeface="Arial"/>
                <a:ea typeface="Arial"/>
                <a:cs typeface="Arial"/>
              </a:rPr>
              <a:t>median statistical power of neuroscience studies</a:t>
            </a:r>
          </a:p>
          <a:p>
            <a:pPr algn="l">
              <a:lnSpc>
                <a:spcPct val="100000"/>
              </a:lnSpc>
              <a:spcBef>
                <a:spcPts val="0"/>
              </a:spcBef>
              <a:spcAft>
                <a:spcPts val="0"/>
              </a:spcAft>
            </a:pPr>
            <a:r>
              <a:rPr sz="1000" b="0" i="0">
                <a:solidFill>
                  <a:srgbClr val="5F5F5F"/>
                </a:solidFill>
                <a:latin typeface="Arial"/>
                <a:ea typeface="Arial"/>
                <a:cs typeface="Arial"/>
              </a:rPr>
              <a:t>Button et al., Nat Rev Neurosci 2013</a:t>
            </a:r>
          </a:p>
        </p:txBody>
      </p:sp>
      <p:sp>
        <p:nvSpPr>
          <p:cNvPr id="8" name="Rectangle 7"/>
          <p:cNvSpPr/>
          <p:nvPr/>
        </p:nvSpPr>
        <p:spPr>
          <a:xfrm>
            <a:off x="3922776" y="1097280"/>
            <a:ext cx="1805940" cy="22860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32504" y="1207007"/>
            <a:ext cx="1586484" cy="2066543"/>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Preclinical cancer</a:t>
            </a:r>
          </a:p>
          <a:p>
            <a:pPr algn="l">
              <a:lnSpc>
                <a:spcPct val="100000"/>
              </a:lnSpc>
              <a:spcBef>
                <a:spcPts val="0"/>
              </a:spcBef>
              <a:spcAft>
                <a:spcPts val="400"/>
              </a:spcAft>
            </a:pPr>
            <a:r>
              <a:rPr sz="3000" b="1" i="0">
                <a:solidFill>
                  <a:srgbClr val="D7263D"/>
                </a:solidFill>
                <a:latin typeface="Arial"/>
                <a:ea typeface="Arial"/>
                <a:cs typeface="Arial"/>
              </a:rPr>
              <a:t>6 of 53</a:t>
            </a:r>
          </a:p>
          <a:p>
            <a:pPr algn="l">
              <a:lnSpc>
                <a:spcPct val="100000"/>
              </a:lnSpc>
              <a:spcBef>
                <a:spcPts val="0"/>
              </a:spcBef>
              <a:spcAft>
                <a:spcPts val="300"/>
              </a:spcAft>
            </a:pPr>
            <a:r>
              <a:rPr sz="1100" b="0" i="0">
                <a:solidFill>
                  <a:srgbClr val="3A3A3A"/>
                </a:solidFill>
                <a:latin typeface="Arial"/>
                <a:ea typeface="Arial"/>
                <a:cs typeface="Arial"/>
              </a:rPr>
              <a:t>landmark findings that Amgen could reproduce</a:t>
            </a:r>
          </a:p>
          <a:p>
            <a:pPr algn="l">
              <a:lnSpc>
                <a:spcPct val="100000"/>
              </a:lnSpc>
              <a:spcBef>
                <a:spcPts val="0"/>
              </a:spcBef>
              <a:spcAft>
                <a:spcPts val="0"/>
              </a:spcAft>
            </a:pPr>
            <a:r>
              <a:rPr sz="1000" b="0" i="0">
                <a:solidFill>
                  <a:srgbClr val="5F5F5F"/>
                </a:solidFill>
                <a:latin typeface="Arial"/>
                <a:ea typeface="Arial"/>
                <a:cs typeface="Arial"/>
              </a:rPr>
              <a:t>Begley and Ellis, Nature 2012</a:t>
            </a:r>
          </a:p>
        </p:txBody>
      </p:sp>
      <p:sp>
        <p:nvSpPr>
          <p:cNvPr id="10" name="Rectangle 9"/>
          <p:cNvSpPr/>
          <p:nvPr/>
        </p:nvSpPr>
        <p:spPr>
          <a:xfrm>
            <a:off x="5728716" y="1097280"/>
            <a:ext cx="1805940" cy="22860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38444" y="1207007"/>
            <a:ext cx="1586484" cy="2066543"/>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Across science</a:t>
            </a:r>
          </a:p>
          <a:p>
            <a:pPr algn="l">
              <a:lnSpc>
                <a:spcPct val="100000"/>
              </a:lnSpc>
              <a:spcBef>
                <a:spcPts val="0"/>
              </a:spcBef>
              <a:spcAft>
                <a:spcPts val="400"/>
              </a:spcAft>
            </a:pPr>
            <a:r>
              <a:rPr sz="3000" b="1" i="0">
                <a:solidFill>
                  <a:srgbClr val="D7263D"/>
                </a:solidFill>
                <a:latin typeface="Arial"/>
                <a:ea typeface="Arial"/>
                <a:cs typeface="Arial"/>
              </a:rPr>
              <a:t>70%</a:t>
            </a:r>
          </a:p>
          <a:p>
            <a:pPr algn="l">
              <a:lnSpc>
                <a:spcPct val="100000"/>
              </a:lnSpc>
              <a:spcBef>
                <a:spcPts val="0"/>
              </a:spcBef>
              <a:spcAft>
                <a:spcPts val="300"/>
              </a:spcAft>
            </a:pPr>
            <a:r>
              <a:rPr sz="1100" b="0" i="0">
                <a:solidFill>
                  <a:srgbClr val="3A3A3A"/>
                </a:solidFill>
                <a:latin typeface="Arial"/>
                <a:ea typeface="Arial"/>
                <a:cs typeface="Arial"/>
              </a:rPr>
              <a:t>of 1,576 researchers had failed to reproduce another group’s experiment; 52% called it a significant crisis</a:t>
            </a:r>
          </a:p>
          <a:p>
            <a:pPr algn="l">
              <a:lnSpc>
                <a:spcPct val="100000"/>
              </a:lnSpc>
              <a:spcBef>
                <a:spcPts val="0"/>
              </a:spcBef>
              <a:spcAft>
                <a:spcPts val="0"/>
              </a:spcAft>
            </a:pPr>
            <a:r>
              <a:rPr sz="1000" b="0" i="0">
                <a:solidFill>
                  <a:srgbClr val="5F5F5F"/>
                </a:solidFill>
                <a:latin typeface="Arial"/>
                <a:ea typeface="Arial"/>
                <a:cs typeface="Arial"/>
              </a:rPr>
              <a:t>Baker, Nature 2016</a:t>
            </a:r>
          </a:p>
        </p:txBody>
      </p:sp>
      <p:cxnSp>
        <p:nvCxnSpPr>
          <p:cNvPr id="12" name="Connector 11"/>
          <p:cNvCxnSpPr/>
          <p:nvPr/>
        </p:nvCxnSpPr>
        <p:spPr>
          <a:xfrm>
            <a:off x="310896" y="3547872"/>
            <a:ext cx="7223760" cy="0"/>
          </a:xfrm>
          <a:prstGeom prst="line">
            <a:avLst/>
          </a:prstGeom>
          <a:ln w="12700">
            <a:solidFill>
              <a:srgbClr val="1F1F1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10896" y="3657600"/>
            <a:ext cx="1600200" cy="73152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F1F1F"/>
                </a:solidFill>
                <a:latin typeface="Arial"/>
                <a:ea typeface="Arial"/>
                <a:cs typeface="Arial"/>
              </a:rPr>
              <a:t>What those fields did about it</a:t>
            </a:r>
          </a:p>
        </p:txBody>
      </p:sp>
      <p:sp>
        <p:nvSpPr>
          <p:cNvPr id="14" name="TextBox 13"/>
          <p:cNvSpPr txBox="1"/>
          <p:nvPr/>
        </p:nvSpPr>
        <p:spPr>
          <a:xfrm>
            <a:off x="2093976" y="3657600"/>
            <a:ext cx="5440680" cy="777240"/>
          </a:xfrm>
          <a:prstGeom prst="rect">
            <a:avLst/>
          </a:prstGeom>
          <a:noFill/>
        </p:spPr>
        <p:txBody>
          <a:bodyPr wrap="square" lIns="0" rIns="0" tIns="0" bIns="0" anchor="t">
            <a:noAutofit/>
          </a:bodyPr>
          <a:lstStyle/>
          <a:p>
            <a:pPr algn="l">
              <a:lnSpc>
                <a:spcPct val="100000"/>
              </a:lnSpc>
              <a:spcBef>
                <a:spcPts val="0"/>
              </a:spcBef>
              <a:spcAft>
                <a:spcPts val="0"/>
              </a:spcAft>
            </a:pPr>
            <a:r>
              <a:rPr sz="1200" b="0" i="0">
                <a:solidFill>
                  <a:srgbClr val="3A3A3A"/>
                </a:solidFill>
                <a:latin typeface="Arial"/>
                <a:ea typeface="Arial"/>
                <a:cs typeface="Arial"/>
              </a:rPr>
              <a:t>Preregistration and Registered Reports in more than 300 journals, open-data badges, the Open Science Framework, data and code as a condition of publication. In Registered Reports, 44% of results are positive, against 96% in the standard literature (Scheel 2021).</a:t>
            </a:r>
          </a:p>
        </p:txBody>
      </p:sp>
      <p:sp>
        <p:nvSpPr>
          <p:cNvPr id="15" name="TextBox 14"/>
          <p:cNvSpPr txBox="1"/>
          <p:nvPr/>
        </p:nvSpPr>
        <p:spPr>
          <a:xfrm>
            <a:off x="310896" y="4773168"/>
            <a:ext cx="7040880" cy="182880"/>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Psychology and neuroscience measured themselves, it hurt, and they changed how they publish.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749808"/>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Same question, different answers, and no way to tell why from the papers alone</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03  </a:t>
            </a:r>
            <a:r>
              <a:rPr sz="1100" b="0" i="0">
                <a:solidFill>
                  <a:srgbClr val="5F5F5F"/>
                </a:solidFill>
                <a:latin typeface="Arial"/>
                <a:ea typeface="Arial"/>
                <a:cs typeface="Arial"/>
              </a:rPr>
              <a:t>Stroke is not immune</a:t>
            </a:r>
          </a:p>
        </p:txBody>
      </p:sp>
      <p:cxnSp>
        <p:nvCxnSpPr>
          <p:cNvPr id="4" name="Connector 3"/>
          <p:cNvCxnSpPr/>
          <p:nvPr/>
        </p:nvCxnSpPr>
        <p:spPr>
          <a:xfrm>
            <a:off x="310896" y="1261872"/>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10896" y="1353312"/>
            <a:ext cx="1600200" cy="649224"/>
          </a:xfrm>
          <a:prstGeom prst="rect">
            <a:avLst/>
          </a:prstGeom>
          <a:noFill/>
        </p:spPr>
        <p:txBody>
          <a:bodyPr wrap="square" lIns="0" rIns="0" tIns="0" bIns="0" anchor="t">
            <a:noAutofit/>
          </a:bodyPr>
          <a:lstStyle/>
          <a:p>
            <a:pPr algn="l">
              <a:lnSpc>
                <a:spcPct val="100000"/>
              </a:lnSpc>
              <a:spcBef>
                <a:spcPts val="0"/>
              </a:spcBef>
              <a:spcAft>
                <a:spcPts val="0"/>
              </a:spcAft>
            </a:pPr>
            <a:r>
              <a:rPr sz="1250" b="1" i="0">
                <a:solidFill>
                  <a:srgbClr val="1F1F1F"/>
                </a:solidFill>
                <a:latin typeface="Arial"/>
                <a:ea typeface="Arial"/>
                <a:cs typeface="Arial"/>
              </a:rPr>
              <a:t>Preclinical</a:t>
            </a:r>
          </a:p>
        </p:txBody>
      </p:sp>
      <p:sp>
        <p:nvSpPr>
          <p:cNvPr id="6" name="TextBox 5"/>
          <p:cNvSpPr txBox="1"/>
          <p:nvPr/>
        </p:nvSpPr>
        <p:spPr>
          <a:xfrm>
            <a:off x="2048255" y="1353312"/>
            <a:ext cx="4160520" cy="649224"/>
          </a:xfrm>
          <a:prstGeom prst="rect">
            <a:avLst/>
          </a:prstGeom>
          <a:noFill/>
        </p:spPr>
        <p:txBody>
          <a:bodyPr wrap="square" lIns="0" rIns="0" tIns="0" bIns="0" anchor="t">
            <a:noAutofit/>
          </a:bodyPr>
          <a:lstStyle/>
          <a:p>
            <a:pPr algn="l">
              <a:lnSpc>
                <a:spcPct val="100000"/>
              </a:lnSpc>
              <a:spcBef>
                <a:spcPts val="0"/>
              </a:spcBef>
              <a:spcAft>
                <a:spcPts val="0"/>
              </a:spcAft>
            </a:pPr>
            <a:r>
              <a:rPr sz="1250" b="0" i="0">
                <a:solidFill>
                  <a:srgbClr val="1F1F1F"/>
                </a:solidFill>
                <a:latin typeface="Arial"/>
                <a:ea typeface="Arial"/>
                <a:cs typeface="Arial"/>
              </a:rPr>
              <a:t>1,026 neuroprotectants tested in animal stroke; none translated. Publication bias overstated efficacy by about a third. NXY-059: SAINT I positive, SAINT II negative.</a:t>
            </a:r>
          </a:p>
        </p:txBody>
      </p:sp>
      <p:sp>
        <p:nvSpPr>
          <p:cNvPr id="7" name="TextBox 6"/>
          <p:cNvSpPr txBox="1"/>
          <p:nvPr/>
        </p:nvSpPr>
        <p:spPr>
          <a:xfrm>
            <a:off x="6345936" y="1353312"/>
            <a:ext cx="1188720" cy="649224"/>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5F5F"/>
                </a:solidFill>
                <a:latin typeface="Arial"/>
                <a:ea typeface="Arial"/>
                <a:cs typeface="Arial"/>
              </a:rPr>
              <a:t>O’Collins 2006; Sena 2010; Lees 2006; Shuaib 2007</a:t>
            </a:r>
          </a:p>
        </p:txBody>
      </p:sp>
      <p:cxnSp>
        <p:nvCxnSpPr>
          <p:cNvPr id="8" name="Connector 7"/>
          <p:cNvCxnSpPr/>
          <p:nvPr/>
        </p:nvCxnSpPr>
        <p:spPr>
          <a:xfrm>
            <a:off x="310896" y="2048255"/>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10896" y="2139696"/>
            <a:ext cx="1600200" cy="649224"/>
          </a:xfrm>
          <a:prstGeom prst="rect">
            <a:avLst/>
          </a:prstGeom>
          <a:noFill/>
        </p:spPr>
        <p:txBody>
          <a:bodyPr wrap="square" lIns="0" rIns="0" tIns="0" bIns="0" anchor="t">
            <a:noAutofit/>
          </a:bodyPr>
          <a:lstStyle/>
          <a:p>
            <a:pPr algn="l">
              <a:lnSpc>
                <a:spcPct val="100000"/>
              </a:lnSpc>
              <a:spcBef>
                <a:spcPts val="0"/>
              </a:spcBef>
              <a:spcAft>
                <a:spcPts val="0"/>
              </a:spcAft>
            </a:pPr>
            <a:r>
              <a:rPr sz="1250" b="1" i="0">
                <a:solidFill>
                  <a:srgbClr val="1F1F1F"/>
                </a:solidFill>
                <a:latin typeface="Arial"/>
                <a:ea typeface="Arial"/>
                <a:cs typeface="Arial"/>
              </a:rPr>
              <a:t>Tirofiban</a:t>
            </a:r>
          </a:p>
        </p:txBody>
      </p:sp>
      <p:sp>
        <p:nvSpPr>
          <p:cNvPr id="10" name="TextBox 9"/>
          <p:cNvSpPr txBox="1"/>
          <p:nvPr/>
        </p:nvSpPr>
        <p:spPr>
          <a:xfrm>
            <a:off x="2048255" y="2139696"/>
            <a:ext cx="4160520" cy="649224"/>
          </a:xfrm>
          <a:prstGeom prst="rect">
            <a:avLst/>
          </a:prstGeom>
          <a:noFill/>
        </p:spPr>
        <p:txBody>
          <a:bodyPr wrap="square" lIns="0" rIns="0" tIns="0" bIns="0" anchor="t">
            <a:noAutofit/>
          </a:bodyPr>
          <a:lstStyle/>
          <a:p>
            <a:pPr algn="l">
              <a:lnSpc>
                <a:spcPct val="100000"/>
              </a:lnSpc>
              <a:spcBef>
                <a:spcPts val="0"/>
              </a:spcBef>
              <a:spcAft>
                <a:spcPts val="0"/>
              </a:spcAft>
            </a:pPr>
            <a:r>
              <a:rPr sz="1250" b="0" i="0">
                <a:solidFill>
                  <a:srgbClr val="1F1F1F"/>
                </a:solidFill>
                <a:latin typeface="Arial"/>
                <a:ea typeface="Arial"/>
                <a:cs typeface="Arial"/>
              </a:rPr>
              <a:t>No benefit before thrombectomy in RESCUE BT (2022). Benefit without a large-vessel occlusion in RESCUE BT2 (2023). A different question, or a different answer?</a:t>
            </a:r>
          </a:p>
        </p:txBody>
      </p:sp>
      <p:sp>
        <p:nvSpPr>
          <p:cNvPr id="11" name="TextBox 10"/>
          <p:cNvSpPr txBox="1"/>
          <p:nvPr/>
        </p:nvSpPr>
        <p:spPr>
          <a:xfrm>
            <a:off x="6345936" y="2139696"/>
            <a:ext cx="1188720" cy="649224"/>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5F5F"/>
                </a:solidFill>
                <a:latin typeface="Arial"/>
                <a:ea typeface="Arial"/>
                <a:cs typeface="Arial"/>
              </a:rPr>
              <a:t>Qiu 2022, JAMA; Zi 2023, NEJM</a:t>
            </a:r>
          </a:p>
        </p:txBody>
      </p:sp>
      <p:cxnSp>
        <p:nvCxnSpPr>
          <p:cNvPr id="12" name="Connector 11"/>
          <p:cNvCxnSpPr/>
          <p:nvPr/>
        </p:nvCxnSpPr>
        <p:spPr>
          <a:xfrm>
            <a:off x="310896" y="2834639"/>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10896" y="2926079"/>
            <a:ext cx="1600200" cy="594360"/>
          </a:xfrm>
          <a:prstGeom prst="rect">
            <a:avLst/>
          </a:prstGeom>
          <a:noFill/>
        </p:spPr>
        <p:txBody>
          <a:bodyPr wrap="square" lIns="0" rIns="0" tIns="0" bIns="0" anchor="t">
            <a:noAutofit/>
          </a:bodyPr>
          <a:lstStyle/>
          <a:p>
            <a:pPr algn="l">
              <a:lnSpc>
                <a:spcPct val="100000"/>
              </a:lnSpc>
              <a:spcBef>
                <a:spcPts val="0"/>
              </a:spcBef>
              <a:spcAft>
                <a:spcPts val="0"/>
              </a:spcAft>
            </a:pPr>
            <a:r>
              <a:rPr sz="1250" b="1" i="0">
                <a:solidFill>
                  <a:srgbClr val="1F1F1F"/>
                </a:solidFill>
                <a:latin typeface="Arial"/>
                <a:ea typeface="Arial"/>
                <a:cs typeface="Arial"/>
              </a:rPr>
              <a:t>Middle meningeal artery embolisation</a:t>
            </a:r>
          </a:p>
        </p:txBody>
      </p:sp>
      <p:sp>
        <p:nvSpPr>
          <p:cNvPr id="14" name="TextBox 13"/>
          <p:cNvSpPr txBox="1"/>
          <p:nvPr/>
        </p:nvSpPr>
        <p:spPr>
          <a:xfrm>
            <a:off x="2048255" y="2926079"/>
            <a:ext cx="4160520" cy="594360"/>
          </a:xfrm>
          <a:prstGeom prst="rect">
            <a:avLst/>
          </a:prstGeom>
          <a:noFill/>
        </p:spPr>
        <p:txBody>
          <a:bodyPr wrap="square" lIns="0" rIns="0" tIns="0" bIns="0" anchor="t">
            <a:noAutofit/>
          </a:bodyPr>
          <a:lstStyle/>
          <a:p>
            <a:pPr algn="l">
              <a:lnSpc>
                <a:spcPct val="100000"/>
              </a:lnSpc>
              <a:spcBef>
                <a:spcPts val="0"/>
              </a:spcBef>
              <a:spcAft>
                <a:spcPts val="0"/>
              </a:spcAft>
            </a:pPr>
            <a:r>
              <a:rPr sz="1250" b="0" i="0">
                <a:solidFill>
                  <a:srgbClr val="1F1F1F"/>
                </a:solidFill>
                <a:latin typeface="Arial"/>
                <a:ea typeface="Arial"/>
                <a:cs typeface="Arial"/>
              </a:rPr>
              <a:t>Three trials in one NEJM issue: EMBOLISE positive (recurrence 4% vs 11%), STEM positive, MAGIC-MT neutral (6.7% vs 9.9%).</a:t>
            </a:r>
          </a:p>
        </p:txBody>
      </p:sp>
      <p:sp>
        <p:nvSpPr>
          <p:cNvPr id="15" name="TextBox 14"/>
          <p:cNvSpPr txBox="1"/>
          <p:nvPr/>
        </p:nvSpPr>
        <p:spPr>
          <a:xfrm>
            <a:off x="6345936" y="2926079"/>
            <a:ext cx="1188720" cy="59436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5F5F"/>
                </a:solidFill>
                <a:latin typeface="Arial"/>
                <a:ea typeface="Arial"/>
                <a:cs typeface="Arial"/>
              </a:rPr>
              <a:t>Davies, Fiorella, Liu 2024, NEJM</a:t>
            </a:r>
          </a:p>
        </p:txBody>
      </p:sp>
      <p:cxnSp>
        <p:nvCxnSpPr>
          <p:cNvPr id="16" name="Connector 15"/>
          <p:cNvCxnSpPr/>
          <p:nvPr/>
        </p:nvCxnSpPr>
        <p:spPr>
          <a:xfrm>
            <a:off x="310896" y="3566159"/>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0896" y="3931920"/>
            <a:ext cx="7223760" cy="640080"/>
          </a:xfrm>
          <a:prstGeom prst="rect">
            <a:avLst/>
          </a:prstGeom>
          <a:noFill/>
        </p:spPr>
        <p:txBody>
          <a:bodyPr wrap="square" lIns="0" rIns="0" tIns="0" bIns="0" anchor="t">
            <a:noAutofit/>
          </a:bodyPr>
          <a:lstStyle/>
          <a:p>
            <a:pPr algn="l">
              <a:lnSpc>
                <a:spcPct val="100000"/>
              </a:lnSpc>
              <a:spcBef>
                <a:spcPts val="0"/>
              </a:spcBef>
              <a:spcAft>
                <a:spcPts val="0"/>
              </a:spcAft>
            </a:pPr>
            <a:r>
              <a:rPr sz="1500" b="0" i="1">
                <a:solidFill>
                  <a:srgbClr val="1F1F1F"/>
                </a:solidFill>
                <a:latin typeface="Arial"/>
                <a:ea typeface="Arial"/>
                <a:cs typeface="Arial"/>
              </a:rPr>
              <a:t>Replication is how a field finds out which result to trust. Without the protocols, the data and the code, we are left arguing about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749808"/>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Four questions a field should be able to answer about its own literature</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04  </a:t>
            </a:r>
            <a:r>
              <a:rPr sz="1100" b="0" i="0">
                <a:solidFill>
                  <a:srgbClr val="5F5F5F"/>
                </a:solidFill>
                <a:latin typeface="Arial"/>
                <a:ea typeface="Arial"/>
                <a:cs typeface="Arial"/>
              </a:rPr>
              <a:t>What open science is made of</a:t>
            </a:r>
          </a:p>
        </p:txBody>
      </p:sp>
      <p:sp>
        <p:nvSpPr>
          <p:cNvPr id="4" name="Rectangle 3"/>
          <p:cNvSpPr/>
          <p:nvPr/>
        </p:nvSpPr>
        <p:spPr>
          <a:xfrm>
            <a:off x="310896" y="1261872"/>
            <a:ext cx="1805940" cy="20574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371600"/>
            <a:ext cx="1568196" cy="1874519"/>
          </a:xfrm>
          <a:prstGeom prst="rect">
            <a:avLst/>
          </a:prstGeom>
          <a:noFill/>
        </p:spPr>
        <p:txBody>
          <a:bodyPr wrap="square" lIns="0" rIns="0" tIns="0" bIns="0" anchor="t">
            <a:noAutofit/>
          </a:bodyPr>
          <a:lstStyle/>
          <a:p>
            <a:pPr algn="l">
              <a:lnSpc>
                <a:spcPct val="100000"/>
              </a:lnSpc>
              <a:spcBef>
                <a:spcPts val="0"/>
              </a:spcBef>
              <a:spcAft>
                <a:spcPts val="400"/>
              </a:spcAft>
            </a:pPr>
            <a:r>
              <a:rPr sz="1100" b="1" i="0">
                <a:solidFill>
                  <a:srgbClr val="D7263D"/>
                </a:solidFill>
                <a:latin typeface="Arial"/>
                <a:ea typeface="Arial"/>
                <a:cs typeface="Arial"/>
              </a:rPr>
              <a:t>Read it</a:t>
            </a:r>
          </a:p>
          <a:p>
            <a:pPr algn="l">
              <a:lnSpc>
                <a:spcPct val="100000"/>
              </a:lnSpc>
              <a:spcBef>
                <a:spcPts val="0"/>
              </a:spcBef>
              <a:spcAft>
                <a:spcPts val="600"/>
              </a:spcAft>
            </a:pPr>
            <a:r>
              <a:rPr sz="1500" b="1" i="0">
                <a:solidFill>
                  <a:srgbClr val="1F1F1F"/>
                </a:solidFill>
                <a:latin typeface="Arial"/>
                <a:ea typeface="Arial"/>
                <a:cs typeface="Arial"/>
              </a:rPr>
              <a:t>Can people read it?</a:t>
            </a:r>
          </a:p>
          <a:p>
            <a:pPr algn="l">
              <a:lnSpc>
                <a:spcPct val="100000"/>
              </a:lnSpc>
              <a:spcBef>
                <a:spcPts val="0"/>
              </a:spcBef>
              <a:spcAft>
                <a:spcPts val="600"/>
              </a:spcAft>
            </a:pPr>
            <a:r>
              <a:rPr sz="1200" b="0" i="0">
                <a:solidFill>
                  <a:srgbClr val="1F1F1F"/>
                </a:solidFill>
                <a:latin typeface="Arial"/>
                <a:ea typeface="Arial"/>
                <a:cs typeface="Arial"/>
              </a:rPr>
              <a:t>Open access, and by which route</a:t>
            </a:r>
          </a:p>
          <a:p>
            <a:pPr algn="l">
              <a:lnSpc>
                <a:spcPct val="100000"/>
              </a:lnSpc>
              <a:spcBef>
                <a:spcPts val="0"/>
              </a:spcBef>
              <a:spcAft>
                <a:spcPts val="0"/>
              </a:spcAft>
            </a:pPr>
            <a:r>
              <a:rPr sz="1100" b="0" i="0">
                <a:solidFill>
                  <a:srgbClr val="5F5F5F"/>
                </a:solidFill>
                <a:latin typeface="Arial"/>
                <a:ea typeface="Arial"/>
                <a:cs typeface="Arial"/>
              </a:rPr>
              <a:t>Diamond, gold, hybrid, green, bronze or closed</a:t>
            </a:r>
          </a:p>
        </p:txBody>
      </p:sp>
      <p:sp>
        <p:nvSpPr>
          <p:cNvPr id="6" name="Rectangle 5"/>
          <p:cNvSpPr/>
          <p:nvPr/>
        </p:nvSpPr>
        <p:spPr>
          <a:xfrm>
            <a:off x="2116836" y="1261872"/>
            <a:ext cx="1805940" cy="20574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35708" y="1371600"/>
            <a:ext cx="1568196" cy="1874519"/>
          </a:xfrm>
          <a:prstGeom prst="rect">
            <a:avLst/>
          </a:prstGeom>
          <a:noFill/>
        </p:spPr>
        <p:txBody>
          <a:bodyPr wrap="square" lIns="0" rIns="0" tIns="0" bIns="0" anchor="t">
            <a:noAutofit/>
          </a:bodyPr>
          <a:lstStyle/>
          <a:p>
            <a:pPr algn="l">
              <a:lnSpc>
                <a:spcPct val="100000"/>
              </a:lnSpc>
              <a:spcBef>
                <a:spcPts val="0"/>
              </a:spcBef>
              <a:spcAft>
                <a:spcPts val="400"/>
              </a:spcAft>
            </a:pPr>
            <a:r>
              <a:rPr sz="1100" b="1" i="0">
                <a:solidFill>
                  <a:srgbClr val="D7263D"/>
                </a:solidFill>
                <a:latin typeface="Arial"/>
                <a:ea typeface="Arial"/>
                <a:cs typeface="Arial"/>
              </a:rPr>
              <a:t>Check it</a:t>
            </a:r>
          </a:p>
          <a:p>
            <a:pPr algn="l">
              <a:lnSpc>
                <a:spcPct val="100000"/>
              </a:lnSpc>
              <a:spcBef>
                <a:spcPts val="0"/>
              </a:spcBef>
              <a:spcAft>
                <a:spcPts val="600"/>
              </a:spcAft>
            </a:pPr>
            <a:r>
              <a:rPr sz="1500" b="1" i="0">
                <a:solidFill>
                  <a:srgbClr val="1F1F1F"/>
                </a:solidFill>
                <a:latin typeface="Arial"/>
                <a:ea typeface="Arial"/>
                <a:cs typeface="Arial"/>
              </a:rPr>
              <a:t>Can they check it?</a:t>
            </a:r>
          </a:p>
          <a:p>
            <a:pPr algn="l">
              <a:lnSpc>
                <a:spcPct val="100000"/>
              </a:lnSpc>
              <a:spcBef>
                <a:spcPts val="0"/>
              </a:spcBef>
              <a:spcAft>
                <a:spcPts val="600"/>
              </a:spcAft>
            </a:pPr>
            <a:r>
              <a:rPr sz="1200" b="0" i="0">
                <a:solidFill>
                  <a:srgbClr val="1F1F1F"/>
                </a:solidFill>
                <a:latin typeface="Arial"/>
                <a:ea typeface="Arial"/>
                <a:cs typeface="Arial"/>
              </a:rPr>
              <a:t>Data and code that someone else can run</a:t>
            </a:r>
          </a:p>
          <a:p>
            <a:pPr algn="l">
              <a:lnSpc>
                <a:spcPct val="100000"/>
              </a:lnSpc>
              <a:spcBef>
                <a:spcPts val="0"/>
              </a:spcBef>
              <a:spcAft>
                <a:spcPts val="0"/>
              </a:spcAft>
            </a:pPr>
            <a:r>
              <a:rPr sz="1100" b="0" i="0">
                <a:solidFill>
                  <a:srgbClr val="5F5F5F"/>
                </a:solidFill>
                <a:latin typeface="Arial"/>
                <a:ea typeface="Arial"/>
                <a:cs typeface="Arial"/>
              </a:rPr>
              <a:t>Repository links, GitHub, data-availability statements</a:t>
            </a:r>
          </a:p>
        </p:txBody>
      </p:sp>
      <p:sp>
        <p:nvSpPr>
          <p:cNvPr id="8" name="Rectangle 7"/>
          <p:cNvSpPr/>
          <p:nvPr/>
        </p:nvSpPr>
        <p:spPr>
          <a:xfrm>
            <a:off x="3922776" y="1261872"/>
            <a:ext cx="1805940" cy="20574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41648" y="1371600"/>
            <a:ext cx="1568196" cy="1874519"/>
          </a:xfrm>
          <a:prstGeom prst="rect">
            <a:avLst/>
          </a:prstGeom>
          <a:noFill/>
        </p:spPr>
        <p:txBody>
          <a:bodyPr wrap="square" lIns="0" rIns="0" tIns="0" bIns="0" anchor="t">
            <a:noAutofit/>
          </a:bodyPr>
          <a:lstStyle/>
          <a:p>
            <a:pPr algn="l">
              <a:lnSpc>
                <a:spcPct val="100000"/>
              </a:lnSpc>
              <a:spcBef>
                <a:spcPts val="0"/>
              </a:spcBef>
              <a:spcAft>
                <a:spcPts val="400"/>
              </a:spcAft>
            </a:pPr>
            <a:r>
              <a:rPr sz="1100" b="1" i="0">
                <a:solidFill>
                  <a:srgbClr val="D7263D"/>
                </a:solidFill>
                <a:latin typeface="Arial"/>
                <a:ea typeface="Arial"/>
                <a:cs typeface="Arial"/>
              </a:rPr>
              <a:t>Reuse it</a:t>
            </a:r>
          </a:p>
          <a:p>
            <a:pPr algn="l">
              <a:lnSpc>
                <a:spcPct val="100000"/>
              </a:lnSpc>
              <a:spcBef>
                <a:spcPts val="0"/>
              </a:spcBef>
              <a:spcAft>
                <a:spcPts val="600"/>
              </a:spcAft>
            </a:pPr>
            <a:r>
              <a:rPr sz="1500" b="1" i="0">
                <a:solidFill>
                  <a:srgbClr val="1F1F1F"/>
                </a:solidFill>
                <a:latin typeface="Arial"/>
                <a:ea typeface="Arial"/>
                <a:cs typeface="Arial"/>
              </a:rPr>
              <a:t>Can they reuse it?</a:t>
            </a:r>
          </a:p>
          <a:p>
            <a:pPr algn="l">
              <a:lnSpc>
                <a:spcPct val="100000"/>
              </a:lnSpc>
              <a:spcBef>
                <a:spcPts val="0"/>
              </a:spcBef>
              <a:spcAft>
                <a:spcPts val="600"/>
              </a:spcAft>
            </a:pPr>
            <a:r>
              <a:rPr sz="1200" b="0" i="0">
                <a:solidFill>
                  <a:srgbClr val="1F1F1F"/>
                </a:solidFill>
                <a:latin typeface="Arial"/>
                <a:ea typeface="Arial"/>
                <a:cs typeface="Arial"/>
              </a:rPr>
              <a:t>Deposited, not promised on request</a:t>
            </a:r>
          </a:p>
          <a:p>
            <a:pPr algn="l">
              <a:lnSpc>
                <a:spcPct val="100000"/>
              </a:lnSpc>
              <a:spcBef>
                <a:spcPts val="0"/>
              </a:spcBef>
              <a:spcAft>
                <a:spcPts val="0"/>
              </a:spcAft>
            </a:pPr>
            <a:r>
              <a:rPr sz="1100" b="0" i="0">
                <a:solidFill>
                  <a:srgbClr val="5F5F5F"/>
                </a:solidFill>
                <a:latin typeface="Arial"/>
                <a:ea typeface="Arial"/>
                <a:cs typeface="Arial"/>
              </a:rPr>
              <a:t>A repository or a controlled-access platform</a:t>
            </a:r>
          </a:p>
        </p:txBody>
      </p:sp>
      <p:sp>
        <p:nvSpPr>
          <p:cNvPr id="10" name="Rectangle 9"/>
          <p:cNvSpPr/>
          <p:nvPr/>
        </p:nvSpPr>
        <p:spPr>
          <a:xfrm>
            <a:off x="5728716" y="1261872"/>
            <a:ext cx="1805940" cy="205740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47588" y="1371600"/>
            <a:ext cx="1568196" cy="1874519"/>
          </a:xfrm>
          <a:prstGeom prst="rect">
            <a:avLst/>
          </a:prstGeom>
          <a:noFill/>
        </p:spPr>
        <p:txBody>
          <a:bodyPr wrap="square" lIns="0" rIns="0" tIns="0" bIns="0" anchor="t">
            <a:noAutofit/>
          </a:bodyPr>
          <a:lstStyle/>
          <a:p>
            <a:pPr algn="l">
              <a:lnSpc>
                <a:spcPct val="100000"/>
              </a:lnSpc>
              <a:spcBef>
                <a:spcPts val="0"/>
              </a:spcBef>
              <a:spcAft>
                <a:spcPts val="400"/>
              </a:spcAft>
            </a:pPr>
            <a:r>
              <a:rPr sz="1100" b="1" i="0">
                <a:solidFill>
                  <a:srgbClr val="D7263D"/>
                </a:solidFill>
                <a:latin typeface="Arial"/>
                <a:ea typeface="Arial"/>
                <a:cs typeface="Arial"/>
              </a:rPr>
              <a:t>Plan it</a:t>
            </a:r>
          </a:p>
          <a:p>
            <a:pPr algn="l">
              <a:lnSpc>
                <a:spcPct val="100000"/>
              </a:lnSpc>
              <a:spcBef>
                <a:spcPts val="0"/>
              </a:spcBef>
              <a:spcAft>
                <a:spcPts val="600"/>
              </a:spcAft>
            </a:pPr>
            <a:r>
              <a:rPr sz="1500" b="1" i="0">
                <a:solidFill>
                  <a:srgbClr val="1F1F1F"/>
                </a:solidFill>
                <a:latin typeface="Arial"/>
                <a:ea typeface="Arial"/>
                <a:cs typeface="Arial"/>
              </a:rPr>
              <a:t>Was it planned in advance?</a:t>
            </a:r>
          </a:p>
          <a:p>
            <a:pPr algn="l">
              <a:lnSpc>
                <a:spcPct val="100000"/>
              </a:lnSpc>
              <a:spcBef>
                <a:spcPts val="0"/>
              </a:spcBef>
              <a:spcAft>
                <a:spcPts val="600"/>
              </a:spcAft>
            </a:pPr>
            <a:r>
              <a:rPr sz="1200" b="0" i="0">
                <a:solidFill>
                  <a:srgbClr val="1F1F1F"/>
                </a:solidFill>
                <a:latin typeface="Arial"/>
                <a:ea typeface="Arial"/>
                <a:cs typeface="Arial"/>
              </a:rPr>
              <a:t>Registration and preregistration</a:t>
            </a:r>
          </a:p>
          <a:p>
            <a:pPr algn="l">
              <a:lnSpc>
                <a:spcPct val="100000"/>
              </a:lnSpc>
              <a:spcBef>
                <a:spcPts val="0"/>
              </a:spcBef>
              <a:spcAft>
                <a:spcPts val="0"/>
              </a:spcAft>
            </a:pPr>
            <a:r>
              <a:rPr sz="1100" b="0" i="0">
                <a:solidFill>
                  <a:srgbClr val="5F5F5F"/>
                </a:solidFill>
                <a:latin typeface="Arial"/>
                <a:ea typeface="Arial"/>
                <a:cs typeface="Arial"/>
              </a:rPr>
              <a:t>Trial registries, PROSPERO, Registered Reports</a:t>
            </a:r>
          </a:p>
        </p:txBody>
      </p:sp>
      <p:sp>
        <p:nvSpPr>
          <p:cNvPr id="12" name="Rectangle 11"/>
          <p:cNvSpPr/>
          <p:nvPr/>
        </p:nvSpPr>
        <p:spPr>
          <a:xfrm>
            <a:off x="310896" y="3611880"/>
            <a:ext cx="45720" cy="566928"/>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 y="3611880"/>
            <a:ext cx="7040880" cy="566928"/>
          </a:xfrm>
          <a:prstGeom prst="rect">
            <a:avLst/>
          </a:prstGeom>
          <a:noFill/>
        </p:spPr>
        <p:txBody>
          <a:bodyPr wrap="square" lIns="0" rIns="0" tIns="0" bIns="0" anchor="ctr">
            <a:noAutofit/>
          </a:bodyPr>
          <a:lstStyle/>
          <a:p>
            <a:pPr algn="l">
              <a:lnSpc>
                <a:spcPct val="100000"/>
              </a:lnSpc>
              <a:spcBef>
                <a:spcPts val="0"/>
              </a:spcBef>
              <a:spcAft>
                <a:spcPts val="0"/>
              </a:spcAft>
            </a:pPr>
            <a:r>
              <a:rPr sz="1350" b="0" i="0">
                <a:solidFill>
                  <a:srgbClr val="1F1F1F"/>
                </a:solidFill>
                <a:latin typeface="Arial"/>
                <a:ea typeface="Arial"/>
                <a:cs typeface="Arial"/>
              </a:rPr>
              <a:t>Reproducibility audits exist for neurology, cardiology and general medicine. </a:t>
            </a:r>
            <a:r>
              <a:rPr sz="1350" b="1" i="0">
                <a:solidFill>
                  <a:srgbClr val="1F1F1F"/>
                </a:solidFill>
                <a:latin typeface="Arial"/>
                <a:ea typeface="Arial"/>
                <a:cs typeface="Arial"/>
              </a:rPr>
              <a:t>None existed for stroke.</a:t>
            </a:r>
            <a:r>
              <a:rPr sz="1050" b="0" i="0">
                <a:solidFill>
                  <a:srgbClr val="5F5F5F"/>
                </a:solidFill>
                <a:latin typeface="Arial"/>
                <a:ea typeface="Arial"/>
                <a:cs typeface="Arial"/>
              </a:rPr>
              <a:t>  Rauh 2020; Heckerman 2025; Scutt 2020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749808"/>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A living pipeline measures the stroke literature every six months</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05  </a:t>
            </a:r>
            <a:r>
              <a:rPr sz="1100" b="0" i="0">
                <a:solidFill>
                  <a:srgbClr val="5F5F5F"/>
                </a:solidFill>
                <a:latin typeface="Arial"/>
                <a:ea typeface="Arial"/>
                <a:cs typeface="Arial"/>
              </a:rPr>
              <a:t>How we measured</a:t>
            </a:r>
          </a:p>
        </p:txBody>
      </p:sp>
      <p:cxnSp>
        <p:nvCxnSpPr>
          <p:cNvPr id="4" name="Connector 3"/>
          <p:cNvCxnSpPr/>
          <p:nvPr/>
        </p:nvCxnSpPr>
        <p:spPr>
          <a:xfrm>
            <a:off x="310896" y="1188720"/>
            <a:ext cx="434340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10896" y="1252728"/>
            <a:ext cx="868680" cy="36576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F1F1F"/>
                </a:solidFill>
                <a:latin typeface="Arial"/>
                <a:ea typeface="Arial"/>
                <a:cs typeface="Arial"/>
              </a:rPr>
              <a:t>Retrieve</a:t>
            </a:r>
          </a:p>
        </p:txBody>
      </p:sp>
      <p:sp>
        <p:nvSpPr>
          <p:cNvPr id="6" name="TextBox 5"/>
          <p:cNvSpPr txBox="1"/>
          <p:nvPr/>
        </p:nvSpPr>
        <p:spPr>
          <a:xfrm>
            <a:off x="1225296" y="1252728"/>
            <a:ext cx="3429000" cy="38404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3A3A3A"/>
                </a:solidFill>
                <a:latin typeface="Arial"/>
                <a:ea typeface="Arial"/>
                <a:cs typeface="Arial"/>
              </a:rPr>
              <a:t>OpenAlex, 2015 onward; stroke plus neurology, neuroscience, cardiology</a:t>
            </a:r>
          </a:p>
        </p:txBody>
      </p:sp>
      <p:cxnSp>
        <p:nvCxnSpPr>
          <p:cNvPr id="7" name="Connector 6"/>
          <p:cNvCxnSpPr/>
          <p:nvPr/>
        </p:nvCxnSpPr>
        <p:spPr>
          <a:xfrm>
            <a:off x="310896" y="1645920"/>
            <a:ext cx="434340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10896" y="1709928"/>
            <a:ext cx="868680" cy="36576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F1F1F"/>
                </a:solidFill>
                <a:latin typeface="Arial"/>
                <a:ea typeface="Arial"/>
                <a:cs typeface="Arial"/>
              </a:rPr>
              <a:t>Clean</a:t>
            </a:r>
          </a:p>
        </p:txBody>
      </p:sp>
      <p:sp>
        <p:nvSpPr>
          <p:cNvPr id="9" name="TextBox 8"/>
          <p:cNvSpPr txBox="1"/>
          <p:nvPr/>
        </p:nvSpPr>
        <p:spPr>
          <a:xfrm>
            <a:off x="1225296" y="1709928"/>
            <a:ext cx="3429000" cy="38404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3A3A3A"/>
                </a:solidFill>
                <a:latin typeface="Arial"/>
                <a:ea typeface="Arial"/>
                <a:cs typeface="Arial"/>
              </a:rPr>
              <a:t>Journal articles and reviews with a DOI; datasets, preprints, errata and chapters out</a:t>
            </a:r>
          </a:p>
        </p:txBody>
      </p:sp>
      <p:cxnSp>
        <p:nvCxnSpPr>
          <p:cNvPr id="10" name="Connector 9"/>
          <p:cNvCxnSpPr/>
          <p:nvPr/>
        </p:nvCxnSpPr>
        <p:spPr>
          <a:xfrm>
            <a:off x="310896" y="2103120"/>
            <a:ext cx="434340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10896" y="2167127"/>
            <a:ext cx="868680" cy="36576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F1F1F"/>
                </a:solidFill>
                <a:latin typeface="Arial"/>
                <a:ea typeface="Arial"/>
                <a:cs typeface="Arial"/>
              </a:rPr>
              <a:t>Detect</a:t>
            </a:r>
          </a:p>
        </p:txBody>
      </p:sp>
      <p:sp>
        <p:nvSpPr>
          <p:cNvPr id="12" name="TextBox 11"/>
          <p:cNvSpPr txBox="1"/>
          <p:nvPr/>
        </p:nvSpPr>
        <p:spPr>
          <a:xfrm>
            <a:off x="1225296" y="2167127"/>
            <a:ext cx="3429000" cy="38404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3A3A3A"/>
                </a:solidFill>
                <a:latin typeface="Arial"/>
                <a:ea typeface="Arial"/>
                <a:cs typeface="Arial"/>
              </a:rPr>
              <a:t>Open-access status, repository links, preprint versions, registration identifiers</a:t>
            </a:r>
          </a:p>
        </p:txBody>
      </p:sp>
      <p:cxnSp>
        <p:nvCxnSpPr>
          <p:cNvPr id="13" name="Connector 12"/>
          <p:cNvCxnSpPr/>
          <p:nvPr/>
        </p:nvCxnSpPr>
        <p:spPr>
          <a:xfrm>
            <a:off x="310896" y="2560320"/>
            <a:ext cx="434340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10896" y="2624327"/>
            <a:ext cx="868680" cy="36576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F1F1F"/>
                </a:solidFill>
                <a:latin typeface="Arial"/>
                <a:ea typeface="Arial"/>
                <a:cs typeface="Arial"/>
              </a:rPr>
              <a:t>Read</a:t>
            </a:r>
          </a:p>
        </p:txBody>
      </p:sp>
      <p:sp>
        <p:nvSpPr>
          <p:cNvPr id="15" name="TextBox 14"/>
          <p:cNvSpPr txBox="1"/>
          <p:nvPr/>
        </p:nvSpPr>
        <p:spPr>
          <a:xfrm>
            <a:off x="1225296" y="2624327"/>
            <a:ext cx="3429000" cy="38404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3A3A3A"/>
                </a:solidFill>
                <a:latin typeface="Arial"/>
                <a:ea typeface="Arial"/>
                <a:cs typeface="Arial"/>
              </a:rPr>
              <a:t>Data-availability statements in up to 1,500 open-access full texts per year, via Europe PMC</a:t>
            </a:r>
          </a:p>
        </p:txBody>
      </p:sp>
      <p:cxnSp>
        <p:nvCxnSpPr>
          <p:cNvPr id="16" name="Connector 15"/>
          <p:cNvCxnSpPr/>
          <p:nvPr/>
        </p:nvCxnSpPr>
        <p:spPr>
          <a:xfrm>
            <a:off x="310896" y="3017520"/>
            <a:ext cx="434340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0896" y="3081527"/>
            <a:ext cx="868680" cy="365760"/>
          </a:xfrm>
          <a:prstGeom prst="rect">
            <a:avLst/>
          </a:prstGeom>
          <a:noFill/>
        </p:spPr>
        <p:txBody>
          <a:bodyPr wrap="square" lIns="0" rIns="0" tIns="0" bIns="0" anchor="t">
            <a:noAutofit/>
          </a:bodyPr>
          <a:lstStyle/>
          <a:p>
            <a:pPr algn="l">
              <a:lnSpc>
                <a:spcPct val="100000"/>
              </a:lnSpc>
              <a:spcBef>
                <a:spcPts val="0"/>
              </a:spcBef>
              <a:spcAft>
                <a:spcPts val="0"/>
              </a:spcAft>
            </a:pPr>
            <a:r>
              <a:rPr sz="1200" b="1" i="0">
                <a:solidFill>
                  <a:srgbClr val="1F1F1F"/>
                </a:solidFill>
                <a:latin typeface="Arial"/>
                <a:ea typeface="Arial"/>
                <a:cs typeface="Arial"/>
              </a:rPr>
              <a:t>Publish</a:t>
            </a:r>
          </a:p>
        </p:txBody>
      </p:sp>
      <p:sp>
        <p:nvSpPr>
          <p:cNvPr id="18" name="TextBox 17"/>
          <p:cNvSpPr txBox="1"/>
          <p:nvPr/>
        </p:nvSpPr>
        <p:spPr>
          <a:xfrm>
            <a:off x="1225296" y="3081527"/>
            <a:ext cx="3429000" cy="38404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3A3A3A"/>
                </a:solidFill>
                <a:latin typeface="Arial"/>
                <a:ea typeface="Arial"/>
                <a:cs typeface="Arial"/>
              </a:rPr>
              <a:t>Open code, open data, public dashboard; re-run every six months</a:t>
            </a:r>
          </a:p>
        </p:txBody>
      </p:sp>
      <p:sp>
        <p:nvSpPr>
          <p:cNvPr id="19" name="TextBox 18"/>
          <p:cNvSpPr txBox="1"/>
          <p:nvPr/>
        </p:nvSpPr>
        <p:spPr>
          <a:xfrm>
            <a:off x="310896" y="3611880"/>
            <a:ext cx="1417320" cy="73152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1F1F1F"/>
                </a:solidFill>
                <a:latin typeface="Arial"/>
                <a:ea typeface="Arial"/>
                <a:cs typeface="Arial"/>
              </a:rPr>
              <a:t>140,281</a:t>
            </a:r>
          </a:p>
          <a:p>
            <a:pPr algn="l">
              <a:lnSpc>
                <a:spcPct val="100000"/>
              </a:lnSpc>
              <a:spcBef>
                <a:spcPts val="0"/>
              </a:spcBef>
              <a:spcAft>
                <a:spcPts val="0"/>
              </a:spcAft>
            </a:pPr>
            <a:r>
              <a:rPr sz="1050" b="0" i="0">
                <a:solidFill>
                  <a:srgbClr val="5F5F5F"/>
                </a:solidFill>
                <a:latin typeface="Arial"/>
                <a:ea typeface="Arial"/>
                <a:cs typeface="Arial"/>
              </a:rPr>
              <a:t>stroke articles and reviews</a:t>
            </a:r>
          </a:p>
        </p:txBody>
      </p:sp>
      <p:sp>
        <p:nvSpPr>
          <p:cNvPr id="20" name="TextBox 19"/>
          <p:cNvSpPr txBox="1"/>
          <p:nvPr/>
        </p:nvSpPr>
        <p:spPr>
          <a:xfrm>
            <a:off x="1773936" y="3611880"/>
            <a:ext cx="1417320" cy="73152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1F1F1F"/>
                </a:solidFill>
                <a:latin typeface="Arial"/>
                <a:ea typeface="Arial"/>
                <a:cs typeface="Arial"/>
              </a:rPr>
              <a:t>16,362</a:t>
            </a:r>
          </a:p>
          <a:p>
            <a:pPr algn="l">
              <a:lnSpc>
                <a:spcPct val="100000"/>
              </a:lnSpc>
              <a:spcBef>
                <a:spcPts val="0"/>
              </a:spcBef>
              <a:spcAft>
                <a:spcPts val="0"/>
              </a:spcAft>
            </a:pPr>
            <a:r>
              <a:rPr sz="1050" b="0" i="0">
                <a:solidFill>
                  <a:srgbClr val="5F5F5F"/>
                </a:solidFill>
                <a:latin typeface="Arial"/>
                <a:ea typeface="Arial"/>
                <a:cs typeface="Arial"/>
              </a:rPr>
              <a:t>stroke full texts read</a:t>
            </a:r>
          </a:p>
        </p:txBody>
      </p:sp>
      <p:sp>
        <p:nvSpPr>
          <p:cNvPr id="21" name="TextBox 20"/>
          <p:cNvSpPr txBox="1"/>
          <p:nvPr/>
        </p:nvSpPr>
        <p:spPr>
          <a:xfrm>
            <a:off x="3236976" y="3611880"/>
            <a:ext cx="1417320" cy="731520"/>
          </a:xfrm>
          <a:prstGeom prst="rect">
            <a:avLst/>
          </a:prstGeom>
          <a:noFill/>
        </p:spPr>
        <p:txBody>
          <a:bodyPr wrap="square" lIns="0" rIns="0" tIns="0" bIns="0" anchor="t">
            <a:noAutofit/>
          </a:bodyPr>
          <a:lstStyle/>
          <a:p>
            <a:pPr algn="l">
              <a:lnSpc>
                <a:spcPct val="100000"/>
              </a:lnSpc>
              <a:spcBef>
                <a:spcPts val="0"/>
              </a:spcBef>
              <a:spcAft>
                <a:spcPts val="0"/>
              </a:spcAft>
            </a:pPr>
            <a:r>
              <a:rPr sz="2400" b="1" i="0">
                <a:solidFill>
                  <a:srgbClr val="1F1F1F"/>
                </a:solidFill>
                <a:latin typeface="Arial"/>
                <a:ea typeface="Arial"/>
                <a:cs typeface="Arial"/>
              </a:rPr>
              <a:t>4</a:t>
            </a:r>
          </a:p>
          <a:p>
            <a:pPr algn="l">
              <a:lnSpc>
                <a:spcPct val="100000"/>
              </a:lnSpc>
              <a:spcBef>
                <a:spcPts val="0"/>
              </a:spcBef>
              <a:spcAft>
                <a:spcPts val="0"/>
              </a:spcAft>
            </a:pPr>
            <a:r>
              <a:rPr sz="1050" b="0" i="0">
                <a:solidFill>
                  <a:srgbClr val="5F5F5F"/>
                </a:solidFill>
                <a:latin typeface="Arial"/>
                <a:ea typeface="Arial"/>
                <a:cs typeface="Arial"/>
              </a:rPr>
              <a:t>fields, 2015 to 2025</a:t>
            </a:r>
          </a:p>
        </p:txBody>
      </p:sp>
      <p:pic>
        <p:nvPicPr>
          <p:cNvPr id="22" name="Picture 21" descr="matrix.jpg"/>
          <p:cNvPicPr>
            <a:picLocks noChangeAspect="1"/>
          </p:cNvPicPr>
          <p:nvPr/>
        </p:nvPicPr>
        <p:blipFill>
          <a:blip r:embed="rId3"/>
          <a:stretch>
            <a:fillRect/>
          </a:stretch>
        </p:blipFill>
        <p:spPr>
          <a:xfrm>
            <a:off x="4846320" y="1143000"/>
            <a:ext cx="2688335" cy="3371020"/>
          </a:xfrm>
          <a:prstGeom prst="rect">
            <a:avLst/>
          </a:prstGeom>
        </p:spPr>
      </p:pic>
      <p:sp>
        <p:nvSpPr>
          <p:cNvPr id="23" name="TextBox 22"/>
          <p:cNvSpPr txBox="1"/>
          <p:nvPr/>
        </p:nvSpPr>
        <p:spPr>
          <a:xfrm>
            <a:off x="310896" y="4626864"/>
            <a:ext cx="7040880" cy="329184"/>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friseeb.github.io/stroke_open_science_outputs · Abstract and metadata signals are lower bounds; the full-text audit narrows the gap for data sharing.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Stroke went open access: 53% in 2015, 75% in 2024</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06  </a:t>
            </a:r>
            <a:r>
              <a:rPr sz="1100" b="0" i="0">
                <a:solidFill>
                  <a:srgbClr val="5F5F5F"/>
                </a:solidFill>
                <a:latin typeface="Arial"/>
                <a:ea typeface="Arial"/>
                <a:cs typeface="Arial"/>
              </a:rPr>
              <a:t>Finding 1</a:t>
            </a:r>
          </a:p>
        </p:txBody>
      </p:sp>
      <p:pic>
        <p:nvPicPr>
          <p:cNvPr id="4" name="Picture 3" descr="trend_oa.jpg"/>
          <p:cNvPicPr>
            <a:picLocks noChangeAspect="1"/>
          </p:cNvPicPr>
          <p:nvPr/>
        </p:nvPicPr>
        <p:blipFill>
          <a:blip r:embed="rId3"/>
          <a:stretch>
            <a:fillRect/>
          </a:stretch>
        </p:blipFill>
        <p:spPr>
          <a:xfrm>
            <a:off x="310896" y="987552"/>
            <a:ext cx="7223760" cy="2742771"/>
          </a:xfrm>
          <a:prstGeom prst="rect">
            <a:avLst/>
          </a:prstGeom>
        </p:spPr>
      </p:pic>
      <p:sp>
        <p:nvSpPr>
          <p:cNvPr id="5" name="TextBox 4"/>
          <p:cNvSpPr txBox="1"/>
          <p:nvPr/>
        </p:nvSpPr>
        <p:spPr>
          <a:xfrm>
            <a:off x="310896" y="4626864"/>
            <a:ext cx="7040880" cy="329184"/>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Open access = any OpenAlex status other than closed. Stroke 66% over the decade; cardiology 70%, neurology 62%, neuroscience 65% (its title term “neural” also catches machine-learning papers). 2025 is incomplete.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The growth in open access was paid for, not deposited</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07  </a:t>
            </a:r>
            <a:r>
              <a:rPr sz="1100" b="0" i="0">
                <a:solidFill>
                  <a:srgbClr val="5F5F5F"/>
                </a:solidFill>
                <a:latin typeface="Arial"/>
                <a:ea typeface="Arial"/>
                <a:cs typeface="Arial"/>
              </a:rPr>
              <a:t>Finding 2</a:t>
            </a:r>
          </a:p>
        </p:txBody>
      </p:sp>
      <p:pic>
        <p:nvPicPr>
          <p:cNvPr id="4" name="Picture 3" descr="oa_status.jpg"/>
          <p:cNvPicPr>
            <a:picLocks noChangeAspect="1"/>
          </p:cNvPicPr>
          <p:nvPr/>
        </p:nvPicPr>
        <p:blipFill>
          <a:blip r:embed="rId3"/>
          <a:stretch>
            <a:fillRect/>
          </a:stretch>
        </p:blipFill>
        <p:spPr>
          <a:xfrm>
            <a:off x="310896" y="987552"/>
            <a:ext cx="4160520" cy="2707005"/>
          </a:xfrm>
          <a:prstGeom prst="rect">
            <a:avLst/>
          </a:prstGeom>
        </p:spPr>
      </p:pic>
      <p:sp>
        <p:nvSpPr>
          <p:cNvPr id="5" name="TextBox 4"/>
          <p:cNvSpPr txBox="1"/>
          <p:nvPr/>
        </p:nvSpPr>
        <p:spPr>
          <a:xfrm>
            <a:off x="4617720" y="1051560"/>
            <a:ext cx="2459736" cy="228600"/>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5F5F5F"/>
                </a:solidFill>
                <a:latin typeface="Arial"/>
                <a:ea typeface="Arial"/>
                <a:cs typeface="Arial"/>
              </a:rPr>
              <a:t>Route, 2015 to 2025</a:t>
            </a:r>
          </a:p>
        </p:txBody>
      </p:sp>
      <p:sp>
        <p:nvSpPr>
          <p:cNvPr id="6" name="TextBox 5"/>
          <p:cNvSpPr txBox="1"/>
          <p:nvPr/>
        </p:nvSpPr>
        <p:spPr>
          <a:xfrm>
            <a:off x="7077456" y="1051560"/>
            <a:ext cx="457200" cy="228600"/>
          </a:xfrm>
          <a:prstGeom prst="rect">
            <a:avLst/>
          </a:prstGeom>
          <a:noFill/>
        </p:spPr>
        <p:txBody>
          <a:bodyPr wrap="square" lIns="0" rIns="0" tIns="0" bIns="0" anchor="t">
            <a:noAutofit/>
          </a:bodyPr>
          <a:lstStyle/>
          <a:p>
            <a:pPr algn="r">
              <a:lnSpc>
                <a:spcPct val="100000"/>
              </a:lnSpc>
              <a:spcBef>
                <a:spcPts val="0"/>
              </a:spcBef>
              <a:spcAft>
                <a:spcPts val="0"/>
              </a:spcAft>
            </a:pPr>
            <a:r>
              <a:rPr sz="1100" b="1" i="0">
                <a:solidFill>
                  <a:srgbClr val="5F5F5F"/>
                </a:solidFill>
                <a:latin typeface="Arial"/>
                <a:ea typeface="Arial"/>
                <a:cs typeface="Arial"/>
              </a:rPr>
              <a:t>Share</a:t>
            </a:r>
          </a:p>
        </p:txBody>
      </p:sp>
      <p:cxnSp>
        <p:nvCxnSpPr>
          <p:cNvPr id="7" name="Connector 6"/>
          <p:cNvCxnSpPr/>
          <p:nvPr/>
        </p:nvCxnSpPr>
        <p:spPr>
          <a:xfrm>
            <a:off x="4617720" y="1298448"/>
            <a:ext cx="2916936" cy="0"/>
          </a:xfrm>
          <a:prstGeom prst="line">
            <a:avLst/>
          </a:prstGeom>
          <a:ln w="12700">
            <a:solidFill>
              <a:srgbClr val="1F1F1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617720" y="1353312"/>
            <a:ext cx="2459736" cy="24688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1F1F1F"/>
                </a:solidFill>
                <a:latin typeface="Arial"/>
                <a:ea typeface="Arial"/>
                <a:cs typeface="Arial"/>
              </a:rPr>
              <a:t>Gold, paid journal</a:t>
            </a:r>
          </a:p>
        </p:txBody>
      </p:sp>
      <p:sp>
        <p:nvSpPr>
          <p:cNvPr id="9" name="TextBox 8"/>
          <p:cNvSpPr txBox="1"/>
          <p:nvPr/>
        </p:nvSpPr>
        <p:spPr>
          <a:xfrm>
            <a:off x="7077456" y="1353312"/>
            <a:ext cx="457200" cy="246888"/>
          </a:xfrm>
          <a:prstGeom prst="rect">
            <a:avLst/>
          </a:prstGeom>
          <a:noFill/>
        </p:spPr>
        <p:txBody>
          <a:bodyPr wrap="square" lIns="0" rIns="0" tIns="0" bIns="0" anchor="t">
            <a:noAutofit/>
          </a:bodyPr>
          <a:lstStyle/>
          <a:p>
            <a:pPr algn="r">
              <a:lnSpc>
                <a:spcPct val="100000"/>
              </a:lnSpc>
              <a:spcBef>
                <a:spcPts val="0"/>
              </a:spcBef>
              <a:spcAft>
                <a:spcPts val="0"/>
              </a:spcAft>
            </a:pPr>
            <a:r>
              <a:rPr sz="1100" b="0" i="0">
                <a:solidFill>
                  <a:srgbClr val="1F1F1F"/>
                </a:solidFill>
                <a:latin typeface="Arial"/>
                <a:ea typeface="Arial"/>
                <a:cs typeface="Arial"/>
              </a:rPr>
              <a:t>25%</a:t>
            </a:r>
          </a:p>
        </p:txBody>
      </p:sp>
      <p:sp>
        <p:nvSpPr>
          <p:cNvPr id="10" name="TextBox 9"/>
          <p:cNvSpPr txBox="1"/>
          <p:nvPr/>
        </p:nvSpPr>
        <p:spPr>
          <a:xfrm>
            <a:off x="4617720" y="1618488"/>
            <a:ext cx="2459736" cy="24688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1F1F1F"/>
                </a:solidFill>
                <a:latin typeface="Arial"/>
                <a:ea typeface="Arial"/>
                <a:cs typeface="Arial"/>
              </a:rPr>
              <a:t>Diamond, free journal</a:t>
            </a:r>
          </a:p>
        </p:txBody>
      </p:sp>
      <p:sp>
        <p:nvSpPr>
          <p:cNvPr id="11" name="TextBox 10"/>
          <p:cNvSpPr txBox="1"/>
          <p:nvPr/>
        </p:nvSpPr>
        <p:spPr>
          <a:xfrm>
            <a:off x="7077456" y="1618488"/>
            <a:ext cx="457200" cy="246888"/>
          </a:xfrm>
          <a:prstGeom prst="rect">
            <a:avLst/>
          </a:prstGeom>
          <a:noFill/>
        </p:spPr>
        <p:txBody>
          <a:bodyPr wrap="square" lIns="0" rIns="0" tIns="0" bIns="0" anchor="t">
            <a:noAutofit/>
          </a:bodyPr>
          <a:lstStyle/>
          <a:p>
            <a:pPr algn="r">
              <a:lnSpc>
                <a:spcPct val="100000"/>
              </a:lnSpc>
              <a:spcBef>
                <a:spcPts val="0"/>
              </a:spcBef>
              <a:spcAft>
                <a:spcPts val="0"/>
              </a:spcAft>
            </a:pPr>
            <a:r>
              <a:rPr sz="1100" b="0" i="0">
                <a:solidFill>
                  <a:srgbClr val="1F1F1F"/>
                </a:solidFill>
                <a:latin typeface="Arial"/>
                <a:ea typeface="Arial"/>
                <a:cs typeface="Arial"/>
              </a:rPr>
              <a:t>16%</a:t>
            </a:r>
          </a:p>
        </p:txBody>
      </p:sp>
      <p:sp>
        <p:nvSpPr>
          <p:cNvPr id="12" name="TextBox 11"/>
          <p:cNvSpPr txBox="1"/>
          <p:nvPr/>
        </p:nvSpPr>
        <p:spPr>
          <a:xfrm>
            <a:off x="4617720" y="1883664"/>
            <a:ext cx="2459736" cy="24688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1F1F1F"/>
                </a:solidFill>
                <a:latin typeface="Arial"/>
                <a:ea typeface="Arial"/>
                <a:cs typeface="Arial"/>
              </a:rPr>
              <a:t>Hybrid, paid in a subscription journal</a:t>
            </a:r>
          </a:p>
        </p:txBody>
      </p:sp>
      <p:sp>
        <p:nvSpPr>
          <p:cNvPr id="13" name="TextBox 12"/>
          <p:cNvSpPr txBox="1"/>
          <p:nvPr/>
        </p:nvSpPr>
        <p:spPr>
          <a:xfrm>
            <a:off x="7077456" y="1883664"/>
            <a:ext cx="457200" cy="246888"/>
          </a:xfrm>
          <a:prstGeom prst="rect">
            <a:avLst/>
          </a:prstGeom>
          <a:noFill/>
        </p:spPr>
        <p:txBody>
          <a:bodyPr wrap="square" lIns="0" rIns="0" tIns="0" bIns="0" anchor="t">
            <a:noAutofit/>
          </a:bodyPr>
          <a:lstStyle/>
          <a:p>
            <a:pPr algn="r">
              <a:lnSpc>
                <a:spcPct val="100000"/>
              </a:lnSpc>
              <a:spcBef>
                <a:spcPts val="0"/>
              </a:spcBef>
              <a:spcAft>
                <a:spcPts val="0"/>
              </a:spcAft>
            </a:pPr>
            <a:r>
              <a:rPr sz="1100" b="0" i="0">
                <a:solidFill>
                  <a:srgbClr val="1F1F1F"/>
                </a:solidFill>
                <a:latin typeface="Arial"/>
                <a:ea typeface="Arial"/>
                <a:cs typeface="Arial"/>
              </a:rPr>
              <a:t>10%</a:t>
            </a:r>
          </a:p>
        </p:txBody>
      </p:sp>
      <p:sp>
        <p:nvSpPr>
          <p:cNvPr id="14" name="TextBox 13"/>
          <p:cNvSpPr txBox="1"/>
          <p:nvPr/>
        </p:nvSpPr>
        <p:spPr>
          <a:xfrm>
            <a:off x="4617720" y="2148840"/>
            <a:ext cx="2459736" cy="24688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1F1F1F"/>
                </a:solidFill>
                <a:latin typeface="Arial"/>
                <a:ea typeface="Arial"/>
                <a:cs typeface="Arial"/>
              </a:rPr>
              <a:t>Bronze, free to read, no licence</a:t>
            </a:r>
          </a:p>
        </p:txBody>
      </p:sp>
      <p:sp>
        <p:nvSpPr>
          <p:cNvPr id="15" name="TextBox 14"/>
          <p:cNvSpPr txBox="1"/>
          <p:nvPr/>
        </p:nvSpPr>
        <p:spPr>
          <a:xfrm>
            <a:off x="7077456" y="2148840"/>
            <a:ext cx="457200" cy="246888"/>
          </a:xfrm>
          <a:prstGeom prst="rect">
            <a:avLst/>
          </a:prstGeom>
          <a:noFill/>
        </p:spPr>
        <p:txBody>
          <a:bodyPr wrap="square" lIns="0" rIns="0" tIns="0" bIns="0" anchor="t">
            <a:noAutofit/>
          </a:bodyPr>
          <a:lstStyle/>
          <a:p>
            <a:pPr algn="r">
              <a:lnSpc>
                <a:spcPct val="100000"/>
              </a:lnSpc>
              <a:spcBef>
                <a:spcPts val="0"/>
              </a:spcBef>
              <a:spcAft>
                <a:spcPts val="0"/>
              </a:spcAft>
            </a:pPr>
            <a:r>
              <a:rPr sz="1100" b="0" i="0">
                <a:solidFill>
                  <a:srgbClr val="1F1F1F"/>
                </a:solidFill>
                <a:latin typeface="Arial"/>
                <a:ea typeface="Arial"/>
                <a:cs typeface="Arial"/>
              </a:rPr>
              <a:t>10%</a:t>
            </a:r>
          </a:p>
        </p:txBody>
      </p:sp>
      <p:sp>
        <p:nvSpPr>
          <p:cNvPr id="16" name="TextBox 15"/>
          <p:cNvSpPr txBox="1"/>
          <p:nvPr/>
        </p:nvSpPr>
        <p:spPr>
          <a:xfrm>
            <a:off x="4617720" y="2414016"/>
            <a:ext cx="2459736" cy="24688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1F1F1F"/>
                </a:solidFill>
                <a:latin typeface="Arial"/>
                <a:ea typeface="Arial"/>
                <a:cs typeface="Arial"/>
              </a:rPr>
              <a:t>Green, repository copy</a:t>
            </a:r>
          </a:p>
        </p:txBody>
      </p:sp>
      <p:sp>
        <p:nvSpPr>
          <p:cNvPr id="17" name="TextBox 16"/>
          <p:cNvSpPr txBox="1"/>
          <p:nvPr/>
        </p:nvSpPr>
        <p:spPr>
          <a:xfrm>
            <a:off x="7077456" y="2414016"/>
            <a:ext cx="457200" cy="246888"/>
          </a:xfrm>
          <a:prstGeom prst="rect">
            <a:avLst/>
          </a:prstGeom>
          <a:noFill/>
        </p:spPr>
        <p:txBody>
          <a:bodyPr wrap="square" lIns="0" rIns="0" tIns="0" bIns="0" anchor="t">
            <a:noAutofit/>
          </a:bodyPr>
          <a:lstStyle/>
          <a:p>
            <a:pPr algn="r">
              <a:lnSpc>
                <a:spcPct val="100000"/>
              </a:lnSpc>
              <a:spcBef>
                <a:spcPts val="0"/>
              </a:spcBef>
              <a:spcAft>
                <a:spcPts val="0"/>
              </a:spcAft>
            </a:pPr>
            <a:r>
              <a:rPr sz="1100" b="0" i="0">
                <a:solidFill>
                  <a:srgbClr val="1F1F1F"/>
                </a:solidFill>
                <a:latin typeface="Arial"/>
                <a:ea typeface="Arial"/>
                <a:cs typeface="Arial"/>
              </a:rPr>
              <a:t>6%</a:t>
            </a:r>
          </a:p>
        </p:txBody>
      </p:sp>
      <p:sp>
        <p:nvSpPr>
          <p:cNvPr id="18" name="TextBox 17"/>
          <p:cNvSpPr txBox="1"/>
          <p:nvPr/>
        </p:nvSpPr>
        <p:spPr>
          <a:xfrm>
            <a:off x="4617720" y="2679192"/>
            <a:ext cx="2459736" cy="246888"/>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1F1F1F"/>
                </a:solidFill>
                <a:latin typeface="Arial"/>
                <a:ea typeface="Arial"/>
                <a:cs typeface="Arial"/>
              </a:rPr>
              <a:t>Closed</a:t>
            </a:r>
          </a:p>
        </p:txBody>
      </p:sp>
      <p:sp>
        <p:nvSpPr>
          <p:cNvPr id="19" name="TextBox 18"/>
          <p:cNvSpPr txBox="1"/>
          <p:nvPr/>
        </p:nvSpPr>
        <p:spPr>
          <a:xfrm>
            <a:off x="7077456" y="2679192"/>
            <a:ext cx="457200" cy="246888"/>
          </a:xfrm>
          <a:prstGeom prst="rect">
            <a:avLst/>
          </a:prstGeom>
          <a:noFill/>
        </p:spPr>
        <p:txBody>
          <a:bodyPr wrap="square" lIns="0" rIns="0" tIns="0" bIns="0" anchor="t">
            <a:noAutofit/>
          </a:bodyPr>
          <a:lstStyle/>
          <a:p>
            <a:pPr algn="r">
              <a:lnSpc>
                <a:spcPct val="100000"/>
              </a:lnSpc>
              <a:spcBef>
                <a:spcPts val="0"/>
              </a:spcBef>
              <a:spcAft>
                <a:spcPts val="0"/>
              </a:spcAft>
            </a:pPr>
            <a:r>
              <a:rPr sz="1100" b="0" i="0">
                <a:solidFill>
                  <a:srgbClr val="1F1F1F"/>
                </a:solidFill>
                <a:latin typeface="Arial"/>
                <a:ea typeface="Arial"/>
                <a:cs typeface="Arial"/>
              </a:rPr>
              <a:t>34%</a:t>
            </a:r>
          </a:p>
        </p:txBody>
      </p:sp>
      <p:sp>
        <p:nvSpPr>
          <p:cNvPr id="20" name="TextBox 19"/>
          <p:cNvSpPr txBox="1"/>
          <p:nvPr/>
        </p:nvSpPr>
        <p:spPr>
          <a:xfrm>
            <a:off x="4617720" y="3054096"/>
            <a:ext cx="2916936" cy="1143000"/>
          </a:xfrm>
          <a:prstGeom prst="rect">
            <a:avLst/>
          </a:prstGeom>
          <a:noFill/>
        </p:spPr>
        <p:txBody>
          <a:bodyPr wrap="square" lIns="0" rIns="0" tIns="0" bIns="0" anchor="t">
            <a:noAutofit/>
          </a:bodyPr>
          <a:lstStyle/>
          <a:p>
            <a:pPr algn="l">
              <a:lnSpc>
                <a:spcPct val="100000"/>
              </a:lnSpc>
              <a:spcBef>
                <a:spcPts val="0"/>
              </a:spcBef>
              <a:spcAft>
                <a:spcPts val="0"/>
              </a:spcAft>
            </a:pPr>
            <a:r>
              <a:rPr sz="1100" b="0" i="0">
                <a:solidFill>
                  <a:srgbClr val="3A3A3A"/>
                </a:solidFill>
                <a:latin typeface="Arial"/>
                <a:ea typeface="Arial"/>
                <a:cs typeface="Arial"/>
              </a:rPr>
              <a:t>From 2015 to 2024 gold, a paid route, grew the most (+18 points); diamond (+9) outgrew hybrid (+7). Green fell from 9% in 2015 to 3% in 2025. Bronze can be withdrawn at any time.</a:t>
            </a:r>
          </a:p>
        </p:txBody>
      </p:sp>
      <p:sp>
        <p:nvSpPr>
          <p:cNvPr id="21" name="TextBox 20"/>
          <p:cNvSpPr txBox="1"/>
          <p:nvPr/>
        </p:nvSpPr>
        <p:spPr>
          <a:xfrm>
            <a:off x="310896" y="4773168"/>
            <a:ext cx="7040880" cy="182880"/>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Open access became a transaction between funders and publishers. It did not come with openness of anything else.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In abstracts, data and code did not move in ten years</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08  </a:t>
            </a:r>
            <a:r>
              <a:rPr sz="1100" b="0" i="0">
                <a:solidFill>
                  <a:srgbClr val="5F5F5F"/>
                </a:solidFill>
                <a:latin typeface="Arial"/>
                <a:ea typeface="Arial"/>
                <a:cs typeface="Arial"/>
              </a:rPr>
              <a:t>Finding 3</a:t>
            </a:r>
          </a:p>
        </p:txBody>
      </p:sp>
      <p:pic>
        <p:nvPicPr>
          <p:cNvPr id="4" name="Picture 3" descr="trend_data.jpg"/>
          <p:cNvPicPr>
            <a:picLocks noChangeAspect="1"/>
          </p:cNvPicPr>
          <p:nvPr/>
        </p:nvPicPr>
        <p:blipFill>
          <a:blip r:embed="rId3"/>
          <a:stretch>
            <a:fillRect/>
          </a:stretch>
        </p:blipFill>
        <p:spPr>
          <a:xfrm>
            <a:off x="310896" y="932688"/>
            <a:ext cx="2316480" cy="879538"/>
          </a:xfrm>
          <a:prstGeom prst="rect">
            <a:avLst/>
          </a:prstGeom>
        </p:spPr>
      </p:pic>
      <p:sp>
        <p:nvSpPr>
          <p:cNvPr id="5" name="TextBox 4"/>
          <p:cNvSpPr txBox="1"/>
          <p:nvPr/>
        </p:nvSpPr>
        <p:spPr>
          <a:xfrm>
            <a:off x="310896" y="1847088"/>
            <a:ext cx="2316480" cy="201168"/>
          </a:xfrm>
          <a:prstGeom prst="rect">
            <a:avLst/>
          </a:prstGeom>
          <a:noFill/>
        </p:spPr>
        <p:txBody>
          <a:bodyPr wrap="square" lIns="0" rIns="0" tIns="0" bIns="0" anchor="t">
            <a:noAutofit/>
          </a:bodyPr>
          <a:lstStyle/>
          <a:p>
            <a:pPr algn="ctr">
              <a:lnSpc>
                <a:spcPct val="100000"/>
              </a:lnSpc>
              <a:spcBef>
                <a:spcPts val="0"/>
              </a:spcBef>
              <a:spcAft>
                <a:spcPts val="0"/>
              </a:spcAft>
            </a:pPr>
            <a:r>
              <a:rPr sz="1000" b="0" i="0">
                <a:solidFill>
                  <a:srgbClr val="5F5F5F"/>
                </a:solidFill>
                <a:latin typeface="Arial"/>
                <a:ea typeface="Arial"/>
                <a:cs typeface="Arial"/>
              </a:rPr>
              <a:t>Data in a public repository</a:t>
            </a:r>
          </a:p>
        </p:txBody>
      </p:sp>
      <p:pic>
        <p:nvPicPr>
          <p:cNvPr id="6" name="Picture 5" descr="trend_code.jpg"/>
          <p:cNvPicPr>
            <a:picLocks noChangeAspect="1"/>
          </p:cNvPicPr>
          <p:nvPr/>
        </p:nvPicPr>
        <p:blipFill>
          <a:blip r:embed="rId4"/>
          <a:stretch>
            <a:fillRect/>
          </a:stretch>
        </p:blipFill>
        <p:spPr>
          <a:xfrm>
            <a:off x="2764536" y="932688"/>
            <a:ext cx="2316480" cy="879538"/>
          </a:xfrm>
          <a:prstGeom prst="rect">
            <a:avLst/>
          </a:prstGeom>
        </p:spPr>
      </p:pic>
      <p:sp>
        <p:nvSpPr>
          <p:cNvPr id="7" name="TextBox 6"/>
          <p:cNvSpPr txBox="1"/>
          <p:nvPr/>
        </p:nvSpPr>
        <p:spPr>
          <a:xfrm>
            <a:off x="2764536" y="1847088"/>
            <a:ext cx="2316480" cy="201168"/>
          </a:xfrm>
          <a:prstGeom prst="rect">
            <a:avLst/>
          </a:prstGeom>
          <a:noFill/>
        </p:spPr>
        <p:txBody>
          <a:bodyPr wrap="square" lIns="0" rIns="0" tIns="0" bIns="0" anchor="t">
            <a:noAutofit/>
          </a:bodyPr>
          <a:lstStyle/>
          <a:p>
            <a:pPr algn="ctr">
              <a:lnSpc>
                <a:spcPct val="100000"/>
              </a:lnSpc>
              <a:spcBef>
                <a:spcPts val="0"/>
              </a:spcBef>
              <a:spcAft>
                <a:spcPts val="0"/>
              </a:spcAft>
            </a:pPr>
            <a:r>
              <a:rPr sz="1000" b="0" i="0">
                <a:solidFill>
                  <a:srgbClr val="5F5F5F"/>
                </a:solidFill>
                <a:latin typeface="Arial"/>
                <a:ea typeface="Arial"/>
                <a:cs typeface="Arial"/>
              </a:rPr>
              <a:t>GitHub or code link</a:t>
            </a:r>
          </a:p>
        </p:txBody>
      </p:sp>
      <p:pic>
        <p:nvPicPr>
          <p:cNvPr id="8" name="Picture 7" descr="trend_preprint.jpg"/>
          <p:cNvPicPr>
            <a:picLocks noChangeAspect="1"/>
          </p:cNvPicPr>
          <p:nvPr/>
        </p:nvPicPr>
        <p:blipFill>
          <a:blip r:embed="rId5"/>
          <a:stretch>
            <a:fillRect/>
          </a:stretch>
        </p:blipFill>
        <p:spPr>
          <a:xfrm>
            <a:off x="5218176" y="932688"/>
            <a:ext cx="2316480" cy="879538"/>
          </a:xfrm>
          <a:prstGeom prst="rect">
            <a:avLst/>
          </a:prstGeom>
        </p:spPr>
      </p:pic>
      <p:sp>
        <p:nvSpPr>
          <p:cNvPr id="9" name="TextBox 8"/>
          <p:cNvSpPr txBox="1"/>
          <p:nvPr/>
        </p:nvSpPr>
        <p:spPr>
          <a:xfrm>
            <a:off x="5218176" y="1847088"/>
            <a:ext cx="2316480" cy="201168"/>
          </a:xfrm>
          <a:prstGeom prst="rect">
            <a:avLst/>
          </a:prstGeom>
          <a:noFill/>
        </p:spPr>
        <p:txBody>
          <a:bodyPr wrap="square" lIns="0" rIns="0" tIns="0" bIns="0" anchor="t">
            <a:noAutofit/>
          </a:bodyPr>
          <a:lstStyle/>
          <a:p>
            <a:pPr algn="ctr">
              <a:lnSpc>
                <a:spcPct val="100000"/>
              </a:lnSpc>
              <a:spcBef>
                <a:spcPts val="0"/>
              </a:spcBef>
              <a:spcAft>
                <a:spcPts val="0"/>
              </a:spcAft>
            </a:pPr>
            <a:r>
              <a:rPr sz="1000" b="0" i="0">
                <a:solidFill>
                  <a:srgbClr val="5F5F5F"/>
                </a:solidFill>
                <a:latin typeface="Arial"/>
                <a:ea typeface="Arial"/>
                <a:cs typeface="Arial"/>
              </a:rPr>
              <a:t>Preprint version</a:t>
            </a:r>
          </a:p>
        </p:txBody>
      </p:sp>
      <p:sp>
        <p:nvSpPr>
          <p:cNvPr id="10" name="Rectangle 9"/>
          <p:cNvSpPr/>
          <p:nvPr/>
        </p:nvSpPr>
        <p:spPr>
          <a:xfrm>
            <a:off x="310896" y="2176272"/>
            <a:ext cx="1805940" cy="178308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 y="2286000"/>
            <a:ext cx="1586484" cy="1563624"/>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Data in a repository</a:t>
            </a:r>
          </a:p>
          <a:p>
            <a:pPr algn="l">
              <a:lnSpc>
                <a:spcPct val="100000"/>
              </a:lnSpc>
              <a:spcBef>
                <a:spcPts val="0"/>
              </a:spcBef>
              <a:spcAft>
                <a:spcPts val="400"/>
              </a:spcAft>
            </a:pPr>
            <a:r>
              <a:rPr sz="2800" b="1" i="0">
                <a:solidFill>
                  <a:srgbClr val="D7263D"/>
                </a:solidFill>
                <a:latin typeface="Arial"/>
                <a:ea typeface="Arial"/>
                <a:cs typeface="Arial"/>
              </a:rPr>
              <a:t>0.2%</a:t>
            </a:r>
          </a:p>
          <a:p>
            <a:pPr algn="l">
              <a:lnSpc>
                <a:spcPct val="100000"/>
              </a:lnSpc>
              <a:spcBef>
                <a:spcPts val="0"/>
              </a:spcBef>
              <a:spcAft>
                <a:spcPts val="0"/>
              </a:spcAft>
            </a:pPr>
            <a:r>
              <a:rPr sz="1100" b="0" i="0">
                <a:solidFill>
                  <a:srgbClr val="3A3A3A"/>
                </a:solidFill>
                <a:latin typeface="Arial"/>
                <a:ea typeface="Arial"/>
                <a:cs typeface="Arial"/>
              </a:rPr>
              <a:t>of stroke articles in 2024; 0.2% in 2015, never above 0.6%</a:t>
            </a:r>
          </a:p>
        </p:txBody>
      </p:sp>
      <p:sp>
        <p:nvSpPr>
          <p:cNvPr id="12" name="Rectangle 11"/>
          <p:cNvSpPr/>
          <p:nvPr/>
        </p:nvSpPr>
        <p:spPr>
          <a:xfrm>
            <a:off x="2116836" y="2176272"/>
            <a:ext cx="1805940" cy="178308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26564" y="2286000"/>
            <a:ext cx="1586484" cy="1563624"/>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Code link</a:t>
            </a:r>
          </a:p>
          <a:p>
            <a:pPr algn="l">
              <a:lnSpc>
                <a:spcPct val="100000"/>
              </a:lnSpc>
              <a:spcBef>
                <a:spcPts val="0"/>
              </a:spcBef>
              <a:spcAft>
                <a:spcPts val="400"/>
              </a:spcAft>
            </a:pPr>
            <a:r>
              <a:rPr sz="2800" b="1" i="0">
                <a:solidFill>
                  <a:srgbClr val="D7263D"/>
                </a:solidFill>
                <a:latin typeface="Arial"/>
                <a:ea typeface="Arial"/>
                <a:cs typeface="Arial"/>
              </a:rPr>
              <a:t>&lt;0.1%</a:t>
            </a:r>
          </a:p>
          <a:p>
            <a:pPr algn="l">
              <a:lnSpc>
                <a:spcPct val="100000"/>
              </a:lnSpc>
              <a:spcBef>
                <a:spcPts val="0"/>
              </a:spcBef>
              <a:spcAft>
                <a:spcPts val="0"/>
              </a:spcAft>
            </a:pPr>
            <a:r>
              <a:rPr sz="1100" b="0" i="0">
                <a:solidFill>
                  <a:srgbClr val="3A3A3A"/>
                </a:solidFill>
                <a:latin typeface="Arial"/>
                <a:ea typeface="Arial"/>
                <a:cs typeface="Arial"/>
              </a:rPr>
              <a:t>every year 2015-2024; GitHub in 2.5% of 2024 full texts</a:t>
            </a:r>
          </a:p>
        </p:txBody>
      </p:sp>
      <p:sp>
        <p:nvSpPr>
          <p:cNvPr id="14" name="Rectangle 13"/>
          <p:cNvSpPr/>
          <p:nvPr/>
        </p:nvSpPr>
        <p:spPr>
          <a:xfrm>
            <a:off x="3922776" y="2176272"/>
            <a:ext cx="1805940" cy="178308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32504" y="2286000"/>
            <a:ext cx="1586484" cy="1563624"/>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Preprint version</a:t>
            </a:r>
          </a:p>
          <a:p>
            <a:pPr algn="l">
              <a:lnSpc>
                <a:spcPct val="100000"/>
              </a:lnSpc>
              <a:spcBef>
                <a:spcPts val="0"/>
              </a:spcBef>
              <a:spcAft>
                <a:spcPts val="400"/>
              </a:spcAft>
            </a:pPr>
            <a:r>
              <a:rPr sz="2800" b="1" i="0">
                <a:solidFill>
                  <a:srgbClr val="D7263D"/>
                </a:solidFill>
                <a:latin typeface="Arial"/>
                <a:ea typeface="Arial"/>
                <a:cs typeface="Arial"/>
              </a:rPr>
              <a:t>2.7%</a:t>
            </a:r>
          </a:p>
          <a:p>
            <a:pPr algn="l">
              <a:lnSpc>
                <a:spcPct val="100000"/>
              </a:lnSpc>
              <a:spcBef>
                <a:spcPts val="0"/>
              </a:spcBef>
              <a:spcAft>
                <a:spcPts val="0"/>
              </a:spcAft>
            </a:pPr>
            <a:r>
              <a:rPr sz="1100" b="0" i="0">
                <a:solidFill>
                  <a:srgbClr val="3A3A3A"/>
                </a:solidFill>
                <a:latin typeface="Arial"/>
                <a:ea typeface="Arial"/>
                <a:cs typeface="Arial"/>
              </a:rPr>
              <a:t>in 2024; 1.5% in 2015-2025. A lower bound, partly publisher-driven</a:t>
            </a:r>
          </a:p>
        </p:txBody>
      </p:sp>
      <p:sp>
        <p:nvSpPr>
          <p:cNvPr id="16" name="Rectangle 15"/>
          <p:cNvSpPr/>
          <p:nvPr/>
        </p:nvSpPr>
        <p:spPr>
          <a:xfrm>
            <a:off x="5728716" y="2176272"/>
            <a:ext cx="1805940" cy="1783080"/>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38444" y="2286000"/>
            <a:ext cx="1586484" cy="1563624"/>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Registration ID in the abstract</a:t>
            </a:r>
          </a:p>
          <a:p>
            <a:pPr algn="l">
              <a:lnSpc>
                <a:spcPct val="100000"/>
              </a:lnSpc>
              <a:spcBef>
                <a:spcPts val="0"/>
              </a:spcBef>
              <a:spcAft>
                <a:spcPts val="400"/>
              </a:spcAft>
            </a:pPr>
            <a:r>
              <a:rPr sz="2800" b="1" i="0">
                <a:solidFill>
                  <a:srgbClr val="1F1F1F"/>
                </a:solidFill>
                <a:latin typeface="Arial"/>
                <a:ea typeface="Arial"/>
                <a:cs typeface="Arial"/>
              </a:rPr>
              <a:t>5.3%</a:t>
            </a:r>
          </a:p>
          <a:p>
            <a:pPr algn="l">
              <a:lnSpc>
                <a:spcPct val="100000"/>
              </a:lnSpc>
              <a:spcBef>
                <a:spcPts val="0"/>
              </a:spcBef>
              <a:spcAft>
                <a:spcPts val="0"/>
              </a:spcAft>
            </a:pPr>
            <a:r>
              <a:rPr sz="1100" b="0" i="0">
                <a:solidFill>
                  <a:srgbClr val="3A3A3A"/>
                </a:solidFill>
                <a:latin typeface="Arial"/>
                <a:ea typeface="Arial"/>
                <a:cs typeface="Arial"/>
              </a:rPr>
              <a:t>in 2024, from 2.8% in 2015; stroke ahead of cardiology, neurology and neuroscience</a:t>
            </a:r>
          </a:p>
        </p:txBody>
      </p:sp>
      <p:sp>
        <p:nvSpPr>
          <p:cNvPr id="18" name="TextBox 17"/>
          <p:cNvSpPr txBox="1"/>
          <p:nvPr/>
        </p:nvSpPr>
        <p:spPr>
          <a:xfrm>
            <a:off x="310896" y="4480560"/>
            <a:ext cx="7040880" cy="475488"/>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High impact is barely better at sharing: top-cited or IF 10+ articles (16% of the corpus) are 74% open access vs 65%, registration 10.0% vs 3.5%, but data 0.45% vs 0.34%, code 0.08% vs 0.06%. These are lower bounds from abstracts and metadata. So we read the full text.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What data-availability statements actually say</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09  </a:t>
            </a:r>
            <a:r>
              <a:rPr sz="1100" b="0" i="0">
                <a:solidFill>
                  <a:srgbClr val="5F5F5F"/>
                </a:solidFill>
                <a:latin typeface="Arial"/>
                <a:ea typeface="Arial"/>
                <a:cs typeface="Arial"/>
              </a:rPr>
              <a:t>The full-text audit</a:t>
            </a:r>
          </a:p>
        </p:txBody>
      </p:sp>
      <p:sp>
        <p:nvSpPr>
          <p:cNvPr id="4" name="Rectangle 3"/>
          <p:cNvSpPr/>
          <p:nvPr/>
        </p:nvSpPr>
        <p:spPr>
          <a:xfrm>
            <a:off x="310896" y="932688"/>
            <a:ext cx="2407920" cy="1298448"/>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0624" y="1042416"/>
            <a:ext cx="2188464" cy="1078992"/>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Write a statement</a:t>
            </a:r>
          </a:p>
          <a:p>
            <a:pPr algn="l">
              <a:lnSpc>
                <a:spcPct val="100000"/>
              </a:lnSpc>
              <a:spcBef>
                <a:spcPts val="0"/>
              </a:spcBef>
              <a:spcAft>
                <a:spcPts val="400"/>
              </a:spcAft>
            </a:pPr>
            <a:r>
              <a:rPr sz="2800" b="1" i="0">
                <a:solidFill>
                  <a:srgbClr val="1F1F1F"/>
                </a:solidFill>
                <a:latin typeface="Arial"/>
                <a:ea typeface="Arial"/>
                <a:cs typeface="Arial"/>
              </a:rPr>
              <a:t>74%</a:t>
            </a:r>
          </a:p>
          <a:p>
            <a:pPr algn="l">
              <a:lnSpc>
                <a:spcPct val="100000"/>
              </a:lnSpc>
              <a:spcBef>
                <a:spcPts val="0"/>
              </a:spcBef>
              <a:spcAft>
                <a:spcPts val="0"/>
              </a:spcAft>
            </a:pPr>
            <a:r>
              <a:rPr sz="1100" b="0" i="0">
                <a:solidFill>
                  <a:srgbClr val="3A3A3A"/>
                </a:solidFill>
                <a:latin typeface="Arial"/>
                <a:ea typeface="Arial"/>
                <a:cs typeface="Arial"/>
              </a:rPr>
              <a:t>in 2025, from 14% in 2015; arrived with the journal mandates</a:t>
            </a:r>
          </a:p>
        </p:txBody>
      </p:sp>
      <p:sp>
        <p:nvSpPr>
          <p:cNvPr id="6" name="Rectangle 5"/>
          <p:cNvSpPr/>
          <p:nvPr/>
        </p:nvSpPr>
        <p:spPr>
          <a:xfrm>
            <a:off x="2718816" y="932688"/>
            <a:ext cx="2407920" cy="1298448"/>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28544" y="1042416"/>
            <a:ext cx="2188464" cy="1078992"/>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Say “available on request”</a:t>
            </a:r>
          </a:p>
          <a:p>
            <a:pPr algn="l">
              <a:lnSpc>
                <a:spcPct val="100000"/>
              </a:lnSpc>
              <a:spcBef>
                <a:spcPts val="0"/>
              </a:spcBef>
              <a:spcAft>
                <a:spcPts val="400"/>
              </a:spcAft>
            </a:pPr>
            <a:r>
              <a:rPr sz="2800" b="1" i="0">
                <a:solidFill>
                  <a:srgbClr val="D7263D"/>
                </a:solidFill>
                <a:latin typeface="Arial"/>
                <a:ea typeface="Arial"/>
                <a:cs typeface="Arial"/>
              </a:rPr>
              <a:t>29%</a:t>
            </a:r>
          </a:p>
          <a:p>
            <a:pPr algn="l">
              <a:lnSpc>
                <a:spcPct val="100000"/>
              </a:lnSpc>
              <a:spcBef>
                <a:spcPts val="0"/>
              </a:spcBef>
              <a:spcAft>
                <a:spcPts val="0"/>
              </a:spcAft>
            </a:pPr>
            <a:r>
              <a:rPr sz="1100" b="0" i="0">
                <a:solidFill>
                  <a:srgbClr val="3A3A3A"/>
                </a:solidFill>
                <a:latin typeface="Arial"/>
                <a:ea typeface="Arial"/>
                <a:cs typeface="Arial"/>
              </a:rPr>
              <a:t>in 2025, from 0.6% in 2015; now the largest answer</a:t>
            </a:r>
          </a:p>
        </p:txBody>
      </p:sp>
      <p:sp>
        <p:nvSpPr>
          <p:cNvPr id="8" name="Rectangle 7"/>
          <p:cNvSpPr/>
          <p:nvPr/>
        </p:nvSpPr>
        <p:spPr>
          <a:xfrm>
            <a:off x="5126736" y="932688"/>
            <a:ext cx="2407920" cy="1298448"/>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36464" y="1042416"/>
            <a:ext cx="2188464" cy="1078992"/>
          </a:xfrm>
          <a:prstGeom prst="rect">
            <a:avLst/>
          </a:prstGeom>
          <a:noFill/>
        </p:spPr>
        <p:txBody>
          <a:bodyPr wrap="square" lIns="0" rIns="0" tIns="0" bIns="0" anchor="t">
            <a:noAutofit/>
          </a:bodyPr>
          <a:lstStyle/>
          <a:p>
            <a:pPr algn="l">
              <a:lnSpc>
                <a:spcPct val="100000"/>
              </a:lnSpc>
              <a:spcBef>
                <a:spcPts val="0"/>
              </a:spcBef>
              <a:spcAft>
                <a:spcPts val="400"/>
              </a:spcAft>
            </a:pPr>
            <a:r>
              <a:rPr sz="1150" b="1" i="0">
                <a:solidFill>
                  <a:srgbClr val="1F1F1F"/>
                </a:solidFill>
                <a:latin typeface="Arial"/>
                <a:ea typeface="Arial"/>
                <a:cs typeface="Arial"/>
              </a:rPr>
              <a:t>Deposit or public source</a:t>
            </a:r>
          </a:p>
          <a:p>
            <a:pPr algn="l">
              <a:lnSpc>
                <a:spcPct val="100000"/>
              </a:lnSpc>
              <a:spcBef>
                <a:spcPts val="0"/>
              </a:spcBef>
              <a:spcAft>
                <a:spcPts val="400"/>
              </a:spcAft>
            </a:pPr>
            <a:r>
              <a:rPr sz="2800" b="1" i="0">
                <a:solidFill>
                  <a:srgbClr val="D7263D"/>
                </a:solidFill>
                <a:latin typeface="Arial"/>
                <a:ea typeface="Arial"/>
                <a:cs typeface="Arial"/>
              </a:rPr>
              <a:t>9.8%</a:t>
            </a:r>
          </a:p>
          <a:p>
            <a:pPr algn="l">
              <a:lnSpc>
                <a:spcPct val="100000"/>
              </a:lnSpc>
              <a:spcBef>
                <a:spcPts val="0"/>
              </a:spcBef>
              <a:spcAft>
                <a:spcPts val="0"/>
              </a:spcAft>
            </a:pPr>
            <a:r>
              <a:rPr sz="1100" b="0" i="0">
                <a:solidFill>
                  <a:srgbClr val="3A3A3A"/>
                </a:solidFill>
                <a:latin typeface="Arial"/>
                <a:ea typeface="Arial"/>
                <a:cs typeface="Arial"/>
              </a:rPr>
              <a:t>in 2025, from 0.7% in 2015; own deposit 5.9%</a:t>
            </a:r>
          </a:p>
        </p:txBody>
      </p:sp>
      <p:pic>
        <p:nvPicPr>
          <p:cNvPr id="10" name="Picture 9" descr="das_year.jpg"/>
          <p:cNvPicPr>
            <a:picLocks noChangeAspect="1"/>
          </p:cNvPicPr>
          <p:nvPr/>
        </p:nvPicPr>
        <p:blipFill>
          <a:blip r:embed="rId3"/>
          <a:stretch>
            <a:fillRect/>
          </a:stretch>
        </p:blipFill>
        <p:spPr>
          <a:xfrm>
            <a:off x="310896" y="2331720"/>
            <a:ext cx="5776810" cy="2103120"/>
          </a:xfrm>
          <a:prstGeom prst="rect">
            <a:avLst/>
          </a:prstGeom>
        </p:spPr>
      </p:pic>
      <p:sp>
        <p:nvSpPr>
          <p:cNvPr id="11" name="TextBox 10"/>
          <p:cNvSpPr txBox="1"/>
          <p:nvPr/>
        </p:nvSpPr>
        <p:spPr>
          <a:xfrm>
            <a:off x="310896" y="4480560"/>
            <a:ext cx="7040880" cy="475488"/>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16,362 open-access stroke full texts, up to 1,500 per year, Europe PMC; optimistic for stroke overall. Elsewhere, “on request” delivers little: 6.8% of authors shared when asked (Gabelica 2022); 20% of 391 vascular and cognitive trials, median 241 days (Scutt 2020).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749808"/>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Reading access has been solved for the global South by free routes. Reuse has not.</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10  </a:t>
            </a:r>
            <a:r>
              <a:rPr sz="1100" b="0" i="0">
                <a:solidFill>
                  <a:srgbClr val="5F5F5F"/>
                </a:solidFill>
                <a:latin typeface="Arial"/>
                <a:ea typeface="Arial"/>
                <a:cs typeface="Arial"/>
              </a:rPr>
              <a:t>Who pays to be read, and who shares</a:t>
            </a:r>
          </a:p>
        </p:txBody>
      </p:sp>
      <p:pic>
        <p:nvPicPr>
          <p:cNvPr id="4" name="Picture 3" descr="eq_route.jpg"/>
          <p:cNvPicPr>
            <a:picLocks noChangeAspect="1"/>
          </p:cNvPicPr>
          <p:nvPr/>
        </p:nvPicPr>
        <p:blipFill>
          <a:blip r:embed="rId3"/>
          <a:stretch>
            <a:fillRect/>
          </a:stretch>
        </p:blipFill>
        <p:spPr>
          <a:xfrm>
            <a:off x="310896" y="1234440"/>
            <a:ext cx="3520439" cy="2301826"/>
          </a:xfrm>
          <a:prstGeom prst="rect">
            <a:avLst/>
          </a:prstGeom>
        </p:spPr>
      </p:pic>
      <p:sp>
        <p:nvSpPr>
          <p:cNvPr id="5" name="TextBox 4"/>
          <p:cNvSpPr txBox="1"/>
          <p:nvPr/>
        </p:nvSpPr>
        <p:spPr>
          <a:xfrm>
            <a:off x="310896" y="3566160"/>
            <a:ext cx="3520440" cy="365760"/>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5F5F"/>
                </a:solidFill>
                <a:latin typeface="Arial"/>
                <a:ea typeface="Arial"/>
                <a:cs typeface="Arial"/>
              </a:rPr>
              <a:t>Open-access route by World Bank income group of the first author’s country</a:t>
            </a:r>
          </a:p>
        </p:txBody>
      </p:sp>
      <p:pic>
        <p:nvPicPr>
          <p:cNvPr id="6" name="Picture 5" descr="eq_ft.jpg"/>
          <p:cNvPicPr>
            <a:picLocks noChangeAspect="1"/>
          </p:cNvPicPr>
          <p:nvPr/>
        </p:nvPicPr>
        <p:blipFill>
          <a:blip r:embed="rId4"/>
          <a:stretch>
            <a:fillRect/>
          </a:stretch>
        </p:blipFill>
        <p:spPr>
          <a:xfrm>
            <a:off x="3977639" y="1234440"/>
            <a:ext cx="3551197" cy="1627632"/>
          </a:xfrm>
          <a:prstGeom prst="rect">
            <a:avLst/>
          </a:prstGeom>
        </p:spPr>
      </p:pic>
      <p:sp>
        <p:nvSpPr>
          <p:cNvPr id="7" name="TextBox 6"/>
          <p:cNvSpPr txBox="1"/>
          <p:nvPr/>
        </p:nvSpPr>
        <p:spPr>
          <a:xfrm>
            <a:off x="3977639" y="2880360"/>
            <a:ext cx="3557016" cy="201168"/>
          </a:xfrm>
          <a:prstGeom prst="rect">
            <a:avLst/>
          </a:prstGeom>
          <a:noFill/>
        </p:spPr>
        <p:txBody>
          <a:bodyPr wrap="square" lIns="0" rIns="0" tIns="0" bIns="0" anchor="t">
            <a:noAutofit/>
          </a:bodyPr>
          <a:lstStyle/>
          <a:p>
            <a:pPr algn="l">
              <a:lnSpc>
                <a:spcPct val="100000"/>
              </a:lnSpc>
              <a:spcBef>
                <a:spcPts val="0"/>
              </a:spcBef>
              <a:spcAft>
                <a:spcPts val="0"/>
              </a:spcAft>
            </a:pPr>
            <a:r>
              <a:rPr sz="1000" b="0" i="0">
                <a:solidFill>
                  <a:srgbClr val="5F5F5F"/>
                </a:solidFill>
                <a:latin typeface="Arial"/>
                <a:ea typeface="Arial"/>
                <a:cs typeface="Arial"/>
              </a:rPr>
              <a:t>What the full text shows, by income group</a:t>
            </a:r>
          </a:p>
        </p:txBody>
      </p:sp>
      <p:sp>
        <p:nvSpPr>
          <p:cNvPr id="8" name="TextBox 7"/>
          <p:cNvSpPr txBox="1"/>
          <p:nvPr/>
        </p:nvSpPr>
        <p:spPr>
          <a:xfrm>
            <a:off x="3977639" y="3154680"/>
            <a:ext cx="3557016" cy="1051560"/>
          </a:xfrm>
          <a:prstGeom prst="rect">
            <a:avLst/>
          </a:prstGeom>
          <a:noFill/>
        </p:spPr>
        <p:txBody>
          <a:bodyPr wrap="square" lIns="0" rIns="0" tIns="0" bIns="0" anchor="t">
            <a:noAutofit/>
          </a:bodyPr>
          <a:lstStyle/>
          <a:p>
            <a:pPr algn="l">
              <a:lnSpc>
                <a:spcPct val="100000"/>
              </a:lnSpc>
              <a:spcBef>
                <a:spcPts val="0"/>
              </a:spcBef>
              <a:spcAft>
                <a:spcPts val="0"/>
              </a:spcAft>
            </a:pPr>
            <a:r>
              <a:rPr sz="1200" b="0" i="0">
                <a:solidFill>
                  <a:srgbClr val="1F1F1F"/>
                </a:solidFill>
                <a:latin typeface="Arial"/>
                <a:ea typeface="Arial"/>
                <a:cs typeface="Arial"/>
              </a:rPr>
              <a:t>Lower-middle-income authors publish 42% through routes that cost nothing (high income 19%), yet over 2015-2025 deposit or name public data in 1.8% (high 4.0%), mention GitHub in 0.3% (1.6%) and a trial registration in 5.7% (15.0%).</a:t>
            </a:r>
          </a:p>
        </p:txBody>
      </p:sp>
      <p:sp>
        <p:nvSpPr>
          <p:cNvPr id="9" name="TextBox 8"/>
          <p:cNvSpPr txBox="1"/>
          <p:nvPr/>
        </p:nvSpPr>
        <p:spPr>
          <a:xfrm>
            <a:off x="310896" y="4626864"/>
            <a:ext cx="7040880" cy="329184"/>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Income group known for 85% of the corpus: high 62%, upper-middle 32% (mostly China), lower-middle 6%, low 0.3% (400 articles). Korea: 5,490 first-author articles, 75% open access.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A commitment index, verified in the full text</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11  </a:t>
            </a:r>
            <a:r>
              <a:rPr sz="1100" b="0" i="0">
                <a:solidFill>
                  <a:srgbClr val="5F5F5F"/>
                </a:solidFill>
                <a:latin typeface="Arial"/>
                <a:ea typeface="Arial"/>
                <a:cs typeface="Arial"/>
              </a:rPr>
              <a:t>Who is already doing it</a:t>
            </a:r>
          </a:p>
        </p:txBody>
      </p:sp>
      <p:pic>
        <p:nvPicPr>
          <p:cNvPr id="4" name="Picture 3" descr="cm_inst.jpg"/>
          <p:cNvPicPr>
            <a:picLocks noChangeAspect="1"/>
          </p:cNvPicPr>
          <p:nvPr/>
        </p:nvPicPr>
        <p:blipFill>
          <a:blip r:embed="rId3"/>
          <a:stretch>
            <a:fillRect/>
          </a:stretch>
        </p:blipFill>
        <p:spPr>
          <a:xfrm>
            <a:off x="310896" y="932688"/>
            <a:ext cx="6650181" cy="2286000"/>
          </a:xfrm>
          <a:prstGeom prst="rect">
            <a:avLst/>
          </a:prstGeom>
        </p:spPr>
      </p:pic>
      <p:sp>
        <p:nvSpPr>
          <p:cNvPr id="5" name="TextBox 4"/>
          <p:cNvSpPr txBox="1"/>
          <p:nvPr/>
        </p:nvSpPr>
        <p:spPr>
          <a:xfrm>
            <a:off x="310896" y="3291840"/>
            <a:ext cx="7223760" cy="566928"/>
          </a:xfrm>
          <a:prstGeom prst="rect">
            <a:avLst/>
          </a:prstGeom>
          <a:noFill/>
        </p:spPr>
        <p:txBody>
          <a:bodyPr wrap="square" lIns="0" rIns="0" tIns="0" bIns="0" anchor="t">
            <a:noAutofit/>
          </a:bodyPr>
          <a:lstStyle/>
          <a:p>
            <a:pPr algn="l">
              <a:lnSpc>
                <a:spcPct val="100000"/>
              </a:lnSpc>
              <a:spcBef>
                <a:spcPts val="0"/>
              </a:spcBef>
              <a:spcAft>
                <a:spcPts val="0"/>
              </a:spcAft>
            </a:pPr>
            <a:r>
              <a:rPr sz="1150" b="0" i="0">
                <a:solidFill>
                  <a:srgbClr val="3A3A3A"/>
                </a:solidFill>
                <a:latin typeface="Arial"/>
                <a:ea typeface="Arial"/>
                <a:cs typeface="Arial"/>
              </a:rPr>
              <a:t>Journals: Nature Communications, Brain Communications, PeerJ, NeuroImage Clinical lead; </a:t>
            </a:r>
            <a:r>
              <a:rPr sz="1150" b="0" i="1">
                <a:solidFill>
                  <a:srgbClr val="3A3A3A"/>
                </a:solidFill>
                <a:latin typeface="Arial"/>
                <a:ea typeface="Arial"/>
                <a:cs typeface="Arial"/>
              </a:rPr>
              <a:t>Stroke</a:t>
            </a:r>
            <a:r>
              <a:rPr sz="1150" b="0" i="0">
                <a:solidFill>
                  <a:srgbClr val="3A3A3A"/>
                </a:solidFill>
                <a:latin typeface="Arial"/>
                <a:ea typeface="Arial"/>
                <a:cs typeface="Arial"/>
              </a:rPr>
              <a:t> is about 15th of 99, at 1.5×. Funders: US federal institutes, ANR, Swiss Heart Foundation, Leducq, DFG. Countries: Belgium 2.4×, Germany 2.2×, Switzerland 2.0×, France 1.8×, UK 1.5×.</a:t>
            </a:r>
          </a:p>
        </p:txBody>
      </p:sp>
      <p:sp>
        <p:nvSpPr>
          <p:cNvPr id="6" name="TextBox 5"/>
          <p:cNvSpPr txBox="1"/>
          <p:nvPr/>
        </p:nvSpPr>
        <p:spPr>
          <a:xfrm>
            <a:off x="310896" y="4480560"/>
            <a:ext cx="7040880" cy="475488"/>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Index = mean over three full-text signals of the entity’s rate ÷ the stroke audit rate: data deposited or public source (4.2%), GitHub (1.3%), trial registration (14.1%). 1 = stroke average. Institutions: the 60 with the most audited articles (82+ each); countries 50+, journals and funders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Rules produced statements. Incentives produce data.</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12  </a:t>
            </a:r>
            <a:r>
              <a:rPr sz="1100" b="0" i="0">
                <a:solidFill>
                  <a:srgbClr val="5F5F5F"/>
                </a:solidFill>
                <a:latin typeface="Arial"/>
                <a:ea typeface="Arial"/>
                <a:cs typeface="Arial"/>
              </a:rPr>
              <a:t>Why mandates alone did not work</a:t>
            </a:r>
          </a:p>
        </p:txBody>
      </p:sp>
      <p:cxnSp>
        <p:nvCxnSpPr>
          <p:cNvPr id="4" name="Connector 3"/>
          <p:cNvCxnSpPr/>
          <p:nvPr/>
        </p:nvCxnSpPr>
        <p:spPr>
          <a:xfrm>
            <a:off x="310896" y="987552"/>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10896" y="1051560"/>
            <a:ext cx="1691640" cy="54864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D7263D"/>
                </a:solidFill>
                <a:latin typeface="Arial"/>
                <a:ea typeface="Arial"/>
                <a:cs typeface="Arial"/>
              </a:rPr>
              <a:t>3.1% to 3.1%</a:t>
            </a:r>
          </a:p>
        </p:txBody>
      </p:sp>
      <p:sp>
        <p:nvSpPr>
          <p:cNvPr id="6" name="TextBox 5"/>
          <p:cNvSpPr txBox="1"/>
          <p:nvPr/>
        </p:nvSpPr>
        <p:spPr>
          <a:xfrm>
            <a:off x="2093976" y="1051560"/>
            <a:ext cx="4114800" cy="548640"/>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F1F1F"/>
                </a:solidFill>
                <a:latin typeface="Arial"/>
                <a:ea typeface="Arial"/>
                <a:cs typeface="Arial"/>
              </a:rPr>
              <a:t>Data obtainable from surgical trials before and after the ICMJE statement requirement.</a:t>
            </a:r>
          </a:p>
        </p:txBody>
      </p:sp>
      <p:sp>
        <p:nvSpPr>
          <p:cNvPr id="7" name="TextBox 6"/>
          <p:cNvSpPr txBox="1"/>
          <p:nvPr/>
        </p:nvSpPr>
        <p:spPr>
          <a:xfrm>
            <a:off x="6345936" y="1051560"/>
            <a:ext cx="1188720" cy="548640"/>
          </a:xfrm>
          <a:prstGeom prst="rect">
            <a:avLst/>
          </a:prstGeom>
          <a:noFill/>
        </p:spPr>
        <p:txBody>
          <a:bodyPr wrap="square" lIns="0" rIns="0" tIns="0" bIns="0" anchor="ctr">
            <a:noAutofit/>
          </a:bodyPr>
          <a:lstStyle/>
          <a:p>
            <a:pPr algn="l">
              <a:lnSpc>
                <a:spcPct val="100000"/>
              </a:lnSpc>
              <a:spcBef>
                <a:spcPts val="0"/>
              </a:spcBef>
              <a:spcAft>
                <a:spcPts val="0"/>
              </a:spcAft>
            </a:pPr>
            <a:r>
              <a:rPr sz="1000" b="0" i="0">
                <a:solidFill>
                  <a:srgbClr val="5F5F5F"/>
                </a:solidFill>
                <a:latin typeface="Arial"/>
                <a:ea typeface="Arial"/>
                <a:cs typeface="Arial"/>
              </a:rPr>
              <a:t>Bergeat 2022, JAMA Netw Open</a:t>
            </a:r>
          </a:p>
        </p:txBody>
      </p:sp>
      <p:cxnSp>
        <p:nvCxnSpPr>
          <p:cNvPr id="8" name="Connector 7"/>
          <p:cNvCxnSpPr/>
          <p:nvPr/>
        </p:nvCxnSpPr>
        <p:spPr>
          <a:xfrm>
            <a:off x="310896" y="1664208"/>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10896" y="1728216"/>
            <a:ext cx="1691640" cy="54864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D7263D"/>
                </a:solidFill>
                <a:latin typeface="Arial"/>
                <a:ea typeface="Arial"/>
                <a:cs typeface="Arial"/>
              </a:rPr>
              <a:t>OR 0.9</a:t>
            </a:r>
          </a:p>
        </p:txBody>
      </p:sp>
      <p:sp>
        <p:nvSpPr>
          <p:cNvPr id="10" name="TextBox 9"/>
          <p:cNvSpPr txBox="1"/>
          <p:nvPr/>
        </p:nvSpPr>
        <p:spPr>
          <a:xfrm>
            <a:off x="2093976" y="1728216"/>
            <a:ext cx="4114800" cy="548640"/>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F1F1F"/>
                </a:solidFill>
                <a:latin typeface="Arial"/>
                <a:ea typeface="Arial"/>
                <a:cs typeface="Arial"/>
              </a:rPr>
              <a:t>Open-data badges in the only medical randomised trial, at BMJ Open. The same badges took Psychological Science from under 3% to 39% open data.</a:t>
            </a:r>
          </a:p>
        </p:txBody>
      </p:sp>
      <p:sp>
        <p:nvSpPr>
          <p:cNvPr id="11" name="TextBox 10"/>
          <p:cNvSpPr txBox="1"/>
          <p:nvPr/>
        </p:nvSpPr>
        <p:spPr>
          <a:xfrm>
            <a:off x="6345936" y="1728216"/>
            <a:ext cx="1188720" cy="548640"/>
          </a:xfrm>
          <a:prstGeom prst="rect">
            <a:avLst/>
          </a:prstGeom>
          <a:noFill/>
        </p:spPr>
        <p:txBody>
          <a:bodyPr wrap="square" lIns="0" rIns="0" tIns="0" bIns="0" anchor="ctr">
            <a:noAutofit/>
          </a:bodyPr>
          <a:lstStyle/>
          <a:p>
            <a:pPr algn="l">
              <a:lnSpc>
                <a:spcPct val="100000"/>
              </a:lnSpc>
              <a:spcBef>
                <a:spcPts val="0"/>
              </a:spcBef>
              <a:spcAft>
                <a:spcPts val="0"/>
              </a:spcAft>
            </a:pPr>
            <a:r>
              <a:rPr sz="1000" b="0" i="0">
                <a:solidFill>
                  <a:srgbClr val="5F5F5F"/>
                </a:solidFill>
                <a:latin typeface="Arial"/>
                <a:ea typeface="Arial"/>
                <a:cs typeface="Arial"/>
              </a:rPr>
              <a:t>Rowhani-Farid 2020; Kidwell 2016</a:t>
            </a:r>
          </a:p>
        </p:txBody>
      </p:sp>
      <p:cxnSp>
        <p:nvCxnSpPr>
          <p:cNvPr id="12" name="Connector 11"/>
          <p:cNvCxnSpPr/>
          <p:nvPr/>
        </p:nvCxnSpPr>
        <p:spPr>
          <a:xfrm>
            <a:off x="310896" y="2340864"/>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10896" y="2404872"/>
            <a:ext cx="1691640" cy="54864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D7263D"/>
                </a:solidFill>
                <a:latin typeface="Arial"/>
                <a:ea typeface="Arial"/>
                <a:cs typeface="Arial"/>
              </a:rPr>
              <a:t>0 of 92</a:t>
            </a:r>
          </a:p>
        </p:txBody>
      </p:sp>
      <p:sp>
        <p:nvSpPr>
          <p:cNvPr id="14" name="TextBox 13"/>
          <p:cNvSpPr txBox="1"/>
          <p:nvPr/>
        </p:nvSpPr>
        <p:spPr>
          <a:xfrm>
            <a:off x="2093976" y="2404872"/>
            <a:ext cx="4114800" cy="548640"/>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F1F1F"/>
                </a:solidFill>
                <a:latin typeface="Arial"/>
                <a:ea typeface="Arial"/>
                <a:cs typeface="Arial"/>
              </a:rPr>
              <a:t>Biomedical promotion guidelines worldwide that mention data sharing, registration or open access.</a:t>
            </a:r>
          </a:p>
        </p:txBody>
      </p:sp>
      <p:sp>
        <p:nvSpPr>
          <p:cNvPr id="15" name="TextBox 14"/>
          <p:cNvSpPr txBox="1"/>
          <p:nvPr/>
        </p:nvSpPr>
        <p:spPr>
          <a:xfrm>
            <a:off x="6345936" y="2404872"/>
            <a:ext cx="1188720" cy="548640"/>
          </a:xfrm>
          <a:prstGeom prst="rect">
            <a:avLst/>
          </a:prstGeom>
          <a:noFill/>
        </p:spPr>
        <p:txBody>
          <a:bodyPr wrap="square" lIns="0" rIns="0" tIns="0" bIns="0" anchor="ctr">
            <a:noAutofit/>
          </a:bodyPr>
          <a:lstStyle/>
          <a:p>
            <a:pPr algn="l">
              <a:lnSpc>
                <a:spcPct val="100000"/>
              </a:lnSpc>
              <a:spcBef>
                <a:spcPts val="0"/>
              </a:spcBef>
              <a:spcAft>
                <a:spcPts val="0"/>
              </a:spcAft>
            </a:pPr>
            <a:r>
              <a:rPr sz="1000" b="0" i="0">
                <a:solidFill>
                  <a:srgbClr val="5F5F5F"/>
                </a:solidFill>
                <a:latin typeface="Arial"/>
                <a:ea typeface="Arial"/>
                <a:cs typeface="Arial"/>
              </a:rPr>
              <a:t>Rice 2020, BMJ</a:t>
            </a:r>
          </a:p>
        </p:txBody>
      </p:sp>
      <p:cxnSp>
        <p:nvCxnSpPr>
          <p:cNvPr id="16" name="Connector 15"/>
          <p:cNvCxnSpPr/>
          <p:nvPr/>
        </p:nvCxnSpPr>
        <p:spPr>
          <a:xfrm>
            <a:off x="310896" y="3017520"/>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0896" y="3081527"/>
            <a:ext cx="1691640" cy="54864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1F1F1F"/>
                </a:solidFill>
                <a:latin typeface="Arial"/>
                <a:ea typeface="Arial"/>
                <a:cs typeface="Arial"/>
              </a:rPr>
              <a:t>44% vs 96%</a:t>
            </a:r>
          </a:p>
        </p:txBody>
      </p:sp>
      <p:sp>
        <p:nvSpPr>
          <p:cNvPr id="18" name="TextBox 17"/>
          <p:cNvSpPr txBox="1"/>
          <p:nvPr/>
        </p:nvSpPr>
        <p:spPr>
          <a:xfrm>
            <a:off x="2093976" y="3081527"/>
            <a:ext cx="4114800" cy="548640"/>
          </a:xfrm>
          <a:prstGeom prst="rect">
            <a:avLst/>
          </a:prstGeom>
          <a:noFill/>
        </p:spPr>
        <p:txBody>
          <a:bodyPr wrap="square" lIns="0" rIns="0" tIns="0" bIns="0" anchor="ctr">
            <a:noAutofit/>
          </a:bodyPr>
          <a:lstStyle/>
          <a:p>
            <a:pPr algn="l">
              <a:lnSpc>
                <a:spcPct val="100000"/>
              </a:lnSpc>
              <a:spcBef>
                <a:spcPts val="0"/>
              </a:spcBef>
              <a:spcAft>
                <a:spcPts val="0"/>
              </a:spcAft>
            </a:pPr>
            <a:r>
              <a:rPr sz="1150" b="0" i="0">
                <a:solidFill>
                  <a:srgbClr val="1F1F1F"/>
                </a:solidFill>
                <a:latin typeface="Arial"/>
                <a:ea typeface="Arial"/>
                <a:cs typeface="Arial"/>
              </a:rPr>
              <a:t>Positive results in Registered Reports versus the standard literature. Changing when review happens changes what gets published.</a:t>
            </a:r>
          </a:p>
        </p:txBody>
      </p:sp>
      <p:sp>
        <p:nvSpPr>
          <p:cNvPr id="19" name="TextBox 18"/>
          <p:cNvSpPr txBox="1"/>
          <p:nvPr/>
        </p:nvSpPr>
        <p:spPr>
          <a:xfrm>
            <a:off x="6345936" y="3081527"/>
            <a:ext cx="1188720" cy="548640"/>
          </a:xfrm>
          <a:prstGeom prst="rect">
            <a:avLst/>
          </a:prstGeom>
          <a:noFill/>
        </p:spPr>
        <p:txBody>
          <a:bodyPr wrap="square" lIns="0" rIns="0" tIns="0" bIns="0" anchor="ctr">
            <a:noAutofit/>
          </a:bodyPr>
          <a:lstStyle/>
          <a:p>
            <a:pPr algn="l">
              <a:lnSpc>
                <a:spcPct val="100000"/>
              </a:lnSpc>
              <a:spcBef>
                <a:spcPts val="0"/>
              </a:spcBef>
              <a:spcAft>
                <a:spcPts val="0"/>
              </a:spcAft>
            </a:pPr>
            <a:r>
              <a:rPr sz="1000" b="0" i="0">
                <a:solidFill>
                  <a:srgbClr val="5F5F5F"/>
                </a:solidFill>
                <a:latin typeface="Arial"/>
                <a:ea typeface="Arial"/>
                <a:cs typeface="Arial"/>
              </a:rPr>
              <a:t>Scheel 2021</a:t>
            </a:r>
          </a:p>
        </p:txBody>
      </p:sp>
      <p:cxnSp>
        <p:nvCxnSpPr>
          <p:cNvPr id="20" name="Connector 19"/>
          <p:cNvCxnSpPr/>
          <p:nvPr/>
        </p:nvCxnSpPr>
        <p:spPr>
          <a:xfrm>
            <a:off x="310896" y="3694176"/>
            <a:ext cx="7223760" cy="0"/>
          </a:xfrm>
          <a:prstGeom prst="line">
            <a:avLst/>
          </a:prstGeom>
          <a:ln w="9525">
            <a:solidFill>
              <a:srgbClr val="C8C8C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0896" y="3822191"/>
            <a:ext cx="7223760" cy="566928"/>
          </a:xfrm>
          <a:prstGeom prst="rect">
            <a:avLst/>
          </a:prstGeom>
          <a:noFill/>
        </p:spPr>
        <p:txBody>
          <a:bodyPr wrap="square" lIns="0" rIns="0" tIns="0" bIns="0" anchor="t">
            <a:noAutofit/>
          </a:bodyPr>
          <a:lstStyle/>
          <a:p>
            <a:pPr algn="l">
              <a:lnSpc>
                <a:spcPct val="100000"/>
              </a:lnSpc>
              <a:spcBef>
                <a:spcPts val="0"/>
              </a:spcBef>
              <a:spcAft>
                <a:spcPts val="0"/>
              </a:spcAft>
            </a:pPr>
            <a:r>
              <a:rPr sz="1500" b="0" i="1">
                <a:solidFill>
                  <a:srgbClr val="1F1F1F"/>
                </a:solidFill>
                <a:latin typeface="Arial"/>
                <a:ea typeface="Arial"/>
                <a:cs typeface="Arial"/>
              </a:rPr>
              <a:t>Stroke researchers are not less honest than psychologists. They respond to the same incentives, and ours point the other way.</a:t>
            </a:r>
          </a:p>
        </p:txBody>
      </p:sp>
      <p:sp>
        <p:nvSpPr>
          <p:cNvPr id="22" name="TextBox 21"/>
          <p:cNvSpPr txBox="1"/>
          <p:nvPr/>
        </p:nvSpPr>
        <p:spPr>
          <a:xfrm>
            <a:off x="310896" y="4626864"/>
            <a:ext cx="7040880" cy="329184"/>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Cardiology survey, n = 198: funding named the most essential incentive; “policy alone will not lead to implementation” (Cobey 2024).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itle 1"/>
          <p:cNvSpPr>
            <a:spLocks noGrp="1"/>
          </p:cNvSpPr>
          <p:nvPr>
            <p:ph type="title"/>
          </p:nvPr>
        </p:nvSpPr>
        <p:spPr>
          <a:xfrm>
            <a:off x="310896" y="347472"/>
            <a:ext cx="7223760" cy="411480"/>
          </a:xfrm>
        </p:spPr>
        <p:txBody>
          <a:bodyPr wrap="square" lIns="0" rIns="0" tIns="0" bIns="0" anchor="t">
            <a:noAutofit/>
          </a:bodyPr>
          <a:lstStyle/>
          <a:p>
            <a:pPr algn="l">
              <a:lnSpc>
                <a:spcPct val="100000"/>
              </a:lnSpc>
              <a:spcBef>
                <a:spcPts val="0"/>
              </a:spcBef>
              <a:spcAft>
                <a:spcPts val="0"/>
              </a:spcAft>
            </a:pPr>
            <a:r>
              <a:rPr sz="2100" b="1" i="0">
                <a:solidFill>
                  <a:srgbClr val="1D429C"/>
                </a:solidFill>
                <a:latin typeface="Arial"/>
                <a:ea typeface="Arial"/>
                <a:cs typeface="Arial"/>
              </a:rPr>
              <a:t>A task force, a prize, and awareness</a:t>
            </a:r>
          </a:p>
        </p:txBody>
      </p:sp>
      <p:sp>
        <p:nvSpPr>
          <p:cNvPr id="3" name="TextBox 2"/>
          <p:cNvSpPr txBox="1"/>
          <p:nvPr/>
        </p:nvSpPr>
        <p:spPr>
          <a:xfrm>
            <a:off x="310896" y="155448"/>
            <a:ext cx="722376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D7263D"/>
                </a:solidFill>
                <a:latin typeface="Arial"/>
                <a:ea typeface="Arial"/>
                <a:cs typeface="Arial"/>
              </a:rPr>
              <a:t>13  </a:t>
            </a:r>
            <a:r>
              <a:rPr sz="1100" b="0" i="0">
                <a:solidFill>
                  <a:srgbClr val="5F5F5F"/>
                </a:solidFill>
                <a:latin typeface="Arial"/>
                <a:ea typeface="Arial"/>
                <a:cs typeface="Arial"/>
              </a:rPr>
              <a:t>What to do next</a:t>
            </a:r>
          </a:p>
        </p:txBody>
      </p:sp>
      <p:sp>
        <p:nvSpPr>
          <p:cNvPr id="4" name="Rectangle 3"/>
          <p:cNvSpPr/>
          <p:nvPr/>
        </p:nvSpPr>
        <p:spPr>
          <a:xfrm>
            <a:off x="310896" y="932688"/>
            <a:ext cx="2407920" cy="3456432"/>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 y="1024128"/>
            <a:ext cx="2170175" cy="3291840"/>
          </a:xfrm>
          <a:prstGeom prst="rect">
            <a:avLst/>
          </a:prstGeom>
          <a:noFill/>
        </p:spPr>
        <p:txBody>
          <a:bodyPr wrap="square" lIns="0" rIns="0" tIns="0" bIns="0" anchor="t">
            <a:noAutofit/>
          </a:bodyPr>
          <a:lstStyle/>
          <a:p>
            <a:pPr algn="l">
              <a:lnSpc>
                <a:spcPct val="100000"/>
              </a:lnSpc>
              <a:spcBef>
                <a:spcPts val="0"/>
              </a:spcBef>
              <a:spcAft>
                <a:spcPts val="200"/>
              </a:spcAft>
            </a:pPr>
            <a:r>
              <a:rPr sz="2200" b="1" i="0">
                <a:solidFill>
                  <a:srgbClr val="D7263D"/>
                </a:solidFill>
                <a:latin typeface="Arial"/>
                <a:ea typeface="Arial"/>
                <a:cs typeface="Arial"/>
              </a:rPr>
              <a:t>1</a:t>
            </a:r>
          </a:p>
          <a:p>
            <a:pPr algn="l">
              <a:lnSpc>
                <a:spcPct val="100000"/>
              </a:lnSpc>
              <a:spcBef>
                <a:spcPts val="0"/>
              </a:spcBef>
              <a:spcAft>
                <a:spcPts val="600"/>
              </a:spcAft>
            </a:pPr>
            <a:r>
              <a:rPr sz="1350" b="1" i="0">
                <a:solidFill>
                  <a:srgbClr val="1F1F1F"/>
                </a:solidFill>
                <a:latin typeface="Arial"/>
                <a:ea typeface="Arial"/>
                <a:cs typeface="Arial"/>
              </a:rPr>
              <a:t>A WSO task force on open science</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A position statement: no stroke society has one</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Retire “available on request” in Stroke, IJS, ESJ and JSCVD: a repository, VISTA or Vivli, or a stated reason</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Registered Reports for stroke trials, with in-principle acceptance tied to WSO and ESO grants</a:t>
            </a:r>
          </a:p>
          <a:p>
            <a:pPr algn="l" marL="152400" indent="-152400">
              <a:lnSpc>
                <a:spcPct val="100000"/>
              </a:lnSpc>
              <a:spcBef>
                <a:spcPts val="0"/>
              </a:spcBef>
              <a:spcAft>
                <a:spcPts val="0"/>
              </a:spcAft>
              <a:buFont typeface="Arial"/>
              <a:buChar char="•"/>
            </a:pPr>
            <a:r>
              <a:rPr sz="1100" b="0" i="0">
                <a:solidFill>
                  <a:srgbClr val="1F1F1F"/>
                </a:solidFill>
                <a:latin typeface="Arial"/>
                <a:ea typeface="Arial"/>
                <a:cs typeface="Arial"/>
              </a:rPr>
              <a:t>Embargoed sharing as the trial default, twelve months after publication</a:t>
            </a:r>
          </a:p>
        </p:txBody>
      </p:sp>
      <p:sp>
        <p:nvSpPr>
          <p:cNvPr id="6" name="Rectangle 5"/>
          <p:cNvSpPr/>
          <p:nvPr/>
        </p:nvSpPr>
        <p:spPr>
          <a:xfrm>
            <a:off x="2718816" y="932688"/>
            <a:ext cx="2407920" cy="3456432"/>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7687" y="1024128"/>
            <a:ext cx="2170175" cy="3291840"/>
          </a:xfrm>
          <a:prstGeom prst="rect">
            <a:avLst/>
          </a:prstGeom>
          <a:noFill/>
        </p:spPr>
        <p:txBody>
          <a:bodyPr wrap="square" lIns="0" rIns="0" tIns="0" bIns="0" anchor="t">
            <a:noAutofit/>
          </a:bodyPr>
          <a:lstStyle/>
          <a:p>
            <a:pPr algn="l">
              <a:lnSpc>
                <a:spcPct val="100000"/>
              </a:lnSpc>
              <a:spcBef>
                <a:spcPts val="0"/>
              </a:spcBef>
              <a:spcAft>
                <a:spcPts val="200"/>
              </a:spcAft>
            </a:pPr>
            <a:r>
              <a:rPr sz="2200" b="1" i="0">
                <a:solidFill>
                  <a:srgbClr val="D7263D"/>
                </a:solidFill>
                <a:latin typeface="Arial"/>
                <a:ea typeface="Arial"/>
                <a:cs typeface="Arial"/>
              </a:rPr>
              <a:t>2</a:t>
            </a:r>
          </a:p>
          <a:p>
            <a:pPr algn="l">
              <a:lnSpc>
                <a:spcPct val="100000"/>
              </a:lnSpc>
              <a:spcBef>
                <a:spcPts val="0"/>
              </a:spcBef>
              <a:spcAft>
                <a:spcPts val="600"/>
              </a:spcAft>
            </a:pPr>
            <a:r>
              <a:rPr sz="1350" b="1" i="0">
                <a:solidFill>
                  <a:srgbClr val="1F1F1F"/>
                </a:solidFill>
                <a:latin typeface="Arial"/>
                <a:ea typeface="Arial"/>
                <a:cs typeface="Arial"/>
              </a:rPr>
              <a:t>A prize for the teams that share</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The commitment index: verified in the full text, recomputed every six months</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Institutions, journals, funders and countries</a:t>
            </a:r>
          </a:p>
          <a:p>
            <a:pPr algn="l" marL="152400" indent="-152400">
              <a:lnSpc>
                <a:spcPct val="100000"/>
              </a:lnSpc>
              <a:spcBef>
                <a:spcPts val="0"/>
              </a:spcBef>
              <a:spcAft>
                <a:spcPts val="0"/>
              </a:spcAft>
              <a:buFont typeface="Arial"/>
              <a:buChar char="•"/>
            </a:pPr>
            <a:r>
              <a:rPr sz="1100" b="0" i="0">
                <a:solidFill>
                  <a:srgbClr val="1F1F1F"/>
                </a:solidFill>
                <a:latin typeface="Arial"/>
                <a:ea typeface="Arial"/>
                <a:cs typeface="Arial"/>
              </a:rPr>
              <a:t>On the Einstein Foundation model, presented at this congress</a:t>
            </a:r>
          </a:p>
        </p:txBody>
      </p:sp>
      <p:sp>
        <p:nvSpPr>
          <p:cNvPr id="8" name="Rectangle 7"/>
          <p:cNvSpPr/>
          <p:nvPr/>
        </p:nvSpPr>
        <p:spPr>
          <a:xfrm>
            <a:off x="5126736" y="932688"/>
            <a:ext cx="2407920" cy="3456432"/>
          </a:xfrm>
          <a:prstGeom prst="rect">
            <a:avLst/>
          </a:prstGeom>
          <a:noFill/>
          <a:ln w="9525">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45608" y="1024128"/>
            <a:ext cx="2170175" cy="3291840"/>
          </a:xfrm>
          <a:prstGeom prst="rect">
            <a:avLst/>
          </a:prstGeom>
          <a:noFill/>
        </p:spPr>
        <p:txBody>
          <a:bodyPr wrap="square" lIns="0" rIns="0" tIns="0" bIns="0" anchor="t">
            <a:noAutofit/>
          </a:bodyPr>
          <a:lstStyle/>
          <a:p>
            <a:pPr algn="l">
              <a:lnSpc>
                <a:spcPct val="100000"/>
              </a:lnSpc>
              <a:spcBef>
                <a:spcPts val="0"/>
              </a:spcBef>
              <a:spcAft>
                <a:spcPts val="200"/>
              </a:spcAft>
            </a:pPr>
            <a:r>
              <a:rPr sz="2200" b="1" i="0">
                <a:solidFill>
                  <a:srgbClr val="D7263D"/>
                </a:solidFill>
                <a:latin typeface="Arial"/>
                <a:ea typeface="Arial"/>
                <a:cs typeface="Arial"/>
              </a:rPr>
              <a:t>3</a:t>
            </a:r>
          </a:p>
          <a:p>
            <a:pPr algn="l">
              <a:lnSpc>
                <a:spcPct val="100000"/>
              </a:lnSpc>
              <a:spcBef>
                <a:spcPts val="0"/>
              </a:spcBef>
              <a:spcAft>
                <a:spcPts val="600"/>
              </a:spcAft>
            </a:pPr>
            <a:r>
              <a:rPr sz="1350" b="1" i="0">
                <a:solidFill>
                  <a:srgbClr val="1F1F1F"/>
                </a:solidFill>
                <a:latin typeface="Arial"/>
                <a:ea typeface="Arial"/>
                <a:cs typeface="Arial"/>
              </a:rPr>
              <a:t>Awareness</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The public benchmark, updated every six months</a:t>
            </a:r>
          </a:p>
          <a:p>
            <a:pPr algn="l" marL="152400" indent="-152400">
              <a:lnSpc>
                <a:spcPct val="100000"/>
              </a:lnSpc>
              <a:spcBef>
                <a:spcPts val="0"/>
              </a:spcBef>
              <a:spcAft>
                <a:spcPts val="400"/>
              </a:spcAft>
              <a:buFont typeface="Arial"/>
              <a:buChar char="•"/>
            </a:pPr>
            <a:r>
              <a:rPr sz="1100" b="0" i="0">
                <a:solidFill>
                  <a:srgbClr val="1F1F1F"/>
                </a:solidFill>
                <a:latin typeface="Arial"/>
                <a:ea typeface="Arial"/>
                <a:cs typeface="Arial"/>
              </a:rPr>
              <a:t>Open-science items in promotion criteria: 0 of 92 guidelines today</a:t>
            </a:r>
          </a:p>
          <a:p>
            <a:pPr algn="l" marL="152400" indent="-152400">
              <a:lnSpc>
                <a:spcPct val="100000"/>
              </a:lnSpc>
              <a:spcBef>
                <a:spcPts val="0"/>
              </a:spcBef>
              <a:spcAft>
                <a:spcPts val="0"/>
              </a:spcAft>
              <a:buFont typeface="Arial"/>
              <a:buChar char="•"/>
            </a:pPr>
            <a:r>
              <a:rPr sz="1100" b="0" i="0">
                <a:solidFill>
                  <a:srgbClr val="1F1F1F"/>
                </a:solidFill>
                <a:latin typeface="Arial"/>
                <a:ea typeface="Arial"/>
                <a:cs typeface="Arial"/>
              </a:rPr>
              <a:t>Targets to discuss: data in a repository or controlled-access platform for 25% of stroke articles by 2030; “on request” under 10%; one Registered Report track in a stroke journal by 2028</a:t>
            </a:r>
          </a:p>
        </p:txBody>
      </p:sp>
      <p:sp>
        <p:nvSpPr>
          <p:cNvPr id="10" name="TextBox 9"/>
          <p:cNvSpPr txBox="1"/>
          <p:nvPr/>
        </p:nvSpPr>
        <p:spPr>
          <a:xfrm>
            <a:off x="310896" y="4645152"/>
            <a:ext cx="7040880" cy="310896"/>
          </a:xfrm>
          <a:prstGeom prst="rect">
            <a:avLst/>
          </a:prstGeom>
          <a:noFill/>
        </p:spPr>
        <p:txBody>
          <a:bodyPr wrap="square" lIns="0" rIns="0" tIns="0" bIns="0" anchor="b">
            <a:noAutofit/>
          </a:bodyPr>
          <a:lstStyle/>
          <a:p>
            <a:pPr algn="l">
              <a:lnSpc>
                <a:spcPct val="100000"/>
              </a:lnSpc>
              <a:spcBef>
                <a:spcPts val="0"/>
              </a:spcBef>
              <a:spcAft>
                <a:spcPts val="0"/>
              </a:spcAft>
            </a:pPr>
            <a:r>
              <a:rPr sz="1000" b="0" i="0">
                <a:solidFill>
                  <a:srgbClr val="5F5F5F"/>
                </a:solidFill>
                <a:latin typeface="Arial"/>
                <a:ea typeface="Arial"/>
                <a:cs typeface="Arial"/>
              </a:rPr>
              <a:t>The statement, retiring “on request” and promotion criteria cost nothing. Registered Reports, the prize and the infrastructure need money, and the infrastructure mostly exists: VISTA, ATLAS, ENIGMA.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p:sp>
        <p:nvSpPr>
          <p:cNvPr id="2" name="TextBox 1"/>
          <p:cNvSpPr txBox="1"/>
          <p:nvPr/>
        </p:nvSpPr>
        <p:spPr>
          <a:xfrm>
            <a:off x="548640" y="1325880"/>
            <a:ext cx="4846320" cy="822960"/>
          </a:xfrm>
          <a:prstGeom prst="rect">
            <a:avLst/>
          </a:prstGeom>
          <a:noFill/>
        </p:spPr>
        <p:txBody>
          <a:bodyPr wrap="square" lIns="0" rIns="0" tIns="0" bIns="0" anchor="t">
            <a:noAutofit/>
          </a:bodyPr>
          <a:lstStyle/>
          <a:p>
            <a:pPr algn="l">
              <a:lnSpc>
                <a:spcPct val="100000"/>
              </a:lnSpc>
              <a:spcBef>
                <a:spcPts val="0"/>
              </a:spcBef>
              <a:spcAft>
                <a:spcPts val="0"/>
              </a:spcAft>
            </a:pPr>
            <a:r>
              <a:rPr sz="1700" b="0" i="1">
                <a:solidFill>
                  <a:srgbClr val="FFFFFF"/>
                </a:solidFill>
                <a:latin typeface="Arial"/>
                <a:ea typeface="Arial"/>
                <a:cs typeface="Arial"/>
              </a:rPr>
              <a:t>We measured ourselves. The numbers are not flattering, but they are measurable, which means they are improvable.</a:t>
            </a:r>
          </a:p>
        </p:txBody>
      </p:sp>
      <p:sp>
        <p:nvSpPr>
          <p:cNvPr id="3" name="TextBox 2"/>
          <p:cNvSpPr txBox="1"/>
          <p:nvPr/>
        </p:nvSpPr>
        <p:spPr>
          <a:xfrm>
            <a:off x="548640" y="2258568"/>
            <a:ext cx="4572000" cy="201168"/>
          </a:xfrm>
          <a:prstGeom prst="rect">
            <a:avLst/>
          </a:prstGeom>
          <a:noFill/>
        </p:spPr>
        <p:txBody>
          <a:bodyPr wrap="square" lIns="0" rIns="0" tIns="0" bIns="0" anchor="t">
            <a:noAutofit/>
          </a:bodyPr>
          <a:lstStyle/>
          <a:p>
            <a:pPr algn="l">
              <a:lnSpc>
                <a:spcPct val="100000"/>
              </a:lnSpc>
              <a:spcBef>
                <a:spcPts val="0"/>
              </a:spcBef>
              <a:spcAft>
                <a:spcPts val="0"/>
              </a:spcAft>
            </a:pPr>
            <a:r>
              <a:rPr sz="1100" b="1" i="0">
                <a:solidFill>
                  <a:srgbClr val="8CD17A"/>
                </a:solidFill>
                <a:latin typeface="Arial"/>
                <a:ea typeface="Arial"/>
                <a:cs typeface="Arial"/>
              </a:rPr>
              <a:t>COLLABORATE</a:t>
            </a:r>
          </a:p>
        </p:txBody>
      </p:sp>
      <p:pic>
        <p:nvPicPr>
          <p:cNvPr id="4" name="Picture 3" descr="qr_dashboard.jpg"/>
          <p:cNvPicPr>
            <a:picLocks noChangeAspect="1"/>
          </p:cNvPicPr>
          <p:nvPr/>
        </p:nvPicPr>
        <p:blipFill>
          <a:blip r:embed="rId3"/>
          <a:stretch>
            <a:fillRect/>
          </a:stretch>
        </p:blipFill>
        <p:spPr>
          <a:xfrm>
            <a:off x="548640" y="2523744"/>
            <a:ext cx="786384" cy="786384"/>
          </a:xfrm>
          <a:prstGeom prst="rect">
            <a:avLst/>
          </a:prstGeom>
        </p:spPr>
      </p:pic>
      <p:sp>
        <p:nvSpPr>
          <p:cNvPr id="5" name="TextBox 4"/>
          <p:cNvSpPr txBox="1"/>
          <p:nvPr/>
        </p:nvSpPr>
        <p:spPr>
          <a:xfrm>
            <a:off x="1463040" y="2523744"/>
            <a:ext cx="4023360" cy="786384"/>
          </a:xfrm>
          <a:prstGeom prst="rect">
            <a:avLst/>
          </a:prstGeom>
          <a:noFill/>
        </p:spPr>
        <p:txBody>
          <a:bodyPr wrap="square" lIns="0" rIns="0" tIns="0" bIns="0" anchor="ctr">
            <a:noAutofit/>
          </a:bodyPr>
          <a:lstStyle/>
          <a:p>
            <a:pPr algn="l">
              <a:lnSpc>
                <a:spcPct val="100000"/>
              </a:lnSpc>
              <a:spcBef>
                <a:spcPts val="0"/>
              </a:spcBef>
              <a:spcAft>
                <a:spcPts val="200"/>
              </a:spcAft>
            </a:pPr>
            <a:r>
              <a:rPr sz="1200" b="1" i="0">
                <a:solidFill>
                  <a:srgbClr val="FFFFFF"/>
                </a:solidFill>
                <a:latin typeface="Arial"/>
                <a:ea typeface="Arial"/>
                <a:cs typeface="Arial"/>
              </a:rPr>
              <a:t>Stroke Open-Science Benchmark</a:t>
            </a:r>
          </a:p>
          <a:p>
            <a:pPr algn="l">
              <a:lnSpc>
                <a:spcPct val="100000"/>
              </a:lnSpc>
              <a:spcBef>
                <a:spcPts val="0"/>
              </a:spcBef>
              <a:spcAft>
                <a:spcPts val="200"/>
              </a:spcAft>
            </a:pPr>
            <a:r>
              <a:rPr sz="1100" b="0" i="0">
                <a:solidFill>
                  <a:srgbClr val="FFFFFF"/>
                </a:solidFill>
                <a:latin typeface="Arial"/>
                <a:ea typeface="Arial"/>
                <a:cs typeface="Arial"/>
              </a:rPr>
              <a:t>friseeb.github.io/stroke_open_science_outputs</a:t>
            </a:r>
          </a:p>
          <a:p>
            <a:pPr algn="l">
              <a:lnSpc>
                <a:spcPct val="100000"/>
              </a:lnSpc>
              <a:spcBef>
                <a:spcPts val="0"/>
              </a:spcBef>
              <a:spcAft>
                <a:spcPts val="0"/>
              </a:spcAft>
            </a:pPr>
            <a:r>
              <a:rPr sz="1050" b="0" i="0">
                <a:solidFill>
                  <a:srgbClr val="DCE6F5"/>
                </a:solidFill>
                <a:latin typeface="Arial"/>
                <a:ea typeface="Arial"/>
                <a:cs typeface="Arial"/>
              </a:rPr>
              <a:t>Explore it, challenge it, run it on your field</a:t>
            </a:r>
          </a:p>
        </p:txBody>
      </p:sp>
      <p:pic>
        <p:nvPicPr>
          <p:cNvPr id="6" name="Picture 5" descr="qr_repo.jpg"/>
          <p:cNvPicPr>
            <a:picLocks noChangeAspect="1"/>
          </p:cNvPicPr>
          <p:nvPr/>
        </p:nvPicPr>
        <p:blipFill>
          <a:blip r:embed="rId4"/>
          <a:stretch>
            <a:fillRect/>
          </a:stretch>
        </p:blipFill>
        <p:spPr>
          <a:xfrm>
            <a:off x="548640" y="3419856"/>
            <a:ext cx="786384" cy="786384"/>
          </a:xfrm>
          <a:prstGeom prst="rect">
            <a:avLst/>
          </a:prstGeom>
        </p:spPr>
      </p:pic>
      <p:sp>
        <p:nvSpPr>
          <p:cNvPr id="7" name="TextBox 6"/>
          <p:cNvSpPr txBox="1"/>
          <p:nvPr/>
        </p:nvSpPr>
        <p:spPr>
          <a:xfrm>
            <a:off x="1463040" y="3419856"/>
            <a:ext cx="4023360" cy="786384"/>
          </a:xfrm>
          <a:prstGeom prst="rect">
            <a:avLst/>
          </a:prstGeom>
          <a:noFill/>
        </p:spPr>
        <p:txBody>
          <a:bodyPr wrap="square" lIns="0" rIns="0" tIns="0" bIns="0" anchor="ctr">
            <a:noAutofit/>
          </a:bodyPr>
          <a:lstStyle/>
          <a:p>
            <a:pPr algn="l">
              <a:lnSpc>
                <a:spcPct val="100000"/>
              </a:lnSpc>
              <a:spcBef>
                <a:spcPts val="0"/>
              </a:spcBef>
              <a:spcAft>
                <a:spcPts val="200"/>
              </a:spcAft>
            </a:pPr>
            <a:r>
              <a:rPr sz="1200" b="1" i="0">
                <a:solidFill>
                  <a:srgbClr val="FFFFFF"/>
                </a:solidFill>
                <a:latin typeface="Arial"/>
                <a:ea typeface="Arial"/>
                <a:cs typeface="Arial"/>
              </a:rPr>
              <a:t>Code and data</a:t>
            </a:r>
          </a:p>
          <a:p>
            <a:pPr algn="l">
              <a:lnSpc>
                <a:spcPct val="100000"/>
              </a:lnSpc>
              <a:spcBef>
                <a:spcPts val="0"/>
              </a:spcBef>
              <a:spcAft>
                <a:spcPts val="200"/>
              </a:spcAft>
            </a:pPr>
            <a:r>
              <a:rPr sz="1100" b="0" i="0">
                <a:solidFill>
                  <a:srgbClr val="FFFFFF"/>
                </a:solidFill>
                <a:latin typeface="Arial"/>
                <a:ea typeface="Arial"/>
                <a:cs typeface="Arial"/>
              </a:rPr>
              <a:t>github.com/Friseeb/stroke_open_science</a:t>
            </a:r>
          </a:p>
          <a:p>
            <a:pPr algn="l">
              <a:lnSpc>
                <a:spcPct val="100000"/>
              </a:lnSpc>
              <a:spcBef>
                <a:spcPts val="0"/>
              </a:spcBef>
              <a:spcAft>
                <a:spcPts val="0"/>
              </a:spcAft>
            </a:pPr>
            <a:r>
              <a:rPr sz="1050" b="0" i="0">
                <a:solidFill>
                  <a:srgbClr val="DCE6F5"/>
                </a:solidFill>
                <a:latin typeface="Arial"/>
                <a:ea typeface="Arial"/>
                <a:cs typeface="Arial"/>
              </a:rPr>
              <a:t>Open source; the next run is January 2027</a:t>
            </a:r>
          </a:p>
        </p:txBody>
      </p:sp>
      <p:sp>
        <p:nvSpPr>
          <p:cNvPr id="8" name="TextBox 7"/>
          <p:cNvSpPr txBox="1"/>
          <p:nvPr/>
        </p:nvSpPr>
        <p:spPr>
          <a:xfrm>
            <a:off x="548640" y="4370832"/>
            <a:ext cx="4846320" cy="585216"/>
          </a:xfrm>
          <a:prstGeom prst="rect">
            <a:avLst/>
          </a:prstGeom>
          <a:noFill/>
        </p:spPr>
        <p:txBody>
          <a:bodyPr wrap="square" lIns="0" rIns="0" tIns="0" bIns="0" anchor="t">
            <a:noAutofit/>
          </a:bodyPr>
          <a:lstStyle/>
          <a:p>
            <a:pPr algn="l">
              <a:lnSpc>
                <a:spcPct val="100000"/>
              </a:lnSpc>
              <a:spcBef>
                <a:spcPts val="0"/>
              </a:spcBef>
              <a:spcAft>
                <a:spcPts val="200"/>
              </a:spcAft>
            </a:pPr>
            <a:r>
              <a:rPr sz="1200" b="1" i="0">
                <a:solidFill>
                  <a:srgbClr val="FFFFFF"/>
                </a:solidFill>
                <a:latin typeface="Arial"/>
                <a:ea typeface="Arial"/>
                <a:cs typeface="Arial"/>
              </a:rPr>
              <a:t>Sebastian Fridman · </a:t>
            </a:r>
            <a:r>
              <a:rPr sz="1200" b="1" i="0">
                <a:solidFill>
                  <a:srgbClr val="8CD17A"/>
                </a:solidFill>
                <a:latin typeface="Arial"/>
                <a:ea typeface="Arial"/>
                <a:cs typeface="Arial"/>
              </a:rPr>
              <a:t>sfridma@uwo.ca</a:t>
            </a:r>
          </a:p>
          <a:p>
            <a:pPr algn="l">
              <a:lnSpc>
                <a:spcPct val="100000"/>
              </a:lnSpc>
              <a:spcBef>
                <a:spcPts val="0"/>
              </a:spcBef>
              <a:spcAft>
                <a:spcPts val="200"/>
              </a:spcAft>
            </a:pPr>
            <a:r>
              <a:rPr sz="1050" b="0" i="0">
                <a:solidFill>
                  <a:srgbClr val="DCE6F5"/>
                </a:solidFill>
                <a:latin typeface="Arial"/>
                <a:ea typeface="Arial"/>
                <a:cs typeface="Arial"/>
              </a:rPr>
              <a:t>Western University · London Health Sciences Centre</a:t>
            </a:r>
          </a:p>
          <a:p>
            <a:pPr algn="l">
              <a:lnSpc>
                <a:spcPct val="100000"/>
              </a:lnSpc>
              <a:spcBef>
                <a:spcPts val="0"/>
              </a:spcBef>
              <a:spcAft>
                <a:spcPts val="0"/>
              </a:spcAft>
            </a:pPr>
            <a:r>
              <a:rPr sz="1050" b="0" i="0">
                <a:solidFill>
                  <a:srgbClr val="DCE6F5"/>
                </a:solidFill>
                <a:latin typeface="Arial"/>
                <a:ea typeface="Arial"/>
                <a:cs typeface="Arial"/>
              </a:rPr>
              <a:t>Write to join the task force or to audit your own field</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lderID xmlns="eb3f7de7-c935-4ca6-a12c-1f73773710ec" xsi:nil="true"/>
    <KenesDocumentTypeId xmlns="eb3f7de7-c935-4ca6-a12c-1f73773710ec" xsi:nil="true"/>
    <Confidential1 xmlns="eb3f7de7-c935-4ca6-a12c-1f73773710ec">false</Confidential1>
    <Final xmlns="eb3f7de7-c935-4ca6-a12c-1f73773710ec">false</Final>
    <_ip_UnifiedCompliancePolicyUIAction xmlns="http://schemas.microsoft.com/sharepoint/v3" xsi:nil="true"/>
    <lcf76f155ced4ddcb4097134ff3c332f xmlns="1c14aaab-0828-4cd2-9ca4-1807938f7b2f">
      <Terms xmlns="http://schemas.microsoft.com/office/infopath/2007/PartnerControls"/>
    </lcf76f155ced4ddcb4097134ff3c332f>
    <TaxCatchAll xmlns="eb3f7de7-c935-4ca6-a12c-1f73773710ec"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Kenes Document" ma:contentTypeID="0x01010037EA2DD516505C4D92B92F8677CFB68500BEE62B47A0604044B5F0266DF4D773BE" ma:contentTypeVersion="14" ma:contentTypeDescription="" ma:contentTypeScope="" ma:versionID="f330009d3d64ad65e401ddba6879b21d">
  <xsd:schema xmlns:xsd="http://www.w3.org/2001/XMLSchema" xmlns:xs="http://www.w3.org/2001/XMLSchema" xmlns:p="http://schemas.microsoft.com/office/2006/metadata/properties" xmlns:ns1="http://schemas.microsoft.com/sharepoint/v3" xmlns:ns2="eb3f7de7-c935-4ca6-a12c-1f73773710ec" xmlns:ns3="1c14aaab-0828-4cd2-9ca4-1807938f7b2f" targetNamespace="http://schemas.microsoft.com/office/2006/metadata/properties" ma:root="true" ma:fieldsID="dd50c4edf9878564f12732a0bae11ddc" ns1:_="" ns2:_="" ns3:_="">
    <xsd:import namespace="http://schemas.microsoft.com/sharepoint/v3"/>
    <xsd:import namespace="eb3f7de7-c935-4ca6-a12c-1f73773710ec"/>
    <xsd:import namespace="1c14aaab-0828-4cd2-9ca4-1807938f7b2f"/>
    <xsd:element name="properties">
      <xsd:complexType>
        <xsd:sequence>
          <xsd:element name="documentManagement">
            <xsd:complexType>
              <xsd:all>
                <xsd:element ref="ns2:FolderID" minOccurs="0"/>
                <xsd:element ref="ns2:KenesDocumentTypeId" minOccurs="0"/>
                <xsd:element ref="ns2:Confidential1" minOccurs="0"/>
                <xsd:element ref="ns2:Final" minOccurs="0"/>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1:_ip_UnifiedCompliancePolicyProperties" minOccurs="0"/>
                <xsd:element ref="ns1:_ip_UnifiedCompliancePolicyUIAction"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3f7de7-c935-4ca6-a12c-1f73773710ec" elementFormDefault="qualified">
    <xsd:import namespace="http://schemas.microsoft.com/office/2006/documentManagement/types"/>
    <xsd:import namespace="http://schemas.microsoft.com/office/infopath/2007/PartnerControls"/>
    <xsd:element name="FolderID" ma:index="2" nillable="true" ma:displayName="FolderID" ma:list="{62b5239b-3564-444d-88a9-03f6d13d411f}" ma:internalName="FolderID" ma:showField="Title" ma:web="eb3f7de7-c935-4ca6-a12c-1f73773710ec">
      <xsd:simpleType>
        <xsd:restriction base="dms:Lookup"/>
      </xsd:simpleType>
    </xsd:element>
    <xsd:element name="KenesDocumentTypeId" ma:index="3" nillable="true" ma:displayName="KenesDocumentTypeId" ma:list="{5ca2ab15-5c4e-45db-95e6-5cb4dd45d1b1}" ma:internalName="KenesDocumentTypeId" ma:showField="Title" ma:web="eb3f7de7-c935-4ca6-a12c-1f73773710ec">
      <xsd:simpleType>
        <xsd:restriction base="dms:Lookup"/>
      </xsd:simpleType>
    </xsd:element>
    <xsd:element name="Confidential1" ma:index="4" nillable="true" ma:displayName="Confidential" ma:default="0" ma:internalName="Confidential1">
      <xsd:simpleType>
        <xsd:restriction base="dms:Boolean"/>
      </xsd:simpleType>
    </xsd:element>
    <xsd:element name="Final" ma:index="5" nillable="true" ma:displayName="Final" ma:default="0" ma:internalName="Final">
      <xsd:simpleType>
        <xsd:restriction base="dms:Boolean"/>
      </xsd:simpleType>
    </xsd:element>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description="" ma:internalName="SharedWithDetails" ma:readOnly="true">
      <xsd:simpleType>
        <xsd:restriction base="dms:Note">
          <xsd:maxLength value="255"/>
        </xsd:restriction>
      </xsd:simpleType>
    </xsd:element>
    <xsd:element name="TaxCatchAll" ma:index="23" nillable="true" ma:displayName="Taxonomy Catch All Column" ma:hidden="true" ma:list="{7eb20398-0988-4e55-b57f-05d62d7b8281}" ma:internalName="TaxCatchAll" ma:showField="CatchAllData" ma:web="eb3f7de7-c935-4ca6-a12c-1f73773710ec">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c14aaab-0828-4cd2-9ca4-1807938f7b2f" elementFormDefault="qualified">
    <xsd:import namespace="http://schemas.microsoft.com/office/2006/documentManagement/types"/>
    <xsd:import namespace="http://schemas.microsoft.com/office/infopath/2007/PartnerControls"/>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20c72ca-3d5e-4053-bfc4-d5117e56c934" ma:termSetId="09814cd3-568e-fe90-9814-8d621ff8fb84" ma:anchorId="fba54fb3-c3e1-fe81-a776-ca4b69148c4d" ma:open="true" ma:isKeyword="false">
      <xsd:complexType>
        <xsd:sequence>
          <xsd:element ref="pc:Terms" minOccurs="0" maxOccurs="1"/>
        </xsd:sequence>
      </xsd:complexType>
    </xsd:element>
    <xsd:element name="MediaServiceOCR" ma:index="24" nillable="true" ma:displayName="Extracted Text" ma:internalName="MediaServiceOCR" ma:readOnly="true">
      <xsd:simpleType>
        <xsd:restriction base="dms:Note">
          <xsd:maxLength value="255"/>
        </xsd:restriction>
      </xsd:simpleType>
    </xsd:element>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7E687F-38DE-4D5E-B522-6D9148A0FD40}">
  <ds:schemaRefs>
    <ds:schemaRef ds:uri="http://schemas.microsoft.com/office/2006/metadata/properties"/>
    <ds:schemaRef ds:uri="http://schemas.microsoft.com/office/infopath/2007/PartnerControls"/>
    <ds:schemaRef ds:uri="http://schemas.microsoft.com/sharepoint/v3"/>
    <ds:schemaRef ds:uri="f41fa17a-99c4-4c5f-bcb4-a52bd907e64f"/>
    <ds:schemaRef ds:uri="eb3f7de7-c935-4ca6-a12c-1f73773710ec"/>
    <ds:schemaRef ds:uri="1c14aaab-0828-4cd2-9ca4-1807938f7b2f"/>
  </ds:schemaRefs>
</ds:datastoreItem>
</file>

<file path=customXml/itemProps2.xml><?xml version="1.0" encoding="utf-8"?>
<ds:datastoreItem xmlns:ds="http://schemas.openxmlformats.org/officeDocument/2006/customXml" ds:itemID="{E02D2F5B-B587-4325-A444-A9CDD5E120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3f7de7-c935-4ca6-a12c-1f73773710ec"/>
    <ds:schemaRef ds:uri="1c14aaab-0828-4cd2-9ca4-1807938f7b2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76E6AA8-327C-475A-988E-14B9EDF74D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21</TotalTime>
  <Words>3</Words>
  <Application>Microsoft Office PowerPoint</Application>
  <PresentationFormat>On-screen Show (16:9)</PresentationFormat>
  <Paragraphs>1</Paragraphs>
  <Slides>4</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DINOT</vt:lpstr>
      <vt:lpstr>Simple Light</vt:lpstr>
      <vt:lpstr>WRITE TITLE HERE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Dilyana Hristova</dc:creator>
  <cp:lastModifiedBy>Adam Bouchard</cp:lastModifiedBy>
  <cp:revision>4</cp:revision>
  <dcterms:modified xsi:type="dcterms:W3CDTF">2026-10-07T07:04:50Z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0x01010037EA2DD516505C4D92B92F8677CFB68500BEE62B47A0604044B5F0266DF4D773BE</vt:lpwstr>
  </property>
  <property fmtid="{D5CDD505-2E9C-101B-9397-08002B2CF9AE}" pid="3" name="MediaServiceImageTags">
    <vt:lpwstr/>
  </property>
</Properties>
</file>