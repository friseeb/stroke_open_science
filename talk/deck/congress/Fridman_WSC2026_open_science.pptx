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no agenda slide: I want to tell you how this project started, what it found, and what I think we should do with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by the congress as the second slide. Nothing to disclose; a second,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 seconds, first person. I came to stroke from imaging and neuroscience. There, a lesion study is built from open parts at every step: segmentation (MRIcron, ITK-SNAP, LINDA, nnU-Net; DeepISLES, an ensemble of the ISLES 2022 winners, was validated on 1,685 external scans and neuroradiologists preferred its masks to manual ones in a Turing-like test), normalisation that respects the lesion (cost-function masking, enantiomorphic normalisation, the SPM Clinical Toolbox, ANTs), lesion-symptom mapping (VLSM since Bates 2003; NiiStat, SVR-LSM, LESYMAP), disconnection (lesion network mapping, BCBtoolkit, the Lesion Quantification Toolkit) and sharing (BIDS, OpenNeuro with 1,913 public datasets today, NeuroVault). Most are BSD, GPL or Apache licensed; a few need MATLAB. The datasets are real: ATLAS v2.0 (1,271 MRIs, 955 public; raw data under a data use agreement), ISLES 2022 (250 of 400 public), the Aphasia Recovery Cohort and SOOP on OpenNeuro under CC0. The caveat on the footer is the bridge to the talk: open data did not bring open code by itself. Then the turn: when I moved to clinical stroke, the trial data and code were not there. [Optional, your call: one sentence on your own lesion-mapping study at ESOC 2026 (351 patients) and the open tools it used.] Sources: talk/evidence_intro.md.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constructs separate. Computational reproducibility reruns the same data and code. Replicability tests the finding in independently collected data. Statistical power describes study sensitivity. The four historical observations on this slide use different denominators and are not four estimates of one failure rate. National Academies of Sciences, Engineering, and Medicine. Reproducibility and Replicability in Science. 2019. https://doi.org/10.17226/25303. Forty-five seconds. These are the speaker’s former fields; say so. Four numbers, then why: small samples, flexible analyses, selective reporting. The next slide says what those fields agreed and where they are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seconds. Psychology did not fix itself: it measured itself, agreed on rules, and is still short of them. The newest and largest test, SCORE (Nature, April 2026): 151 of 274 claims (55%) from 164 papers in 54 journals replicated, median effect r = 0.25 down to 0.10, and authors made data available for only 24% of 600 papers (Miske 2026). Many Labs 2: 54% of 28 findings. In 2022 only 7% of psychology articles were preregistered and 14% shared raw data (Hardwicke 2024); the authors' words: transparency 'continues to be widely neglected'. Registered Reports work where they are used: 44% positive results vs 96% (Scheel 2021), rated higher on rigour and no lower on novelty (Soderberg 2021). The best-known evidence that rigour alone fixes replication, Protzko 2023 (86%), was retracted in September 2024 because its preregistration claims were false. Neuroimaging: 70 teams analysed one fMRI dataset and no two pipelines matched (NARPS, Nature 2020); cluster inference gave up to 70% false positives (Eklund 2016); brain-wide associations need thousands of participants (Marek 2022), still debated. Neuropsychology: only 1 of 62 Cortex Registered Reports used patients; about half of 47 neuropsychologists named field-specific barriers, mostly sensitive clinical data (Binney 2025); PECANS (2025) is the field's own consensus. Closest to this room: lesion network mapping, used in more than 200 studies, was challenged in Nature Neuroscience in January 2026 with public data only (van den Heuvel 2026); the replies are in the same journal. That debate is possible because the data were open. Lesion mapping itself: maps shift by about 16 mm with vascular anatomy (Mah 2014), and fewer than 40% of N = 30 resamples reach significance (Lorca-Puls 2018). Sources: talk/evidence_intro.md.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results across clinical trials do not establish replication failure. Populations, interventions, endpoints and analysis choices differ. The benchmark measures transparency and access, not the proportion of stroke findings that replicate. If asked: in the animal work one in seven experiments was never published (Sena 2010). One minute, three examples the room knows. Do not editorialise on any single trial; the point is heterogeneity that cannot be resolved from the papers alone. Confirm that the embolisation trio is the example you meant.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Implementation science applied to research practice itself: you cannot improve what you do not measure.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seconds. The method is the credibility. One published run, 13 October 2026: 231,580 OpenAlex records from six title terms, 2015 to 2026, of which 140,281 are stroke journal articles and reviews with a DOI from 2015 to 2025. The full-text audit reads up to 1,500 open-access articles per year in each field through Europe PMC, 16,362 for stroke. Open-access full text only, so those rates run high, and a pooled rate gives every year the same weight, so I lead with single years and say "over the decade" when I pool. Everything that follows is on the dashboard, where the selection can be changed by anyone. On the card, neuroscience leads on code, GitHub, deposit and preprints, partly because its title term "neural", which brings in about 45% of that corpus, also catches machine-learning papers. If asked: neurology 129,644, cardiology 312,703, neuroscience 509,973 articles.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good-news slide. Let it land, then turn it on the next one. Stroke sits between cardiology and neurology every year through 2024; in the incomplete 2025 it is just above cardiology (75% vs 74%). The peak so far is 77% in 2023. Do not rank neuroscience: about 45% of it comes only from the title term “neural”, much of it machine learning; without those papers it is 67% open access. It is above stroke until 2019 and below neurology in 2024 and 2025.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this room: diamond is a long tail of about 4,800 free journals. Cureus is the largest (1,187 articles), then Journal of Physical Therapy Science (487) and Journal of Stroke (334). About a quarter of Korean (27%) and Japanese (25%) first-author articles are diamond; Chinese 5%. Gold plus hybrid is about half of the open articles over the decade (52% with 2025, 49% through 2024) and the majority every year since 2021: 35% in 2015, 53% in 2021, 59% in 2024. One sentence on APCs and the equity angle; the equity slide comes later. The growth figures stop at 2024 because 2025 is still filling in. Green fills in last, as repository copies appear after embargoes end, but it was already down to 4% in 2024, so its fall does not rest on the partial year.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caveat before anyone says it for you: lower bounds from abstracts. Preprints did move, from under 0.2% before 2019 to 2.7% in 2024, but only as far as OpenAlex links them (it merged many preprint records into their articles in early October), and about half are on Research Square or SSRN, mostly publisher routes at submission (In Review, Lancet and Elsevier). GitHub in full text: 2.5% of the 1,500 audited 2024 articles, 1.3% pooled over the decade with every year weighted the same; the code chart counts GitHub or code links in abstracts, and the high-impact line also counts Zenodo and OSF links. Registration nearly doubled, 2.8% to 5.3%, from a low base: stroke 4.6% over the decade, cardiology 4.1%, neurology 2.4%, neuroscience 1.0%; neuroscience's term "neural" pulls in machine-learning papers, and without them it is still only about 1.5%. The neuroscience preprint line also reflects "neural": machine-learning papers, many on arXiv. Then the pivot: so we read the full 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photograph. Three numbers, slowly. Against the other fields, 2022 to 2025: stroke says “on request” more than any other field (30%; neurology 27%, neuroscience 26%, cardiology 24%), writes statements as often as any of them (69%; neuroscience 72%, neurology 64%, cardiology 61%), and deposits or names a public dataset at the level of the other clinical fields (6.9%; cardiology 7.3%, neurology 5.6%), well under neuroscience (17.5%). Neuroscience caveat: its title term “neural” also catches machine-learning papers; without them neuroscience writes statements in 68% (stroke 69%) and deposits 13.6%. If asked for the decade: “on request” 19% and deposit or public source 4.2%, pooled over yearly samples of up to 1,500, so every year weighs the same; they are not corpus rates. Full text versus abstract for the same audited articles, 2015 to 2025 pooled the same way: GitHub in 1.3% of full texts vs code, OSF or Zenodo links in 0.07% of abstracts; trial registration 14.1% vs 7.5%. If asked about top journals: 0.6% of top-journal RCTs that declared sharing had downloadable data (Danchev 2021).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Seoul is a high-income audience with LMIC trialists in the room. Open access rises as income falls: 67% high, 70% upper-middle, 75% lower-middle (88% low, only 400 articles, do not lean on it). Upper-middle-income authors pay an APC for 43%. The data and code that lower-income teams could build on are not there, and their own work is the least likely to be shared: a data statement in 23% of lower-middle-income full texts (high 43%, upper-middle 57%), from only 609 audited articles. These full-text rates pool 2015-2025 over the audit's sample of up to 1,500 open-access full texts a year, so they average equal yearly samples, not the corpus. The gap holds in 2022-2025 alone: a statement in 37% of lower-middle vs 65% high and 78% upper-middle; deposit or public source 3.0% vs 6.2% and 8.7%. That is the inequality open science can close. Korea: 5,490 first-author articles, 75% open access, none with a data-repository link in the abstract or metadata; 1.3% of 1,293 audited full texts deposit or name a public source.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analysis merges Charité and its Center for Stroke Research before calculating the index: 133 audited articles, 4.36 times the stroke average. Oxford has 177 audited articles and Hamburg-Eppendorf 109. This descriptive index averages deposit/public-source, GitHub and registration rates relative to stroke-wide audited rates. It measures recorded practices, with small counts and publication-year composition affecting the order. It is not a validated measure of research quality. The chart shows the top 15 among the 60 institutions with most audited articles. Source: talk/outputs/tables/stroke_commitment_institutions.csv.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Four numbers, then the sentence in serif. No more studies here; the evidence brief has them if asked.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fifteen. Invite the WSO leadership in the room to take the task force home. Say which items cost nothing and which need money.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then stop. Leave the links and the QR codes up during questions. Thank the session chairs.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Figure3" Type="http://schemas.openxmlformats.org/officeDocument/2006/relationships/image" Target="../media/wsc_fig_f30e9ee86a020bd0.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8.xml"/><Relationship Id="rIdFigure7" Type="http://schemas.openxmlformats.org/officeDocument/2006/relationships/image" Target="../media/wsc_fig_d7f188b76ba4eeb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9.xml"/><Relationship Id="rIdFigure2" Type="http://schemas.openxmlformats.org/officeDocument/2006/relationships/image" Target="../media/wsc_fig_c0db8fa594a9366c.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0.xml"/><Relationship Id="rIdFigure3" Type="http://schemas.openxmlformats.org/officeDocument/2006/relationships/image" Target="../media/wsc_fig_0f679f8d09def35e.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5" Type="http://schemas.openxmlformats.org/officeDocument/2006/relationships/notesSlide" Target="../notesSlides/notesSlide11.xml"/><Relationship Id="rIdFigure15" Type="http://schemas.openxmlformats.org/officeDocument/2006/relationships/image" Target="../media/wsc_fig_18adee5c569037c4.jpg"/><Relationship Id="rIdFigure16" Type="http://schemas.openxmlformats.org/officeDocument/2006/relationships/image" Target="../media/wsc_fig_d74461d09b0e2122.jpg"/><Relationship Id="rIdFigure17" Type="http://schemas.openxmlformats.org/officeDocument/2006/relationships/image" Target="../media/wsc_fig_3d6881ffb0810b2a.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2.xml"/><Relationship Id="rIdFigure12" Type="http://schemas.openxmlformats.org/officeDocument/2006/relationships/image" Target="../media/wsc_fig_a3b0829eac0fca5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4" Type="http://schemas.openxmlformats.org/officeDocument/2006/relationships/notesSlide" Target="../notesSlides/notesSlide13.xml"/><Relationship Id="rIdFigure2" Type="http://schemas.openxmlformats.org/officeDocument/2006/relationships/image" Target="../media/wsc_fig_5f22bcc8c077f17c.jpg"/><Relationship Id="rIdFigure3" Type="http://schemas.openxmlformats.org/officeDocument/2006/relationships/image" Target="../media/wsc_fig_42852f21d7063be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14.xml"/><Relationship Id="rIdFigure2" Type="http://schemas.openxmlformats.org/officeDocument/2006/relationships/image" Target="../media/wsc_fig_90925e517e156db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4" Type="http://schemas.openxmlformats.org/officeDocument/2006/relationships/notesSlide" Target="../notesSlides/notesSlide17.xml"/><Relationship Id="rIdFigure5" Type="http://schemas.openxmlformats.org/officeDocument/2006/relationships/image" Target="../media/wsc_fig_de8475f340d35b33.jpg"/><Relationship Id="rIdFigure6" Type="http://schemas.openxmlformats.org/officeDocument/2006/relationships/image" Target="../media/wsc_fig_813997f2f65ca2b5.jpg"/></Relationships>
</file>

<file path=ppt/slides/slide1.xml><?xml version="1.0" encoding="utf-8"?>
<p:sld xmlns:a="http://schemas.openxmlformats.org/drawingml/2006/main" xmlns:p="http://schemas.openxmlformats.org/presentationml/2006/main" xmlns:r="http://schemas.openxmlformats.org/officeDocument/2006/relationships">
  <p:cSld name="cover">
    <p:bg>
      <p:bgPr>
        <a:solidFill>
          <a:srgbClr val="141414"/>
        </a:solidFill>
        <a:effectLst/>
      </p:bgPr>
    </p:bg>
    <p:spTree>
      <p:nvGrpSpPr>
        <p:cNvPr id="1" name=""/>
        <p:cNvGrpSpPr/>
        <p:nvPr/>
      </p:nvGrpSpPr>
      <p:grpSpPr/>
      <p:sp>
        <p:nvSpPr>
          <p:cNvPr id="2" name="Data mark 2"/>
          <p:cNvSpPr txBox="0"/>
          <p:nvPr/>
        </p:nvSpPr>
        <p:spPr>
          <a:xfrm>
            <a:off x="8467725" y="4314825"/>
            <a:ext cx="66675" cy="66675"/>
          </a:xfrm>
          <a:prstGeom prst="rect">
            <a:avLst/>
          </a:prstGeom>
          <a:solidFill>
            <a:srgbClr val="E8475B"/>
          </a:solidFill>
          <a:ln>
            <a:noFill/>
          </a:ln>
        </p:spPr>
      </p:sp>
      <p:pic>
        <p:nvPicPr>
          <p:cNvPr id="3" name="Illustration 3" descr="World Stroke Congress 2026, Seoul, 21–23 October"/>
          <p:cNvPicPr>
            <a:picLocks noChangeAspect="1"/>
          </p:cNvPicPr>
          <p:nvPr/>
        </p:nvPicPr>
        <p:blipFill>
          <a:blip r:embed="rIdFigure3"/>
          <a:stretch>
            <a:fillRect/>
          </a:stretch>
        </p:blipFill>
        <p:spPr>
          <a:xfrm>
            <a:off x="609823" y="266700"/>
            <a:ext cx="7924354" cy="792435"/>
          </a:xfrm>
          <a:prstGeom prst="rect">
            <a:avLst/>
          </a:prstGeom>
        </p:spPr>
      </p:pic>
      <p:sp>
        <p:nvSpPr>
          <p:cNvPr id="4" name="Text 4"/>
          <p:cNvSpPr txBox="1"/>
          <p:nvPr/>
        </p:nvSpPr>
        <p:spPr>
          <a:xfrm>
            <a:off x="609600" y="1570658"/>
            <a:ext cx="7962900" cy="1177230"/>
          </a:xfrm>
          <a:prstGeom prst="rect">
            <a:avLst/>
          </a:prstGeom>
          <a:noFill/>
          <a:ln>
            <a:noFill/>
          </a:ln>
        </p:spPr>
        <p:txBody>
          <a:bodyPr wrap="square" lIns="0" rIns="0" tIns="0" bIns="0" anchor="t"/>
          <a:lstStyle/>
          <a:p>
            <a:pPr algn="l">
              <a:lnSpc>
                <a:spcPts val="4560"/>
              </a:lnSpc>
              <a:spcBef>
                <a:spcPts val="0"/>
              </a:spcBef>
              <a:spcAft>
                <a:spcPts val="0"/>
              </a:spcAft>
              <a:buNone/>
            </a:pPr>
            <a:r>
              <a:rPr lang="en-US" sz="4800" b="0" i="0" spc="-225">
                <a:solidFill>
                  <a:srgbClr val="F0F0EC"/>
                </a:solidFill>
                <a:latin typeface="Instrument Sans Medium"/>
                <a:ea typeface="Instrument Sans Medium"/>
                <a:cs typeface="Instrument Sans Medium"/>
              </a:rPr>
              <a:t xml:space="preserve">Open science</a:t>
            </a:r>
            <a:br/>
            <a:r>
              <a:rPr lang="en-US" sz="4800" b="0" i="0" spc="-225">
                <a:solidFill>
                  <a:srgbClr val="F0F0EC"/>
                </a:solidFill>
                <a:latin typeface="Instrument Sans Medium"/>
                <a:ea typeface="Instrument Sans Medium"/>
                <a:cs typeface="Instrument Sans Medium"/>
              </a:rPr>
              <a:t xml:space="preserve">in stroke research</a:t>
            </a:r>
            <a:endParaRPr lang="en-US"/>
          </a:p>
        </p:txBody>
      </p:sp>
      <p:sp>
        <p:nvSpPr>
          <p:cNvPr id="5" name="Text 5"/>
          <p:cNvSpPr txBox="1"/>
          <p:nvPr/>
        </p:nvSpPr>
        <p:spPr>
          <a:xfrm>
            <a:off x="609600" y="2919338"/>
            <a:ext cx="6229350" cy="588615"/>
          </a:xfrm>
          <a:prstGeom prst="rect">
            <a:avLst/>
          </a:prstGeom>
          <a:noFill/>
          <a:ln>
            <a:noFill/>
          </a:ln>
        </p:spPr>
        <p:txBody>
          <a:bodyPr wrap="square" lIns="0" rIns="0" tIns="0" bIns="0" anchor="t"/>
          <a:lstStyle/>
          <a:p>
            <a:pPr algn="l">
              <a:lnSpc>
                <a:spcPts val="2242"/>
              </a:lnSpc>
              <a:spcBef>
                <a:spcPts val="0"/>
              </a:spcBef>
              <a:spcAft>
                <a:spcPts val="0"/>
              </a:spcAft>
              <a:buNone/>
            </a:pPr>
            <a:r>
              <a:rPr lang="en-US" sz="1950" b="0" i="0" spc="0">
                <a:solidFill>
                  <a:srgbClr val="C6C6C0"/>
                </a:solidFill>
                <a:latin typeface="Instrument Serif"/>
                <a:ea typeface="Instrument Serif"/>
                <a:cs typeface="Instrument Serif"/>
              </a:rPr>
              <a:t xml:space="preserve">Measuring reproducibility and transparency, and what to do with the numbers</a:t>
            </a:r>
            <a:endParaRPr lang="en-US"/>
          </a:p>
        </p:txBody>
      </p:sp>
      <p:sp>
        <p:nvSpPr>
          <p:cNvPr id="6" name="Text 6"/>
          <p:cNvSpPr txBox="1"/>
          <p:nvPr/>
        </p:nvSpPr>
        <p:spPr>
          <a:xfrm>
            <a:off x="609600" y="4000500"/>
            <a:ext cx="3475509" cy="219075"/>
          </a:xfrm>
          <a:prstGeom prst="rect">
            <a:avLst/>
          </a:prstGeom>
          <a:noFill/>
          <a:ln>
            <a:noFill/>
          </a:ln>
        </p:spPr>
        <p:txBody>
          <a:bodyPr wrap="square" lIns="0" rIns="0" tIns="0" bIns="0" anchor="t"/>
          <a:lstStyle/>
          <a:p>
            <a:pPr algn="l">
              <a:lnSpc>
                <a:spcPts val="1466"/>
              </a:lnSpc>
              <a:spcBef>
                <a:spcPts val="0"/>
              </a:spcBef>
              <a:spcAft>
                <a:spcPts val="0"/>
              </a:spcAft>
              <a:buNone/>
            </a:pPr>
            <a:r>
              <a:rPr lang="en-US" sz="1275" b="0" i="0" spc="0">
                <a:solidFill>
                  <a:srgbClr val="F0F0EC"/>
                </a:solidFill>
                <a:latin typeface="Instrument Sans Medium"/>
                <a:ea typeface="Instrument Sans Medium"/>
                <a:cs typeface="Instrument Sans Medium"/>
              </a:rPr>
              <a:t xml:space="preserve">Sebastian Fridman, MD</a:t>
            </a:r>
            <a:endParaRPr lang="en-US"/>
          </a:p>
        </p:txBody>
      </p:sp>
      <p:sp>
        <p:nvSpPr>
          <p:cNvPr id="7" name="Text 7"/>
          <p:cNvSpPr txBox="1"/>
          <p:nvPr/>
        </p:nvSpPr>
        <p:spPr>
          <a:xfrm>
            <a:off x="609600" y="4229100"/>
            <a:ext cx="3475509" cy="171450"/>
          </a:xfrm>
          <a:prstGeom prst="rect">
            <a:avLst/>
          </a:prstGeom>
          <a:noFill/>
          <a:ln>
            <a:noFill/>
          </a:ln>
        </p:spPr>
        <p:txBody>
          <a:bodyPr wrap="square" lIns="0" rIns="0" tIns="0" bIns="0" anchor="t"/>
          <a:lstStyle/>
          <a:p>
            <a:pPr algn="l">
              <a:lnSpc>
                <a:spcPts val="1121"/>
              </a:lnSpc>
              <a:spcBef>
                <a:spcPts val="0"/>
              </a:spcBef>
              <a:spcAft>
                <a:spcPts val="0"/>
              </a:spcAft>
              <a:buNone/>
            </a:pPr>
            <a:r>
              <a:rPr lang="en-US" sz="975" b="0" i="0" spc="0">
                <a:solidFill>
                  <a:srgbClr val="C6C6C0"/>
                </a:solidFill>
                <a:latin typeface="Instrument Sans"/>
                <a:ea typeface="Instrument Sans"/>
                <a:cs typeface="Instrument Sans"/>
              </a:rPr>
              <a:t xml:space="preserve">Western University · London Health Sciences Centre · Canada</a:t>
            </a:r>
            <a:endParaRPr lang="en-US"/>
          </a:p>
        </p:txBody>
      </p:sp>
      <p:sp>
        <p:nvSpPr>
          <p:cNvPr id="8" name="Text 8"/>
          <p:cNvSpPr txBox="1"/>
          <p:nvPr/>
        </p:nvSpPr>
        <p:spPr>
          <a:xfrm>
            <a:off x="609600" y="4695825"/>
            <a:ext cx="79629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C6C6C0"/>
                </a:solidFill>
                <a:latin typeface="Instrument Sans"/>
                <a:ea typeface="Instrument Sans"/>
                <a:cs typeface="Instrument Sans"/>
              </a:rPr>
              <a:t xml:space="preserve">Thursday 22 October 2026 · 15:45 · Conference Room 202-203</a:t>
            </a:r>
            <a:endParaRPr lang="en-US"/>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losure">
    <p:bg>
      <p:bgPr>
        <a:solidFill>
          <a:srgbClr val="F1F1EF"/>
        </a:solidFill>
        <a:effectLst/>
      </p:bgPr>
    </p:bg>
    <p:spTree>
      <p:nvGrpSpPr>
        <p:cNvPr id="1" name=""/>
        <p:cNvGrpSpPr/>
        <p:nvPr/>
      </p:nvGrpSpPr>
      <p:grpSpPr/>
      <p:sp>
        <p:nvSpPr>
          <p:cNvPr id="2" name="Rule 2"/>
          <p:cNvSpPr txBox="0"/>
          <p:nvPr/>
        </p:nvSpPr>
        <p:spPr>
          <a:xfrm>
            <a:off x="609600" y="1434033"/>
            <a:ext cx="4667250" cy="4762"/>
          </a:xfrm>
          <a:prstGeom prst="rect">
            <a:avLst/>
          </a:prstGeom>
          <a:solidFill>
            <a:srgbClr val="C6C6C1"/>
          </a:solidFill>
          <a:ln>
            <a:noFill/>
          </a:ln>
        </p:spPr>
      </p:sp>
      <p:sp>
        <p:nvSpPr>
          <p:cNvPr id="3" name="Rule 3"/>
          <p:cNvSpPr txBox="0"/>
          <p:nvPr/>
        </p:nvSpPr>
        <p:spPr>
          <a:xfrm>
            <a:off x="609600" y="1524521"/>
            <a:ext cx="209550" cy="9525"/>
          </a:xfrm>
          <a:prstGeom prst="rect">
            <a:avLst/>
          </a:prstGeom>
          <a:solidFill>
            <a:srgbClr val="141414"/>
          </a:solidFill>
          <a:ln>
            <a:noFill/>
          </a:ln>
        </p:spPr>
      </p:sp>
      <p:sp>
        <p:nvSpPr>
          <p:cNvPr id="4" name="Rule 4"/>
          <p:cNvSpPr txBox="0"/>
          <p:nvPr/>
        </p:nvSpPr>
        <p:spPr>
          <a:xfrm>
            <a:off x="809625" y="1524521"/>
            <a:ext cx="9525" cy="209550"/>
          </a:xfrm>
          <a:prstGeom prst="rect">
            <a:avLst/>
          </a:prstGeom>
          <a:solidFill>
            <a:srgbClr val="141414"/>
          </a:solidFill>
          <a:ln>
            <a:noFill/>
          </a:ln>
        </p:spPr>
      </p:sp>
      <p:sp>
        <p:nvSpPr>
          <p:cNvPr id="5" name="Rule 5"/>
          <p:cNvSpPr txBox="0"/>
          <p:nvPr/>
        </p:nvSpPr>
        <p:spPr>
          <a:xfrm>
            <a:off x="609600" y="1724546"/>
            <a:ext cx="209550" cy="9525"/>
          </a:xfrm>
          <a:prstGeom prst="rect">
            <a:avLst/>
          </a:prstGeom>
          <a:solidFill>
            <a:srgbClr val="141414"/>
          </a:solidFill>
          <a:ln>
            <a:noFill/>
          </a:ln>
        </p:spPr>
      </p:sp>
      <p:sp>
        <p:nvSpPr>
          <p:cNvPr id="6" name="Rule 6"/>
          <p:cNvSpPr txBox="0"/>
          <p:nvPr/>
        </p:nvSpPr>
        <p:spPr>
          <a:xfrm>
            <a:off x="609600" y="1524521"/>
            <a:ext cx="9525" cy="209550"/>
          </a:xfrm>
          <a:prstGeom prst="rect">
            <a:avLst/>
          </a:prstGeom>
          <a:solidFill>
            <a:srgbClr val="141414"/>
          </a:solidFill>
          <a:ln>
            <a:noFill/>
          </a:ln>
        </p:spPr>
      </p:sp>
      <p:sp>
        <p:nvSpPr>
          <p:cNvPr id="7" name="Rule 7"/>
          <p:cNvSpPr txBox="0"/>
          <p:nvPr/>
        </p:nvSpPr>
        <p:spPr>
          <a:xfrm>
            <a:off x="609600" y="1819796"/>
            <a:ext cx="4667250" cy="4762"/>
          </a:xfrm>
          <a:prstGeom prst="rect">
            <a:avLst/>
          </a:prstGeom>
          <a:solidFill>
            <a:srgbClr val="C6C6C1"/>
          </a:solidFill>
          <a:ln>
            <a:noFill/>
          </a:ln>
        </p:spPr>
      </p:sp>
      <p:sp>
        <p:nvSpPr>
          <p:cNvPr id="8" name="Rule 8"/>
          <p:cNvSpPr txBox="0"/>
          <p:nvPr/>
        </p:nvSpPr>
        <p:spPr>
          <a:xfrm>
            <a:off x="609600" y="2205558"/>
            <a:ext cx="4667250" cy="4762"/>
          </a:xfrm>
          <a:prstGeom prst="rect">
            <a:avLst/>
          </a:prstGeom>
          <a:solidFill>
            <a:srgbClr val="C6C6C1"/>
          </a:solidFill>
          <a:ln>
            <a:noFill/>
          </a:ln>
        </p:spPr>
      </p:sp>
      <p:sp>
        <p:nvSpPr>
          <p:cNvPr id="9" name="Rule 9"/>
          <p:cNvSpPr txBox="0"/>
          <p:nvPr/>
        </p:nvSpPr>
        <p:spPr>
          <a:xfrm>
            <a:off x="609600" y="1910283"/>
            <a:ext cx="209550" cy="9525"/>
          </a:xfrm>
          <a:prstGeom prst="rect">
            <a:avLst/>
          </a:prstGeom>
          <a:solidFill>
            <a:srgbClr val="141414"/>
          </a:solidFill>
          <a:ln>
            <a:noFill/>
          </a:ln>
        </p:spPr>
      </p:sp>
      <p:sp>
        <p:nvSpPr>
          <p:cNvPr id="10" name="Rule 10"/>
          <p:cNvSpPr txBox="0"/>
          <p:nvPr/>
        </p:nvSpPr>
        <p:spPr>
          <a:xfrm>
            <a:off x="809625" y="1910283"/>
            <a:ext cx="9525" cy="209550"/>
          </a:xfrm>
          <a:prstGeom prst="rect">
            <a:avLst/>
          </a:prstGeom>
          <a:solidFill>
            <a:srgbClr val="141414"/>
          </a:solidFill>
          <a:ln>
            <a:noFill/>
          </a:ln>
        </p:spPr>
      </p:sp>
      <p:sp>
        <p:nvSpPr>
          <p:cNvPr id="11" name="Rule 11"/>
          <p:cNvSpPr txBox="0"/>
          <p:nvPr/>
        </p:nvSpPr>
        <p:spPr>
          <a:xfrm>
            <a:off x="609600" y="2110308"/>
            <a:ext cx="209550" cy="9525"/>
          </a:xfrm>
          <a:prstGeom prst="rect">
            <a:avLst/>
          </a:prstGeom>
          <a:solidFill>
            <a:srgbClr val="141414"/>
          </a:solidFill>
          <a:ln>
            <a:noFill/>
          </a:ln>
        </p:spPr>
      </p:sp>
      <p:sp>
        <p:nvSpPr>
          <p:cNvPr id="12" name="Rule 12"/>
          <p:cNvSpPr txBox="0"/>
          <p:nvPr/>
        </p:nvSpPr>
        <p:spPr>
          <a:xfrm>
            <a:off x="609600" y="1910283"/>
            <a:ext cx="9525" cy="209550"/>
          </a:xfrm>
          <a:prstGeom prst="rect">
            <a:avLst/>
          </a:prstGeom>
          <a:solidFill>
            <a:srgbClr val="141414"/>
          </a:solidFill>
          <a:ln>
            <a:noFill/>
          </a:ln>
        </p:spPr>
      </p:sp>
      <p:sp>
        <p:nvSpPr>
          <p:cNvPr id="13" name="Rule 13"/>
          <p:cNvSpPr txBox="0"/>
          <p:nvPr/>
        </p:nvSpPr>
        <p:spPr>
          <a:xfrm>
            <a:off x="609600" y="2722290"/>
            <a:ext cx="785440" cy="4762"/>
          </a:xfrm>
          <a:prstGeom prst="rect">
            <a:avLst/>
          </a:prstGeom>
          <a:solidFill>
            <a:srgbClr val="141414"/>
          </a:solidFill>
          <a:ln>
            <a:noFill/>
          </a:ln>
        </p:spPr>
      </p:sp>
      <p:sp>
        <p:nvSpPr>
          <p:cNvPr id="14" name="Rule 14"/>
          <p:cNvSpPr txBox="0"/>
          <p:nvPr/>
        </p:nvSpPr>
        <p:spPr>
          <a:xfrm>
            <a:off x="1395040" y="2722290"/>
            <a:ext cx="955253" cy="4762"/>
          </a:xfrm>
          <a:prstGeom prst="rect">
            <a:avLst/>
          </a:prstGeom>
          <a:solidFill>
            <a:srgbClr val="141414"/>
          </a:solidFill>
          <a:ln>
            <a:noFill/>
          </a:ln>
        </p:spPr>
      </p:sp>
      <p:sp>
        <p:nvSpPr>
          <p:cNvPr id="15" name="Rule 15"/>
          <p:cNvSpPr txBox="0"/>
          <p:nvPr/>
        </p:nvSpPr>
        <p:spPr>
          <a:xfrm>
            <a:off x="2350294" y="2722290"/>
            <a:ext cx="1179463" cy="4762"/>
          </a:xfrm>
          <a:prstGeom prst="rect">
            <a:avLst/>
          </a:prstGeom>
          <a:solidFill>
            <a:srgbClr val="141414"/>
          </a:solidFill>
          <a:ln>
            <a:noFill/>
          </a:ln>
        </p:spPr>
      </p:sp>
      <p:sp>
        <p:nvSpPr>
          <p:cNvPr id="16" name="Rule 16"/>
          <p:cNvSpPr txBox="0"/>
          <p:nvPr/>
        </p:nvSpPr>
        <p:spPr>
          <a:xfrm>
            <a:off x="3529757" y="2722290"/>
            <a:ext cx="792138" cy="4762"/>
          </a:xfrm>
          <a:prstGeom prst="rect">
            <a:avLst/>
          </a:prstGeom>
          <a:solidFill>
            <a:srgbClr val="141414"/>
          </a:solidFill>
          <a:ln>
            <a:noFill/>
          </a:ln>
        </p:spPr>
      </p:sp>
      <p:sp>
        <p:nvSpPr>
          <p:cNvPr id="17" name="Rule 17"/>
          <p:cNvSpPr txBox="0"/>
          <p:nvPr/>
        </p:nvSpPr>
        <p:spPr>
          <a:xfrm>
            <a:off x="4321894" y="2722290"/>
            <a:ext cx="818183" cy="4762"/>
          </a:xfrm>
          <a:prstGeom prst="rect">
            <a:avLst/>
          </a:prstGeom>
          <a:solidFill>
            <a:srgbClr val="141414"/>
          </a:solidFill>
          <a:ln>
            <a:noFill/>
          </a:ln>
        </p:spPr>
      </p:sp>
      <p:sp>
        <p:nvSpPr>
          <p:cNvPr id="18" name="Rule 18"/>
          <p:cNvSpPr txBox="0"/>
          <p:nvPr/>
        </p:nvSpPr>
        <p:spPr>
          <a:xfrm>
            <a:off x="5140077" y="2722290"/>
            <a:ext cx="670694" cy="4762"/>
          </a:xfrm>
          <a:prstGeom prst="rect">
            <a:avLst/>
          </a:prstGeom>
          <a:solidFill>
            <a:srgbClr val="141414"/>
          </a:solidFill>
          <a:ln>
            <a:noFill/>
          </a:ln>
        </p:spPr>
      </p:sp>
      <p:sp>
        <p:nvSpPr>
          <p:cNvPr id="19" name="Rule 19"/>
          <p:cNvSpPr txBox="0"/>
          <p:nvPr/>
        </p:nvSpPr>
        <p:spPr>
          <a:xfrm>
            <a:off x="5810771" y="2722290"/>
            <a:ext cx="1175370" cy="4762"/>
          </a:xfrm>
          <a:prstGeom prst="rect">
            <a:avLst/>
          </a:prstGeom>
          <a:solidFill>
            <a:srgbClr val="141414"/>
          </a:solidFill>
          <a:ln>
            <a:noFill/>
          </a:ln>
        </p:spPr>
      </p:sp>
      <p:sp>
        <p:nvSpPr>
          <p:cNvPr id="20" name="Rule 20"/>
          <p:cNvSpPr txBox="0"/>
          <p:nvPr/>
        </p:nvSpPr>
        <p:spPr>
          <a:xfrm>
            <a:off x="6986141" y="2722290"/>
            <a:ext cx="608558" cy="4762"/>
          </a:xfrm>
          <a:prstGeom prst="rect">
            <a:avLst/>
          </a:prstGeom>
          <a:solidFill>
            <a:srgbClr val="141414"/>
          </a:solidFill>
          <a:ln>
            <a:noFill/>
          </a:ln>
        </p:spPr>
      </p:sp>
      <p:sp>
        <p:nvSpPr>
          <p:cNvPr id="21" name="Rule 21"/>
          <p:cNvSpPr txBox="0"/>
          <p:nvPr/>
        </p:nvSpPr>
        <p:spPr>
          <a:xfrm>
            <a:off x="7594699" y="2722290"/>
            <a:ext cx="939701" cy="4762"/>
          </a:xfrm>
          <a:prstGeom prst="rect">
            <a:avLst/>
          </a:prstGeom>
          <a:solidFill>
            <a:srgbClr val="141414"/>
          </a:solidFill>
          <a:ln>
            <a:noFill/>
          </a:ln>
        </p:spPr>
      </p:sp>
      <p:sp>
        <p:nvSpPr>
          <p:cNvPr id="22" name="Rule 22"/>
          <p:cNvSpPr txBox="0"/>
          <p:nvPr/>
        </p:nvSpPr>
        <p:spPr>
          <a:xfrm>
            <a:off x="609600" y="3012802"/>
            <a:ext cx="785440" cy="4762"/>
          </a:xfrm>
          <a:prstGeom prst="rect">
            <a:avLst/>
          </a:prstGeom>
          <a:solidFill>
            <a:srgbClr val="C6C6C1"/>
          </a:solidFill>
          <a:ln>
            <a:noFill/>
          </a:ln>
        </p:spPr>
      </p:sp>
      <p:sp>
        <p:nvSpPr>
          <p:cNvPr id="23" name="Rule 23"/>
          <p:cNvSpPr txBox="0"/>
          <p:nvPr/>
        </p:nvSpPr>
        <p:spPr>
          <a:xfrm>
            <a:off x="1395040" y="3012802"/>
            <a:ext cx="955253" cy="4762"/>
          </a:xfrm>
          <a:prstGeom prst="rect">
            <a:avLst/>
          </a:prstGeom>
          <a:solidFill>
            <a:srgbClr val="C6C6C1"/>
          </a:solidFill>
          <a:ln>
            <a:noFill/>
          </a:ln>
        </p:spPr>
      </p:sp>
      <p:sp>
        <p:nvSpPr>
          <p:cNvPr id="24" name="Rule 24"/>
          <p:cNvSpPr txBox="0"/>
          <p:nvPr/>
        </p:nvSpPr>
        <p:spPr>
          <a:xfrm>
            <a:off x="2350294" y="3012802"/>
            <a:ext cx="1179463" cy="4762"/>
          </a:xfrm>
          <a:prstGeom prst="rect">
            <a:avLst/>
          </a:prstGeom>
          <a:solidFill>
            <a:srgbClr val="C6C6C1"/>
          </a:solidFill>
          <a:ln>
            <a:noFill/>
          </a:ln>
        </p:spPr>
      </p:sp>
      <p:sp>
        <p:nvSpPr>
          <p:cNvPr id="25" name="Rule 25"/>
          <p:cNvSpPr txBox="0"/>
          <p:nvPr/>
        </p:nvSpPr>
        <p:spPr>
          <a:xfrm>
            <a:off x="3529757" y="3012802"/>
            <a:ext cx="792138" cy="4762"/>
          </a:xfrm>
          <a:prstGeom prst="rect">
            <a:avLst/>
          </a:prstGeom>
          <a:solidFill>
            <a:srgbClr val="C6C6C1"/>
          </a:solidFill>
          <a:ln>
            <a:noFill/>
          </a:ln>
        </p:spPr>
      </p:sp>
      <p:sp>
        <p:nvSpPr>
          <p:cNvPr id="26" name="Rule 26"/>
          <p:cNvSpPr txBox="0"/>
          <p:nvPr/>
        </p:nvSpPr>
        <p:spPr>
          <a:xfrm>
            <a:off x="4321894" y="3012802"/>
            <a:ext cx="818183" cy="4762"/>
          </a:xfrm>
          <a:prstGeom prst="rect">
            <a:avLst/>
          </a:prstGeom>
          <a:solidFill>
            <a:srgbClr val="C6C6C1"/>
          </a:solidFill>
          <a:ln>
            <a:noFill/>
          </a:ln>
        </p:spPr>
      </p:sp>
      <p:sp>
        <p:nvSpPr>
          <p:cNvPr id="27" name="Rule 27"/>
          <p:cNvSpPr txBox="0"/>
          <p:nvPr/>
        </p:nvSpPr>
        <p:spPr>
          <a:xfrm>
            <a:off x="5140077" y="3012802"/>
            <a:ext cx="670694" cy="4762"/>
          </a:xfrm>
          <a:prstGeom prst="rect">
            <a:avLst/>
          </a:prstGeom>
          <a:solidFill>
            <a:srgbClr val="C6C6C1"/>
          </a:solidFill>
          <a:ln>
            <a:noFill/>
          </a:ln>
        </p:spPr>
      </p:sp>
      <p:sp>
        <p:nvSpPr>
          <p:cNvPr id="28" name="Rule 28"/>
          <p:cNvSpPr txBox="0"/>
          <p:nvPr/>
        </p:nvSpPr>
        <p:spPr>
          <a:xfrm>
            <a:off x="5810771" y="3012802"/>
            <a:ext cx="1175370" cy="4762"/>
          </a:xfrm>
          <a:prstGeom prst="rect">
            <a:avLst/>
          </a:prstGeom>
          <a:solidFill>
            <a:srgbClr val="C6C6C1"/>
          </a:solidFill>
          <a:ln>
            <a:noFill/>
          </a:ln>
        </p:spPr>
      </p:sp>
      <p:sp>
        <p:nvSpPr>
          <p:cNvPr id="29" name="Rule 29"/>
          <p:cNvSpPr txBox="0"/>
          <p:nvPr/>
        </p:nvSpPr>
        <p:spPr>
          <a:xfrm>
            <a:off x="6986141" y="3012802"/>
            <a:ext cx="608558" cy="4762"/>
          </a:xfrm>
          <a:prstGeom prst="rect">
            <a:avLst/>
          </a:prstGeom>
          <a:solidFill>
            <a:srgbClr val="C6C6C1"/>
          </a:solidFill>
          <a:ln>
            <a:noFill/>
          </a:ln>
        </p:spPr>
      </p:sp>
      <p:sp>
        <p:nvSpPr>
          <p:cNvPr id="30" name="Rule 30"/>
          <p:cNvSpPr txBox="0"/>
          <p:nvPr/>
        </p:nvSpPr>
        <p:spPr>
          <a:xfrm>
            <a:off x="7594699" y="3012802"/>
            <a:ext cx="939701" cy="4762"/>
          </a:xfrm>
          <a:prstGeom prst="rect">
            <a:avLst/>
          </a:prstGeom>
          <a:solidFill>
            <a:srgbClr val="C6C6C1"/>
          </a:solidFill>
          <a:ln>
            <a:noFill/>
          </a:ln>
        </p:spPr>
      </p:sp>
      <p:sp>
        <p:nvSpPr>
          <p:cNvPr id="31" name="Text 31"/>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32" name="Text 32"/>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85857F"/>
                </a:solidFill>
                <a:latin typeface="Instrument Sans"/>
                <a:ea typeface="Instrument Sans"/>
                <a:cs typeface="Instrument Sans"/>
              </a:rPr>
              <a:t xml:space="preserve">Conflict-of-interest disclosure</a:t>
            </a:r>
            <a:endParaRPr lang="en-US"/>
          </a:p>
        </p:txBody>
      </p:sp>
      <p:sp>
        <p:nvSpPr>
          <p:cNvPr id="33" name="Text 33"/>
          <p:cNvSpPr txBox="1"/>
          <p:nvPr/>
        </p:nvSpPr>
        <p:spPr>
          <a:xfrm>
            <a:off x="609600" y="933450"/>
            <a:ext cx="7962900" cy="348183"/>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Sebastian Fridman has nothing to disclose</a:t>
            </a:r>
            <a:endParaRPr lang="en-US"/>
          </a:p>
        </p:txBody>
      </p:sp>
      <p:sp>
        <p:nvSpPr>
          <p:cNvPr id="34" name="Text 34"/>
          <p:cNvSpPr txBox="1"/>
          <p:nvPr/>
        </p:nvSpPr>
        <p:spPr>
          <a:xfrm>
            <a:off x="675903" y="1553096"/>
            <a:ext cx="11497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a:t>
            </a:r>
            <a:endParaRPr lang="en-US"/>
          </a:p>
        </p:txBody>
      </p:sp>
      <p:sp>
        <p:nvSpPr>
          <p:cNvPr id="35" name="Text 35"/>
          <p:cNvSpPr txBox="1"/>
          <p:nvPr/>
        </p:nvSpPr>
        <p:spPr>
          <a:xfrm>
            <a:off x="952500" y="1534046"/>
            <a:ext cx="1626617" cy="209550"/>
          </a:xfrm>
          <a:prstGeom prst="rect">
            <a:avLst/>
          </a:prstGeom>
          <a:noFill/>
          <a:ln>
            <a:noFill/>
          </a:ln>
        </p:spPr>
        <p:txBody>
          <a:bodyPr wrap="square" lIns="0" rIns="0" tIns="0" bIns="0" anchor="t"/>
          <a:lstStyle/>
          <a:p>
            <a:pPr algn="l">
              <a:lnSpc>
                <a:spcPts val="1500"/>
              </a:lnSpc>
              <a:spcBef>
                <a:spcPts val="0"/>
              </a:spcBef>
              <a:spcAft>
                <a:spcPts val="0"/>
              </a:spcAft>
              <a:buNone/>
            </a:pPr>
            <a:r>
              <a:rPr lang="en-US" sz="1200" b="0" i="0" spc="0">
                <a:solidFill>
                  <a:srgbClr val="141414"/>
                </a:solidFill>
                <a:latin typeface="Instrument Sans"/>
                <a:ea typeface="Instrument Sans"/>
                <a:cs typeface="Instrument Sans"/>
              </a:rPr>
              <a:t xml:space="preserve">No, nothing to disclose</a:t>
            </a:r>
            <a:endParaRPr lang="en-US"/>
          </a:p>
        </p:txBody>
      </p:sp>
      <p:sp>
        <p:nvSpPr>
          <p:cNvPr id="36" name="Text 36"/>
          <p:cNvSpPr txBox="1"/>
          <p:nvPr/>
        </p:nvSpPr>
        <p:spPr>
          <a:xfrm>
            <a:off x="952500" y="1919808"/>
            <a:ext cx="1338114" cy="209550"/>
          </a:xfrm>
          <a:prstGeom prst="rect">
            <a:avLst/>
          </a:prstGeom>
          <a:noFill/>
          <a:ln>
            <a:noFill/>
          </a:ln>
        </p:spPr>
        <p:txBody>
          <a:bodyPr wrap="square" lIns="0" rIns="0" tIns="0" bIns="0" anchor="t"/>
          <a:lstStyle/>
          <a:p>
            <a:pPr algn="l">
              <a:lnSpc>
                <a:spcPts val="1500"/>
              </a:lnSpc>
              <a:spcBef>
                <a:spcPts val="0"/>
              </a:spcBef>
              <a:spcAft>
                <a:spcPts val="0"/>
              </a:spcAft>
              <a:buNone/>
            </a:pPr>
            <a:r>
              <a:rPr lang="en-US" sz="1200" b="0" i="0" spc="0">
                <a:solidFill>
                  <a:srgbClr val="85857F"/>
                </a:solidFill>
                <a:latin typeface="Instrument Sans"/>
                <a:ea typeface="Instrument Sans"/>
                <a:cs typeface="Instrument Sans"/>
              </a:rPr>
              <a:t xml:space="preserve">Yes, please specify</a:t>
            </a:r>
            <a:endParaRPr lang="en-US"/>
          </a:p>
        </p:txBody>
      </p:sp>
      <p:sp>
        <p:nvSpPr>
          <p:cNvPr id="37" name="Text 37"/>
          <p:cNvSpPr txBox="1"/>
          <p:nvPr/>
        </p:nvSpPr>
        <p:spPr>
          <a:xfrm>
            <a:off x="609600" y="2381771"/>
            <a:ext cx="747340"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Company name</a:t>
            </a:r>
            <a:endParaRPr lang="en-US"/>
          </a:p>
        </p:txBody>
      </p:sp>
      <p:sp>
        <p:nvSpPr>
          <p:cNvPr id="38" name="Text 38"/>
          <p:cNvSpPr txBox="1"/>
          <p:nvPr/>
        </p:nvSpPr>
        <p:spPr>
          <a:xfrm>
            <a:off x="1395040" y="2381771"/>
            <a:ext cx="917153"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Honoraria / expenses</a:t>
            </a:r>
            <a:endParaRPr lang="en-US"/>
          </a:p>
        </p:txBody>
      </p:sp>
      <p:sp>
        <p:nvSpPr>
          <p:cNvPr id="39" name="Text 39"/>
          <p:cNvSpPr txBox="1"/>
          <p:nvPr/>
        </p:nvSpPr>
        <p:spPr>
          <a:xfrm>
            <a:off x="2350294" y="2381771"/>
            <a:ext cx="1141363"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Consulting / advisory board</a:t>
            </a:r>
            <a:endParaRPr lang="en-US"/>
          </a:p>
        </p:txBody>
      </p:sp>
      <p:sp>
        <p:nvSpPr>
          <p:cNvPr id="40" name="Text 40"/>
          <p:cNvSpPr txBox="1"/>
          <p:nvPr/>
        </p:nvSpPr>
        <p:spPr>
          <a:xfrm>
            <a:off x="3529757" y="2381771"/>
            <a:ext cx="754038"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Funded research</a:t>
            </a:r>
            <a:endParaRPr lang="en-US"/>
          </a:p>
        </p:txBody>
      </p:sp>
      <p:sp>
        <p:nvSpPr>
          <p:cNvPr id="41" name="Text 41"/>
          <p:cNvSpPr txBox="1"/>
          <p:nvPr/>
        </p:nvSpPr>
        <p:spPr>
          <a:xfrm>
            <a:off x="4321894" y="2381771"/>
            <a:ext cx="780083"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Royalties / patent</a:t>
            </a:r>
            <a:endParaRPr lang="en-US"/>
          </a:p>
        </p:txBody>
      </p:sp>
      <p:sp>
        <p:nvSpPr>
          <p:cNvPr id="42" name="Text 42"/>
          <p:cNvSpPr txBox="1"/>
          <p:nvPr/>
        </p:nvSpPr>
        <p:spPr>
          <a:xfrm>
            <a:off x="5140077" y="2381771"/>
            <a:ext cx="632594"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Stock options</a:t>
            </a:r>
            <a:endParaRPr lang="en-US"/>
          </a:p>
        </p:txBody>
      </p:sp>
      <p:sp>
        <p:nvSpPr>
          <p:cNvPr id="43" name="Text 43"/>
          <p:cNvSpPr txBox="1"/>
          <p:nvPr/>
        </p:nvSpPr>
        <p:spPr>
          <a:xfrm>
            <a:off x="5810771" y="2381771"/>
            <a:ext cx="1137270"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Ownership / equity position</a:t>
            </a:r>
            <a:endParaRPr lang="en-US"/>
          </a:p>
        </p:txBody>
      </p:sp>
      <p:sp>
        <p:nvSpPr>
          <p:cNvPr id="44" name="Text 44"/>
          <p:cNvSpPr txBox="1"/>
          <p:nvPr/>
        </p:nvSpPr>
        <p:spPr>
          <a:xfrm>
            <a:off x="6986141" y="2381771"/>
            <a:ext cx="570458"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Employee</a:t>
            </a:r>
            <a:endParaRPr lang="en-US"/>
          </a:p>
        </p:txBody>
      </p:sp>
      <p:sp>
        <p:nvSpPr>
          <p:cNvPr id="45" name="Text 45"/>
          <p:cNvSpPr txBox="1"/>
          <p:nvPr/>
        </p:nvSpPr>
        <p:spPr>
          <a:xfrm>
            <a:off x="7594699" y="2381771"/>
            <a:ext cx="901601" cy="302419"/>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Medium"/>
                <a:ea typeface="Instrument Sans Medium"/>
                <a:cs typeface="Instrument Sans Medium"/>
              </a:rPr>
              <a:t xml:space="preserve">Other (please specify)</a:t>
            </a:r>
            <a:endParaRPr lang="en-US"/>
          </a:p>
        </p:txBody>
      </p:sp>
      <p:sp>
        <p:nvSpPr>
          <p:cNvPr id="46" name="Text 46"/>
          <p:cNvSpPr txBox="1"/>
          <p:nvPr/>
        </p:nvSpPr>
        <p:spPr>
          <a:xfrm>
            <a:off x="609600" y="2793727"/>
            <a:ext cx="74734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a:ea typeface="Instrument Sans"/>
                <a:cs typeface="Instrument Sans"/>
              </a:rPr>
              <a:t xml:space="preserve">None</a:t>
            </a:r>
            <a:endParaRPr lang="en-US"/>
          </a:p>
        </p:txBody>
      </p:sp>
      <p:sp>
        <p:nvSpPr>
          <p:cNvPr id="47" name="Text 47"/>
          <p:cNvSpPr txBox="1"/>
          <p:nvPr/>
        </p:nvSpPr>
        <p:spPr>
          <a:xfrm>
            <a:off x="609600" y="4552950"/>
            <a:ext cx="7962900" cy="30480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The congress’s conflict-of-interest form, required as the second slide: the same two boxes and nine categories as the World Stroke Congress 2026 template.</a:t>
            </a:r>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spark">
    <p:bg>
      <p:bgPr>
        <a:solidFill>
          <a:srgbClr val="141414"/>
        </a:solidFill>
        <a:effectLst/>
      </p:bgPr>
    </p:bg>
    <p:spTree>
      <p:nvGrpSpPr>
        <p:cNvPr id="1" name=""/>
        <p:cNvGrpSpPr/>
        <p:nvPr/>
      </p:nvGrpSpPr>
      <p:grpSpPr/>
      <p:sp>
        <p:nvSpPr>
          <p:cNvPr id="2" name="Rule 2"/>
          <p:cNvSpPr txBox="0"/>
          <p:nvPr/>
        </p:nvSpPr>
        <p:spPr>
          <a:xfrm>
            <a:off x="609600" y="1705496"/>
            <a:ext cx="1611585" cy="4762"/>
          </a:xfrm>
          <a:prstGeom prst="rect">
            <a:avLst/>
          </a:prstGeom>
          <a:solidFill>
            <a:srgbClr val="3B3B38"/>
          </a:solidFill>
          <a:ln>
            <a:noFill/>
          </a:ln>
        </p:spPr>
      </p:sp>
      <p:sp>
        <p:nvSpPr>
          <p:cNvPr id="3" name="Rule 3"/>
          <p:cNvSpPr txBox="0"/>
          <p:nvPr/>
        </p:nvSpPr>
        <p:spPr>
          <a:xfrm>
            <a:off x="2221185" y="1705496"/>
            <a:ext cx="1611660" cy="4762"/>
          </a:xfrm>
          <a:prstGeom prst="rect">
            <a:avLst/>
          </a:prstGeom>
          <a:solidFill>
            <a:srgbClr val="3B3B38"/>
          </a:solidFill>
          <a:ln>
            <a:noFill/>
          </a:ln>
        </p:spPr>
      </p:sp>
      <p:sp>
        <p:nvSpPr>
          <p:cNvPr id="4" name="Rule 4"/>
          <p:cNvSpPr txBox="0"/>
          <p:nvPr/>
        </p:nvSpPr>
        <p:spPr>
          <a:xfrm>
            <a:off x="3832845" y="1705496"/>
            <a:ext cx="1611585" cy="4762"/>
          </a:xfrm>
          <a:prstGeom prst="rect">
            <a:avLst/>
          </a:prstGeom>
          <a:solidFill>
            <a:srgbClr val="3B3B38"/>
          </a:solidFill>
          <a:ln>
            <a:noFill/>
          </a:ln>
        </p:spPr>
      </p:sp>
      <p:sp>
        <p:nvSpPr>
          <p:cNvPr id="5" name="Rule 5"/>
          <p:cNvSpPr txBox="0"/>
          <p:nvPr/>
        </p:nvSpPr>
        <p:spPr>
          <a:xfrm>
            <a:off x="5444430" y="1705496"/>
            <a:ext cx="1611660" cy="4762"/>
          </a:xfrm>
          <a:prstGeom prst="rect">
            <a:avLst/>
          </a:prstGeom>
          <a:solidFill>
            <a:srgbClr val="3B3B38"/>
          </a:solidFill>
          <a:ln>
            <a:noFill/>
          </a:ln>
        </p:spPr>
      </p:sp>
      <p:sp>
        <p:nvSpPr>
          <p:cNvPr id="6" name="Rule 6"/>
          <p:cNvSpPr txBox="0"/>
          <p:nvPr/>
        </p:nvSpPr>
        <p:spPr>
          <a:xfrm>
            <a:off x="7056090" y="1705496"/>
            <a:ext cx="1478310" cy="4762"/>
          </a:xfrm>
          <a:prstGeom prst="rect">
            <a:avLst/>
          </a:prstGeom>
          <a:solidFill>
            <a:srgbClr val="3B3B38"/>
          </a:solidFill>
          <a:ln>
            <a:noFill/>
          </a:ln>
        </p:spPr>
      </p:sp>
      <p:sp>
        <p:nvSpPr>
          <p:cNvPr id="7" name="Rule 7"/>
          <p:cNvSpPr txBox="0"/>
          <p:nvPr/>
        </p:nvSpPr>
        <p:spPr>
          <a:xfrm>
            <a:off x="609600" y="3034233"/>
            <a:ext cx="7924800" cy="4762"/>
          </a:xfrm>
          <a:prstGeom prst="rect">
            <a:avLst/>
          </a:prstGeom>
          <a:solidFill>
            <a:srgbClr val="3B3B38"/>
          </a:solidFill>
          <a:ln>
            <a:noFill/>
          </a:ln>
        </p:spPr>
      </p:sp>
      <p:sp>
        <p:nvSpPr>
          <p:cNvPr id="8" name="Text 8"/>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9" name="Text 9"/>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E8475B"/>
                </a:solidFill>
                <a:latin typeface="Instrument Sans Medium"/>
                <a:ea typeface="Instrument Sans Medium"/>
                <a:cs typeface="Instrument Sans Medium"/>
              </a:rPr>
              <a:t xml:space="preserve">01</a:t>
            </a:r>
            <a:r>
              <a:rPr lang="en-US" sz="900" b="0" i="0" spc="0">
                <a:solidFill>
                  <a:srgbClr val="C6C6C0"/>
                </a:solidFill>
                <a:latin typeface="Instrument Sans"/>
                <a:ea typeface="Instrument Sans"/>
                <a:cs typeface="Instrument Sans"/>
              </a:rPr>
              <a:t xml:space="preserve">  Where I come from</a:t>
            </a:r>
            <a:endParaRPr lang="en-US"/>
          </a:p>
        </p:txBody>
      </p:sp>
      <p:sp>
        <p:nvSpPr>
          <p:cNvPr id="10" name="Text 10"/>
          <p:cNvSpPr txBox="1"/>
          <p:nvPr/>
        </p:nvSpPr>
        <p:spPr>
          <a:xfrm>
            <a:off x="609600" y="895350"/>
            <a:ext cx="7962900" cy="348183"/>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F0F0EC"/>
                </a:solidFill>
                <a:latin typeface="Instrument Sans Medium"/>
                <a:ea typeface="Instrument Sans Medium"/>
                <a:cs typeface="Instrument Sans Medium"/>
              </a:rPr>
              <a:t xml:space="preserve">In lesion neuroscience, the whole pipeline is open</a:t>
            </a:r>
            <a:endParaRPr lang="en-US"/>
          </a:p>
        </p:txBody>
      </p:sp>
      <p:sp>
        <p:nvSpPr>
          <p:cNvPr id="11" name="Text 11"/>
          <p:cNvSpPr txBox="1"/>
          <p:nvPr/>
        </p:nvSpPr>
        <p:spPr>
          <a:xfrm>
            <a:off x="609600" y="1357833"/>
            <a:ext cx="7181850" cy="233362"/>
          </a:xfrm>
          <a:prstGeom prst="rect">
            <a:avLst/>
          </a:prstGeom>
          <a:noFill/>
          <a:ln>
            <a:noFill/>
          </a:ln>
        </p:spPr>
        <p:txBody>
          <a:bodyPr wrap="square" lIns="0" rIns="0" tIns="0" bIns="0" anchor="t"/>
          <a:lstStyle/>
          <a:p>
            <a:pPr algn="l">
              <a:lnSpc>
                <a:spcPts val="1688"/>
              </a:lnSpc>
              <a:spcBef>
                <a:spcPts val="0"/>
              </a:spcBef>
              <a:spcAft>
                <a:spcPts val="0"/>
              </a:spcAft>
              <a:buNone/>
            </a:pPr>
            <a:r>
              <a:rPr lang="en-US" sz="1350" b="0" i="0" spc="0">
                <a:solidFill>
                  <a:srgbClr val="C6C6C0"/>
                </a:solidFill>
                <a:latin typeface="Instrument Serif"/>
                <a:ea typeface="Instrument Serif"/>
                <a:cs typeface="Instrument Serif"/>
              </a:rPr>
              <a:t xml:space="preserve">I came to stroke from imaging and neuroscience. There, every step of a lesion study has open-source tools and shared data.</a:t>
            </a:r>
            <a:endParaRPr lang="en-US"/>
          </a:p>
        </p:txBody>
      </p:sp>
      <p:sp>
        <p:nvSpPr>
          <p:cNvPr id="12" name="Text 12"/>
          <p:cNvSpPr txBox="1"/>
          <p:nvPr/>
        </p:nvSpPr>
        <p:spPr>
          <a:xfrm>
            <a:off x="609600" y="1805508"/>
            <a:ext cx="1516335"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E8475B"/>
                </a:solidFill>
                <a:latin typeface="Instrument Sans Medium"/>
                <a:ea typeface="Instrument Sans Medium"/>
                <a:cs typeface="Instrument Sans Medium"/>
              </a:rPr>
              <a:t xml:space="preserve">1  Segment</a:t>
            </a:r>
            <a:endParaRPr lang="en-US"/>
          </a:p>
        </p:txBody>
      </p:sp>
      <p:sp>
        <p:nvSpPr>
          <p:cNvPr id="13" name="Text 13"/>
          <p:cNvSpPr txBox="1"/>
          <p:nvPr/>
        </p:nvSpPr>
        <p:spPr>
          <a:xfrm>
            <a:off x="609600" y="1986483"/>
            <a:ext cx="1516335"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MRIcron</a:t>
            </a:r>
            <a:r>
              <a:rPr lang="en-US" sz="975" b="0" i="0" spc="0">
                <a:solidFill>
                  <a:srgbClr val="85857F"/>
                </a:solidFill>
                <a:latin typeface="Instrument Sans"/>
                <a:ea typeface="Instrument Sans"/>
                <a:cs typeface="Instrument Sans"/>
              </a:rPr>
              <a:t xml:space="preserve"> 2007</a:t>
            </a:r>
            <a:endParaRPr lang="en-US"/>
          </a:p>
        </p:txBody>
      </p:sp>
      <p:sp>
        <p:nvSpPr>
          <p:cNvPr id="14" name="Text 14"/>
          <p:cNvSpPr txBox="1"/>
          <p:nvPr/>
        </p:nvSpPr>
        <p:spPr>
          <a:xfrm>
            <a:off x="609600" y="2176983"/>
            <a:ext cx="1516335"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ITK-SNAP</a:t>
            </a:r>
            <a:r>
              <a:rPr lang="en-US" sz="975" b="0" i="0" spc="0">
                <a:solidFill>
                  <a:srgbClr val="85857F"/>
                </a:solidFill>
                <a:latin typeface="Instrument Sans"/>
                <a:ea typeface="Instrument Sans"/>
                <a:cs typeface="Instrument Sans"/>
              </a:rPr>
              <a:t xml:space="preserve"> 2006</a:t>
            </a:r>
            <a:endParaRPr lang="en-US"/>
          </a:p>
        </p:txBody>
      </p:sp>
      <p:sp>
        <p:nvSpPr>
          <p:cNvPr id="15" name="Text 15"/>
          <p:cNvSpPr txBox="1"/>
          <p:nvPr/>
        </p:nvSpPr>
        <p:spPr>
          <a:xfrm>
            <a:off x="609600" y="2367483"/>
            <a:ext cx="1516335"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LINDA</a:t>
            </a:r>
            <a:r>
              <a:rPr lang="en-US" sz="975" b="0" i="0" spc="0">
                <a:solidFill>
                  <a:srgbClr val="85857F"/>
                </a:solidFill>
                <a:latin typeface="Instrument Sans"/>
                <a:ea typeface="Instrument Sans"/>
                <a:cs typeface="Instrument Sans"/>
              </a:rPr>
              <a:t xml:space="preserve"> 2016</a:t>
            </a:r>
            <a:endParaRPr lang="en-US"/>
          </a:p>
        </p:txBody>
      </p:sp>
      <p:sp>
        <p:nvSpPr>
          <p:cNvPr id="16" name="Text 16"/>
          <p:cNvSpPr txBox="1"/>
          <p:nvPr/>
        </p:nvSpPr>
        <p:spPr>
          <a:xfrm>
            <a:off x="609600" y="2557983"/>
            <a:ext cx="1516335"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nnU-Net</a:t>
            </a:r>
            <a:r>
              <a:rPr lang="en-US" sz="975" b="0" i="0" spc="0">
                <a:solidFill>
                  <a:srgbClr val="85857F"/>
                </a:solidFill>
                <a:latin typeface="Instrument Sans"/>
                <a:ea typeface="Instrument Sans"/>
                <a:cs typeface="Instrument Sans"/>
              </a:rPr>
              <a:t xml:space="preserve"> 2021</a:t>
            </a:r>
            <a:endParaRPr lang="en-US"/>
          </a:p>
        </p:txBody>
      </p:sp>
      <p:sp>
        <p:nvSpPr>
          <p:cNvPr id="17" name="Text 17"/>
          <p:cNvSpPr txBox="1"/>
          <p:nvPr/>
        </p:nvSpPr>
        <p:spPr>
          <a:xfrm>
            <a:off x="609600" y="2748483"/>
            <a:ext cx="1516335"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DeepISLES</a:t>
            </a:r>
            <a:r>
              <a:rPr lang="en-US" sz="975" b="0" i="0" spc="0">
                <a:solidFill>
                  <a:srgbClr val="85857F"/>
                </a:solidFill>
                <a:latin typeface="Instrument Sans"/>
                <a:ea typeface="Instrument Sans"/>
                <a:cs typeface="Instrument Sans"/>
              </a:rPr>
              <a:t xml:space="preserve"> 2025</a:t>
            </a:r>
            <a:endParaRPr lang="en-US"/>
          </a:p>
        </p:txBody>
      </p:sp>
      <p:sp>
        <p:nvSpPr>
          <p:cNvPr id="18" name="Text 18"/>
          <p:cNvSpPr txBox="1"/>
          <p:nvPr/>
        </p:nvSpPr>
        <p:spPr>
          <a:xfrm>
            <a:off x="2221185" y="1805508"/>
            <a:ext cx="151641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E8475B"/>
                </a:solidFill>
                <a:latin typeface="Instrument Sans Medium"/>
                <a:ea typeface="Instrument Sans Medium"/>
                <a:cs typeface="Instrument Sans Medium"/>
              </a:rPr>
              <a:t xml:space="preserve">2  Normalise</a:t>
            </a:r>
            <a:endParaRPr lang="en-US"/>
          </a:p>
        </p:txBody>
      </p:sp>
      <p:sp>
        <p:nvSpPr>
          <p:cNvPr id="19" name="Text 19"/>
          <p:cNvSpPr txBox="1"/>
          <p:nvPr/>
        </p:nvSpPr>
        <p:spPr>
          <a:xfrm>
            <a:off x="2221185" y="1986483"/>
            <a:ext cx="1516410"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Cost-function masking</a:t>
            </a:r>
            <a:r>
              <a:rPr lang="en-US" sz="975" b="0" i="0" spc="0">
                <a:solidFill>
                  <a:srgbClr val="85857F"/>
                </a:solidFill>
                <a:latin typeface="Instrument Sans"/>
                <a:ea typeface="Instrument Sans"/>
                <a:cs typeface="Instrument Sans"/>
              </a:rPr>
              <a:t xml:space="preserve"> 2001</a:t>
            </a:r>
            <a:endParaRPr lang="en-US"/>
          </a:p>
        </p:txBody>
      </p:sp>
      <p:sp>
        <p:nvSpPr>
          <p:cNvPr id="20" name="Text 20"/>
          <p:cNvSpPr txBox="1"/>
          <p:nvPr/>
        </p:nvSpPr>
        <p:spPr>
          <a:xfrm>
            <a:off x="2221185" y="2329383"/>
            <a:ext cx="151641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Enantiomorphic</a:t>
            </a:r>
            <a:r>
              <a:rPr lang="en-US" sz="975" b="0" i="0" spc="0">
                <a:solidFill>
                  <a:srgbClr val="85857F"/>
                </a:solidFill>
                <a:latin typeface="Instrument Sans"/>
                <a:ea typeface="Instrument Sans"/>
                <a:cs typeface="Instrument Sans"/>
              </a:rPr>
              <a:t xml:space="preserve"> 2008</a:t>
            </a:r>
            <a:endParaRPr lang="en-US"/>
          </a:p>
        </p:txBody>
      </p:sp>
      <p:sp>
        <p:nvSpPr>
          <p:cNvPr id="21" name="Text 21"/>
          <p:cNvSpPr txBox="1"/>
          <p:nvPr/>
        </p:nvSpPr>
        <p:spPr>
          <a:xfrm>
            <a:off x="2221185" y="2519883"/>
            <a:ext cx="151641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SPM Clinical Toolbox</a:t>
            </a:r>
            <a:r>
              <a:rPr lang="en-US" sz="975" b="0" i="0" spc="0">
                <a:solidFill>
                  <a:srgbClr val="85857F"/>
                </a:solidFill>
                <a:latin typeface="Instrument Sans"/>
                <a:ea typeface="Instrument Sans"/>
                <a:cs typeface="Instrument Sans"/>
              </a:rPr>
              <a:t xml:space="preserve"> 2012</a:t>
            </a:r>
            <a:endParaRPr lang="en-US"/>
          </a:p>
        </p:txBody>
      </p:sp>
      <p:sp>
        <p:nvSpPr>
          <p:cNvPr id="22" name="Text 22"/>
          <p:cNvSpPr txBox="1"/>
          <p:nvPr/>
        </p:nvSpPr>
        <p:spPr>
          <a:xfrm>
            <a:off x="2221185" y="2710383"/>
            <a:ext cx="151641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ANTs</a:t>
            </a:r>
            <a:r>
              <a:rPr lang="en-US" sz="975" b="0" i="0" spc="0">
                <a:solidFill>
                  <a:srgbClr val="85857F"/>
                </a:solidFill>
                <a:latin typeface="Instrument Sans"/>
                <a:ea typeface="Instrument Sans"/>
                <a:cs typeface="Instrument Sans"/>
              </a:rPr>
              <a:t xml:space="preserve"> 2008</a:t>
            </a:r>
            <a:endParaRPr lang="en-US"/>
          </a:p>
        </p:txBody>
      </p:sp>
      <p:sp>
        <p:nvSpPr>
          <p:cNvPr id="23" name="Text 23"/>
          <p:cNvSpPr txBox="1"/>
          <p:nvPr/>
        </p:nvSpPr>
        <p:spPr>
          <a:xfrm>
            <a:off x="3832845" y="1805508"/>
            <a:ext cx="1516335"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E8475B"/>
                </a:solidFill>
                <a:latin typeface="Instrument Sans Medium"/>
                <a:ea typeface="Instrument Sans Medium"/>
                <a:cs typeface="Instrument Sans Medium"/>
              </a:rPr>
              <a:t xml:space="preserve">3  Map the symptom</a:t>
            </a:r>
            <a:endParaRPr lang="en-US"/>
          </a:p>
        </p:txBody>
      </p:sp>
      <p:sp>
        <p:nvSpPr>
          <p:cNvPr id="24" name="Text 24"/>
          <p:cNvSpPr txBox="1"/>
          <p:nvPr/>
        </p:nvSpPr>
        <p:spPr>
          <a:xfrm>
            <a:off x="3832845" y="1986483"/>
            <a:ext cx="1516335"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VLSM</a:t>
            </a:r>
            <a:r>
              <a:rPr lang="en-US" sz="975" b="0" i="0" spc="0">
                <a:solidFill>
                  <a:srgbClr val="85857F"/>
                </a:solidFill>
                <a:latin typeface="Instrument Sans"/>
                <a:ea typeface="Instrument Sans"/>
                <a:cs typeface="Instrument Sans"/>
              </a:rPr>
              <a:t xml:space="preserve"> 2003</a:t>
            </a:r>
            <a:endParaRPr lang="en-US"/>
          </a:p>
        </p:txBody>
      </p:sp>
      <p:sp>
        <p:nvSpPr>
          <p:cNvPr id="25" name="Text 25"/>
          <p:cNvSpPr txBox="1"/>
          <p:nvPr/>
        </p:nvSpPr>
        <p:spPr>
          <a:xfrm>
            <a:off x="3832845" y="2176983"/>
            <a:ext cx="1516335"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NiiStat</a:t>
            </a:r>
            <a:endParaRPr lang="en-US"/>
          </a:p>
        </p:txBody>
      </p:sp>
      <p:sp>
        <p:nvSpPr>
          <p:cNvPr id="26" name="Text 26"/>
          <p:cNvSpPr txBox="1"/>
          <p:nvPr/>
        </p:nvSpPr>
        <p:spPr>
          <a:xfrm>
            <a:off x="3832845" y="2367483"/>
            <a:ext cx="1516335"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SVR-LSM</a:t>
            </a:r>
            <a:r>
              <a:rPr lang="en-US" sz="975" b="0" i="0" spc="0">
                <a:solidFill>
                  <a:srgbClr val="85857F"/>
                </a:solidFill>
                <a:latin typeface="Instrument Sans"/>
                <a:ea typeface="Instrument Sans"/>
                <a:cs typeface="Instrument Sans"/>
              </a:rPr>
              <a:t xml:space="preserve"> 2014</a:t>
            </a:r>
            <a:endParaRPr lang="en-US"/>
          </a:p>
        </p:txBody>
      </p:sp>
      <p:sp>
        <p:nvSpPr>
          <p:cNvPr id="27" name="Text 27"/>
          <p:cNvSpPr txBox="1"/>
          <p:nvPr/>
        </p:nvSpPr>
        <p:spPr>
          <a:xfrm>
            <a:off x="3832845" y="2557983"/>
            <a:ext cx="1516335"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LESYMAP</a:t>
            </a:r>
            <a:r>
              <a:rPr lang="en-US" sz="975" b="0" i="0" spc="0">
                <a:solidFill>
                  <a:srgbClr val="85857F"/>
                </a:solidFill>
                <a:latin typeface="Instrument Sans"/>
                <a:ea typeface="Instrument Sans"/>
                <a:cs typeface="Instrument Sans"/>
              </a:rPr>
              <a:t xml:space="preserve"> 2018</a:t>
            </a:r>
            <a:endParaRPr lang="en-US"/>
          </a:p>
        </p:txBody>
      </p:sp>
      <p:sp>
        <p:nvSpPr>
          <p:cNvPr id="28" name="Text 28"/>
          <p:cNvSpPr txBox="1"/>
          <p:nvPr/>
        </p:nvSpPr>
        <p:spPr>
          <a:xfrm>
            <a:off x="5444430" y="1805508"/>
            <a:ext cx="151641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E8475B"/>
                </a:solidFill>
                <a:latin typeface="Instrument Sans Medium"/>
                <a:ea typeface="Instrument Sans Medium"/>
                <a:cs typeface="Instrument Sans Medium"/>
              </a:rPr>
              <a:t xml:space="preserve">4  Map disconnection</a:t>
            </a:r>
            <a:endParaRPr lang="en-US"/>
          </a:p>
        </p:txBody>
      </p:sp>
      <p:sp>
        <p:nvSpPr>
          <p:cNvPr id="29" name="Text 29"/>
          <p:cNvSpPr txBox="1"/>
          <p:nvPr/>
        </p:nvSpPr>
        <p:spPr>
          <a:xfrm>
            <a:off x="5444430" y="1986483"/>
            <a:ext cx="1516410"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Lesion network mapping</a:t>
            </a:r>
            <a:r>
              <a:rPr lang="en-US" sz="975" b="0" i="0" spc="0">
                <a:solidFill>
                  <a:srgbClr val="85857F"/>
                </a:solidFill>
                <a:latin typeface="Instrument Sans"/>
                <a:ea typeface="Instrument Sans"/>
                <a:cs typeface="Instrument Sans"/>
              </a:rPr>
              <a:t xml:space="preserve"> 2015</a:t>
            </a:r>
            <a:endParaRPr lang="en-US"/>
          </a:p>
        </p:txBody>
      </p:sp>
      <p:sp>
        <p:nvSpPr>
          <p:cNvPr id="30" name="Text 30"/>
          <p:cNvSpPr txBox="1"/>
          <p:nvPr/>
        </p:nvSpPr>
        <p:spPr>
          <a:xfrm>
            <a:off x="5444430" y="2329383"/>
            <a:ext cx="151641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BCBtoolkit</a:t>
            </a:r>
            <a:r>
              <a:rPr lang="en-US" sz="975" b="0" i="0" spc="0">
                <a:solidFill>
                  <a:srgbClr val="85857F"/>
                </a:solidFill>
                <a:latin typeface="Instrument Sans"/>
                <a:ea typeface="Instrument Sans"/>
                <a:cs typeface="Instrument Sans"/>
              </a:rPr>
              <a:t xml:space="preserve"> 2018</a:t>
            </a:r>
            <a:endParaRPr lang="en-US"/>
          </a:p>
        </p:txBody>
      </p:sp>
      <p:sp>
        <p:nvSpPr>
          <p:cNvPr id="31" name="Text 31"/>
          <p:cNvSpPr txBox="1"/>
          <p:nvPr/>
        </p:nvSpPr>
        <p:spPr>
          <a:xfrm>
            <a:off x="5444430" y="2519883"/>
            <a:ext cx="1516410"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Lesion Quantification Toolkit</a:t>
            </a:r>
            <a:r>
              <a:rPr lang="en-US" sz="975" b="0" i="0" spc="0">
                <a:solidFill>
                  <a:srgbClr val="85857F"/>
                </a:solidFill>
                <a:latin typeface="Instrument Sans"/>
                <a:ea typeface="Instrument Sans"/>
                <a:cs typeface="Instrument Sans"/>
              </a:rPr>
              <a:t xml:space="preserve"> 2021</a:t>
            </a:r>
            <a:endParaRPr lang="en-US"/>
          </a:p>
        </p:txBody>
      </p:sp>
      <p:sp>
        <p:nvSpPr>
          <p:cNvPr id="32" name="Text 32"/>
          <p:cNvSpPr txBox="1"/>
          <p:nvPr/>
        </p:nvSpPr>
        <p:spPr>
          <a:xfrm>
            <a:off x="7056090" y="1805508"/>
            <a:ext cx="151641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E8475B"/>
                </a:solidFill>
                <a:latin typeface="Instrument Sans Medium"/>
                <a:ea typeface="Instrument Sans Medium"/>
                <a:cs typeface="Instrument Sans Medium"/>
              </a:rPr>
              <a:t xml:space="preserve">5  Share</a:t>
            </a:r>
            <a:endParaRPr lang="en-US"/>
          </a:p>
        </p:txBody>
      </p:sp>
      <p:sp>
        <p:nvSpPr>
          <p:cNvPr id="33" name="Text 33"/>
          <p:cNvSpPr txBox="1"/>
          <p:nvPr/>
        </p:nvSpPr>
        <p:spPr>
          <a:xfrm>
            <a:off x="7056090" y="1986483"/>
            <a:ext cx="151641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BIDS</a:t>
            </a:r>
            <a:r>
              <a:rPr lang="en-US" sz="975" b="0" i="0" spc="0">
                <a:solidFill>
                  <a:srgbClr val="85857F"/>
                </a:solidFill>
                <a:latin typeface="Instrument Sans"/>
                <a:ea typeface="Instrument Sans"/>
                <a:cs typeface="Instrument Sans"/>
              </a:rPr>
              <a:t xml:space="preserve"> 2016</a:t>
            </a:r>
            <a:endParaRPr lang="en-US"/>
          </a:p>
        </p:txBody>
      </p:sp>
      <p:sp>
        <p:nvSpPr>
          <p:cNvPr id="34" name="Text 34"/>
          <p:cNvSpPr txBox="1"/>
          <p:nvPr/>
        </p:nvSpPr>
        <p:spPr>
          <a:xfrm>
            <a:off x="7056090" y="2176983"/>
            <a:ext cx="151641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NeuroVault</a:t>
            </a:r>
            <a:r>
              <a:rPr lang="en-US" sz="975" b="0" i="0" spc="0">
                <a:solidFill>
                  <a:srgbClr val="85857F"/>
                </a:solidFill>
                <a:latin typeface="Instrument Sans"/>
                <a:ea typeface="Instrument Sans"/>
                <a:cs typeface="Instrument Sans"/>
              </a:rPr>
              <a:t xml:space="preserve"> 2015</a:t>
            </a:r>
            <a:endParaRPr lang="en-US"/>
          </a:p>
        </p:txBody>
      </p:sp>
      <p:sp>
        <p:nvSpPr>
          <p:cNvPr id="35" name="Text 35"/>
          <p:cNvSpPr txBox="1"/>
          <p:nvPr/>
        </p:nvSpPr>
        <p:spPr>
          <a:xfrm>
            <a:off x="7056090" y="2367483"/>
            <a:ext cx="151641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F0F0EC"/>
                </a:solidFill>
                <a:latin typeface="Instrument Sans"/>
                <a:ea typeface="Instrument Sans"/>
                <a:cs typeface="Instrument Sans"/>
              </a:rPr>
              <a:t xml:space="preserve">OpenNeuro</a:t>
            </a:r>
            <a:r>
              <a:rPr lang="en-US" sz="975" b="0" i="0" spc="0">
                <a:solidFill>
                  <a:srgbClr val="85857F"/>
                </a:solidFill>
                <a:latin typeface="Instrument Sans"/>
                <a:ea typeface="Instrument Sans"/>
                <a:cs typeface="Instrument Sans"/>
              </a:rPr>
              <a:t xml:space="preserve"> 2021</a:t>
            </a:r>
            <a:endParaRPr lang="en-US"/>
          </a:p>
        </p:txBody>
      </p:sp>
      <p:sp>
        <p:nvSpPr>
          <p:cNvPr id="36" name="Text 36"/>
          <p:cNvSpPr txBox="1"/>
          <p:nvPr/>
        </p:nvSpPr>
        <p:spPr>
          <a:xfrm>
            <a:off x="609600" y="3134246"/>
            <a:ext cx="13716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E8475B"/>
                </a:solidFill>
                <a:latin typeface="Instrument Sans Medium"/>
                <a:ea typeface="Instrument Sans Medium"/>
                <a:cs typeface="Instrument Sans Medium"/>
              </a:rPr>
              <a:t xml:space="preserve">Open stroke data</a:t>
            </a:r>
            <a:endParaRPr lang="en-US"/>
          </a:p>
        </p:txBody>
      </p:sp>
      <p:sp>
        <p:nvSpPr>
          <p:cNvPr id="37" name="Text 37"/>
          <p:cNvSpPr txBox="1"/>
          <p:nvPr/>
        </p:nvSpPr>
        <p:spPr>
          <a:xfrm>
            <a:off x="1943100" y="3134246"/>
            <a:ext cx="1552575" cy="285750"/>
          </a:xfrm>
          <a:prstGeom prst="rect">
            <a:avLst/>
          </a:prstGeom>
          <a:noFill/>
          <a:ln>
            <a:noFill/>
          </a:ln>
        </p:spPr>
        <p:txBody>
          <a:bodyPr wrap="square" lIns="0" rIns="0" tIns="0" bIns="0" anchor="t"/>
          <a:lstStyle/>
          <a:p>
            <a:pPr algn="l">
              <a:lnSpc>
                <a:spcPts val="2100"/>
              </a:lnSpc>
              <a:spcBef>
                <a:spcPts val="0"/>
              </a:spcBef>
              <a:spcAft>
                <a:spcPts val="0"/>
              </a:spcAft>
              <a:buNone/>
            </a:pPr>
            <a:r>
              <a:rPr lang="en-US" sz="2100" b="0" i="0" spc="0">
                <a:solidFill>
                  <a:srgbClr val="F0F0EC"/>
                </a:solidFill>
                <a:latin typeface="Instrument Serif"/>
                <a:ea typeface="Instrument Serif"/>
                <a:cs typeface="Instrument Serif"/>
              </a:rPr>
              <a:t xml:space="preserve">1,271</a:t>
            </a:r>
            <a:endParaRPr lang="en-US"/>
          </a:p>
        </p:txBody>
      </p:sp>
      <p:sp>
        <p:nvSpPr>
          <p:cNvPr id="38" name="Text 38"/>
          <p:cNvSpPr txBox="1"/>
          <p:nvPr/>
        </p:nvSpPr>
        <p:spPr>
          <a:xfrm>
            <a:off x="1943100" y="3429521"/>
            <a:ext cx="1552575" cy="30480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C6C6C0"/>
                </a:solidFill>
                <a:latin typeface="Instrument Sans"/>
                <a:ea typeface="Instrument Sans"/>
                <a:cs typeface="Instrument Sans"/>
              </a:rPr>
              <a:t xml:space="preserve">ATLAS v2.0 stroke MRIs with traced lesions; 955 public</a:t>
            </a:r>
            <a:endParaRPr lang="en-US"/>
          </a:p>
        </p:txBody>
      </p:sp>
      <p:sp>
        <p:nvSpPr>
          <p:cNvPr id="39" name="Text 39"/>
          <p:cNvSpPr txBox="1"/>
          <p:nvPr/>
        </p:nvSpPr>
        <p:spPr>
          <a:xfrm>
            <a:off x="3590925" y="3134246"/>
            <a:ext cx="1552575" cy="285750"/>
          </a:xfrm>
          <a:prstGeom prst="rect">
            <a:avLst/>
          </a:prstGeom>
          <a:noFill/>
          <a:ln>
            <a:noFill/>
          </a:ln>
        </p:spPr>
        <p:txBody>
          <a:bodyPr wrap="square" lIns="0" rIns="0" tIns="0" bIns="0" anchor="t"/>
          <a:lstStyle/>
          <a:p>
            <a:pPr algn="l">
              <a:lnSpc>
                <a:spcPts val="2100"/>
              </a:lnSpc>
              <a:spcBef>
                <a:spcPts val="0"/>
              </a:spcBef>
              <a:spcAft>
                <a:spcPts val="0"/>
              </a:spcAft>
              <a:buNone/>
            </a:pPr>
            <a:r>
              <a:rPr lang="en-US" sz="2100" b="0" i="0" spc="0">
                <a:solidFill>
                  <a:srgbClr val="F0F0EC"/>
                </a:solidFill>
                <a:latin typeface="Instrument Serif"/>
                <a:ea typeface="Instrument Serif"/>
                <a:cs typeface="Instrument Serif"/>
              </a:rPr>
              <a:t xml:space="preserve">250</a:t>
            </a:r>
            <a:endParaRPr lang="en-US"/>
          </a:p>
        </p:txBody>
      </p:sp>
      <p:sp>
        <p:nvSpPr>
          <p:cNvPr id="40" name="Text 40"/>
          <p:cNvSpPr txBox="1"/>
          <p:nvPr/>
        </p:nvSpPr>
        <p:spPr>
          <a:xfrm>
            <a:off x="3590925" y="3429521"/>
            <a:ext cx="1552575" cy="30480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C6C6C0"/>
                </a:solidFill>
                <a:latin typeface="Instrument Sans"/>
                <a:ea typeface="Instrument Sans"/>
                <a:cs typeface="Instrument Sans"/>
              </a:rPr>
              <a:t xml:space="preserve">ISLES 2022 acute MRI cases public under CC BY, of 400</a:t>
            </a:r>
            <a:endParaRPr lang="en-US"/>
          </a:p>
        </p:txBody>
      </p:sp>
      <p:sp>
        <p:nvSpPr>
          <p:cNvPr id="41" name="Text 41"/>
          <p:cNvSpPr txBox="1"/>
          <p:nvPr/>
        </p:nvSpPr>
        <p:spPr>
          <a:xfrm>
            <a:off x="5238750" y="3134246"/>
            <a:ext cx="1552575" cy="285750"/>
          </a:xfrm>
          <a:prstGeom prst="rect">
            <a:avLst/>
          </a:prstGeom>
          <a:noFill/>
          <a:ln>
            <a:noFill/>
          </a:ln>
        </p:spPr>
        <p:txBody>
          <a:bodyPr wrap="square" lIns="0" rIns="0" tIns="0" bIns="0" anchor="t"/>
          <a:lstStyle/>
          <a:p>
            <a:pPr algn="l">
              <a:lnSpc>
                <a:spcPts val="2100"/>
              </a:lnSpc>
              <a:spcBef>
                <a:spcPts val="0"/>
              </a:spcBef>
              <a:spcAft>
                <a:spcPts val="0"/>
              </a:spcAft>
              <a:buNone/>
            </a:pPr>
            <a:r>
              <a:rPr lang="en-US" sz="2100" b="0" i="0" spc="0">
                <a:solidFill>
                  <a:srgbClr val="F0F0EC"/>
                </a:solidFill>
                <a:latin typeface="Instrument Serif"/>
                <a:ea typeface="Instrument Serif"/>
                <a:cs typeface="Instrument Serif"/>
              </a:rPr>
              <a:t xml:space="preserve">230</a:t>
            </a:r>
            <a:endParaRPr lang="en-US"/>
          </a:p>
        </p:txBody>
      </p:sp>
      <p:sp>
        <p:nvSpPr>
          <p:cNvPr id="42" name="Text 42"/>
          <p:cNvSpPr txBox="1"/>
          <p:nvPr/>
        </p:nvSpPr>
        <p:spPr>
          <a:xfrm>
            <a:off x="5238750" y="3429521"/>
            <a:ext cx="1552575" cy="44767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C6C6C0"/>
                </a:solidFill>
                <a:latin typeface="Instrument Sans"/>
                <a:ea typeface="Instrument Sans"/>
                <a:cs typeface="Instrument Sans"/>
              </a:rPr>
              <a:t xml:space="preserve">people with aphasia, 902 sessions, CC0: Aphasia Recovery Cohort</a:t>
            </a:r>
            <a:endParaRPr lang="en-US"/>
          </a:p>
        </p:txBody>
      </p:sp>
      <p:sp>
        <p:nvSpPr>
          <p:cNvPr id="43" name="Text 43"/>
          <p:cNvSpPr txBox="1"/>
          <p:nvPr/>
        </p:nvSpPr>
        <p:spPr>
          <a:xfrm>
            <a:off x="6886575" y="3134246"/>
            <a:ext cx="1552575" cy="285750"/>
          </a:xfrm>
          <a:prstGeom prst="rect">
            <a:avLst/>
          </a:prstGeom>
          <a:noFill/>
          <a:ln>
            <a:noFill/>
          </a:ln>
        </p:spPr>
        <p:txBody>
          <a:bodyPr wrap="square" lIns="0" rIns="0" tIns="0" bIns="0" anchor="t"/>
          <a:lstStyle/>
          <a:p>
            <a:pPr algn="l">
              <a:lnSpc>
                <a:spcPts val="2100"/>
              </a:lnSpc>
              <a:spcBef>
                <a:spcPts val="0"/>
              </a:spcBef>
              <a:spcAft>
                <a:spcPts val="0"/>
              </a:spcAft>
              <a:buNone/>
            </a:pPr>
            <a:r>
              <a:rPr lang="en-US" sz="2100" b="0" i="0" spc="0">
                <a:solidFill>
                  <a:srgbClr val="F0F0EC"/>
                </a:solidFill>
                <a:latin typeface="Instrument Serif"/>
                <a:ea typeface="Instrument Serif"/>
                <a:cs typeface="Instrument Serif"/>
              </a:rPr>
              <a:t xml:space="preserve">1,715</a:t>
            </a:r>
            <a:endParaRPr lang="en-US"/>
          </a:p>
        </p:txBody>
      </p:sp>
      <p:sp>
        <p:nvSpPr>
          <p:cNvPr id="44" name="Text 44"/>
          <p:cNvSpPr txBox="1"/>
          <p:nvPr/>
        </p:nvSpPr>
        <p:spPr>
          <a:xfrm>
            <a:off x="6886575" y="3429521"/>
            <a:ext cx="1552575" cy="30480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C6C6C0"/>
                </a:solidFill>
                <a:latin typeface="Instrument Sans"/>
                <a:ea typeface="Instrument Sans"/>
                <a:cs typeface="Instrument Sans"/>
              </a:rPr>
              <a:t xml:space="preserve">admissions with clinical MRI, CC0: SOOP</a:t>
            </a:r>
            <a:endParaRPr lang="en-US"/>
          </a:p>
        </p:txBody>
      </p:sp>
      <p:sp>
        <p:nvSpPr>
          <p:cNvPr id="45" name="Text 45"/>
          <p:cNvSpPr txBox="1"/>
          <p:nvPr/>
        </p:nvSpPr>
        <p:spPr>
          <a:xfrm>
            <a:off x="609600" y="4695825"/>
            <a:ext cx="79629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Open data has not guaranteed open code: of 17 segmentation methods published on ATLAS v1.2, 12 reported no public code (Liew 2022).</a:t>
            </a:r>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crisis">
    <p:bg>
      <p:bgPr>
        <a:solidFill>
          <a:srgbClr val="F1F1EF"/>
        </a:solidFill>
        <a:effectLst/>
      </p:bgPr>
    </p:bg>
    <p:spTree>
      <p:nvGrpSpPr>
        <p:cNvPr id="1" name=""/>
        <p:cNvGrpSpPr/>
        <p:nvPr/>
      </p:nvGrpSpPr>
      <p:grpSpPr/>
      <p:sp>
        <p:nvSpPr>
          <p:cNvPr id="2" name="Rule 2"/>
          <p:cNvSpPr txBox="0"/>
          <p:nvPr/>
        </p:nvSpPr>
        <p:spPr>
          <a:xfrm>
            <a:off x="609600" y="1472133"/>
            <a:ext cx="1984772" cy="4762"/>
          </a:xfrm>
          <a:prstGeom prst="rect">
            <a:avLst/>
          </a:prstGeom>
          <a:solidFill>
            <a:srgbClr val="C6C6C1"/>
          </a:solidFill>
          <a:ln>
            <a:noFill/>
          </a:ln>
        </p:spPr>
      </p:sp>
      <p:sp>
        <p:nvSpPr>
          <p:cNvPr id="3" name="Rule 3"/>
          <p:cNvSpPr txBox="0"/>
          <p:nvPr/>
        </p:nvSpPr>
        <p:spPr>
          <a:xfrm>
            <a:off x="2589609" y="1472133"/>
            <a:ext cx="4762" cy="1981200"/>
          </a:xfrm>
          <a:prstGeom prst="rect">
            <a:avLst/>
          </a:prstGeom>
          <a:solidFill>
            <a:srgbClr val="C6C6C1"/>
          </a:solidFill>
          <a:ln>
            <a:noFill/>
          </a:ln>
        </p:spPr>
      </p:sp>
      <p:sp>
        <p:nvSpPr>
          <p:cNvPr id="4" name="Rule 4"/>
          <p:cNvSpPr txBox="0"/>
          <p:nvPr/>
        </p:nvSpPr>
        <p:spPr>
          <a:xfrm>
            <a:off x="609600" y="3448571"/>
            <a:ext cx="1984772" cy="4762"/>
          </a:xfrm>
          <a:prstGeom prst="rect">
            <a:avLst/>
          </a:prstGeom>
          <a:solidFill>
            <a:srgbClr val="C6C6C1"/>
          </a:solidFill>
          <a:ln>
            <a:noFill/>
          </a:ln>
        </p:spPr>
      </p:sp>
      <p:sp>
        <p:nvSpPr>
          <p:cNvPr id="5" name="Rule 5"/>
          <p:cNvSpPr txBox="0"/>
          <p:nvPr/>
        </p:nvSpPr>
        <p:spPr>
          <a:xfrm>
            <a:off x="609600" y="1472133"/>
            <a:ext cx="4762" cy="1981200"/>
          </a:xfrm>
          <a:prstGeom prst="rect">
            <a:avLst/>
          </a:prstGeom>
          <a:solidFill>
            <a:srgbClr val="C6C6C1"/>
          </a:solidFill>
          <a:ln>
            <a:noFill/>
          </a:ln>
        </p:spPr>
      </p:sp>
      <p:sp>
        <p:nvSpPr>
          <p:cNvPr id="6" name="Rule 6"/>
          <p:cNvSpPr txBox="0"/>
          <p:nvPr/>
        </p:nvSpPr>
        <p:spPr>
          <a:xfrm>
            <a:off x="2594372" y="1472133"/>
            <a:ext cx="1980009" cy="4762"/>
          </a:xfrm>
          <a:prstGeom prst="rect">
            <a:avLst/>
          </a:prstGeom>
          <a:solidFill>
            <a:srgbClr val="C6C6C1"/>
          </a:solidFill>
          <a:ln>
            <a:noFill/>
          </a:ln>
        </p:spPr>
      </p:sp>
      <p:sp>
        <p:nvSpPr>
          <p:cNvPr id="7" name="Rule 7"/>
          <p:cNvSpPr txBox="0"/>
          <p:nvPr/>
        </p:nvSpPr>
        <p:spPr>
          <a:xfrm>
            <a:off x="4569619" y="1472133"/>
            <a:ext cx="4762" cy="1981200"/>
          </a:xfrm>
          <a:prstGeom prst="rect">
            <a:avLst/>
          </a:prstGeom>
          <a:solidFill>
            <a:srgbClr val="C6C6C1"/>
          </a:solidFill>
          <a:ln>
            <a:noFill/>
          </a:ln>
        </p:spPr>
      </p:sp>
      <p:sp>
        <p:nvSpPr>
          <p:cNvPr id="8" name="Rule 8"/>
          <p:cNvSpPr txBox="0"/>
          <p:nvPr/>
        </p:nvSpPr>
        <p:spPr>
          <a:xfrm>
            <a:off x="2594372" y="3448571"/>
            <a:ext cx="1980009" cy="4762"/>
          </a:xfrm>
          <a:prstGeom prst="rect">
            <a:avLst/>
          </a:prstGeom>
          <a:solidFill>
            <a:srgbClr val="C6C6C1"/>
          </a:solidFill>
          <a:ln>
            <a:noFill/>
          </a:ln>
        </p:spPr>
      </p:sp>
      <p:sp>
        <p:nvSpPr>
          <p:cNvPr id="9" name="Rule 9"/>
          <p:cNvSpPr txBox="0"/>
          <p:nvPr/>
        </p:nvSpPr>
        <p:spPr>
          <a:xfrm>
            <a:off x="4574381" y="1472133"/>
            <a:ext cx="1980009" cy="4762"/>
          </a:xfrm>
          <a:prstGeom prst="rect">
            <a:avLst/>
          </a:prstGeom>
          <a:solidFill>
            <a:srgbClr val="C6C6C1"/>
          </a:solidFill>
          <a:ln>
            <a:noFill/>
          </a:ln>
        </p:spPr>
      </p:sp>
      <p:sp>
        <p:nvSpPr>
          <p:cNvPr id="10" name="Rule 10"/>
          <p:cNvSpPr txBox="0"/>
          <p:nvPr/>
        </p:nvSpPr>
        <p:spPr>
          <a:xfrm>
            <a:off x="6549628" y="1472133"/>
            <a:ext cx="4762" cy="1981200"/>
          </a:xfrm>
          <a:prstGeom prst="rect">
            <a:avLst/>
          </a:prstGeom>
          <a:solidFill>
            <a:srgbClr val="C6C6C1"/>
          </a:solidFill>
          <a:ln>
            <a:noFill/>
          </a:ln>
        </p:spPr>
      </p:sp>
      <p:sp>
        <p:nvSpPr>
          <p:cNvPr id="11" name="Rule 11"/>
          <p:cNvSpPr txBox="0"/>
          <p:nvPr/>
        </p:nvSpPr>
        <p:spPr>
          <a:xfrm>
            <a:off x="4574381" y="3448571"/>
            <a:ext cx="1980009" cy="4762"/>
          </a:xfrm>
          <a:prstGeom prst="rect">
            <a:avLst/>
          </a:prstGeom>
          <a:solidFill>
            <a:srgbClr val="C6C6C1"/>
          </a:solidFill>
          <a:ln>
            <a:noFill/>
          </a:ln>
        </p:spPr>
      </p:sp>
      <p:sp>
        <p:nvSpPr>
          <p:cNvPr id="12" name="Rule 12"/>
          <p:cNvSpPr txBox="0"/>
          <p:nvPr/>
        </p:nvSpPr>
        <p:spPr>
          <a:xfrm>
            <a:off x="6554391" y="1472133"/>
            <a:ext cx="1980009" cy="4762"/>
          </a:xfrm>
          <a:prstGeom prst="rect">
            <a:avLst/>
          </a:prstGeom>
          <a:solidFill>
            <a:srgbClr val="C6C6C1"/>
          </a:solidFill>
          <a:ln>
            <a:noFill/>
          </a:ln>
        </p:spPr>
      </p:sp>
      <p:sp>
        <p:nvSpPr>
          <p:cNvPr id="13" name="Rule 13"/>
          <p:cNvSpPr txBox="0"/>
          <p:nvPr/>
        </p:nvSpPr>
        <p:spPr>
          <a:xfrm>
            <a:off x="8529638" y="1472133"/>
            <a:ext cx="4762" cy="1981200"/>
          </a:xfrm>
          <a:prstGeom prst="rect">
            <a:avLst/>
          </a:prstGeom>
          <a:solidFill>
            <a:srgbClr val="C6C6C1"/>
          </a:solidFill>
          <a:ln>
            <a:noFill/>
          </a:ln>
        </p:spPr>
      </p:sp>
      <p:sp>
        <p:nvSpPr>
          <p:cNvPr id="14" name="Rule 14"/>
          <p:cNvSpPr txBox="0"/>
          <p:nvPr/>
        </p:nvSpPr>
        <p:spPr>
          <a:xfrm>
            <a:off x="6554391" y="3448571"/>
            <a:ext cx="1980009" cy="4762"/>
          </a:xfrm>
          <a:prstGeom prst="rect">
            <a:avLst/>
          </a:prstGeom>
          <a:solidFill>
            <a:srgbClr val="C6C6C1"/>
          </a:solidFill>
          <a:ln>
            <a:noFill/>
          </a:ln>
        </p:spPr>
      </p:sp>
      <p:sp>
        <p:nvSpPr>
          <p:cNvPr id="15" name="Rule 15"/>
          <p:cNvSpPr txBox="0"/>
          <p:nvPr/>
        </p:nvSpPr>
        <p:spPr>
          <a:xfrm>
            <a:off x="609600" y="3834333"/>
            <a:ext cx="7924800" cy="4762"/>
          </a:xfrm>
          <a:prstGeom prst="rect">
            <a:avLst/>
          </a:prstGeom>
          <a:solidFill>
            <a:srgbClr val="141414"/>
          </a:solidFill>
          <a:ln>
            <a:noFill/>
          </a:ln>
        </p:spPr>
      </p:sp>
      <p:sp>
        <p:nvSpPr>
          <p:cNvPr id="16" name="Text 16"/>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7" name="Text 17"/>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02</a:t>
            </a:r>
            <a:r>
              <a:rPr lang="en-US" sz="900" b="0" i="0" spc="0">
                <a:solidFill>
                  <a:srgbClr val="85857F"/>
                </a:solidFill>
                <a:latin typeface="Instrument Sans"/>
                <a:ea typeface="Instrument Sans"/>
                <a:cs typeface="Instrument Sans"/>
              </a:rPr>
              <a:t xml:space="preserve">  Why open science</a:t>
            </a:r>
            <a:endParaRPr lang="en-US"/>
          </a:p>
        </p:txBody>
      </p:sp>
      <p:sp>
        <p:nvSpPr>
          <p:cNvPr id="18" name="Text 18"/>
          <p:cNvSpPr txBox="1"/>
          <p:nvPr/>
        </p:nvSpPr>
        <p:spPr>
          <a:xfrm>
            <a:off x="609600" y="952500"/>
            <a:ext cx="7962900" cy="348183"/>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Different problems within the reproducibility crisis</a:t>
            </a:r>
            <a:endParaRPr lang="en-US"/>
          </a:p>
        </p:txBody>
      </p:sp>
      <p:sp>
        <p:nvSpPr>
          <p:cNvPr id="19" name="Text 19"/>
          <p:cNvSpPr txBox="1"/>
          <p:nvPr/>
        </p:nvSpPr>
        <p:spPr>
          <a:xfrm>
            <a:off x="766762" y="1610246"/>
            <a:ext cx="1708547"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Replication · Psychology</a:t>
            </a:r>
            <a:endParaRPr lang="en-US"/>
          </a:p>
        </p:txBody>
      </p:sp>
      <p:sp>
        <p:nvSpPr>
          <p:cNvPr id="20" name="Text 20"/>
          <p:cNvSpPr txBox="1"/>
          <p:nvPr/>
        </p:nvSpPr>
        <p:spPr>
          <a:xfrm>
            <a:off x="766762" y="1915046"/>
            <a:ext cx="1708547" cy="552450"/>
          </a:xfrm>
          <a:prstGeom prst="rect">
            <a:avLst/>
          </a:prstGeom>
          <a:noFill/>
          <a:ln>
            <a:noFill/>
          </a:ln>
        </p:spPr>
        <p:txBody>
          <a:bodyPr wrap="square" lIns="0" rIns="0" tIns="0" bIns="0" anchor="t"/>
          <a:lstStyle/>
          <a:p>
            <a:pPr algn="l">
              <a:lnSpc>
                <a:spcPts val="4200"/>
              </a:lnSpc>
              <a:spcBef>
                <a:spcPts val="0"/>
              </a:spcBef>
              <a:spcAft>
                <a:spcPts val="0"/>
              </a:spcAft>
              <a:buNone/>
            </a:pPr>
            <a:r>
              <a:rPr lang="en-US" sz="4200" b="0" i="0" spc="0">
                <a:solidFill>
                  <a:srgbClr val="D7263D"/>
                </a:solidFill>
                <a:latin typeface="Instrument Serif"/>
                <a:ea typeface="Instrument Serif"/>
                <a:cs typeface="Instrument Serif"/>
              </a:rPr>
              <a:t xml:space="preserve">36%</a:t>
            </a:r>
            <a:endParaRPr lang="en-US"/>
          </a:p>
        </p:txBody>
      </p:sp>
      <p:sp>
        <p:nvSpPr>
          <p:cNvPr id="21" name="Text 21"/>
          <p:cNvSpPr txBox="1"/>
          <p:nvPr/>
        </p:nvSpPr>
        <p:spPr>
          <a:xfrm>
            <a:off x="766762" y="2600846"/>
            <a:ext cx="1708547" cy="7334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of 100 published findings replicated with a significant result; effect sizes about half the originals. Open Science Collaboration, Science 2015</a:t>
            </a:r>
            <a:endParaRPr lang="en-US"/>
          </a:p>
        </p:txBody>
      </p:sp>
      <p:sp>
        <p:nvSpPr>
          <p:cNvPr id="22" name="Text 22"/>
          <p:cNvSpPr txBox="1"/>
          <p:nvPr/>
        </p:nvSpPr>
        <p:spPr>
          <a:xfrm>
            <a:off x="2746772" y="1610246"/>
            <a:ext cx="1708547"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Statistical power · Neuroscience</a:t>
            </a:r>
            <a:endParaRPr lang="en-US"/>
          </a:p>
        </p:txBody>
      </p:sp>
      <p:sp>
        <p:nvSpPr>
          <p:cNvPr id="23" name="Text 23"/>
          <p:cNvSpPr txBox="1"/>
          <p:nvPr/>
        </p:nvSpPr>
        <p:spPr>
          <a:xfrm>
            <a:off x="2746772" y="2062683"/>
            <a:ext cx="1708547" cy="552450"/>
          </a:xfrm>
          <a:prstGeom prst="rect">
            <a:avLst/>
          </a:prstGeom>
          <a:noFill/>
          <a:ln>
            <a:noFill/>
          </a:ln>
        </p:spPr>
        <p:txBody>
          <a:bodyPr wrap="square" lIns="0" rIns="0" tIns="0" bIns="0" anchor="t"/>
          <a:lstStyle/>
          <a:p>
            <a:pPr algn="l">
              <a:lnSpc>
                <a:spcPts val="4200"/>
              </a:lnSpc>
              <a:spcBef>
                <a:spcPts val="0"/>
              </a:spcBef>
              <a:spcAft>
                <a:spcPts val="0"/>
              </a:spcAft>
              <a:buNone/>
            </a:pPr>
            <a:r>
              <a:rPr lang="en-US" sz="4200" b="0" i="0" spc="0">
                <a:solidFill>
                  <a:srgbClr val="D7263D"/>
                </a:solidFill>
                <a:latin typeface="Instrument Serif"/>
                <a:ea typeface="Instrument Serif"/>
                <a:cs typeface="Instrument Serif"/>
              </a:rPr>
              <a:t xml:space="preserve">21%</a:t>
            </a:r>
            <a:endParaRPr lang="en-US"/>
          </a:p>
        </p:txBody>
      </p:sp>
      <p:sp>
        <p:nvSpPr>
          <p:cNvPr id="24" name="Text 24"/>
          <p:cNvSpPr txBox="1"/>
          <p:nvPr/>
        </p:nvSpPr>
        <p:spPr>
          <a:xfrm>
            <a:off x="2746772" y="2743721"/>
            <a:ext cx="1708547" cy="59055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median statistical power of neuroscience studies. Button et al., Nature Reviews Neuroscience 2013</a:t>
            </a:r>
            <a:endParaRPr lang="en-US"/>
          </a:p>
        </p:txBody>
      </p:sp>
      <p:sp>
        <p:nvSpPr>
          <p:cNvPr id="25" name="Text 25"/>
          <p:cNvSpPr txBox="1"/>
          <p:nvPr/>
        </p:nvSpPr>
        <p:spPr>
          <a:xfrm>
            <a:off x="4726781" y="1610246"/>
            <a:ext cx="1708547"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Confirmation · Preclinical cancer</a:t>
            </a:r>
            <a:endParaRPr lang="en-US"/>
          </a:p>
        </p:txBody>
      </p:sp>
      <p:sp>
        <p:nvSpPr>
          <p:cNvPr id="26" name="Text 26"/>
          <p:cNvSpPr txBox="1"/>
          <p:nvPr/>
        </p:nvSpPr>
        <p:spPr>
          <a:xfrm>
            <a:off x="4726781" y="2172221"/>
            <a:ext cx="1708547" cy="476250"/>
          </a:xfrm>
          <a:prstGeom prst="rect">
            <a:avLst/>
          </a:prstGeom>
          <a:noFill/>
          <a:ln>
            <a:noFill/>
          </a:ln>
        </p:spPr>
        <p:txBody>
          <a:bodyPr wrap="square" lIns="0" rIns="0" tIns="0" bIns="0" anchor="t"/>
          <a:lstStyle/>
          <a:p>
            <a:pPr algn="l">
              <a:lnSpc>
                <a:spcPts val="3600"/>
              </a:lnSpc>
              <a:spcBef>
                <a:spcPts val="0"/>
              </a:spcBef>
              <a:spcAft>
                <a:spcPts val="0"/>
              </a:spcAft>
              <a:buNone/>
            </a:pPr>
            <a:r>
              <a:rPr lang="en-US" sz="3600" b="0" i="0" spc="0">
                <a:solidFill>
                  <a:srgbClr val="D7263D"/>
                </a:solidFill>
                <a:latin typeface="Instrument Serif"/>
                <a:ea typeface="Instrument Serif"/>
                <a:cs typeface="Instrument Serif"/>
              </a:rPr>
              <a:t xml:space="preserve">6 of 53</a:t>
            </a:r>
            <a:endParaRPr lang="en-US"/>
          </a:p>
        </p:txBody>
      </p:sp>
      <p:sp>
        <p:nvSpPr>
          <p:cNvPr id="27" name="Text 27"/>
          <p:cNvSpPr txBox="1"/>
          <p:nvPr/>
        </p:nvSpPr>
        <p:spPr>
          <a:xfrm>
            <a:off x="4726781" y="2886596"/>
            <a:ext cx="1708547" cy="44767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landmark findings that Amgen could reproduce. Begley and Ellis, Nature 2012</a:t>
            </a:r>
            <a:endParaRPr lang="en-US"/>
          </a:p>
        </p:txBody>
      </p:sp>
      <p:sp>
        <p:nvSpPr>
          <p:cNvPr id="28" name="Text 28"/>
          <p:cNvSpPr txBox="1"/>
          <p:nvPr/>
        </p:nvSpPr>
        <p:spPr>
          <a:xfrm>
            <a:off x="6706791" y="1610246"/>
            <a:ext cx="1708547"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Experience · Researcher survey</a:t>
            </a:r>
            <a:endParaRPr lang="en-US"/>
          </a:p>
        </p:txBody>
      </p:sp>
      <p:sp>
        <p:nvSpPr>
          <p:cNvPr id="29" name="Text 29"/>
          <p:cNvSpPr txBox="1"/>
          <p:nvPr/>
        </p:nvSpPr>
        <p:spPr>
          <a:xfrm>
            <a:off x="6706791" y="1991246"/>
            <a:ext cx="1708547" cy="552450"/>
          </a:xfrm>
          <a:prstGeom prst="rect">
            <a:avLst/>
          </a:prstGeom>
          <a:noFill/>
          <a:ln>
            <a:noFill/>
          </a:ln>
        </p:spPr>
        <p:txBody>
          <a:bodyPr wrap="square" lIns="0" rIns="0" tIns="0" bIns="0" anchor="t"/>
          <a:lstStyle/>
          <a:p>
            <a:pPr algn="l">
              <a:lnSpc>
                <a:spcPts val="4200"/>
              </a:lnSpc>
              <a:spcBef>
                <a:spcPts val="0"/>
              </a:spcBef>
              <a:spcAft>
                <a:spcPts val="0"/>
              </a:spcAft>
              <a:buNone/>
            </a:pPr>
            <a:r>
              <a:rPr lang="en-US" sz="4200" b="0" i="0" spc="0">
                <a:solidFill>
                  <a:srgbClr val="D7263D"/>
                </a:solidFill>
                <a:latin typeface="Instrument Serif"/>
                <a:ea typeface="Instrument Serif"/>
                <a:cs typeface="Instrument Serif"/>
              </a:rPr>
              <a:t xml:space="preserve">70%</a:t>
            </a:r>
            <a:endParaRPr lang="en-US"/>
          </a:p>
        </p:txBody>
      </p:sp>
      <p:sp>
        <p:nvSpPr>
          <p:cNvPr id="30" name="Text 30"/>
          <p:cNvSpPr txBox="1"/>
          <p:nvPr/>
        </p:nvSpPr>
        <p:spPr>
          <a:xfrm>
            <a:off x="6706791" y="2600846"/>
            <a:ext cx="1708547" cy="7334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of 1,576 researchers had failed to reproduce another group’s experiment; 52% called it a significant crisis. Baker, Nature 2016</a:t>
            </a:r>
            <a:endParaRPr lang="en-US"/>
          </a:p>
        </p:txBody>
      </p:sp>
      <p:sp>
        <p:nvSpPr>
          <p:cNvPr id="31" name="Text 31"/>
          <p:cNvSpPr txBox="1"/>
          <p:nvPr/>
        </p:nvSpPr>
        <p:spPr>
          <a:xfrm>
            <a:off x="609600" y="4185568"/>
            <a:ext cx="203835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Why it happened</a:t>
            </a:r>
            <a:endParaRPr lang="en-US"/>
          </a:p>
        </p:txBody>
      </p:sp>
      <p:sp>
        <p:nvSpPr>
          <p:cNvPr id="32" name="Text 32"/>
          <p:cNvSpPr txBox="1"/>
          <p:nvPr/>
        </p:nvSpPr>
        <p:spPr>
          <a:xfrm>
            <a:off x="2800350" y="3972446"/>
            <a:ext cx="5772150" cy="597694"/>
          </a:xfrm>
          <a:prstGeom prst="rect">
            <a:avLst/>
          </a:prstGeom>
          <a:noFill/>
          <a:ln>
            <a:noFill/>
          </a:ln>
        </p:spPr>
        <p:txBody>
          <a:bodyPr wrap="square" lIns="0" rIns="0" tIns="0" bIns="0" anchor="t"/>
          <a:lstStyle/>
          <a:p>
            <a:pPr algn="l">
              <a:lnSpc>
                <a:spcPts val="1519"/>
              </a:lnSpc>
              <a:spcBef>
                <a:spcPts val="0"/>
              </a:spcBef>
              <a:spcAft>
                <a:spcPts val="0"/>
              </a:spcAft>
              <a:buNone/>
            </a:pPr>
            <a:r>
              <a:rPr lang="en-US" sz="1125" b="0" i="0" spc="0">
                <a:solidFill>
                  <a:srgbClr val="4A4A47"/>
                </a:solidFill>
                <a:latin typeface="Instrument Sans"/>
                <a:ea typeface="Instrument Sans"/>
                <a:cs typeface="Instrument Sans"/>
              </a:rPr>
              <a:t xml:space="preserve">Small samples, flexible analyses, selective reporting. Four routine analysis choices raise a 5% false-positive rate to 61% (Simmons 2011); 63% of 2,155 psychologists admitted not reporting all their measures (John 2012).</a:t>
            </a:r>
            <a:endParaRPr lang="en-US"/>
          </a:p>
        </p:txBody>
      </p:sp>
      <p:sp>
        <p:nvSpPr>
          <p:cNvPr id="33" name="Text 33"/>
          <p:cNvSpPr txBox="1"/>
          <p:nvPr/>
        </p:nvSpPr>
        <p:spPr>
          <a:xfrm>
            <a:off x="609600" y="4695825"/>
            <a:ext cx="79629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Replication studies, power estimates and surveys answer different questions.</a:t>
            </a:r>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crisis-now">
    <p:bg>
      <p:bgPr>
        <a:solidFill>
          <a:srgbClr val="F1F1EF"/>
        </a:solidFill>
        <a:effectLst/>
      </p:bgPr>
    </p:bg>
    <p:spTree>
      <p:nvGrpSpPr>
        <p:cNvPr id="1" name=""/>
        <p:cNvGrpSpPr/>
        <p:nvPr/>
      </p:nvGrpSpPr>
      <p:grpSpPr/>
      <p:sp>
        <p:nvSpPr>
          <p:cNvPr id="2" name="Rule 2"/>
          <p:cNvSpPr txBox="0"/>
          <p:nvPr/>
        </p:nvSpPr>
        <p:spPr>
          <a:xfrm>
            <a:off x="609600" y="1557858"/>
            <a:ext cx="4572000" cy="4762"/>
          </a:xfrm>
          <a:prstGeom prst="rect">
            <a:avLst/>
          </a:prstGeom>
          <a:solidFill>
            <a:srgbClr val="C6C6C1"/>
          </a:solidFill>
          <a:ln>
            <a:noFill/>
          </a:ln>
        </p:spPr>
      </p:sp>
      <p:sp>
        <p:nvSpPr>
          <p:cNvPr id="3" name="Rule 3"/>
          <p:cNvSpPr txBox="0"/>
          <p:nvPr/>
        </p:nvSpPr>
        <p:spPr>
          <a:xfrm>
            <a:off x="609600" y="2041699"/>
            <a:ext cx="4572000" cy="4762"/>
          </a:xfrm>
          <a:prstGeom prst="rect">
            <a:avLst/>
          </a:prstGeom>
          <a:solidFill>
            <a:srgbClr val="C6C6C1"/>
          </a:solidFill>
          <a:ln>
            <a:noFill/>
          </a:ln>
        </p:spPr>
      </p:sp>
      <p:sp>
        <p:nvSpPr>
          <p:cNvPr id="4" name="Rule 4"/>
          <p:cNvSpPr txBox="0"/>
          <p:nvPr/>
        </p:nvSpPr>
        <p:spPr>
          <a:xfrm>
            <a:off x="609600" y="2525539"/>
            <a:ext cx="4572000" cy="4762"/>
          </a:xfrm>
          <a:prstGeom prst="rect">
            <a:avLst/>
          </a:prstGeom>
          <a:solidFill>
            <a:srgbClr val="C6C6C1"/>
          </a:solidFill>
          <a:ln>
            <a:noFill/>
          </a:ln>
        </p:spPr>
      </p:sp>
      <p:sp>
        <p:nvSpPr>
          <p:cNvPr id="5" name="Rule 5"/>
          <p:cNvSpPr txBox="0"/>
          <p:nvPr/>
        </p:nvSpPr>
        <p:spPr>
          <a:xfrm>
            <a:off x="609600" y="2848421"/>
            <a:ext cx="4572000" cy="4762"/>
          </a:xfrm>
          <a:prstGeom prst="rect">
            <a:avLst/>
          </a:prstGeom>
          <a:solidFill>
            <a:srgbClr val="C6C6C1"/>
          </a:solidFill>
          <a:ln>
            <a:noFill/>
          </a:ln>
        </p:spPr>
      </p:sp>
      <p:sp>
        <p:nvSpPr>
          <p:cNvPr id="6" name="Rule 6"/>
          <p:cNvSpPr txBox="0"/>
          <p:nvPr/>
        </p:nvSpPr>
        <p:spPr>
          <a:xfrm>
            <a:off x="609600" y="3332262"/>
            <a:ext cx="4572000" cy="4762"/>
          </a:xfrm>
          <a:prstGeom prst="rect">
            <a:avLst/>
          </a:prstGeom>
          <a:solidFill>
            <a:srgbClr val="C6C6C1"/>
          </a:solidFill>
          <a:ln>
            <a:noFill/>
          </a:ln>
        </p:spPr>
      </p:sp>
      <p:sp>
        <p:nvSpPr>
          <p:cNvPr id="7" name="Rule 7"/>
          <p:cNvSpPr txBox="0"/>
          <p:nvPr/>
        </p:nvSpPr>
        <p:spPr>
          <a:xfrm>
            <a:off x="609600" y="3816102"/>
            <a:ext cx="4572000" cy="4762"/>
          </a:xfrm>
          <a:prstGeom prst="rect">
            <a:avLst/>
          </a:prstGeom>
          <a:solidFill>
            <a:srgbClr val="C6C6C1"/>
          </a:solidFill>
          <a:ln>
            <a:noFill/>
          </a:ln>
        </p:spPr>
      </p:sp>
      <p:sp>
        <p:nvSpPr>
          <p:cNvPr id="8" name="Rule 8"/>
          <p:cNvSpPr txBox="0"/>
          <p:nvPr/>
        </p:nvSpPr>
        <p:spPr>
          <a:xfrm>
            <a:off x="5486400" y="1557858"/>
            <a:ext cx="3048000" cy="4762"/>
          </a:xfrm>
          <a:prstGeom prst="rect">
            <a:avLst/>
          </a:prstGeom>
          <a:solidFill>
            <a:srgbClr val="C6C6C1"/>
          </a:solidFill>
          <a:ln>
            <a:noFill/>
          </a:ln>
        </p:spPr>
      </p:sp>
      <p:sp>
        <p:nvSpPr>
          <p:cNvPr id="9" name="Rule 9"/>
          <p:cNvSpPr txBox="0"/>
          <p:nvPr/>
        </p:nvSpPr>
        <p:spPr>
          <a:xfrm>
            <a:off x="8529638" y="1557858"/>
            <a:ext cx="4762" cy="933450"/>
          </a:xfrm>
          <a:prstGeom prst="rect">
            <a:avLst/>
          </a:prstGeom>
          <a:solidFill>
            <a:srgbClr val="C6C6C1"/>
          </a:solidFill>
          <a:ln>
            <a:noFill/>
          </a:ln>
        </p:spPr>
      </p:sp>
      <p:sp>
        <p:nvSpPr>
          <p:cNvPr id="10" name="Rule 10"/>
          <p:cNvSpPr txBox="0"/>
          <p:nvPr/>
        </p:nvSpPr>
        <p:spPr>
          <a:xfrm>
            <a:off x="5486400" y="2486546"/>
            <a:ext cx="3048000" cy="4762"/>
          </a:xfrm>
          <a:prstGeom prst="rect">
            <a:avLst/>
          </a:prstGeom>
          <a:solidFill>
            <a:srgbClr val="C6C6C1"/>
          </a:solidFill>
          <a:ln>
            <a:noFill/>
          </a:ln>
        </p:spPr>
      </p:sp>
      <p:sp>
        <p:nvSpPr>
          <p:cNvPr id="11" name="Rule 11"/>
          <p:cNvSpPr txBox="0"/>
          <p:nvPr/>
        </p:nvSpPr>
        <p:spPr>
          <a:xfrm>
            <a:off x="5486400" y="1557858"/>
            <a:ext cx="4762" cy="933450"/>
          </a:xfrm>
          <a:prstGeom prst="rect">
            <a:avLst/>
          </a:prstGeom>
          <a:solidFill>
            <a:srgbClr val="C6C6C1"/>
          </a:solidFill>
          <a:ln>
            <a:noFill/>
          </a:ln>
        </p:spPr>
      </p:sp>
      <p:sp>
        <p:nvSpPr>
          <p:cNvPr id="12" name="Rule 12"/>
          <p:cNvSpPr txBox="0"/>
          <p:nvPr/>
        </p:nvSpPr>
        <p:spPr>
          <a:xfrm>
            <a:off x="8529638" y="2491308"/>
            <a:ext cx="4762" cy="928688"/>
          </a:xfrm>
          <a:prstGeom prst="rect">
            <a:avLst/>
          </a:prstGeom>
          <a:solidFill>
            <a:srgbClr val="C6C6C1"/>
          </a:solidFill>
          <a:ln>
            <a:noFill/>
          </a:ln>
        </p:spPr>
      </p:sp>
      <p:sp>
        <p:nvSpPr>
          <p:cNvPr id="13" name="Rule 13"/>
          <p:cNvSpPr txBox="0"/>
          <p:nvPr/>
        </p:nvSpPr>
        <p:spPr>
          <a:xfrm>
            <a:off x="5486400" y="3415233"/>
            <a:ext cx="3048000" cy="4762"/>
          </a:xfrm>
          <a:prstGeom prst="rect">
            <a:avLst/>
          </a:prstGeom>
          <a:solidFill>
            <a:srgbClr val="C6C6C1"/>
          </a:solidFill>
          <a:ln>
            <a:noFill/>
          </a:ln>
        </p:spPr>
      </p:sp>
      <p:sp>
        <p:nvSpPr>
          <p:cNvPr id="14" name="Rule 14"/>
          <p:cNvSpPr txBox="0"/>
          <p:nvPr/>
        </p:nvSpPr>
        <p:spPr>
          <a:xfrm>
            <a:off x="5486400" y="2491308"/>
            <a:ext cx="4762" cy="928688"/>
          </a:xfrm>
          <a:prstGeom prst="rect">
            <a:avLst/>
          </a:prstGeom>
          <a:solidFill>
            <a:srgbClr val="C6C6C1"/>
          </a:solidFill>
          <a:ln>
            <a:noFill/>
          </a:ln>
        </p:spPr>
      </p:sp>
      <p:sp>
        <p:nvSpPr>
          <p:cNvPr id="15" name="Rule 15"/>
          <p:cNvSpPr txBox="0"/>
          <p:nvPr/>
        </p:nvSpPr>
        <p:spPr>
          <a:xfrm>
            <a:off x="8529638" y="3419996"/>
            <a:ext cx="4762" cy="928688"/>
          </a:xfrm>
          <a:prstGeom prst="rect">
            <a:avLst/>
          </a:prstGeom>
          <a:solidFill>
            <a:srgbClr val="C6C6C1"/>
          </a:solidFill>
          <a:ln>
            <a:noFill/>
          </a:ln>
        </p:spPr>
      </p:sp>
      <p:sp>
        <p:nvSpPr>
          <p:cNvPr id="16" name="Rule 16"/>
          <p:cNvSpPr txBox="0"/>
          <p:nvPr/>
        </p:nvSpPr>
        <p:spPr>
          <a:xfrm>
            <a:off x="5486400" y="4343921"/>
            <a:ext cx="3048000" cy="4762"/>
          </a:xfrm>
          <a:prstGeom prst="rect">
            <a:avLst/>
          </a:prstGeom>
          <a:solidFill>
            <a:srgbClr val="C6C6C1"/>
          </a:solidFill>
          <a:ln>
            <a:noFill/>
          </a:ln>
        </p:spPr>
      </p:sp>
      <p:sp>
        <p:nvSpPr>
          <p:cNvPr id="17" name="Rule 17"/>
          <p:cNvSpPr txBox="0"/>
          <p:nvPr/>
        </p:nvSpPr>
        <p:spPr>
          <a:xfrm>
            <a:off x="5486400" y="3419996"/>
            <a:ext cx="4762" cy="928688"/>
          </a:xfrm>
          <a:prstGeom prst="rect">
            <a:avLst/>
          </a:prstGeom>
          <a:solidFill>
            <a:srgbClr val="C6C6C1"/>
          </a:solidFill>
          <a:ln>
            <a:noFill/>
          </a:ln>
        </p:spPr>
      </p:sp>
      <p:sp>
        <p:nvSpPr>
          <p:cNvPr id="18" name="Text 18"/>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9" name="Text 19"/>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03</a:t>
            </a:r>
            <a:r>
              <a:rPr lang="en-US" sz="900" b="0" i="0" spc="0">
                <a:solidFill>
                  <a:srgbClr val="85857F"/>
                </a:solidFill>
                <a:latin typeface="Instrument Sans"/>
                <a:ea typeface="Instrument Sans"/>
                <a:cs typeface="Instrument Sans"/>
              </a:rPr>
              <a:t xml:space="preserve">  Where the fields next door are now</a:t>
            </a:r>
            <a:endParaRPr lang="en-US"/>
          </a:p>
        </p:txBody>
      </p:sp>
      <p:sp>
        <p:nvSpPr>
          <p:cNvPr id="20" name="Text 20"/>
          <p:cNvSpPr txBox="1"/>
          <p:nvPr/>
        </p:nvSpPr>
        <p:spPr>
          <a:xfrm>
            <a:off x="609600" y="895350"/>
            <a:ext cx="7962900" cy="348183"/>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The rules now exist. Practice is catching up.</a:t>
            </a:r>
            <a:endParaRPr lang="en-US"/>
          </a:p>
        </p:txBody>
      </p:sp>
      <p:sp>
        <p:nvSpPr>
          <p:cNvPr id="21" name="Text 21"/>
          <p:cNvSpPr txBox="1"/>
          <p:nvPr/>
        </p:nvSpPr>
        <p:spPr>
          <a:xfrm>
            <a:off x="609600" y="1357833"/>
            <a:ext cx="46101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85857F"/>
                </a:solidFill>
                <a:latin typeface="Instrument Sans"/>
                <a:ea typeface="Instrument Sans"/>
                <a:cs typeface="Instrument Sans"/>
              </a:rPr>
              <a:t xml:space="preserve">What they agreed on</a:t>
            </a:r>
            <a:endParaRPr lang="en-US"/>
          </a:p>
        </p:txBody>
      </p:sp>
      <p:sp>
        <p:nvSpPr>
          <p:cNvPr id="22" name="Text 22"/>
          <p:cNvSpPr txBox="1"/>
          <p:nvPr/>
        </p:nvSpPr>
        <p:spPr>
          <a:xfrm>
            <a:off x="609600" y="1619771"/>
            <a:ext cx="495300" cy="209550"/>
          </a:xfrm>
          <a:prstGeom prst="rect">
            <a:avLst/>
          </a:prstGeom>
          <a:noFill/>
          <a:ln>
            <a:noFill/>
          </a:ln>
        </p:spPr>
        <p:txBody>
          <a:bodyPr wrap="square" lIns="0" rIns="0" tIns="0" bIns="0" anchor="t"/>
          <a:lstStyle/>
          <a:p>
            <a:pPr algn="l">
              <a:lnSpc>
                <a:spcPts val="1500"/>
              </a:lnSpc>
              <a:spcBef>
                <a:spcPts val="0"/>
              </a:spcBef>
              <a:spcAft>
                <a:spcPts val="0"/>
              </a:spcAft>
              <a:buNone/>
            </a:pPr>
            <a:r>
              <a:rPr lang="en-US" sz="1500" b="0" i="0" spc="0">
                <a:solidFill>
                  <a:srgbClr val="D7263D"/>
                </a:solidFill>
                <a:latin typeface="Instrument Serif"/>
                <a:ea typeface="Instrument Serif"/>
                <a:cs typeface="Instrument Serif"/>
              </a:rPr>
              <a:t xml:space="preserve">2013</a:t>
            </a:r>
            <a:endParaRPr lang="en-US"/>
          </a:p>
        </p:txBody>
      </p:sp>
      <p:sp>
        <p:nvSpPr>
          <p:cNvPr id="23" name="Text 23"/>
          <p:cNvSpPr txBox="1"/>
          <p:nvPr/>
        </p:nvSpPr>
        <p:spPr>
          <a:xfrm>
            <a:off x="1200150" y="1662633"/>
            <a:ext cx="4019550" cy="340965"/>
          </a:xfrm>
          <a:prstGeom prst="rect">
            <a:avLst/>
          </a:prstGeom>
          <a:noFill/>
          <a:ln>
            <a:noFill/>
          </a:ln>
        </p:spPr>
        <p:txBody>
          <a:bodyPr wrap="square" lIns="0" rIns="0" tIns="0" bIns="0" anchor="t"/>
          <a:lstStyle/>
          <a:p>
            <a:pPr algn="l">
              <a:lnSpc>
                <a:spcPts val="1268"/>
              </a:lnSpc>
              <a:spcBef>
                <a:spcPts val="0"/>
              </a:spcBef>
              <a:spcAft>
                <a:spcPts val="0"/>
              </a:spcAft>
              <a:buNone/>
            </a:pPr>
            <a:r>
              <a:rPr lang="en-US" sz="975" b="0" i="0" spc="0">
                <a:solidFill>
                  <a:srgbClr val="141414"/>
                </a:solidFill>
                <a:latin typeface="Instrument Sans"/>
                <a:ea typeface="Instrument Sans"/>
                <a:cs typeface="Instrument Sans"/>
              </a:rPr>
              <a:t xml:space="preserve">Registered Reports launch at </a:t>
            </a:r>
            <a:r>
              <a:rPr lang="en-US" sz="975" b="0" i="1" spc="0">
                <a:solidFill>
                  <a:srgbClr val="141414"/>
                </a:solidFill>
                <a:latin typeface="Instrument Sans"/>
                <a:ea typeface="Instrument Sans"/>
                <a:cs typeface="Instrument Sans"/>
              </a:rPr>
              <a:t xml:space="preserve">Cortex</a:t>
            </a:r>
            <a:r>
              <a:rPr lang="en-US" sz="975" b="0" i="0" spc="0">
                <a:solidFill>
                  <a:srgbClr val="141414"/>
                </a:solidFill>
                <a:latin typeface="Instrument Sans"/>
                <a:ea typeface="Instrument Sans"/>
                <a:cs typeface="Instrument Sans"/>
              </a:rPr>
              <a:t xml:space="preserve">, a neuroscience and neuropsychology journal; more than 300 journals offer them now</a:t>
            </a:r>
            <a:endParaRPr lang="en-US"/>
          </a:p>
        </p:txBody>
      </p:sp>
      <p:sp>
        <p:nvSpPr>
          <p:cNvPr id="24" name="Text 24"/>
          <p:cNvSpPr txBox="1"/>
          <p:nvPr/>
        </p:nvSpPr>
        <p:spPr>
          <a:xfrm>
            <a:off x="609600" y="2103611"/>
            <a:ext cx="495300" cy="209550"/>
          </a:xfrm>
          <a:prstGeom prst="rect">
            <a:avLst/>
          </a:prstGeom>
          <a:noFill/>
          <a:ln>
            <a:noFill/>
          </a:ln>
        </p:spPr>
        <p:txBody>
          <a:bodyPr wrap="square" lIns="0" rIns="0" tIns="0" bIns="0" anchor="t"/>
          <a:lstStyle/>
          <a:p>
            <a:pPr algn="l">
              <a:lnSpc>
                <a:spcPts val="1500"/>
              </a:lnSpc>
              <a:spcBef>
                <a:spcPts val="0"/>
              </a:spcBef>
              <a:spcAft>
                <a:spcPts val="0"/>
              </a:spcAft>
              <a:buNone/>
            </a:pPr>
            <a:r>
              <a:rPr lang="en-US" sz="1500" b="0" i="0" spc="0">
                <a:solidFill>
                  <a:srgbClr val="D7263D"/>
                </a:solidFill>
                <a:latin typeface="Instrument Serif"/>
                <a:ea typeface="Instrument Serif"/>
                <a:cs typeface="Instrument Serif"/>
              </a:rPr>
              <a:t xml:space="preserve">2015</a:t>
            </a:r>
            <a:endParaRPr lang="en-US"/>
          </a:p>
        </p:txBody>
      </p:sp>
      <p:sp>
        <p:nvSpPr>
          <p:cNvPr id="25" name="Text 25"/>
          <p:cNvSpPr txBox="1"/>
          <p:nvPr/>
        </p:nvSpPr>
        <p:spPr>
          <a:xfrm>
            <a:off x="1200150" y="2146474"/>
            <a:ext cx="4019550" cy="340965"/>
          </a:xfrm>
          <a:prstGeom prst="rect">
            <a:avLst/>
          </a:prstGeom>
          <a:noFill/>
          <a:ln>
            <a:noFill/>
          </a:ln>
        </p:spPr>
        <p:txBody>
          <a:bodyPr wrap="square" lIns="0" rIns="0" tIns="0" bIns="0" anchor="t"/>
          <a:lstStyle/>
          <a:p>
            <a:pPr algn="l">
              <a:lnSpc>
                <a:spcPts val="1268"/>
              </a:lnSpc>
              <a:spcBef>
                <a:spcPts val="0"/>
              </a:spcBef>
              <a:spcAft>
                <a:spcPts val="0"/>
              </a:spcAft>
              <a:buNone/>
            </a:pPr>
            <a:r>
              <a:rPr lang="en-US" sz="975" b="0" i="0" spc="0">
                <a:solidFill>
                  <a:srgbClr val="141414"/>
                </a:solidFill>
                <a:latin typeface="Instrument Sans"/>
                <a:ea typeface="Instrument Sans"/>
                <a:cs typeface="Instrument Sans"/>
              </a:rPr>
              <a:t xml:space="preserve">TOP guidelines for journals, 5,000+ signatories; revised as TOP 2025, which certifies, not just asks</a:t>
            </a:r>
            <a:endParaRPr lang="en-US"/>
          </a:p>
        </p:txBody>
      </p:sp>
      <p:sp>
        <p:nvSpPr>
          <p:cNvPr id="26" name="Text 26"/>
          <p:cNvSpPr txBox="1"/>
          <p:nvPr/>
        </p:nvSpPr>
        <p:spPr>
          <a:xfrm>
            <a:off x="609600" y="2587451"/>
            <a:ext cx="495300" cy="209550"/>
          </a:xfrm>
          <a:prstGeom prst="rect">
            <a:avLst/>
          </a:prstGeom>
          <a:noFill/>
          <a:ln>
            <a:noFill/>
          </a:ln>
        </p:spPr>
        <p:txBody>
          <a:bodyPr wrap="square" lIns="0" rIns="0" tIns="0" bIns="0" anchor="t"/>
          <a:lstStyle/>
          <a:p>
            <a:pPr algn="l">
              <a:lnSpc>
                <a:spcPts val="1500"/>
              </a:lnSpc>
              <a:spcBef>
                <a:spcPts val="0"/>
              </a:spcBef>
              <a:spcAft>
                <a:spcPts val="0"/>
              </a:spcAft>
              <a:buNone/>
            </a:pPr>
            <a:r>
              <a:rPr lang="en-US" sz="1500" b="0" i="0" spc="0">
                <a:solidFill>
                  <a:srgbClr val="D7263D"/>
                </a:solidFill>
                <a:latin typeface="Instrument Serif"/>
                <a:ea typeface="Instrument Serif"/>
                <a:cs typeface="Instrument Serif"/>
              </a:rPr>
              <a:t xml:space="preserve">2016</a:t>
            </a:r>
            <a:endParaRPr lang="en-US"/>
          </a:p>
        </p:txBody>
      </p:sp>
      <p:sp>
        <p:nvSpPr>
          <p:cNvPr id="27" name="Text 27"/>
          <p:cNvSpPr txBox="1"/>
          <p:nvPr/>
        </p:nvSpPr>
        <p:spPr>
          <a:xfrm>
            <a:off x="1200150" y="2630314"/>
            <a:ext cx="4019550" cy="180008"/>
          </a:xfrm>
          <a:prstGeom prst="rect">
            <a:avLst/>
          </a:prstGeom>
          <a:noFill/>
          <a:ln>
            <a:noFill/>
          </a:ln>
        </p:spPr>
        <p:txBody>
          <a:bodyPr wrap="square" lIns="0" rIns="0" tIns="0" bIns="0" anchor="t"/>
          <a:lstStyle/>
          <a:p>
            <a:pPr algn="l">
              <a:lnSpc>
                <a:spcPts val="1268"/>
              </a:lnSpc>
              <a:spcBef>
                <a:spcPts val="0"/>
              </a:spcBef>
              <a:spcAft>
                <a:spcPts val="0"/>
              </a:spcAft>
              <a:buNone/>
            </a:pPr>
            <a:r>
              <a:rPr lang="en-US" sz="975" b="0" i="0" spc="0">
                <a:solidFill>
                  <a:srgbClr val="141414"/>
                </a:solidFill>
                <a:latin typeface="Instrument Sans"/>
                <a:ea typeface="Instrument Sans"/>
                <a:cs typeface="Instrument Sans"/>
              </a:rPr>
              <a:t xml:space="preserve">BIDS, one standard for organising and sharing neuroimaging data</a:t>
            </a:r>
            <a:endParaRPr lang="en-US"/>
          </a:p>
        </p:txBody>
      </p:sp>
      <p:sp>
        <p:nvSpPr>
          <p:cNvPr id="28" name="Text 28"/>
          <p:cNvSpPr txBox="1"/>
          <p:nvPr/>
        </p:nvSpPr>
        <p:spPr>
          <a:xfrm>
            <a:off x="609600" y="2910334"/>
            <a:ext cx="495300" cy="209550"/>
          </a:xfrm>
          <a:prstGeom prst="rect">
            <a:avLst/>
          </a:prstGeom>
          <a:noFill/>
          <a:ln>
            <a:noFill/>
          </a:ln>
        </p:spPr>
        <p:txBody>
          <a:bodyPr wrap="square" lIns="0" rIns="0" tIns="0" bIns="0" anchor="t"/>
          <a:lstStyle/>
          <a:p>
            <a:pPr algn="l">
              <a:lnSpc>
                <a:spcPts val="1500"/>
              </a:lnSpc>
              <a:spcBef>
                <a:spcPts val="0"/>
              </a:spcBef>
              <a:spcAft>
                <a:spcPts val="0"/>
              </a:spcAft>
              <a:buNone/>
            </a:pPr>
            <a:r>
              <a:rPr lang="en-US" sz="1500" b="0" i="0" spc="0">
                <a:solidFill>
                  <a:srgbClr val="D7263D"/>
                </a:solidFill>
                <a:latin typeface="Instrument Serif"/>
                <a:ea typeface="Instrument Serif"/>
                <a:cs typeface="Instrument Serif"/>
              </a:rPr>
              <a:t xml:space="preserve">2017</a:t>
            </a:r>
            <a:endParaRPr lang="en-US"/>
          </a:p>
        </p:txBody>
      </p:sp>
      <p:sp>
        <p:nvSpPr>
          <p:cNvPr id="29" name="Text 29"/>
          <p:cNvSpPr txBox="1"/>
          <p:nvPr/>
        </p:nvSpPr>
        <p:spPr>
          <a:xfrm>
            <a:off x="1200150" y="2953196"/>
            <a:ext cx="4019550" cy="340965"/>
          </a:xfrm>
          <a:prstGeom prst="rect">
            <a:avLst/>
          </a:prstGeom>
          <a:noFill/>
          <a:ln>
            <a:noFill/>
          </a:ln>
        </p:spPr>
        <p:txBody>
          <a:bodyPr wrap="square" lIns="0" rIns="0" tIns="0" bIns="0" anchor="t"/>
          <a:lstStyle/>
          <a:p>
            <a:pPr algn="l">
              <a:lnSpc>
                <a:spcPts val="1268"/>
              </a:lnSpc>
              <a:spcBef>
                <a:spcPts val="0"/>
              </a:spcBef>
              <a:spcAft>
                <a:spcPts val="0"/>
              </a:spcAft>
              <a:buNone/>
            </a:pPr>
            <a:r>
              <a:rPr lang="en-US" sz="975" b="0" i="0" spc="0">
                <a:solidFill>
                  <a:srgbClr val="141414"/>
                </a:solidFill>
                <a:latin typeface="Instrument Sans"/>
                <a:ea typeface="Instrument Sans"/>
                <a:cs typeface="Instrument Sans"/>
              </a:rPr>
              <a:t xml:space="preserve">A manifesto for reproducible science; COBIDAS, the reporting standard for MRI studies</a:t>
            </a:r>
            <a:endParaRPr lang="en-US"/>
          </a:p>
        </p:txBody>
      </p:sp>
      <p:sp>
        <p:nvSpPr>
          <p:cNvPr id="30" name="Text 30"/>
          <p:cNvSpPr txBox="1"/>
          <p:nvPr/>
        </p:nvSpPr>
        <p:spPr>
          <a:xfrm>
            <a:off x="609600" y="3394174"/>
            <a:ext cx="495300" cy="209550"/>
          </a:xfrm>
          <a:prstGeom prst="rect">
            <a:avLst/>
          </a:prstGeom>
          <a:noFill/>
          <a:ln>
            <a:noFill/>
          </a:ln>
        </p:spPr>
        <p:txBody>
          <a:bodyPr wrap="square" lIns="0" rIns="0" tIns="0" bIns="0" anchor="t"/>
          <a:lstStyle/>
          <a:p>
            <a:pPr algn="l">
              <a:lnSpc>
                <a:spcPts val="1500"/>
              </a:lnSpc>
              <a:spcBef>
                <a:spcPts val="0"/>
              </a:spcBef>
              <a:spcAft>
                <a:spcPts val="0"/>
              </a:spcAft>
              <a:buNone/>
            </a:pPr>
            <a:r>
              <a:rPr lang="en-US" sz="1500" b="0" i="0" spc="0">
                <a:solidFill>
                  <a:srgbClr val="D7263D"/>
                </a:solidFill>
                <a:latin typeface="Instrument Serif"/>
                <a:ea typeface="Instrument Serif"/>
                <a:cs typeface="Instrument Serif"/>
              </a:rPr>
              <a:t xml:space="preserve">2024</a:t>
            </a:r>
            <a:endParaRPr lang="en-US"/>
          </a:p>
        </p:txBody>
      </p:sp>
      <p:sp>
        <p:nvSpPr>
          <p:cNvPr id="31" name="Text 31"/>
          <p:cNvSpPr txBox="1"/>
          <p:nvPr/>
        </p:nvSpPr>
        <p:spPr>
          <a:xfrm>
            <a:off x="1200150" y="3437037"/>
            <a:ext cx="4019550" cy="340965"/>
          </a:xfrm>
          <a:prstGeom prst="rect">
            <a:avLst/>
          </a:prstGeom>
          <a:noFill/>
          <a:ln>
            <a:noFill/>
          </a:ln>
        </p:spPr>
        <p:txBody>
          <a:bodyPr wrap="square" lIns="0" rIns="0" tIns="0" bIns="0" anchor="t"/>
          <a:lstStyle/>
          <a:p>
            <a:pPr algn="l">
              <a:lnSpc>
                <a:spcPts val="1268"/>
              </a:lnSpc>
              <a:spcBef>
                <a:spcPts val="0"/>
              </a:spcBef>
              <a:spcAft>
                <a:spcPts val="0"/>
              </a:spcAft>
              <a:buNone/>
            </a:pPr>
            <a:r>
              <a:rPr lang="en-US" sz="975" b="0" i="1" spc="0">
                <a:solidFill>
                  <a:srgbClr val="141414"/>
                </a:solidFill>
                <a:latin typeface="Instrument Sans"/>
                <a:ea typeface="Instrument Sans"/>
                <a:cs typeface="Instrument Sans"/>
              </a:rPr>
              <a:t xml:space="preserve">Psychological Science</a:t>
            </a:r>
            <a:r>
              <a:rPr lang="en-US" sz="975" b="0" i="0" spc="0">
                <a:solidFill>
                  <a:srgbClr val="141414"/>
                </a:solidFill>
                <a:latin typeface="Instrument Sans"/>
                <a:ea typeface="Instrument Sans"/>
                <a:cs typeface="Instrument Sans"/>
              </a:rPr>
              <a:t xml:space="preserve"> makes open data and materials the default and checks that results reproduce</a:t>
            </a:r>
            <a:endParaRPr lang="en-US"/>
          </a:p>
        </p:txBody>
      </p:sp>
      <p:sp>
        <p:nvSpPr>
          <p:cNvPr id="32" name="Text 32"/>
          <p:cNvSpPr txBox="1"/>
          <p:nvPr/>
        </p:nvSpPr>
        <p:spPr>
          <a:xfrm>
            <a:off x="609600" y="3878014"/>
            <a:ext cx="495300" cy="209550"/>
          </a:xfrm>
          <a:prstGeom prst="rect">
            <a:avLst/>
          </a:prstGeom>
          <a:noFill/>
          <a:ln>
            <a:noFill/>
          </a:ln>
        </p:spPr>
        <p:txBody>
          <a:bodyPr wrap="square" lIns="0" rIns="0" tIns="0" bIns="0" anchor="t"/>
          <a:lstStyle/>
          <a:p>
            <a:pPr algn="l">
              <a:lnSpc>
                <a:spcPts val="1500"/>
              </a:lnSpc>
              <a:spcBef>
                <a:spcPts val="0"/>
              </a:spcBef>
              <a:spcAft>
                <a:spcPts val="0"/>
              </a:spcAft>
              <a:buNone/>
            </a:pPr>
            <a:r>
              <a:rPr lang="en-US" sz="1500" b="0" i="0" spc="0">
                <a:solidFill>
                  <a:srgbClr val="D7263D"/>
                </a:solidFill>
                <a:latin typeface="Instrument Serif"/>
                <a:ea typeface="Instrument Serif"/>
                <a:cs typeface="Instrument Serif"/>
              </a:rPr>
              <a:t xml:space="preserve">2025</a:t>
            </a:r>
            <a:endParaRPr lang="en-US"/>
          </a:p>
        </p:txBody>
      </p:sp>
      <p:sp>
        <p:nvSpPr>
          <p:cNvPr id="33" name="Text 33"/>
          <p:cNvSpPr txBox="1"/>
          <p:nvPr/>
        </p:nvSpPr>
        <p:spPr>
          <a:xfrm>
            <a:off x="1200150" y="3920877"/>
            <a:ext cx="4019550" cy="340965"/>
          </a:xfrm>
          <a:prstGeom prst="rect">
            <a:avLst/>
          </a:prstGeom>
          <a:noFill/>
          <a:ln>
            <a:noFill/>
          </a:ln>
        </p:spPr>
        <p:txBody>
          <a:bodyPr wrap="square" lIns="0" rIns="0" tIns="0" bIns="0" anchor="t"/>
          <a:lstStyle/>
          <a:p>
            <a:pPr algn="l">
              <a:lnSpc>
                <a:spcPts val="1268"/>
              </a:lnSpc>
              <a:spcBef>
                <a:spcPts val="0"/>
              </a:spcBef>
              <a:spcAft>
                <a:spcPts val="0"/>
              </a:spcAft>
              <a:buNone/>
            </a:pPr>
            <a:r>
              <a:rPr lang="en-US" sz="975" b="0" i="0" spc="0">
                <a:solidFill>
                  <a:srgbClr val="141414"/>
                </a:solidFill>
                <a:latin typeface="Instrument Sans"/>
                <a:ea typeface="Instrument Sans"/>
                <a:cs typeface="Instrument Sans"/>
              </a:rPr>
              <a:t xml:space="preserve">PECANS, a Delphi consensus checklist for cognitive and neuropsychological studies, 206 experts</a:t>
            </a:r>
            <a:endParaRPr lang="en-US"/>
          </a:p>
        </p:txBody>
      </p:sp>
      <p:sp>
        <p:nvSpPr>
          <p:cNvPr id="34" name="Text 34"/>
          <p:cNvSpPr txBox="1"/>
          <p:nvPr/>
        </p:nvSpPr>
        <p:spPr>
          <a:xfrm>
            <a:off x="5486400" y="1357833"/>
            <a:ext cx="30861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85857F"/>
                </a:solidFill>
                <a:latin typeface="Instrument Sans"/>
                <a:ea typeface="Instrument Sans"/>
                <a:cs typeface="Instrument Sans"/>
              </a:rPr>
              <a:t xml:space="preserve">Where they are now</a:t>
            </a:r>
            <a:endParaRPr lang="en-US"/>
          </a:p>
        </p:txBody>
      </p:sp>
      <p:sp>
        <p:nvSpPr>
          <p:cNvPr id="35" name="Text 35"/>
          <p:cNvSpPr txBox="1"/>
          <p:nvPr/>
        </p:nvSpPr>
        <p:spPr>
          <a:xfrm>
            <a:off x="5605462" y="1648346"/>
            <a:ext cx="2847975" cy="304800"/>
          </a:xfrm>
          <a:prstGeom prst="rect">
            <a:avLst/>
          </a:prstGeom>
          <a:noFill/>
          <a:ln>
            <a:noFill/>
          </a:ln>
        </p:spPr>
        <p:txBody>
          <a:bodyPr wrap="square" lIns="0" rIns="0" tIns="0" bIns="0" anchor="t"/>
          <a:lstStyle/>
          <a:p>
            <a:pPr algn="l">
              <a:lnSpc>
                <a:spcPts val="2250"/>
              </a:lnSpc>
              <a:spcBef>
                <a:spcPts val="0"/>
              </a:spcBef>
              <a:spcAft>
                <a:spcPts val="0"/>
              </a:spcAft>
              <a:buNone/>
            </a:pPr>
            <a:r>
              <a:rPr lang="en-US" sz="2250" b="0" i="0" spc="0">
                <a:solidFill>
                  <a:srgbClr val="D7263D"/>
                </a:solidFill>
                <a:latin typeface="Instrument Serif"/>
                <a:ea typeface="Instrument Serif"/>
                <a:cs typeface="Instrument Serif"/>
              </a:rPr>
              <a:t xml:space="preserve">55%</a:t>
            </a:r>
            <a:endParaRPr lang="en-US"/>
          </a:p>
        </p:txBody>
      </p:sp>
      <p:sp>
        <p:nvSpPr>
          <p:cNvPr id="36" name="Text 36"/>
          <p:cNvSpPr txBox="1"/>
          <p:nvPr/>
        </p:nvSpPr>
        <p:spPr>
          <a:xfrm>
            <a:off x="5605462" y="1972196"/>
            <a:ext cx="2847975" cy="44767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of 274 social and behavioural science claims replicated; effects fell from r = 0.25 to 0.10. SCORE, </a:t>
            </a:r>
            <a:r>
              <a:rPr lang="en-US" sz="900" b="0" i="1" spc="0">
                <a:solidFill>
                  <a:srgbClr val="4A4A47"/>
                </a:solidFill>
                <a:latin typeface="Instrument Sans"/>
                <a:ea typeface="Instrument Sans"/>
                <a:cs typeface="Instrument Sans"/>
              </a:rPr>
              <a:t xml:space="preserve">Nature</a:t>
            </a:r>
            <a:r>
              <a:rPr lang="en-US" sz="900" b="0" i="0" spc="0">
                <a:solidFill>
                  <a:srgbClr val="4A4A47"/>
                </a:solidFill>
                <a:latin typeface="Instrument Sans"/>
                <a:ea typeface="Instrument Sans"/>
                <a:cs typeface="Instrument Sans"/>
              </a:rPr>
              <a:t xml:space="preserve"> 2026</a:t>
            </a:r>
            <a:endParaRPr lang="en-US"/>
          </a:p>
        </p:txBody>
      </p:sp>
      <p:sp>
        <p:nvSpPr>
          <p:cNvPr id="37" name="Text 37"/>
          <p:cNvSpPr txBox="1"/>
          <p:nvPr/>
        </p:nvSpPr>
        <p:spPr>
          <a:xfrm>
            <a:off x="5605462" y="2577033"/>
            <a:ext cx="2847975" cy="304800"/>
          </a:xfrm>
          <a:prstGeom prst="rect">
            <a:avLst/>
          </a:prstGeom>
          <a:noFill/>
          <a:ln>
            <a:noFill/>
          </a:ln>
        </p:spPr>
        <p:txBody>
          <a:bodyPr wrap="square" lIns="0" rIns="0" tIns="0" bIns="0" anchor="t"/>
          <a:lstStyle/>
          <a:p>
            <a:pPr algn="l">
              <a:lnSpc>
                <a:spcPts val="2250"/>
              </a:lnSpc>
              <a:spcBef>
                <a:spcPts val="0"/>
              </a:spcBef>
              <a:spcAft>
                <a:spcPts val="0"/>
              </a:spcAft>
              <a:buNone/>
            </a:pPr>
            <a:r>
              <a:rPr lang="en-US" sz="2250" b="0" i="0" spc="0">
                <a:solidFill>
                  <a:srgbClr val="141414"/>
                </a:solidFill>
                <a:latin typeface="Instrument Serif"/>
                <a:ea typeface="Instrument Serif"/>
                <a:cs typeface="Instrument Serif"/>
              </a:rPr>
              <a:t xml:space="preserve">7% · 14%</a:t>
            </a:r>
            <a:endParaRPr lang="en-US"/>
          </a:p>
        </p:txBody>
      </p:sp>
      <p:sp>
        <p:nvSpPr>
          <p:cNvPr id="38" name="Text 38"/>
          <p:cNvSpPr txBox="1"/>
          <p:nvPr/>
        </p:nvSpPr>
        <p:spPr>
          <a:xfrm>
            <a:off x="5605462" y="2900883"/>
            <a:ext cx="2847975" cy="44767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of 2022 psychology articles were preregistered, or shared raw data; 3% and 2% in 2014-2017. Hardwicke 2024</a:t>
            </a:r>
            <a:endParaRPr lang="en-US"/>
          </a:p>
        </p:txBody>
      </p:sp>
      <p:sp>
        <p:nvSpPr>
          <p:cNvPr id="39" name="Text 39"/>
          <p:cNvSpPr txBox="1"/>
          <p:nvPr/>
        </p:nvSpPr>
        <p:spPr>
          <a:xfrm>
            <a:off x="5605462" y="3505721"/>
            <a:ext cx="2847975" cy="304800"/>
          </a:xfrm>
          <a:prstGeom prst="rect">
            <a:avLst/>
          </a:prstGeom>
          <a:noFill/>
          <a:ln>
            <a:noFill/>
          </a:ln>
        </p:spPr>
        <p:txBody>
          <a:bodyPr wrap="square" lIns="0" rIns="0" tIns="0" bIns="0" anchor="t"/>
          <a:lstStyle/>
          <a:p>
            <a:pPr algn="l">
              <a:lnSpc>
                <a:spcPts val="2250"/>
              </a:lnSpc>
              <a:spcBef>
                <a:spcPts val="0"/>
              </a:spcBef>
              <a:spcAft>
                <a:spcPts val="0"/>
              </a:spcAft>
              <a:buNone/>
            </a:pPr>
            <a:r>
              <a:rPr lang="en-US" sz="2250" b="0" i="0" spc="0">
                <a:solidFill>
                  <a:srgbClr val="D7263D"/>
                </a:solidFill>
                <a:latin typeface="Instrument Serif"/>
                <a:ea typeface="Instrument Serif"/>
                <a:cs typeface="Instrument Serif"/>
              </a:rPr>
              <a:t xml:space="preserve">1 of 62</a:t>
            </a:r>
            <a:endParaRPr lang="en-US"/>
          </a:p>
        </p:txBody>
      </p:sp>
      <p:sp>
        <p:nvSpPr>
          <p:cNvPr id="40" name="Text 40"/>
          <p:cNvSpPr txBox="1"/>
          <p:nvPr/>
        </p:nvSpPr>
        <p:spPr>
          <a:xfrm>
            <a:off x="5605462" y="3829571"/>
            <a:ext cx="2847975" cy="44767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Registered Reports at </a:t>
            </a:r>
            <a:r>
              <a:rPr lang="en-US" sz="900" b="0" i="1" spc="0">
                <a:solidFill>
                  <a:srgbClr val="4A4A47"/>
                </a:solidFill>
                <a:latin typeface="Instrument Sans"/>
                <a:ea typeface="Instrument Sans"/>
                <a:cs typeface="Instrument Sans"/>
              </a:rPr>
              <a:t xml:space="preserve">Cortex</a:t>
            </a:r>
            <a:r>
              <a:rPr lang="en-US" sz="900" b="0" i="0" spc="0">
                <a:solidFill>
                  <a:srgbClr val="4A4A47"/>
                </a:solidFill>
                <a:latin typeface="Instrument Sans"/>
                <a:ea typeface="Instrument Sans"/>
                <a:cs typeface="Instrument Sans"/>
              </a:rPr>
              <a:t xml:space="preserve">, 2018-2022, studied patients; sharing clinical data is the barrier named most. Binney 2025</a:t>
            </a:r>
            <a:endParaRPr lang="en-US"/>
          </a:p>
        </p:txBody>
      </p:sp>
      <p:sp>
        <p:nvSpPr>
          <p:cNvPr id="41" name="Text 41"/>
          <p:cNvSpPr txBox="1"/>
          <p:nvPr/>
        </p:nvSpPr>
        <p:spPr>
          <a:xfrm>
            <a:off x="609600" y="4552950"/>
            <a:ext cx="7962900" cy="30480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Registered Reports: 44% positive results against 96% in standard papers (Scheel 2021). The best-known evidence that rigour alone restores replication (Protzko 2023) was retracted in 2024.</a:t>
            </a:r>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stroke-crisis">
    <p:bg>
      <p:bgPr>
        <a:solidFill>
          <a:srgbClr val="F1F1EF"/>
        </a:solidFill>
        <a:effectLst/>
      </p:bgPr>
    </p:bg>
    <p:spTree>
      <p:nvGrpSpPr>
        <p:cNvPr id="1" name=""/>
        <p:cNvGrpSpPr/>
        <p:nvPr/>
      </p:nvGrpSpPr>
      <p:grpSpPr/>
      <p:sp>
        <p:nvSpPr>
          <p:cNvPr id="2" name="Rule 2"/>
          <p:cNvSpPr txBox="0"/>
          <p:nvPr/>
        </p:nvSpPr>
        <p:spPr>
          <a:xfrm>
            <a:off x="609600" y="1357833"/>
            <a:ext cx="7924800" cy="4762"/>
          </a:xfrm>
          <a:prstGeom prst="rect">
            <a:avLst/>
          </a:prstGeom>
          <a:solidFill>
            <a:srgbClr val="C6C6C1"/>
          </a:solidFill>
          <a:ln>
            <a:noFill/>
          </a:ln>
        </p:spPr>
      </p:sp>
      <p:sp>
        <p:nvSpPr>
          <p:cNvPr id="3" name="Rule 3"/>
          <p:cNvSpPr txBox="0"/>
          <p:nvPr/>
        </p:nvSpPr>
        <p:spPr>
          <a:xfrm>
            <a:off x="609600" y="2066851"/>
            <a:ext cx="7924800" cy="4762"/>
          </a:xfrm>
          <a:prstGeom prst="rect">
            <a:avLst/>
          </a:prstGeom>
          <a:solidFill>
            <a:srgbClr val="C6C6C1"/>
          </a:solidFill>
          <a:ln>
            <a:noFill/>
          </a:ln>
        </p:spPr>
      </p:sp>
      <p:sp>
        <p:nvSpPr>
          <p:cNvPr id="4" name="Rule 4"/>
          <p:cNvSpPr txBox="0"/>
          <p:nvPr/>
        </p:nvSpPr>
        <p:spPr>
          <a:xfrm>
            <a:off x="609600" y="2775868"/>
            <a:ext cx="7924800" cy="4762"/>
          </a:xfrm>
          <a:prstGeom prst="rect">
            <a:avLst/>
          </a:prstGeom>
          <a:solidFill>
            <a:srgbClr val="C6C6C1"/>
          </a:solidFill>
          <a:ln>
            <a:noFill/>
          </a:ln>
        </p:spPr>
      </p:sp>
      <p:sp>
        <p:nvSpPr>
          <p:cNvPr id="5" name="Rule 5"/>
          <p:cNvSpPr txBox="0"/>
          <p:nvPr/>
        </p:nvSpPr>
        <p:spPr>
          <a:xfrm>
            <a:off x="609600" y="3300933"/>
            <a:ext cx="7924800" cy="4762"/>
          </a:xfrm>
          <a:prstGeom prst="rect">
            <a:avLst/>
          </a:prstGeom>
          <a:solidFill>
            <a:srgbClr val="C6C6C1"/>
          </a:solidFill>
          <a:ln>
            <a:noFill/>
          </a:ln>
        </p:spPr>
      </p:sp>
      <p:sp>
        <p:nvSpPr>
          <p:cNvPr id="6" name="Text 6"/>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7" name="Text 7"/>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04</a:t>
            </a:r>
            <a:r>
              <a:rPr lang="en-US" sz="900" b="0" i="0" spc="0">
                <a:solidFill>
                  <a:srgbClr val="85857F"/>
                </a:solidFill>
                <a:latin typeface="Instrument Sans"/>
                <a:ea typeface="Instrument Sans"/>
                <a:cs typeface="Instrument Sans"/>
              </a:rPr>
              <a:t xml:space="preserve">  The clinical question</a:t>
            </a:r>
            <a:endParaRPr lang="en-US"/>
          </a:p>
        </p:txBody>
      </p:sp>
      <p:sp>
        <p:nvSpPr>
          <p:cNvPr id="8" name="Text 8"/>
          <p:cNvSpPr txBox="1"/>
          <p:nvPr/>
        </p:nvSpPr>
        <p:spPr>
          <a:xfrm>
            <a:off x="609600" y="895350"/>
            <a:ext cx="7962900" cy="348183"/>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Different stroke trials can reach different conclusions</a:t>
            </a:r>
            <a:endParaRPr lang="en-US"/>
          </a:p>
        </p:txBody>
      </p:sp>
      <p:sp>
        <p:nvSpPr>
          <p:cNvPr id="9" name="Text 9"/>
          <p:cNvSpPr txBox="1"/>
          <p:nvPr/>
        </p:nvSpPr>
        <p:spPr>
          <a:xfrm>
            <a:off x="609600" y="1438796"/>
            <a:ext cx="1752600" cy="197644"/>
          </a:xfrm>
          <a:prstGeom prst="rect">
            <a:avLst/>
          </a:prstGeom>
          <a:noFill/>
          <a:ln>
            <a:noFill/>
          </a:ln>
        </p:spPr>
        <p:txBody>
          <a:bodyPr wrap="square" lIns="0" rIns="0" tIns="0" bIns="0" anchor="t"/>
          <a:lstStyle/>
          <a:p>
            <a:pPr algn="l">
              <a:lnSpc>
                <a:spcPts val="1406"/>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Preclinical</a:t>
            </a:r>
            <a:endParaRPr lang="en-US"/>
          </a:p>
        </p:txBody>
      </p:sp>
      <p:sp>
        <p:nvSpPr>
          <p:cNvPr id="10" name="Text 10"/>
          <p:cNvSpPr txBox="1"/>
          <p:nvPr/>
        </p:nvSpPr>
        <p:spPr>
          <a:xfrm>
            <a:off x="2514600" y="1438796"/>
            <a:ext cx="4295775" cy="570905"/>
          </a:xfrm>
          <a:prstGeom prst="rect">
            <a:avLst/>
          </a:prstGeom>
          <a:noFill/>
          <a:ln>
            <a:noFill/>
          </a:ln>
        </p:spPr>
        <p:txBody>
          <a:bodyPr wrap="square" lIns="0" rIns="0" tIns="0" bIns="0" anchor="t"/>
          <a:lstStyle/>
          <a:p>
            <a:pPr algn="l">
              <a:lnSpc>
                <a:spcPts val="1449"/>
              </a:lnSpc>
              <a:spcBef>
                <a:spcPts val="0"/>
              </a:spcBef>
              <a:spcAft>
                <a:spcPts val="0"/>
              </a:spcAft>
              <a:buNone/>
            </a:pPr>
            <a:r>
              <a:rPr lang="en-US" sz="1050" b="0" i="0" spc="0">
                <a:solidFill>
                  <a:srgbClr val="141414"/>
                </a:solidFill>
                <a:latin typeface="Instrument Sans Bold"/>
                <a:ea typeface="Instrument Sans Bold"/>
                <a:cs typeface="Instrument Sans Bold"/>
              </a:rPr>
              <a:t xml:space="preserve">1,026</a:t>
            </a:r>
            <a:r>
              <a:rPr lang="en-US" sz="1050" b="0" i="0" spc="0">
                <a:solidFill>
                  <a:srgbClr val="141414"/>
                </a:solidFill>
                <a:latin typeface="Instrument Sans"/>
                <a:ea typeface="Instrument Sans"/>
                <a:cs typeface="Instrument Sans"/>
              </a:rPr>
              <a:t xml:space="preserve"> neuroprotectants tested in animal stroke; none translated. Publication bias overstated efficacy by about a third. NXY-059: SAINT I positive, SAINT II negative.</a:t>
            </a:r>
            <a:endParaRPr lang="en-US"/>
          </a:p>
        </p:txBody>
      </p:sp>
      <p:sp>
        <p:nvSpPr>
          <p:cNvPr id="11" name="Text 11"/>
          <p:cNvSpPr txBox="1"/>
          <p:nvPr/>
        </p:nvSpPr>
        <p:spPr>
          <a:xfrm>
            <a:off x="6962775" y="1438796"/>
            <a:ext cx="1609725" cy="303758"/>
          </a:xfrm>
          <a:prstGeom prst="rect">
            <a:avLst/>
          </a:prstGeom>
          <a:noFill/>
          <a:ln>
            <a:noFill/>
          </a:ln>
        </p:spPr>
        <p:txBody>
          <a:bodyPr wrap="square" lIns="0" rIns="0" tIns="0" bIns="0" anchor="t"/>
          <a:lstStyle/>
          <a:p>
            <a:pPr algn="l">
              <a:lnSpc>
                <a:spcPts val="1121"/>
              </a:lnSpc>
              <a:spcBef>
                <a:spcPts val="0"/>
              </a:spcBef>
              <a:spcAft>
                <a:spcPts val="0"/>
              </a:spcAft>
              <a:buNone/>
            </a:pPr>
            <a:r>
              <a:rPr lang="en-US" sz="862" b="0" i="0" spc="0">
                <a:solidFill>
                  <a:srgbClr val="85857F"/>
                </a:solidFill>
                <a:latin typeface="Instrument Sans"/>
                <a:ea typeface="Instrument Sans"/>
                <a:cs typeface="Instrument Sans"/>
              </a:rPr>
              <a:t xml:space="preserve">O’Collins 2006; Sena 2010; Lees 2006; Shuaib 2007</a:t>
            </a:r>
            <a:endParaRPr lang="en-US"/>
          </a:p>
        </p:txBody>
      </p:sp>
      <p:sp>
        <p:nvSpPr>
          <p:cNvPr id="12" name="Text 12"/>
          <p:cNvSpPr txBox="1"/>
          <p:nvPr/>
        </p:nvSpPr>
        <p:spPr>
          <a:xfrm>
            <a:off x="609600" y="2147813"/>
            <a:ext cx="1752600" cy="197644"/>
          </a:xfrm>
          <a:prstGeom prst="rect">
            <a:avLst/>
          </a:prstGeom>
          <a:noFill/>
          <a:ln>
            <a:noFill/>
          </a:ln>
        </p:spPr>
        <p:txBody>
          <a:bodyPr wrap="square" lIns="0" rIns="0" tIns="0" bIns="0" anchor="t"/>
          <a:lstStyle/>
          <a:p>
            <a:pPr algn="l">
              <a:lnSpc>
                <a:spcPts val="1406"/>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Tirofiban</a:t>
            </a:r>
            <a:endParaRPr lang="en-US"/>
          </a:p>
        </p:txBody>
      </p:sp>
      <p:sp>
        <p:nvSpPr>
          <p:cNvPr id="13" name="Text 13"/>
          <p:cNvSpPr txBox="1"/>
          <p:nvPr/>
        </p:nvSpPr>
        <p:spPr>
          <a:xfrm>
            <a:off x="2514600" y="2147813"/>
            <a:ext cx="4295775" cy="570905"/>
          </a:xfrm>
          <a:prstGeom prst="rect">
            <a:avLst/>
          </a:prstGeom>
          <a:noFill/>
          <a:ln>
            <a:noFill/>
          </a:ln>
        </p:spPr>
        <p:txBody>
          <a:bodyPr wrap="square" lIns="0" rIns="0" tIns="0" bIns="0" anchor="t"/>
          <a:lstStyle/>
          <a:p>
            <a:pPr algn="l">
              <a:lnSpc>
                <a:spcPts val="1449"/>
              </a:lnSpc>
              <a:spcBef>
                <a:spcPts val="0"/>
              </a:spcBef>
              <a:spcAft>
                <a:spcPts val="0"/>
              </a:spcAft>
              <a:buNone/>
            </a:pPr>
            <a:r>
              <a:rPr lang="en-US" sz="1050" b="0" i="0" spc="0">
                <a:solidFill>
                  <a:srgbClr val="141414"/>
                </a:solidFill>
                <a:latin typeface="Instrument Sans"/>
                <a:ea typeface="Instrument Sans"/>
                <a:cs typeface="Instrument Sans"/>
              </a:rPr>
              <a:t xml:space="preserve">No benefit before thrombectomy in RESCUE BT (2022). Benefit without a large-vessel occlusion in RESCUE BT2 (2023). The trials enrolled different populations.</a:t>
            </a:r>
            <a:endParaRPr lang="en-US"/>
          </a:p>
        </p:txBody>
      </p:sp>
      <p:sp>
        <p:nvSpPr>
          <p:cNvPr id="14" name="Text 14"/>
          <p:cNvSpPr txBox="1"/>
          <p:nvPr/>
        </p:nvSpPr>
        <p:spPr>
          <a:xfrm>
            <a:off x="6962775" y="2147813"/>
            <a:ext cx="1609725" cy="161404"/>
          </a:xfrm>
          <a:prstGeom prst="rect">
            <a:avLst/>
          </a:prstGeom>
          <a:noFill/>
          <a:ln>
            <a:noFill/>
          </a:ln>
        </p:spPr>
        <p:txBody>
          <a:bodyPr wrap="square" lIns="0" rIns="0" tIns="0" bIns="0" anchor="t"/>
          <a:lstStyle/>
          <a:p>
            <a:pPr algn="l">
              <a:lnSpc>
                <a:spcPts val="1121"/>
              </a:lnSpc>
              <a:spcBef>
                <a:spcPts val="0"/>
              </a:spcBef>
              <a:spcAft>
                <a:spcPts val="0"/>
              </a:spcAft>
              <a:buNone/>
            </a:pPr>
            <a:r>
              <a:rPr lang="en-US" sz="862" b="0" i="0" spc="0">
                <a:solidFill>
                  <a:srgbClr val="85857F"/>
                </a:solidFill>
                <a:latin typeface="Instrument Sans"/>
                <a:ea typeface="Instrument Sans"/>
                <a:cs typeface="Instrument Sans"/>
              </a:rPr>
              <a:t xml:space="preserve">Qiu 2022, JAMA; Zi 2023, NEJM</a:t>
            </a:r>
            <a:endParaRPr lang="en-US"/>
          </a:p>
        </p:txBody>
      </p:sp>
      <p:sp>
        <p:nvSpPr>
          <p:cNvPr id="15" name="Text 15"/>
          <p:cNvSpPr txBox="1"/>
          <p:nvPr/>
        </p:nvSpPr>
        <p:spPr>
          <a:xfrm>
            <a:off x="609600" y="2856830"/>
            <a:ext cx="1752600" cy="376238"/>
          </a:xfrm>
          <a:prstGeom prst="rect">
            <a:avLst/>
          </a:prstGeom>
          <a:noFill/>
          <a:ln>
            <a:noFill/>
          </a:ln>
        </p:spPr>
        <p:txBody>
          <a:bodyPr wrap="square" lIns="0" rIns="0" tIns="0" bIns="0" anchor="t"/>
          <a:lstStyle/>
          <a:p>
            <a:pPr algn="l">
              <a:lnSpc>
                <a:spcPts val="1406"/>
              </a:lnSpc>
              <a:spcBef>
                <a:spcPts val="0"/>
              </a:spcBef>
              <a:spcAft>
                <a:spcPts val="0"/>
              </a:spcAft>
              <a:buNone/>
            </a:pPr>
            <a:r>
              <a:rPr lang="en-US" sz="1125" b="0" i="0" spc="0">
                <a:solidFill>
                  <a:srgbClr val="141414"/>
                </a:solidFill>
                <a:latin typeface="Instrument Sans Medium"/>
                <a:ea typeface="Instrument Sans Medium"/>
                <a:cs typeface="Instrument Sans Medium"/>
              </a:rPr>
              <a:t xml:space="preserve">Middle meningeal artery embolisation</a:t>
            </a:r>
            <a:endParaRPr lang="en-US"/>
          </a:p>
        </p:txBody>
      </p:sp>
      <p:sp>
        <p:nvSpPr>
          <p:cNvPr id="16" name="Text 16"/>
          <p:cNvSpPr txBox="1"/>
          <p:nvPr/>
        </p:nvSpPr>
        <p:spPr>
          <a:xfrm>
            <a:off x="2514600" y="2856830"/>
            <a:ext cx="4295775" cy="386953"/>
          </a:xfrm>
          <a:prstGeom prst="rect">
            <a:avLst/>
          </a:prstGeom>
          <a:noFill/>
          <a:ln>
            <a:noFill/>
          </a:ln>
        </p:spPr>
        <p:txBody>
          <a:bodyPr wrap="square" lIns="0" rIns="0" tIns="0" bIns="0" anchor="t"/>
          <a:lstStyle/>
          <a:p>
            <a:pPr algn="l">
              <a:lnSpc>
                <a:spcPts val="1449"/>
              </a:lnSpc>
              <a:spcBef>
                <a:spcPts val="0"/>
              </a:spcBef>
              <a:spcAft>
                <a:spcPts val="0"/>
              </a:spcAft>
              <a:buNone/>
            </a:pPr>
            <a:r>
              <a:rPr lang="en-US" sz="1050" b="0" i="0" spc="0">
                <a:solidFill>
                  <a:srgbClr val="141414"/>
                </a:solidFill>
                <a:latin typeface="Instrument Sans"/>
                <a:ea typeface="Instrument Sans"/>
                <a:cs typeface="Instrument Sans"/>
              </a:rPr>
              <a:t xml:space="preserve">Three trials in one NEJM issue: EMBOLISE positive (recurrence 4% vs 11%), STEM positive, MAGIC-MT neutral (6.7% vs 9.9%).</a:t>
            </a:r>
            <a:endParaRPr lang="en-US"/>
          </a:p>
        </p:txBody>
      </p:sp>
      <p:sp>
        <p:nvSpPr>
          <p:cNvPr id="17" name="Text 17"/>
          <p:cNvSpPr txBox="1"/>
          <p:nvPr/>
        </p:nvSpPr>
        <p:spPr>
          <a:xfrm>
            <a:off x="6962775" y="2856830"/>
            <a:ext cx="1609725" cy="161404"/>
          </a:xfrm>
          <a:prstGeom prst="rect">
            <a:avLst/>
          </a:prstGeom>
          <a:noFill/>
          <a:ln>
            <a:noFill/>
          </a:ln>
        </p:spPr>
        <p:txBody>
          <a:bodyPr wrap="square" lIns="0" rIns="0" tIns="0" bIns="0" anchor="t"/>
          <a:lstStyle/>
          <a:p>
            <a:pPr algn="l">
              <a:lnSpc>
                <a:spcPts val="1121"/>
              </a:lnSpc>
              <a:spcBef>
                <a:spcPts val="0"/>
              </a:spcBef>
              <a:spcAft>
                <a:spcPts val="0"/>
              </a:spcAft>
              <a:buNone/>
            </a:pPr>
            <a:r>
              <a:rPr lang="en-US" sz="862" b="0" i="0" spc="0">
                <a:solidFill>
                  <a:srgbClr val="85857F"/>
                </a:solidFill>
                <a:latin typeface="Instrument Sans"/>
                <a:ea typeface="Instrument Sans"/>
                <a:cs typeface="Instrument Sans"/>
              </a:rPr>
              <a:t xml:space="preserve">Davies, Fiorella, Liu 2024, NEJM</a:t>
            </a:r>
            <a:endParaRPr lang="en-US"/>
          </a:p>
        </p:txBody>
      </p:sp>
      <p:sp>
        <p:nvSpPr>
          <p:cNvPr id="18" name="Text 18"/>
          <p:cNvSpPr txBox="1"/>
          <p:nvPr/>
        </p:nvSpPr>
        <p:spPr>
          <a:xfrm>
            <a:off x="609600" y="4167188"/>
            <a:ext cx="7962900" cy="233362"/>
          </a:xfrm>
          <a:prstGeom prst="rect">
            <a:avLst/>
          </a:prstGeom>
          <a:noFill/>
          <a:ln>
            <a:noFill/>
          </a:ln>
        </p:spPr>
        <p:txBody>
          <a:bodyPr wrap="square" lIns="0" rIns="0" tIns="0" bIns="0" anchor="t"/>
          <a:lstStyle/>
          <a:p>
            <a:pPr algn="l">
              <a:lnSpc>
                <a:spcPts val="1688"/>
              </a:lnSpc>
              <a:spcBef>
                <a:spcPts val="0"/>
              </a:spcBef>
              <a:spcAft>
                <a:spcPts val="0"/>
              </a:spcAft>
              <a:buNone/>
            </a:pPr>
            <a:r>
              <a:rPr lang="en-US" sz="1350" b="0" i="0" spc="0">
                <a:solidFill>
                  <a:srgbClr val="141414"/>
                </a:solidFill>
                <a:latin typeface="Instrument Serif"/>
                <a:ea typeface="Instrument Serif"/>
                <a:cs typeface="Instrument Serif"/>
              </a:rPr>
              <a:t xml:space="preserve">Open protocols, data and code help explain why results differ.</a:t>
            </a:r>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why">
    <p:bg>
      <p:bgPr>
        <a:solidFill>
          <a:srgbClr val="F1F1EF"/>
        </a:solidFill>
        <a:effectLst/>
      </p:bgPr>
    </p:bg>
    <p:spTree>
      <p:nvGrpSpPr>
        <p:cNvPr id="1" name=""/>
        <p:cNvGrpSpPr/>
        <p:nvPr/>
      </p:nvGrpSpPr>
      <p:grpSpPr/>
      <p:sp>
        <p:nvSpPr>
          <p:cNvPr id="2" name="Rule 2"/>
          <p:cNvSpPr txBox="0"/>
          <p:nvPr/>
        </p:nvSpPr>
        <p:spPr>
          <a:xfrm>
            <a:off x="609600" y="1801267"/>
            <a:ext cx="1984772" cy="4762"/>
          </a:xfrm>
          <a:prstGeom prst="rect">
            <a:avLst/>
          </a:prstGeom>
          <a:solidFill>
            <a:srgbClr val="C6C6C1"/>
          </a:solidFill>
          <a:ln>
            <a:noFill/>
          </a:ln>
        </p:spPr>
      </p:sp>
      <p:sp>
        <p:nvSpPr>
          <p:cNvPr id="3" name="Rule 3"/>
          <p:cNvSpPr txBox="0"/>
          <p:nvPr/>
        </p:nvSpPr>
        <p:spPr>
          <a:xfrm>
            <a:off x="2589609" y="1801267"/>
            <a:ext cx="4762" cy="1753046"/>
          </a:xfrm>
          <a:prstGeom prst="rect">
            <a:avLst/>
          </a:prstGeom>
          <a:solidFill>
            <a:srgbClr val="C6C6C1"/>
          </a:solidFill>
          <a:ln>
            <a:noFill/>
          </a:ln>
        </p:spPr>
      </p:sp>
      <p:sp>
        <p:nvSpPr>
          <p:cNvPr id="4" name="Rule 4"/>
          <p:cNvSpPr txBox="0"/>
          <p:nvPr/>
        </p:nvSpPr>
        <p:spPr>
          <a:xfrm>
            <a:off x="609600" y="3549551"/>
            <a:ext cx="1984772" cy="4762"/>
          </a:xfrm>
          <a:prstGeom prst="rect">
            <a:avLst/>
          </a:prstGeom>
          <a:solidFill>
            <a:srgbClr val="C6C6C1"/>
          </a:solidFill>
          <a:ln>
            <a:noFill/>
          </a:ln>
        </p:spPr>
      </p:sp>
      <p:sp>
        <p:nvSpPr>
          <p:cNvPr id="5" name="Rule 5"/>
          <p:cNvSpPr txBox="0"/>
          <p:nvPr/>
        </p:nvSpPr>
        <p:spPr>
          <a:xfrm>
            <a:off x="609600" y="1801267"/>
            <a:ext cx="4762" cy="1753046"/>
          </a:xfrm>
          <a:prstGeom prst="rect">
            <a:avLst/>
          </a:prstGeom>
          <a:solidFill>
            <a:srgbClr val="C6C6C1"/>
          </a:solidFill>
          <a:ln>
            <a:noFill/>
          </a:ln>
        </p:spPr>
      </p:sp>
      <p:sp>
        <p:nvSpPr>
          <p:cNvPr id="6" name="Rule 6"/>
          <p:cNvSpPr txBox="0"/>
          <p:nvPr/>
        </p:nvSpPr>
        <p:spPr>
          <a:xfrm>
            <a:off x="2594372" y="1801267"/>
            <a:ext cx="1980009" cy="4762"/>
          </a:xfrm>
          <a:prstGeom prst="rect">
            <a:avLst/>
          </a:prstGeom>
          <a:solidFill>
            <a:srgbClr val="C6C6C1"/>
          </a:solidFill>
          <a:ln>
            <a:noFill/>
          </a:ln>
        </p:spPr>
      </p:sp>
      <p:sp>
        <p:nvSpPr>
          <p:cNvPr id="7" name="Rule 7"/>
          <p:cNvSpPr txBox="0"/>
          <p:nvPr/>
        </p:nvSpPr>
        <p:spPr>
          <a:xfrm>
            <a:off x="4569619" y="1801267"/>
            <a:ext cx="4762" cy="1753046"/>
          </a:xfrm>
          <a:prstGeom prst="rect">
            <a:avLst/>
          </a:prstGeom>
          <a:solidFill>
            <a:srgbClr val="C6C6C1"/>
          </a:solidFill>
          <a:ln>
            <a:noFill/>
          </a:ln>
        </p:spPr>
      </p:sp>
      <p:sp>
        <p:nvSpPr>
          <p:cNvPr id="8" name="Rule 8"/>
          <p:cNvSpPr txBox="0"/>
          <p:nvPr/>
        </p:nvSpPr>
        <p:spPr>
          <a:xfrm>
            <a:off x="2594372" y="3549551"/>
            <a:ext cx="1980009" cy="4762"/>
          </a:xfrm>
          <a:prstGeom prst="rect">
            <a:avLst/>
          </a:prstGeom>
          <a:solidFill>
            <a:srgbClr val="C6C6C1"/>
          </a:solidFill>
          <a:ln>
            <a:noFill/>
          </a:ln>
        </p:spPr>
      </p:sp>
      <p:sp>
        <p:nvSpPr>
          <p:cNvPr id="9" name="Rule 9"/>
          <p:cNvSpPr txBox="0"/>
          <p:nvPr/>
        </p:nvSpPr>
        <p:spPr>
          <a:xfrm>
            <a:off x="4574381" y="1801267"/>
            <a:ext cx="1980009" cy="4762"/>
          </a:xfrm>
          <a:prstGeom prst="rect">
            <a:avLst/>
          </a:prstGeom>
          <a:solidFill>
            <a:srgbClr val="C6C6C1"/>
          </a:solidFill>
          <a:ln>
            <a:noFill/>
          </a:ln>
        </p:spPr>
      </p:sp>
      <p:sp>
        <p:nvSpPr>
          <p:cNvPr id="10" name="Rule 10"/>
          <p:cNvSpPr txBox="0"/>
          <p:nvPr/>
        </p:nvSpPr>
        <p:spPr>
          <a:xfrm>
            <a:off x="6549628" y="1801267"/>
            <a:ext cx="4762" cy="1753046"/>
          </a:xfrm>
          <a:prstGeom prst="rect">
            <a:avLst/>
          </a:prstGeom>
          <a:solidFill>
            <a:srgbClr val="C6C6C1"/>
          </a:solidFill>
          <a:ln>
            <a:noFill/>
          </a:ln>
        </p:spPr>
      </p:sp>
      <p:sp>
        <p:nvSpPr>
          <p:cNvPr id="11" name="Rule 11"/>
          <p:cNvSpPr txBox="0"/>
          <p:nvPr/>
        </p:nvSpPr>
        <p:spPr>
          <a:xfrm>
            <a:off x="4574381" y="3549551"/>
            <a:ext cx="1980009" cy="4762"/>
          </a:xfrm>
          <a:prstGeom prst="rect">
            <a:avLst/>
          </a:prstGeom>
          <a:solidFill>
            <a:srgbClr val="C6C6C1"/>
          </a:solidFill>
          <a:ln>
            <a:noFill/>
          </a:ln>
        </p:spPr>
      </p:sp>
      <p:sp>
        <p:nvSpPr>
          <p:cNvPr id="12" name="Rule 12"/>
          <p:cNvSpPr txBox="0"/>
          <p:nvPr/>
        </p:nvSpPr>
        <p:spPr>
          <a:xfrm>
            <a:off x="6554391" y="1801267"/>
            <a:ext cx="1980009" cy="4762"/>
          </a:xfrm>
          <a:prstGeom prst="rect">
            <a:avLst/>
          </a:prstGeom>
          <a:solidFill>
            <a:srgbClr val="C6C6C1"/>
          </a:solidFill>
          <a:ln>
            <a:noFill/>
          </a:ln>
        </p:spPr>
      </p:sp>
      <p:sp>
        <p:nvSpPr>
          <p:cNvPr id="13" name="Rule 13"/>
          <p:cNvSpPr txBox="0"/>
          <p:nvPr/>
        </p:nvSpPr>
        <p:spPr>
          <a:xfrm>
            <a:off x="8529638" y="1801267"/>
            <a:ext cx="4762" cy="1753046"/>
          </a:xfrm>
          <a:prstGeom prst="rect">
            <a:avLst/>
          </a:prstGeom>
          <a:solidFill>
            <a:srgbClr val="C6C6C1"/>
          </a:solidFill>
          <a:ln>
            <a:noFill/>
          </a:ln>
        </p:spPr>
      </p:sp>
      <p:sp>
        <p:nvSpPr>
          <p:cNvPr id="14" name="Rule 14"/>
          <p:cNvSpPr txBox="0"/>
          <p:nvPr/>
        </p:nvSpPr>
        <p:spPr>
          <a:xfrm>
            <a:off x="6554391" y="3549551"/>
            <a:ext cx="1980009" cy="4762"/>
          </a:xfrm>
          <a:prstGeom prst="rect">
            <a:avLst/>
          </a:prstGeom>
          <a:solidFill>
            <a:srgbClr val="C6C6C1"/>
          </a:solidFill>
          <a:ln>
            <a:noFill/>
          </a:ln>
        </p:spPr>
      </p:sp>
      <p:sp>
        <p:nvSpPr>
          <p:cNvPr id="15" name="Rule 15"/>
          <p:cNvSpPr txBox="0"/>
          <p:nvPr/>
        </p:nvSpPr>
        <p:spPr>
          <a:xfrm>
            <a:off x="609600" y="3935313"/>
            <a:ext cx="19050" cy="468511"/>
          </a:xfrm>
          <a:prstGeom prst="rect">
            <a:avLst/>
          </a:prstGeom>
          <a:solidFill>
            <a:srgbClr val="D7263D"/>
          </a:solidFill>
          <a:ln>
            <a:noFill/>
          </a:ln>
        </p:spPr>
      </p:sp>
      <p:sp>
        <p:nvSpPr>
          <p:cNvPr id="16" name="Text 16"/>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7" name="Text 17"/>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05</a:t>
            </a:r>
            <a:r>
              <a:rPr lang="en-US" sz="900" b="0" i="0" spc="0">
                <a:solidFill>
                  <a:srgbClr val="85857F"/>
                </a:solidFill>
                <a:latin typeface="Instrument Sans"/>
                <a:ea typeface="Instrument Sans"/>
                <a:cs typeface="Instrument Sans"/>
              </a:rPr>
              <a:t xml:space="preserve">  What open science is made of</a:t>
            </a:r>
            <a:endParaRPr lang="en-US"/>
          </a:p>
        </p:txBody>
      </p:sp>
      <p:sp>
        <p:nvSpPr>
          <p:cNvPr id="18" name="Text 18"/>
          <p:cNvSpPr txBox="1"/>
          <p:nvPr/>
        </p:nvSpPr>
        <p:spPr>
          <a:xfrm>
            <a:off x="609600" y="952500"/>
            <a:ext cx="7962900" cy="677317"/>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Four questions a field should be able to answer about its own literature</a:t>
            </a:r>
            <a:endParaRPr lang="en-US"/>
          </a:p>
        </p:txBody>
      </p:sp>
      <p:sp>
        <p:nvSpPr>
          <p:cNvPr id="19" name="Text 19"/>
          <p:cNvSpPr txBox="1"/>
          <p:nvPr/>
        </p:nvSpPr>
        <p:spPr>
          <a:xfrm>
            <a:off x="766762" y="1958429"/>
            <a:ext cx="1708547" cy="157162"/>
          </a:xfrm>
          <a:prstGeom prst="rect">
            <a:avLst/>
          </a:prstGeom>
          <a:noFill/>
          <a:ln>
            <a:noFill/>
          </a:ln>
        </p:spPr>
        <p:txBody>
          <a:bodyPr wrap="square" lIns="0" rIns="0" tIns="0" bIns="0" anchor="t"/>
          <a:lstStyle/>
          <a:p>
            <a:pPr algn="l">
              <a:lnSpc>
                <a:spcPts val="1035"/>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Read it</a:t>
            </a:r>
            <a:endParaRPr lang="en-US"/>
          </a:p>
        </p:txBody>
      </p:sp>
      <p:sp>
        <p:nvSpPr>
          <p:cNvPr id="20" name="Text 20"/>
          <p:cNvSpPr txBox="1"/>
          <p:nvPr/>
        </p:nvSpPr>
        <p:spPr>
          <a:xfrm>
            <a:off x="766762" y="2163217"/>
            <a:ext cx="1708547" cy="228600"/>
          </a:xfrm>
          <a:prstGeom prst="rect">
            <a:avLst/>
          </a:prstGeom>
          <a:noFill/>
          <a:ln>
            <a:noFill/>
          </a:ln>
        </p:spPr>
        <p:txBody>
          <a:bodyPr wrap="square" lIns="0" rIns="0" tIns="0" bIns="0" anchor="t"/>
          <a:lstStyle/>
          <a:p>
            <a:pPr algn="l">
              <a:lnSpc>
                <a:spcPts val="1650"/>
              </a:lnSpc>
              <a:spcBef>
                <a:spcPts val="0"/>
              </a:spcBef>
              <a:spcAft>
                <a:spcPts val="0"/>
              </a:spcAft>
              <a:buNone/>
            </a:pPr>
            <a:r>
              <a:rPr lang="en-US" sz="1500" b="0" i="0" spc="-38">
                <a:solidFill>
                  <a:srgbClr val="141414"/>
                </a:solidFill>
                <a:latin typeface="Instrument Sans Medium"/>
                <a:ea typeface="Instrument Sans Medium"/>
                <a:cs typeface="Instrument Sans Medium"/>
              </a:rPr>
              <a:t xml:space="preserve">Can people read it?</a:t>
            </a:r>
            <a:endParaRPr lang="en-US"/>
          </a:p>
        </p:txBody>
      </p:sp>
      <p:sp>
        <p:nvSpPr>
          <p:cNvPr id="21" name="Text 21"/>
          <p:cNvSpPr txBox="1"/>
          <p:nvPr/>
        </p:nvSpPr>
        <p:spPr>
          <a:xfrm>
            <a:off x="766762" y="2439442"/>
            <a:ext cx="1708547" cy="379065"/>
          </a:xfrm>
          <a:prstGeom prst="rect">
            <a:avLst/>
          </a:prstGeom>
          <a:noFill/>
          <a:ln>
            <a:noFill/>
          </a:ln>
        </p:spPr>
        <p:txBody>
          <a:bodyPr wrap="square" lIns="0" rIns="0" tIns="0" bIns="0" anchor="t"/>
          <a:lstStyle/>
          <a:p>
            <a:pPr algn="l">
              <a:lnSpc>
                <a:spcPts val="1418"/>
              </a:lnSpc>
              <a:spcBef>
                <a:spcPts val="0"/>
              </a:spcBef>
              <a:spcAft>
                <a:spcPts val="0"/>
              </a:spcAft>
              <a:buNone/>
            </a:pPr>
            <a:r>
              <a:rPr lang="en-US" sz="1050" b="0" i="0" spc="0">
                <a:solidFill>
                  <a:srgbClr val="141414"/>
                </a:solidFill>
                <a:latin typeface="Instrument Sans"/>
                <a:ea typeface="Instrument Sans"/>
                <a:cs typeface="Instrument Sans"/>
              </a:rPr>
              <a:t xml:space="preserve">Open access, and by which route</a:t>
            </a:r>
            <a:endParaRPr lang="en-US"/>
          </a:p>
        </p:txBody>
      </p:sp>
      <p:sp>
        <p:nvSpPr>
          <p:cNvPr id="22" name="Text 22"/>
          <p:cNvSpPr txBox="1"/>
          <p:nvPr/>
        </p:nvSpPr>
        <p:spPr>
          <a:xfrm>
            <a:off x="766762" y="2866132"/>
            <a:ext cx="1708547" cy="340519"/>
          </a:xfrm>
          <a:prstGeom prst="rect">
            <a:avLst/>
          </a:prstGeom>
          <a:noFill/>
          <a:ln>
            <a:noFill/>
          </a:ln>
        </p:spPr>
        <p:txBody>
          <a:bodyPr wrap="square" lIns="0" rIns="0" tIns="0" bIns="0" anchor="t"/>
          <a:lstStyle/>
          <a:p>
            <a:pPr algn="l">
              <a:lnSpc>
                <a:spcPts val="1266"/>
              </a:lnSpc>
              <a:spcBef>
                <a:spcPts val="0"/>
              </a:spcBef>
              <a:spcAft>
                <a:spcPts val="0"/>
              </a:spcAft>
              <a:buNone/>
            </a:pPr>
            <a:r>
              <a:rPr lang="en-US" sz="938" b="0" i="0" spc="0">
                <a:solidFill>
                  <a:srgbClr val="85857F"/>
                </a:solidFill>
                <a:latin typeface="Instrument Sans"/>
                <a:ea typeface="Instrument Sans"/>
                <a:cs typeface="Instrument Sans"/>
              </a:rPr>
              <a:t xml:space="preserve">Diamond, gold, hybrid, green, bronze or closed</a:t>
            </a:r>
            <a:endParaRPr lang="en-US"/>
          </a:p>
        </p:txBody>
      </p:sp>
      <p:sp>
        <p:nvSpPr>
          <p:cNvPr id="23" name="Text 23"/>
          <p:cNvSpPr txBox="1"/>
          <p:nvPr/>
        </p:nvSpPr>
        <p:spPr>
          <a:xfrm>
            <a:off x="2746772" y="1958429"/>
            <a:ext cx="1708547" cy="157162"/>
          </a:xfrm>
          <a:prstGeom prst="rect">
            <a:avLst/>
          </a:prstGeom>
          <a:noFill/>
          <a:ln>
            <a:noFill/>
          </a:ln>
        </p:spPr>
        <p:txBody>
          <a:bodyPr wrap="square" lIns="0" rIns="0" tIns="0" bIns="0" anchor="t"/>
          <a:lstStyle/>
          <a:p>
            <a:pPr algn="l">
              <a:lnSpc>
                <a:spcPts val="1035"/>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Check it</a:t>
            </a:r>
            <a:endParaRPr lang="en-US"/>
          </a:p>
        </p:txBody>
      </p:sp>
      <p:sp>
        <p:nvSpPr>
          <p:cNvPr id="24" name="Text 24"/>
          <p:cNvSpPr txBox="1"/>
          <p:nvPr/>
        </p:nvSpPr>
        <p:spPr>
          <a:xfrm>
            <a:off x="2746772" y="2163217"/>
            <a:ext cx="1708547" cy="228600"/>
          </a:xfrm>
          <a:prstGeom prst="rect">
            <a:avLst/>
          </a:prstGeom>
          <a:noFill/>
          <a:ln>
            <a:noFill/>
          </a:ln>
        </p:spPr>
        <p:txBody>
          <a:bodyPr wrap="square" lIns="0" rIns="0" tIns="0" bIns="0" anchor="t"/>
          <a:lstStyle/>
          <a:p>
            <a:pPr algn="l">
              <a:lnSpc>
                <a:spcPts val="1650"/>
              </a:lnSpc>
              <a:spcBef>
                <a:spcPts val="0"/>
              </a:spcBef>
              <a:spcAft>
                <a:spcPts val="0"/>
              </a:spcAft>
              <a:buNone/>
            </a:pPr>
            <a:r>
              <a:rPr lang="en-US" sz="1500" b="0" i="0" spc="-38">
                <a:solidFill>
                  <a:srgbClr val="141414"/>
                </a:solidFill>
                <a:latin typeface="Instrument Sans Medium"/>
                <a:ea typeface="Instrument Sans Medium"/>
                <a:cs typeface="Instrument Sans Medium"/>
              </a:rPr>
              <a:t xml:space="preserve">Can they check it?</a:t>
            </a:r>
            <a:endParaRPr lang="en-US"/>
          </a:p>
        </p:txBody>
      </p:sp>
      <p:sp>
        <p:nvSpPr>
          <p:cNvPr id="25" name="Text 25"/>
          <p:cNvSpPr txBox="1"/>
          <p:nvPr/>
        </p:nvSpPr>
        <p:spPr>
          <a:xfrm>
            <a:off x="2746772" y="2439442"/>
            <a:ext cx="1708547" cy="379065"/>
          </a:xfrm>
          <a:prstGeom prst="rect">
            <a:avLst/>
          </a:prstGeom>
          <a:noFill/>
          <a:ln>
            <a:noFill/>
          </a:ln>
        </p:spPr>
        <p:txBody>
          <a:bodyPr wrap="square" lIns="0" rIns="0" tIns="0" bIns="0" anchor="t"/>
          <a:lstStyle/>
          <a:p>
            <a:pPr algn="l">
              <a:lnSpc>
                <a:spcPts val="1418"/>
              </a:lnSpc>
              <a:spcBef>
                <a:spcPts val="0"/>
              </a:spcBef>
              <a:spcAft>
                <a:spcPts val="0"/>
              </a:spcAft>
              <a:buNone/>
            </a:pPr>
            <a:r>
              <a:rPr lang="en-US" sz="1050" b="0" i="0" spc="0">
                <a:solidFill>
                  <a:srgbClr val="141414"/>
                </a:solidFill>
                <a:latin typeface="Instrument Sans"/>
                <a:ea typeface="Instrument Sans"/>
                <a:cs typeface="Instrument Sans"/>
              </a:rPr>
              <a:t xml:space="preserve">Data and code that someone else can run</a:t>
            </a:r>
            <a:endParaRPr lang="en-US"/>
          </a:p>
        </p:txBody>
      </p:sp>
      <p:sp>
        <p:nvSpPr>
          <p:cNvPr id="26" name="Text 26"/>
          <p:cNvSpPr txBox="1"/>
          <p:nvPr/>
        </p:nvSpPr>
        <p:spPr>
          <a:xfrm>
            <a:off x="2746772" y="2866132"/>
            <a:ext cx="1708547" cy="340519"/>
          </a:xfrm>
          <a:prstGeom prst="rect">
            <a:avLst/>
          </a:prstGeom>
          <a:noFill/>
          <a:ln>
            <a:noFill/>
          </a:ln>
        </p:spPr>
        <p:txBody>
          <a:bodyPr wrap="square" lIns="0" rIns="0" tIns="0" bIns="0" anchor="t"/>
          <a:lstStyle/>
          <a:p>
            <a:pPr algn="l">
              <a:lnSpc>
                <a:spcPts val="1266"/>
              </a:lnSpc>
              <a:spcBef>
                <a:spcPts val="0"/>
              </a:spcBef>
              <a:spcAft>
                <a:spcPts val="0"/>
              </a:spcAft>
              <a:buNone/>
            </a:pPr>
            <a:r>
              <a:rPr lang="en-US" sz="938" b="0" i="0" spc="0">
                <a:solidFill>
                  <a:srgbClr val="85857F"/>
                </a:solidFill>
                <a:latin typeface="Instrument Sans"/>
                <a:ea typeface="Instrument Sans"/>
                <a:cs typeface="Instrument Sans"/>
              </a:rPr>
              <a:t xml:space="preserve">Repository links, GitHub, data-availability statements</a:t>
            </a:r>
            <a:endParaRPr lang="en-US"/>
          </a:p>
        </p:txBody>
      </p:sp>
      <p:sp>
        <p:nvSpPr>
          <p:cNvPr id="27" name="Text 27"/>
          <p:cNvSpPr txBox="1"/>
          <p:nvPr/>
        </p:nvSpPr>
        <p:spPr>
          <a:xfrm>
            <a:off x="4726781" y="1958429"/>
            <a:ext cx="1708547" cy="157162"/>
          </a:xfrm>
          <a:prstGeom prst="rect">
            <a:avLst/>
          </a:prstGeom>
          <a:noFill/>
          <a:ln>
            <a:noFill/>
          </a:ln>
        </p:spPr>
        <p:txBody>
          <a:bodyPr wrap="square" lIns="0" rIns="0" tIns="0" bIns="0" anchor="t"/>
          <a:lstStyle/>
          <a:p>
            <a:pPr algn="l">
              <a:lnSpc>
                <a:spcPts val="1035"/>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Reuse it</a:t>
            </a:r>
            <a:endParaRPr lang="en-US"/>
          </a:p>
        </p:txBody>
      </p:sp>
      <p:sp>
        <p:nvSpPr>
          <p:cNvPr id="28" name="Text 28"/>
          <p:cNvSpPr txBox="1"/>
          <p:nvPr/>
        </p:nvSpPr>
        <p:spPr>
          <a:xfrm>
            <a:off x="4726781" y="2163217"/>
            <a:ext cx="1708547" cy="228600"/>
          </a:xfrm>
          <a:prstGeom prst="rect">
            <a:avLst/>
          </a:prstGeom>
          <a:noFill/>
          <a:ln>
            <a:noFill/>
          </a:ln>
        </p:spPr>
        <p:txBody>
          <a:bodyPr wrap="square" lIns="0" rIns="0" tIns="0" bIns="0" anchor="t"/>
          <a:lstStyle/>
          <a:p>
            <a:pPr algn="l">
              <a:lnSpc>
                <a:spcPts val="1650"/>
              </a:lnSpc>
              <a:spcBef>
                <a:spcPts val="0"/>
              </a:spcBef>
              <a:spcAft>
                <a:spcPts val="0"/>
              </a:spcAft>
              <a:buNone/>
            </a:pPr>
            <a:r>
              <a:rPr lang="en-US" sz="1500" b="0" i="0" spc="-38">
                <a:solidFill>
                  <a:srgbClr val="141414"/>
                </a:solidFill>
                <a:latin typeface="Instrument Sans Medium"/>
                <a:ea typeface="Instrument Sans Medium"/>
                <a:cs typeface="Instrument Sans Medium"/>
              </a:rPr>
              <a:t xml:space="preserve">Can they reuse it?</a:t>
            </a:r>
            <a:endParaRPr lang="en-US"/>
          </a:p>
        </p:txBody>
      </p:sp>
      <p:sp>
        <p:nvSpPr>
          <p:cNvPr id="29" name="Text 29"/>
          <p:cNvSpPr txBox="1"/>
          <p:nvPr/>
        </p:nvSpPr>
        <p:spPr>
          <a:xfrm>
            <a:off x="4726781" y="2439442"/>
            <a:ext cx="1708547" cy="379065"/>
          </a:xfrm>
          <a:prstGeom prst="rect">
            <a:avLst/>
          </a:prstGeom>
          <a:noFill/>
          <a:ln>
            <a:noFill/>
          </a:ln>
        </p:spPr>
        <p:txBody>
          <a:bodyPr wrap="square" lIns="0" rIns="0" tIns="0" bIns="0" anchor="t"/>
          <a:lstStyle/>
          <a:p>
            <a:pPr algn="l">
              <a:lnSpc>
                <a:spcPts val="1418"/>
              </a:lnSpc>
              <a:spcBef>
                <a:spcPts val="0"/>
              </a:spcBef>
              <a:spcAft>
                <a:spcPts val="0"/>
              </a:spcAft>
              <a:buNone/>
            </a:pPr>
            <a:r>
              <a:rPr lang="en-US" sz="1050" b="0" i="0" spc="0">
                <a:solidFill>
                  <a:srgbClr val="141414"/>
                </a:solidFill>
                <a:latin typeface="Instrument Sans"/>
                <a:ea typeface="Instrument Sans"/>
                <a:cs typeface="Instrument Sans"/>
              </a:rPr>
              <a:t xml:space="preserve">Deposited, not promised on request</a:t>
            </a:r>
            <a:endParaRPr lang="en-US"/>
          </a:p>
        </p:txBody>
      </p:sp>
      <p:sp>
        <p:nvSpPr>
          <p:cNvPr id="30" name="Text 30"/>
          <p:cNvSpPr txBox="1"/>
          <p:nvPr/>
        </p:nvSpPr>
        <p:spPr>
          <a:xfrm>
            <a:off x="4726781" y="2866132"/>
            <a:ext cx="1708547" cy="340519"/>
          </a:xfrm>
          <a:prstGeom prst="rect">
            <a:avLst/>
          </a:prstGeom>
          <a:noFill/>
          <a:ln>
            <a:noFill/>
          </a:ln>
        </p:spPr>
        <p:txBody>
          <a:bodyPr wrap="square" lIns="0" rIns="0" tIns="0" bIns="0" anchor="t"/>
          <a:lstStyle/>
          <a:p>
            <a:pPr algn="l">
              <a:lnSpc>
                <a:spcPts val="1266"/>
              </a:lnSpc>
              <a:spcBef>
                <a:spcPts val="0"/>
              </a:spcBef>
              <a:spcAft>
                <a:spcPts val="0"/>
              </a:spcAft>
              <a:buNone/>
            </a:pPr>
            <a:r>
              <a:rPr lang="en-US" sz="938" b="0" i="0" spc="0">
                <a:solidFill>
                  <a:srgbClr val="85857F"/>
                </a:solidFill>
                <a:latin typeface="Instrument Sans"/>
                <a:ea typeface="Instrument Sans"/>
                <a:cs typeface="Instrument Sans"/>
              </a:rPr>
              <a:t xml:space="preserve">A repository or a controlled-access platform</a:t>
            </a:r>
            <a:endParaRPr lang="en-US"/>
          </a:p>
        </p:txBody>
      </p:sp>
      <p:sp>
        <p:nvSpPr>
          <p:cNvPr id="31" name="Text 31"/>
          <p:cNvSpPr txBox="1"/>
          <p:nvPr/>
        </p:nvSpPr>
        <p:spPr>
          <a:xfrm>
            <a:off x="6706791" y="1958429"/>
            <a:ext cx="1708547" cy="157162"/>
          </a:xfrm>
          <a:prstGeom prst="rect">
            <a:avLst/>
          </a:prstGeom>
          <a:noFill/>
          <a:ln>
            <a:noFill/>
          </a:ln>
        </p:spPr>
        <p:txBody>
          <a:bodyPr wrap="square" lIns="0" rIns="0" tIns="0" bIns="0" anchor="t"/>
          <a:lstStyle/>
          <a:p>
            <a:pPr algn="l">
              <a:lnSpc>
                <a:spcPts val="1035"/>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Plan it</a:t>
            </a:r>
            <a:endParaRPr lang="en-US"/>
          </a:p>
        </p:txBody>
      </p:sp>
      <p:sp>
        <p:nvSpPr>
          <p:cNvPr id="32" name="Text 32"/>
          <p:cNvSpPr txBox="1"/>
          <p:nvPr/>
        </p:nvSpPr>
        <p:spPr>
          <a:xfrm>
            <a:off x="6706791" y="2163217"/>
            <a:ext cx="1708547" cy="438150"/>
          </a:xfrm>
          <a:prstGeom prst="rect">
            <a:avLst/>
          </a:prstGeom>
          <a:noFill/>
          <a:ln>
            <a:noFill/>
          </a:ln>
        </p:spPr>
        <p:txBody>
          <a:bodyPr wrap="square" lIns="0" rIns="0" tIns="0" bIns="0" anchor="t"/>
          <a:lstStyle/>
          <a:p>
            <a:pPr algn="l">
              <a:lnSpc>
                <a:spcPts val="1650"/>
              </a:lnSpc>
              <a:spcBef>
                <a:spcPts val="0"/>
              </a:spcBef>
              <a:spcAft>
                <a:spcPts val="0"/>
              </a:spcAft>
              <a:buNone/>
            </a:pPr>
            <a:r>
              <a:rPr lang="en-US" sz="1500" b="0" i="0" spc="-38">
                <a:solidFill>
                  <a:srgbClr val="141414"/>
                </a:solidFill>
                <a:latin typeface="Instrument Sans Medium"/>
                <a:ea typeface="Instrument Sans Medium"/>
                <a:cs typeface="Instrument Sans Medium"/>
              </a:rPr>
              <a:t xml:space="preserve">Was it planned in advance?</a:t>
            </a:r>
            <a:endParaRPr lang="en-US"/>
          </a:p>
        </p:txBody>
      </p:sp>
      <p:sp>
        <p:nvSpPr>
          <p:cNvPr id="33" name="Text 33"/>
          <p:cNvSpPr txBox="1"/>
          <p:nvPr/>
        </p:nvSpPr>
        <p:spPr>
          <a:xfrm>
            <a:off x="6706791" y="2648992"/>
            <a:ext cx="1708547" cy="379065"/>
          </a:xfrm>
          <a:prstGeom prst="rect">
            <a:avLst/>
          </a:prstGeom>
          <a:noFill/>
          <a:ln>
            <a:noFill/>
          </a:ln>
        </p:spPr>
        <p:txBody>
          <a:bodyPr wrap="square" lIns="0" rIns="0" tIns="0" bIns="0" anchor="t"/>
          <a:lstStyle/>
          <a:p>
            <a:pPr algn="l">
              <a:lnSpc>
                <a:spcPts val="1418"/>
              </a:lnSpc>
              <a:spcBef>
                <a:spcPts val="0"/>
              </a:spcBef>
              <a:spcAft>
                <a:spcPts val="0"/>
              </a:spcAft>
              <a:buNone/>
            </a:pPr>
            <a:r>
              <a:rPr lang="en-US" sz="1050" b="0" i="0" spc="0">
                <a:solidFill>
                  <a:srgbClr val="141414"/>
                </a:solidFill>
                <a:latin typeface="Instrument Sans"/>
                <a:ea typeface="Instrument Sans"/>
                <a:cs typeface="Instrument Sans"/>
              </a:rPr>
              <a:t xml:space="preserve">Registration and preregistration</a:t>
            </a:r>
            <a:endParaRPr lang="en-US"/>
          </a:p>
        </p:txBody>
      </p:sp>
      <p:sp>
        <p:nvSpPr>
          <p:cNvPr id="34" name="Text 34"/>
          <p:cNvSpPr txBox="1"/>
          <p:nvPr/>
        </p:nvSpPr>
        <p:spPr>
          <a:xfrm>
            <a:off x="6706791" y="3075682"/>
            <a:ext cx="1708547" cy="340519"/>
          </a:xfrm>
          <a:prstGeom prst="rect">
            <a:avLst/>
          </a:prstGeom>
          <a:noFill/>
          <a:ln>
            <a:noFill/>
          </a:ln>
        </p:spPr>
        <p:txBody>
          <a:bodyPr wrap="square" lIns="0" rIns="0" tIns="0" bIns="0" anchor="t"/>
          <a:lstStyle/>
          <a:p>
            <a:pPr algn="l">
              <a:lnSpc>
                <a:spcPts val="1266"/>
              </a:lnSpc>
              <a:spcBef>
                <a:spcPts val="0"/>
              </a:spcBef>
              <a:spcAft>
                <a:spcPts val="0"/>
              </a:spcAft>
              <a:buNone/>
            </a:pPr>
            <a:r>
              <a:rPr lang="en-US" sz="938" b="0" i="0" spc="0">
                <a:solidFill>
                  <a:srgbClr val="85857F"/>
                </a:solidFill>
                <a:latin typeface="Instrument Sans"/>
                <a:ea typeface="Instrument Sans"/>
                <a:cs typeface="Instrument Sans"/>
              </a:rPr>
              <a:t xml:space="preserve">Trial registries, PROSPERO, Registered Reports</a:t>
            </a:r>
            <a:endParaRPr lang="en-US"/>
          </a:p>
        </p:txBody>
      </p:sp>
      <p:sp>
        <p:nvSpPr>
          <p:cNvPr id="35" name="Text 35"/>
          <p:cNvSpPr txBox="1"/>
          <p:nvPr/>
        </p:nvSpPr>
        <p:spPr>
          <a:xfrm>
            <a:off x="781050" y="3963888"/>
            <a:ext cx="7791450" cy="430411"/>
          </a:xfrm>
          <a:prstGeom prst="rect">
            <a:avLst/>
          </a:prstGeom>
          <a:noFill/>
          <a:ln>
            <a:noFill/>
          </a:ln>
        </p:spPr>
        <p:txBody>
          <a:bodyPr wrap="square" lIns="0" rIns="0" tIns="0" bIns="0" anchor="t"/>
          <a:lstStyle/>
          <a:p>
            <a:pPr algn="l">
              <a:lnSpc>
                <a:spcPts val="1620"/>
              </a:lnSpc>
              <a:spcBef>
                <a:spcPts val="0"/>
              </a:spcBef>
              <a:spcAft>
                <a:spcPts val="0"/>
              </a:spcAft>
              <a:buNone/>
            </a:pPr>
            <a:r>
              <a:rPr lang="en-US" sz="1200" b="0" i="0" spc="0">
                <a:solidFill>
                  <a:srgbClr val="141414"/>
                </a:solidFill>
                <a:latin typeface="Instrument Sans"/>
                <a:ea typeface="Instrument Sans"/>
                <a:cs typeface="Instrument Sans"/>
              </a:rPr>
              <a:t xml:space="preserve">Reproducibility audits exist for neurology, cardiology and general medicine. </a:t>
            </a:r>
            <a:r>
              <a:rPr lang="en-US" sz="1200" b="0" i="0" spc="0">
                <a:solidFill>
                  <a:srgbClr val="141414"/>
                </a:solidFill>
                <a:latin typeface="Instrument Sans Bold"/>
                <a:ea typeface="Instrument Sans Bold"/>
                <a:cs typeface="Instrument Sans Bold"/>
              </a:rPr>
              <a:t xml:space="preserve">None existed for stroke.</a:t>
            </a:r>
            <a:r>
              <a:rPr lang="en-US" sz="1200" b="0" i="0" spc="0">
                <a:solidFill>
                  <a:srgbClr val="141414"/>
                </a:solidFill>
                <a:latin typeface="Instrument Sans"/>
                <a:ea typeface="Instrument Sans"/>
                <a:cs typeface="Instrument Sans"/>
              </a:rPr>
              <a:t xml:space="preserve"> </a:t>
            </a:r>
            <a:r>
              <a:rPr lang="en-US" sz="1200" b="0" i="0" spc="0">
                <a:solidFill>
                  <a:srgbClr val="85857F"/>
                </a:solidFill>
                <a:latin typeface="Instrument Sans"/>
                <a:ea typeface="Instrument Sans"/>
                <a:cs typeface="Instrument Sans"/>
              </a:rPr>
              <a:t xml:space="preserve">Rauh 2020; Heckerman 2025; Scutt 2020</a:t>
            </a:r>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method">
    <p:bg>
      <p:bgPr>
        <a:solidFill>
          <a:srgbClr val="F1F1EF"/>
        </a:solidFill>
        <a:effectLst/>
      </p:bgPr>
    </p:bg>
    <p:spTree>
      <p:nvGrpSpPr>
        <p:cNvPr id="1" name=""/>
        <p:cNvGrpSpPr/>
        <p:nvPr/>
      </p:nvGrpSpPr>
      <p:grpSpPr/>
      <p:sp>
        <p:nvSpPr>
          <p:cNvPr id="2" name="Rule 2"/>
          <p:cNvSpPr txBox="0"/>
          <p:nvPr/>
        </p:nvSpPr>
        <p:spPr>
          <a:xfrm>
            <a:off x="609600" y="1725067"/>
            <a:ext cx="5419725" cy="4762"/>
          </a:xfrm>
          <a:prstGeom prst="rect">
            <a:avLst/>
          </a:prstGeom>
          <a:solidFill>
            <a:srgbClr val="C6C6C1"/>
          </a:solidFill>
          <a:ln>
            <a:noFill/>
          </a:ln>
        </p:spPr>
      </p:sp>
      <p:sp>
        <p:nvSpPr>
          <p:cNvPr id="3" name="Rule 3"/>
          <p:cNvSpPr txBox="0"/>
          <p:nvPr/>
        </p:nvSpPr>
        <p:spPr>
          <a:xfrm>
            <a:off x="609600" y="2015579"/>
            <a:ext cx="5419725" cy="4762"/>
          </a:xfrm>
          <a:prstGeom prst="rect">
            <a:avLst/>
          </a:prstGeom>
          <a:solidFill>
            <a:srgbClr val="C6C6C1"/>
          </a:solidFill>
          <a:ln>
            <a:noFill/>
          </a:ln>
        </p:spPr>
      </p:sp>
      <p:sp>
        <p:nvSpPr>
          <p:cNvPr id="4" name="Rule 4"/>
          <p:cNvSpPr txBox="0"/>
          <p:nvPr/>
        </p:nvSpPr>
        <p:spPr>
          <a:xfrm>
            <a:off x="609600" y="2306092"/>
            <a:ext cx="5419725" cy="4762"/>
          </a:xfrm>
          <a:prstGeom prst="rect">
            <a:avLst/>
          </a:prstGeom>
          <a:solidFill>
            <a:srgbClr val="C6C6C1"/>
          </a:solidFill>
          <a:ln>
            <a:noFill/>
          </a:ln>
        </p:spPr>
      </p:sp>
      <p:sp>
        <p:nvSpPr>
          <p:cNvPr id="5" name="Rule 5"/>
          <p:cNvSpPr txBox="0"/>
          <p:nvPr/>
        </p:nvSpPr>
        <p:spPr>
          <a:xfrm>
            <a:off x="609600" y="2596604"/>
            <a:ext cx="5419725" cy="4762"/>
          </a:xfrm>
          <a:prstGeom prst="rect">
            <a:avLst/>
          </a:prstGeom>
          <a:solidFill>
            <a:srgbClr val="C6C6C1"/>
          </a:solidFill>
          <a:ln>
            <a:noFill/>
          </a:ln>
        </p:spPr>
      </p:sp>
      <p:sp>
        <p:nvSpPr>
          <p:cNvPr id="6" name="Rule 6"/>
          <p:cNvSpPr txBox="0"/>
          <p:nvPr/>
        </p:nvSpPr>
        <p:spPr>
          <a:xfrm>
            <a:off x="609600" y="3031778"/>
            <a:ext cx="5419725" cy="4762"/>
          </a:xfrm>
          <a:prstGeom prst="rect">
            <a:avLst/>
          </a:prstGeom>
          <a:solidFill>
            <a:srgbClr val="C6C6C1"/>
          </a:solidFill>
          <a:ln>
            <a:noFill/>
          </a:ln>
        </p:spPr>
      </p:sp>
      <p:pic>
        <p:nvPicPr>
          <p:cNvPr id="7" name="Illustration 7" descr="The dashboard report card: ten indicators by discipline"/>
          <p:cNvPicPr>
            <a:picLocks noChangeAspect="1"/>
          </p:cNvPicPr>
          <p:nvPr/>
        </p:nvPicPr>
        <p:blipFill>
          <a:blip r:embed="rIdFigure7"/>
          <a:stretch>
            <a:fillRect/>
          </a:stretch>
        </p:blipFill>
        <p:spPr>
          <a:xfrm>
            <a:off x="6370757" y="1725067"/>
            <a:ext cx="2088910" cy="2619375"/>
          </a:xfrm>
          <a:prstGeom prst="rect">
            <a:avLst/>
          </a:prstGeom>
        </p:spPr>
      </p:pic>
      <p:sp>
        <p:nvSpPr>
          <p:cNvPr id="8" name="Text 8"/>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9" name="Text 9"/>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06</a:t>
            </a:r>
            <a:r>
              <a:rPr lang="en-US" sz="900" b="0" i="0" spc="0">
                <a:solidFill>
                  <a:srgbClr val="85857F"/>
                </a:solidFill>
                <a:latin typeface="Instrument Sans"/>
                <a:ea typeface="Instrument Sans"/>
                <a:cs typeface="Instrument Sans"/>
              </a:rPr>
              <a:t xml:space="preserve">  How we measured</a:t>
            </a:r>
            <a:endParaRPr lang="en-US"/>
          </a:p>
        </p:txBody>
      </p:sp>
      <p:sp>
        <p:nvSpPr>
          <p:cNvPr id="10" name="Text 10"/>
          <p:cNvSpPr txBox="1"/>
          <p:nvPr/>
        </p:nvSpPr>
        <p:spPr>
          <a:xfrm>
            <a:off x="609600" y="914400"/>
            <a:ext cx="7962900" cy="677317"/>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A living pipeline measures the stroke literature every six months</a:t>
            </a:r>
            <a:endParaRPr lang="en-US"/>
          </a:p>
        </p:txBody>
      </p:sp>
      <p:sp>
        <p:nvSpPr>
          <p:cNvPr id="11" name="Text 11"/>
          <p:cNvSpPr txBox="1"/>
          <p:nvPr/>
        </p:nvSpPr>
        <p:spPr>
          <a:xfrm>
            <a:off x="609600" y="1796504"/>
            <a:ext cx="752475" cy="171450"/>
          </a:xfrm>
          <a:prstGeom prst="rect">
            <a:avLst/>
          </a:prstGeom>
          <a:noFill/>
          <a:ln>
            <a:noFill/>
          </a:ln>
        </p:spPr>
        <p:txBody>
          <a:bodyPr wrap="square" lIns="0" rIns="0" tIns="0" bIns="0" anchor="t"/>
          <a:lstStyle/>
          <a:p>
            <a:pPr algn="l">
              <a:lnSpc>
                <a:spcPts val="1121"/>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Retrieve</a:t>
            </a:r>
            <a:endParaRPr lang="en-US"/>
          </a:p>
        </p:txBody>
      </p:sp>
      <p:sp>
        <p:nvSpPr>
          <p:cNvPr id="12" name="Text 12"/>
          <p:cNvSpPr txBox="1"/>
          <p:nvPr/>
        </p:nvSpPr>
        <p:spPr>
          <a:xfrm>
            <a:off x="1438275" y="1796504"/>
            <a:ext cx="4629150" cy="167580"/>
          </a:xfrm>
          <a:prstGeom prst="rect">
            <a:avLst/>
          </a:prstGeom>
          <a:noFill/>
          <a:ln>
            <a:noFill/>
          </a:ln>
        </p:spPr>
        <p:txBody>
          <a:bodyPr wrap="square" lIns="0" rIns="0" tIns="0" bIns="0" anchor="t"/>
          <a:lstStyle/>
          <a:p>
            <a:pPr algn="l">
              <a:lnSpc>
                <a:spcPts val="1170"/>
              </a:lnSpc>
              <a:spcBef>
                <a:spcPts val="0"/>
              </a:spcBef>
              <a:spcAft>
                <a:spcPts val="0"/>
              </a:spcAft>
              <a:buNone/>
            </a:pPr>
            <a:r>
              <a:rPr lang="en-US" sz="900" b="0" i="0" spc="0">
                <a:solidFill>
                  <a:srgbClr val="4A4A47"/>
                </a:solidFill>
                <a:latin typeface="Instrument Sans"/>
                <a:ea typeface="Instrument Sans"/>
                <a:cs typeface="Instrument Sans"/>
              </a:rPr>
              <a:t xml:space="preserve">OpenAlex, 2015 onward; stroke plus neurology, neuroscience, cardiology</a:t>
            </a:r>
            <a:endParaRPr lang="en-US"/>
          </a:p>
        </p:txBody>
      </p:sp>
      <p:sp>
        <p:nvSpPr>
          <p:cNvPr id="13" name="Text 13"/>
          <p:cNvSpPr txBox="1"/>
          <p:nvPr/>
        </p:nvSpPr>
        <p:spPr>
          <a:xfrm>
            <a:off x="609600" y="2087017"/>
            <a:ext cx="752475" cy="171450"/>
          </a:xfrm>
          <a:prstGeom prst="rect">
            <a:avLst/>
          </a:prstGeom>
          <a:noFill/>
          <a:ln>
            <a:noFill/>
          </a:ln>
        </p:spPr>
        <p:txBody>
          <a:bodyPr wrap="square" lIns="0" rIns="0" tIns="0" bIns="0" anchor="t"/>
          <a:lstStyle/>
          <a:p>
            <a:pPr algn="l">
              <a:lnSpc>
                <a:spcPts val="1121"/>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Clean</a:t>
            </a:r>
            <a:endParaRPr lang="en-US"/>
          </a:p>
        </p:txBody>
      </p:sp>
      <p:sp>
        <p:nvSpPr>
          <p:cNvPr id="14" name="Text 14"/>
          <p:cNvSpPr txBox="1"/>
          <p:nvPr/>
        </p:nvSpPr>
        <p:spPr>
          <a:xfrm>
            <a:off x="1438275" y="2087017"/>
            <a:ext cx="4629150" cy="167580"/>
          </a:xfrm>
          <a:prstGeom prst="rect">
            <a:avLst/>
          </a:prstGeom>
          <a:noFill/>
          <a:ln>
            <a:noFill/>
          </a:ln>
        </p:spPr>
        <p:txBody>
          <a:bodyPr wrap="square" lIns="0" rIns="0" tIns="0" bIns="0" anchor="t"/>
          <a:lstStyle/>
          <a:p>
            <a:pPr algn="l">
              <a:lnSpc>
                <a:spcPts val="1170"/>
              </a:lnSpc>
              <a:spcBef>
                <a:spcPts val="0"/>
              </a:spcBef>
              <a:spcAft>
                <a:spcPts val="0"/>
              </a:spcAft>
              <a:buNone/>
            </a:pPr>
            <a:r>
              <a:rPr lang="en-US" sz="900" b="0" i="0" spc="0">
                <a:solidFill>
                  <a:srgbClr val="4A4A47"/>
                </a:solidFill>
                <a:latin typeface="Instrument Sans"/>
                <a:ea typeface="Instrument Sans"/>
                <a:cs typeface="Instrument Sans"/>
              </a:rPr>
              <a:t xml:space="preserve">Journal articles and reviews with a DOI; datasets, preprints, errata and chapters out</a:t>
            </a:r>
            <a:endParaRPr lang="en-US"/>
          </a:p>
        </p:txBody>
      </p:sp>
      <p:sp>
        <p:nvSpPr>
          <p:cNvPr id="15" name="Text 15"/>
          <p:cNvSpPr txBox="1"/>
          <p:nvPr/>
        </p:nvSpPr>
        <p:spPr>
          <a:xfrm>
            <a:off x="609600" y="2377529"/>
            <a:ext cx="752475" cy="171450"/>
          </a:xfrm>
          <a:prstGeom prst="rect">
            <a:avLst/>
          </a:prstGeom>
          <a:noFill/>
          <a:ln>
            <a:noFill/>
          </a:ln>
        </p:spPr>
        <p:txBody>
          <a:bodyPr wrap="square" lIns="0" rIns="0" tIns="0" bIns="0" anchor="t"/>
          <a:lstStyle/>
          <a:p>
            <a:pPr algn="l">
              <a:lnSpc>
                <a:spcPts val="1121"/>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Detect</a:t>
            </a:r>
            <a:endParaRPr lang="en-US"/>
          </a:p>
        </p:txBody>
      </p:sp>
      <p:sp>
        <p:nvSpPr>
          <p:cNvPr id="16" name="Text 16"/>
          <p:cNvSpPr txBox="1"/>
          <p:nvPr/>
        </p:nvSpPr>
        <p:spPr>
          <a:xfrm>
            <a:off x="1438275" y="2377529"/>
            <a:ext cx="4629150" cy="167580"/>
          </a:xfrm>
          <a:prstGeom prst="rect">
            <a:avLst/>
          </a:prstGeom>
          <a:noFill/>
          <a:ln>
            <a:noFill/>
          </a:ln>
        </p:spPr>
        <p:txBody>
          <a:bodyPr wrap="square" lIns="0" rIns="0" tIns="0" bIns="0" anchor="t"/>
          <a:lstStyle/>
          <a:p>
            <a:pPr algn="l">
              <a:lnSpc>
                <a:spcPts val="1170"/>
              </a:lnSpc>
              <a:spcBef>
                <a:spcPts val="0"/>
              </a:spcBef>
              <a:spcAft>
                <a:spcPts val="0"/>
              </a:spcAft>
              <a:buNone/>
            </a:pPr>
            <a:r>
              <a:rPr lang="en-US" sz="900" b="0" i="0" spc="0">
                <a:solidFill>
                  <a:srgbClr val="4A4A47"/>
                </a:solidFill>
                <a:latin typeface="Instrument Sans"/>
                <a:ea typeface="Instrument Sans"/>
                <a:cs typeface="Instrument Sans"/>
              </a:rPr>
              <a:t xml:space="preserve">Open-access status, repository links, preprint versions, registration identifiers</a:t>
            </a:r>
            <a:endParaRPr lang="en-US"/>
          </a:p>
        </p:txBody>
      </p:sp>
      <p:sp>
        <p:nvSpPr>
          <p:cNvPr id="17" name="Text 17"/>
          <p:cNvSpPr txBox="1"/>
          <p:nvPr/>
        </p:nvSpPr>
        <p:spPr>
          <a:xfrm>
            <a:off x="609600" y="2668042"/>
            <a:ext cx="752475" cy="171450"/>
          </a:xfrm>
          <a:prstGeom prst="rect">
            <a:avLst/>
          </a:prstGeom>
          <a:noFill/>
          <a:ln>
            <a:noFill/>
          </a:ln>
        </p:spPr>
        <p:txBody>
          <a:bodyPr wrap="square" lIns="0" rIns="0" tIns="0" bIns="0" anchor="t"/>
          <a:lstStyle/>
          <a:p>
            <a:pPr algn="l">
              <a:lnSpc>
                <a:spcPts val="1121"/>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Read</a:t>
            </a:r>
            <a:endParaRPr lang="en-US"/>
          </a:p>
        </p:txBody>
      </p:sp>
      <p:sp>
        <p:nvSpPr>
          <p:cNvPr id="18" name="Text 18"/>
          <p:cNvSpPr txBox="1"/>
          <p:nvPr/>
        </p:nvSpPr>
        <p:spPr>
          <a:xfrm>
            <a:off x="1438275" y="2668042"/>
            <a:ext cx="4629150" cy="316111"/>
          </a:xfrm>
          <a:prstGeom prst="rect">
            <a:avLst/>
          </a:prstGeom>
          <a:noFill/>
          <a:ln>
            <a:noFill/>
          </a:ln>
        </p:spPr>
        <p:txBody>
          <a:bodyPr wrap="square" lIns="0" rIns="0" tIns="0" bIns="0" anchor="t"/>
          <a:lstStyle/>
          <a:p>
            <a:pPr algn="l">
              <a:lnSpc>
                <a:spcPts val="1170"/>
              </a:lnSpc>
              <a:spcBef>
                <a:spcPts val="0"/>
              </a:spcBef>
              <a:spcAft>
                <a:spcPts val="0"/>
              </a:spcAft>
              <a:buNone/>
            </a:pPr>
            <a:r>
              <a:rPr lang="en-US" sz="900" b="0" i="0" spc="0">
                <a:solidFill>
                  <a:srgbClr val="4A4A47"/>
                </a:solidFill>
                <a:latin typeface="Instrument Sans"/>
                <a:ea typeface="Instrument Sans"/>
                <a:cs typeface="Instrument Sans"/>
              </a:rPr>
              <a:t xml:space="preserve">Data-availability statements in up to 1,500 open-access full texts per year, via Europe PMC, all four fields</a:t>
            </a:r>
            <a:endParaRPr lang="en-US"/>
          </a:p>
        </p:txBody>
      </p:sp>
      <p:sp>
        <p:nvSpPr>
          <p:cNvPr id="19" name="Text 19"/>
          <p:cNvSpPr txBox="1"/>
          <p:nvPr/>
        </p:nvSpPr>
        <p:spPr>
          <a:xfrm>
            <a:off x="609600" y="3103215"/>
            <a:ext cx="752475" cy="171450"/>
          </a:xfrm>
          <a:prstGeom prst="rect">
            <a:avLst/>
          </a:prstGeom>
          <a:noFill/>
          <a:ln>
            <a:noFill/>
          </a:ln>
        </p:spPr>
        <p:txBody>
          <a:bodyPr wrap="square" lIns="0" rIns="0" tIns="0" bIns="0" anchor="t"/>
          <a:lstStyle/>
          <a:p>
            <a:pPr algn="l">
              <a:lnSpc>
                <a:spcPts val="1121"/>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Publish</a:t>
            </a:r>
            <a:endParaRPr lang="en-US"/>
          </a:p>
        </p:txBody>
      </p:sp>
      <p:sp>
        <p:nvSpPr>
          <p:cNvPr id="20" name="Text 20"/>
          <p:cNvSpPr txBox="1"/>
          <p:nvPr/>
        </p:nvSpPr>
        <p:spPr>
          <a:xfrm>
            <a:off x="1438275" y="3103215"/>
            <a:ext cx="4629150" cy="167580"/>
          </a:xfrm>
          <a:prstGeom prst="rect">
            <a:avLst/>
          </a:prstGeom>
          <a:noFill/>
          <a:ln>
            <a:noFill/>
          </a:ln>
        </p:spPr>
        <p:txBody>
          <a:bodyPr wrap="square" lIns="0" rIns="0" tIns="0" bIns="0" anchor="t"/>
          <a:lstStyle/>
          <a:p>
            <a:pPr algn="l">
              <a:lnSpc>
                <a:spcPts val="1170"/>
              </a:lnSpc>
              <a:spcBef>
                <a:spcPts val="0"/>
              </a:spcBef>
              <a:spcAft>
                <a:spcPts val="0"/>
              </a:spcAft>
              <a:buNone/>
            </a:pPr>
            <a:r>
              <a:rPr lang="en-US" sz="900" b="0" i="0" spc="0">
                <a:solidFill>
                  <a:srgbClr val="4A4A47"/>
                </a:solidFill>
                <a:latin typeface="Instrument Sans"/>
                <a:ea typeface="Instrument Sans"/>
                <a:cs typeface="Instrument Sans"/>
              </a:rPr>
              <a:t xml:space="preserve">Open code, open data, public dashboard; re-run every six months</a:t>
            </a:r>
            <a:endParaRPr lang="en-US"/>
          </a:p>
        </p:txBody>
      </p:sp>
      <p:sp>
        <p:nvSpPr>
          <p:cNvPr id="21" name="Text 21"/>
          <p:cNvSpPr txBox="1"/>
          <p:nvPr/>
        </p:nvSpPr>
        <p:spPr>
          <a:xfrm>
            <a:off x="609600" y="3455640"/>
            <a:ext cx="1768450" cy="323850"/>
          </a:xfrm>
          <a:prstGeom prst="rect">
            <a:avLst/>
          </a:prstGeom>
          <a:noFill/>
          <a:ln>
            <a:noFill/>
          </a:ln>
        </p:spPr>
        <p:txBody>
          <a:bodyPr wrap="square" lIns="0" rIns="0" tIns="0" bIns="0" anchor="t"/>
          <a:lstStyle/>
          <a:p>
            <a:pPr algn="l">
              <a:lnSpc>
                <a:spcPts val="2400"/>
              </a:lnSpc>
              <a:spcBef>
                <a:spcPts val="0"/>
              </a:spcBef>
              <a:spcAft>
                <a:spcPts val="0"/>
              </a:spcAft>
              <a:buNone/>
            </a:pPr>
            <a:r>
              <a:rPr lang="en-US" sz="2400" b="0" i="0" spc="0">
                <a:solidFill>
                  <a:srgbClr val="141414"/>
                </a:solidFill>
                <a:latin typeface="Instrument Serif"/>
                <a:ea typeface="Instrument Serif"/>
                <a:cs typeface="Instrument Serif"/>
              </a:rPr>
              <a:t xml:space="preserve">140,281</a:t>
            </a:r>
            <a:endParaRPr lang="en-US"/>
          </a:p>
        </p:txBody>
      </p:sp>
      <p:sp>
        <p:nvSpPr>
          <p:cNvPr id="22" name="Text 22"/>
          <p:cNvSpPr txBox="1"/>
          <p:nvPr/>
        </p:nvSpPr>
        <p:spPr>
          <a:xfrm>
            <a:off x="609600" y="3769965"/>
            <a:ext cx="1768450" cy="167580"/>
          </a:xfrm>
          <a:prstGeom prst="rect">
            <a:avLst/>
          </a:prstGeom>
          <a:noFill/>
          <a:ln>
            <a:noFill/>
          </a:ln>
        </p:spPr>
        <p:txBody>
          <a:bodyPr wrap="squar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stroke articles and reviews</a:t>
            </a:r>
            <a:endParaRPr lang="en-US"/>
          </a:p>
        </p:txBody>
      </p:sp>
      <p:sp>
        <p:nvSpPr>
          <p:cNvPr id="23" name="Text 23"/>
          <p:cNvSpPr txBox="1"/>
          <p:nvPr/>
        </p:nvSpPr>
        <p:spPr>
          <a:xfrm>
            <a:off x="2454250" y="3455640"/>
            <a:ext cx="1768525" cy="323850"/>
          </a:xfrm>
          <a:prstGeom prst="rect">
            <a:avLst/>
          </a:prstGeom>
          <a:noFill/>
          <a:ln>
            <a:noFill/>
          </a:ln>
        </p:spPr>
        <p:txBody>
          <a:bodyPr wrap="square" lIns="0" rIns="0" tIns="0" bIns="0" anchor="t"/>
          <a:lstStyle/>
          <a:p>
            <a:pPr algn="l">
              <a:lnSpc>
                <a:spcPts val="2400"/>
              </a:lnSpc>
              <a:spcBef>
                <a:spcPts val="0"/>
              </a:spcBef>
              <a:spcAft>
                <a:spcPts val="0"/>
              </a:spcAft>
              <a:buNone/>
            </a:pPr>
            <a:r>
              <a:rPr lang="en-US" sz="2400" b="0" i="0" spc="0">
                <a:solidFill>
                  <a:srgbClr val="141414"/>
                </a:solidFill>
                <a:latin typeface="Instrument Serif"/>
                <a:ea typeface="Instrument Serif"/>
                <a:cs typeface="Instrument Serif"/>
              </a:rPr>
              <a:t xml:space="preserve">16,362</a:t>
            </a:r>
            <a:endParaRPr lang="en-US"/>
          </a:p>
        </p:txBody>
      </p:sp>
      <p:sp>
        <p:nvSpPr>
          <p:cNvPr id="24" name="Text 24"/>
          <p:cNvSpPr txBox="1"/>
          <p:nvPr/>
        </p:nvSpPr>
        <p:spPr>
          <a:xfrm>
            <a:off x="2454250" y="3769965"/>
            <a:ext cx="1768525" cy="167580"/>
          </a:xfrm>
          <a:prstGeom prst="rect">
            <a:avLst/>
          </a:prstGeom>
          <a:noFill/>
          <a:ln>
            <a:noFill/>
          </a:ln>
        </p:spPr>
        <p:txBody>
          <a:bodyPr wrap="squar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stroke full texts read</a:t>
            </a:r>
            <a:endParaRPr lang="en-US"/>
          </a:p>
        </p:txBody>
      </p:sp>
      <p:sp>
        <p:nvSpPr>
          <p:cNvPr id="25" name="Text 25"/>
          <p:cNvSpPr txBox="1"/>
          <p:nvPr/>
        </p:nvSpPr>
        <p:spPr>
          <a:xfrm>
            <a:off x="4298975" y="3455640"/>
            <a:ext cx="1768450" cy="323850"/>
          </a:xfrm>
          <a:prstGeom prst="rect">
            <a:avLst/>
          </a:prstGeom>
          <a:noFill/>
          <a:ln>
            <a:noFill/>
          </a:ln>
        </p:spPr>
        <p:txBody>
          <a:bodyPr wrap="square" lIns="0" rIns="0" tIns="0" bIns="0" anchor="t"/>
          <a:lstStyle/>
          <a:p>
            <a:pPr algn="l">
              <a:lnSpc>
                <a:spcPts val="2400"/>
              </a:lnSpc>
              <a:spcBef>
                <a:spcPts val="0"/>
              </a:spcBef>
              <a:spcAft>
                <a:spcPts val="0"/>
              </a:spcAft>
              <a:buNone/>
            </a:pPr>
            <a:r>
              <a:rPr lang="en-US" sz="2400" b="0" i="0" spc="0">
                <a:solidFill>
                  <a:srgbClr val="141414"/>
                </a:solidFill>
                <a:latin typeface="Instrument Serif"/>
                <a:ea typeface="Instrument Serif"/>
                <a:cs typeface="Instrument Serif"/>
              </a:rPr>
              <a:t xml:space="preserve">4</a:t>
            </a:r>
            <a:endParaRPr lang="en-US"/>
          </a:p>
        </p:txBody>
      </p:sp>
      <p:sp>
        <p:nvSpPr>
          <p:cNvPr id="26" name="Text 26"/>
          <p:cNvSpPr txBox="1"/>
          <p:nvPr/>
        </p:nvSpPr>
        <p:spPr>
          <a:xfrm>
            <a:off x="4298975" y="3769965"/>
            <a:ext cx="1768450" cy="167580"/>
          </a:xfrm>
          <a:prstGeom prst="rect">
            <a:avLst/>
          </a:prstGeom>
          <a:noFill/>
          <a:ln>
            <a:noFill/>
          </a:ln>
        </p:spPr>
        <p:txBody>
          <a:bodyPr wrap="square" lIns="0" rIns="0" tIns="0" bIns="0" anchor="t"/>
          <a:lstStyle/>
          <a:p>
            <a:pPr algn="l">
              <a:lnSpc>
                <a:spcPts val="1170"/>
              </a:lnSpc>
              <a:spcBef>
                <a:spcPts val="0"/>
              </a:spcBef>
              <a:spcAft>
                <a:spcPts val="0"/>
              </a:spcAft>
              <a:buNone/>
            </a:pPr>
            <a:r>
              <a:rPr lang="en-US" sz="900" b="0" i="0" spc="0">
                <a:solidFill>
                  <a:srgbClr val="85857F"/>
                </a:solidFill>
                <a:latin typeface="Instrument Sans"/>
                <a:ea typeface="Instrument Sans"/>
                <a:cs typeface="Instrument Sans"/>
              </a:rPr>
              <a:t xml:space="preserve">fields, 2015 to 2025</a:t>
            </a:r>
            <a:endParaRPr lang="en-US"/>
          </a:p>
        </p:txBody>
      </p:sp>
      <p:sp>
        <p:nvSpPr>
          <p:cNvPr id="27" name="Text 27"/>
          <p:cNvSpPr txBox="1"/>
          <p:nvPr/>
        </p:nvSpPr>
        <p:spPr>
          <a:xfrm>
            <a:off x="609600" y="4695825"/>
            <a:ext cx="79629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friseeb.github.io/stroke_open_science_outputs · Abstract and metadata signals are lower bounds; the full-text audit narrows the gap for data sharing.</a:t>
            </a:r>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oa-trend">
    <p:bg>
      <p:bgPr>
        <a:solidFill>
          <a:srgbClr val="F1F1EF"/>
        </a:solidFill>
        <a:effectLst/>
      </p:bgPr>
    </p:bg>
    <p:spTree>
      <p:nvGrpSpPr>
        <p:cNvPr id="1" name=""/>
        <p:cNvGrpSpPr/>
        <p:nvPr/>
      </p:nvGrpSpPr>
      <p:grpSpPr/>
      <p:pic>
        <p:nvPicPr>
          <p:cNvPr id="2" name="Illustration 2" descr="Open access by year, 2015 to 2025, stroke against neurology, neuroscience and cardiology"/>
          <p:cNvPicPr>
            <a:picLocks noChangeAspect="1"/>
          </p:cNvPicPr>
          <p:nvPr/>
        </p:nvPicPr>
        <p:blipFill>
          <a:blip r:embed="rIdFigure2"/>
          <a:stretch>
            <a:fillRect/>
          </a:stretch>
        </p:blipFill>
        <p:spPr>
          <a:xfrm>
            <a:off x="696148" y="1357833"/>
            <a:ext cx="7751704" cy="2943225"/>
          </a:xfrm>
          <a:prstGeom prst="rect">
            <a:avLst/>
          </a:prstGeom>
        </p:spPr>
      </p:pic>
      <p:sp>
        <p:nvSpPr>
          <p:cNvPr id="3" name="Text 3"/>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4" name="Text 4"/>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07</a:t>
            </a:r>
            <a:r>
              <a:rPr lang="en-US" sz="900" b="0" i="0" spc="0">
                <a:solidFill>
                  <a:srgbClr val="85857F"/>
                </a:solidFill>
                <a:latin typeface="Instrument Sans"/>
                <a:ea typeface="Instrument Sans"/>
                <a:cs typeface="Instrument Sans"/>
              </a:rPr>
              <a:t xml:space="preserve">  Finding 1</a:t>
            </a:r>
            <a:endParaRPr lang="en-US"/>
          </a:p>
        </p:txBody>
      </p:sp>
      <p:sp>
        <p:nvSpPr>
          <p:cNvPr id="5" name="Text 5"/>
          <p:cNvSpPr txBox="1"/>
          <p:nvPr/>
        </p:nvSpPr>
        <p:spPr>
          <a:xfrm>
            <a:off x="609600" y="895350"/>
            <a:ext cx="7962900" cy="348183"/>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Stroke went open access: 53% in 2015, 75% in 2024</a:t>
            </a:r>
            <a:endParaRPr lang="en-US"/>
          </a:p>
        </p:txBody>
      </p:sp>
      <p:sp>
        <p:nvSpPr>
          <p:cNvPr id="6" name="Text 6"/>
          <p:cNvSpPr txBox="1"/>
          <p:nvPr/>
        </p:nvSpPr>
        <p:spPr>
          <a:xfrm>
            <a:off x="609600" y="4552950"/>
            <a:ext cx="7962900" cy="30480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Open access = any OpenAlex status other than closed. Stroke 66% over the decade; cardiology 70%, neurology 62%, neuroscience 65% (its title term “neural” also catches machine-learning papers). 2025 is incomplete.</a:t>
            </a:r>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oa-type">
    <p:bg>
      <p:bgPr>
        <a:solidFill>
          <a:srgbClr val="F1F1EF"/>
        </a:solidFill>
        <a:effectLst/>
      </p:bgPr>
    </p:bg>
    <p:spTree>
      <p:nvGrpSpPr>
        <p:cNvPr id="1" name=""/>
        <p:cNvGrpSpPr/>
        <p:nvPr/>
      </p:nvGrpSpPr>
      <p:grpSpPr/>
      <p:sp>
        <p:nvSpPr>
          <p:cNvPr id="2" name="Rule 2"/>
          <p:cNvSpPr txBox="0"/>
          <p:nvPr/>
        </p:nvSpPr>
        <p:spPr>
          <a:xfrm>
            <a:off x="5448300" y="1565002"/>
            <a:ext cx="3086100" cy="4762"/>
          </a:xfrm>
          <a:prstGeom prst="rect">
            <a:avLst/>
          </a:prstGeom>
          <a:solidFill>
            <a:srgbClr val="141414"/>
          </a:solidFill>
          <a:ln>
            <a:noFill/>
          </a:ln>
        </p:spPr>
      </p:sp>
      <p:pic>
        <p:nvPicPr>
          <p:cNvPr id="3" name="Illustration 3" descr="Open-access status by year for stroke: diamond, gold, hybrid, green, bronze, closed"/>
          <p:cNvPicPr>
            <a:picLocks noChangeAspect="1"/>
          </p:cNvPicPr>
          <p:nvPr/>
        </p:nvPicPr>
        <p:blipFill>
          <a:blip r:embed="rIdFigure3"/>
          <a:stretch>
            <a:fillRect/>
          </a:stretch>
        </p:blipFill>
        <p:spPr>
          <a:xfrm>
            <a:off x="641131" y="1357833"/>
            <a:ext cx="4508938" cy="2933700"/>
          </a:xfrm>
          <a:prstGeom prst="rect">
            <a:avLst/>
          </a:prstGeom>
        </p:spPr>
      </p:pic>
      <p:sp>
        <p:nvSpPr>
          <p:cNvPr id="4" name="Text 4"/>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5" name="Text 5"/>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08</a:t>
            </a:r>
            <a:r>
              <a:rPr lang="en-US" sz="900" b="0" i="0" spc="0">
                <a:solidFill>
                  <a:srgbClr val="85857F"/>
                </a:solidFill>
                <a:latin typeface="Instrument Sans"/>
                <a:ea typeface="Instrument Sans"/>
                <a:cs typeface="Instrument Sans"/>
              </a:rPr>
              <a:t xml:space="preserve">  Finding 2</a:t>
            </a:r>
            <a:endParaRPr lang="en-US"/>
          </a:p>
        </p:txBody>
      </p:sp>
      <p:sp>
        <p:nvSpPr>
          <p:cNvPr id="6" name="Text 6"/>
          <p:cNvSpPr txBox="1"/>
          <p:nvPr/>
        </p:nvSpPr>
        <p:spPr>
          <a:xfrm>
            <a:off x="609600" y="895350"/>
            <a:ext cx="7962900" cy="348183"/>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The growth in open access was paid for, not deposited</a:t>
            </a:r>
            <a:endParaRPr lang="en-US"/>
          </a:p>
        </p:txBody>
      </p:sp>
      <p:sp>
        <p:nvSpPr>
          <p:cNvPr id="7" name="Text 7"/>
          <p:cNvSpPr txBox="1"/>
          <p:nvPr/>
        </p:nvSpPr>
        <p:spPr>
          <a:xfrm>
            <a:off x="5448300" y="1357833"/>
            <a:ext cx="2690812" cy="183356"/>
          </a:xfrm>
          <a:prstGeom prst="rect">
            <a:avLst/>
          </a:prstGeom>
          <a:noFill/>
          <a:ln>
            <a:noFill/>
          </a:ln>
        </p:spPr>
        <p:txBody>
          <a:bodyPr wrap="square" lIns="0" rIns="0" tIns="0" bIns="0" anchor="t"/>
          <a:lstStyle/>
          <a:p>
            <a:pPr algn="l">
              <a:lnSpc>
                <a:spcPts val="1207"/>
              </a:lnSpc>
              <a:spcBef>
                <a:spcPts val="0"/>
              </a:spcBef>
              <a:spcAft>
                <a:spcPts val="0"/>
              </a:spcAft>
              <a:buNone/>
            </a:pPr>
            <a:r>
              <a:rPr lang="en-US" sz="1050" b="0" i="0" spc="0">
                <a:solidFill>
                  <a:srgbClr val="85857F"/>
                </a:solidFill>
                <a:latin typeface="Instrument Sans Medium"/>
                <a:ea typeface="Instrument Sans Medium"/>
                <a:cs typeface="Instrument Sans Medium"/>
              </a:rPr>
              <a:t xml:space="preserve">Route, 2015 to 2025</a:t>
            </a:r>
            <a:endParaRPr lang="en-US"/>
          </a:p>
        </p:txBody>
      </p:sp>
      <p:sp>
        <p:nvSpPr>
          <p:cNvPr id="8" name="Text 8"/>
          <p:cNvSpPr txBox="1"/>
          <p:nvPr/>
        </p:nvSpPr>
        <p:spPr>
          <a:xfrm>
            <a:off x="8062912" y="1357833"/>
            <a:ext cx="471488" cy="183356"/>
          </a:xfrm>
          <a:prstGeom prst="rect">
            <a:avLst/>
          </a:prstGeom>
          <a:noFill/>
          <a:ln>
            <a:noFill/>
          </a:ln>
        </p:spPr>
        <p:txBody>
          <a:bodyPr wrap="square" lIns="0" rIns="0" tIns="0" bIns="0" anchor="t"/>
          <a:lstStyle/>
          <a:p>
            <a:pPr algn="r">
              <a:lnSpc>
                <a:spcPts val="1207"/>
              </a:lnSpc>
              <a:spcBef>
                <a:spcPts val="0"/>
              </a:spcBef>
              <a:spcAft>
                <a:spcPts val="0"/>
              </a:spcAft>
              <a:buNone/>
            </a:pPr>
            <a:r>
              <a:rPr lang="en-US" sz="1050" b="0" i="0" spc="0">
                <a:solidFill>
                  <a:srgbClr val="85857F"/>
                </a:solidFill>
                <a:latin typeface="Instrument Sans Medium"/>
                <a:ea typeface="Instrument Sans Medium"/>
                <a:cs typeface="Instrument Sans Medium"/>
              </a:rPr>
              <a:t xml:space="preserve">Share</a:t>
            </a:r>
            <a:endParaRPr lang="en-US"/>
          </a:p>
        </p:txBody>
      </p:sp>
      <p:sp>
        <p:nvSpPr>
          <p:cNvPr id="9" name="Text 9"/>
          <p:cNvSpPr txBox="1"/>
          <p:nvPr/>
        </p:nvSpPr>
        <p:spPr>
          <a:xfrm>
            <a:off x="5448300" y="1617390"/>
            <a:ext cx="2690812" cy="183356"/>
          </a:xfrm>
          <a:prstGeom prst="rect">
            <a:avLst/>
          </a:prstGeom>
          <a:noFill/>
          <a:ln>
            <a:noFill/>
          </a:ln>
        </p:spPr>
        <p:txBody>
          <a:bodyPr wrap="square" lIns="0" rIns="0" tIns="0" bIns="0" anchor="t"/>
          <a:lstStyle/>
          <a:p>
            <a:pPr algn="l">
              <a:lnSpc>
                <a:spcPts val="1207"/>
              </a:lnSpc>
              <a:spcBef>
                <a:spcPts val="0"/>
              </a:spcBef>
              <a:spcAft>
                <a:spcPts val="0"/>
              </a:spcAft>
              <a:buNone/>
            </a:pPr>
            <a:r>
              <a:rPr lang="en-US" sz="1050" b="0" i="0" spc="0">
                <a:solidFill>
                  <a:srgbClr val="141414"/>
                </a:solidFill>
                <a:latin typeface="Instrument Sans"/>
                <a:ea typeface="Instrument Sans"/>
                <a:cs typeface="Instrument Sans"/>
              </a:rPr>
              <a:t xml:space="preserve">Gold, paid journal</a:t>
            </a:r>
            <a:endParaRPr lang="en-US"/>
          </a:p>
        </p:txBody>
      </p:sp>
      <p:sp>
        <p:nvSpPr>
          <p:cNvPr id="10" name="Text 10"/>
          <p:cNvSpPr txBox="1"/>
          <p:nvPr/>
        </p:nvSpPr>
        <p:spPr>
          <a:xfrm>
            <a:off x="8062912" y="1617390"/>
            <a:ext cx="471488" cy="183356"/>
          </a:xfrm>
          <a:prstGeom prst="rect">
            <a:avLst/>
          </a:prstGeom>
          <a:noFill/>
          <a:ln>
            <a:noFill/>
          </a:ln>
        </p:spPr>
        <p:txBody>
          <a:bodyPr wrap="square" lIns="0" rIns="0" tIns="0" bIns="0" anchor="t"/>
          <a:lstStyle/>
          <a:p>
            <a:pPr algn="r">
              <a:lnSpc>
                <a:spcPts val="1207"/>
              </a:lnSpc>
              <a:spcBef>
                <a:spcPts val="0"/>
              </a:spcBef>
              <a:spcAft>
                <a:spcPts val="0"/>
              </a:spcAft>
              <a:buNone/>
            </a:pPr>
            <a:r>
              <a:rPr lang="en-US" sz="1050" b="0" i="0" spc="0">
                <a:solidFill>
                  <a:srgbClr val="141414"/>
                </a:solidFill>
                <a:latin typeface="Instrument Sans"/>
                <a:ea typeface="Instrument Sans"/>
                <a:cs typeface="Instrument Sans"/>
              </a:rPr>
              <a:t xml:space="preserve">25%</a:t>
            </a:r>
            <a:endParaRPr lang="en-US"/>
          </a:p>
        </p:txBody>
      </p:sp>
      <p:sp>
        <p:nvSpPr>
          <p:cNvPr id="11" name="Text 11"/>
          <p:cNvSpPr txBox="1"/>
          <p:nvPr/>
        </p:nvSpPr>
        <p:spPr>
          <a:xfrm>
            <a:off x="5448300" y="1876946"/>
            <a:ext cx="2690812" cy="180975"/>
          </a:xfrm>
          <a:prstGeom prst="rect">
            <a:avLst/>
          </a:prstGeom>
          <a:noFill/>
          <a:ln>
            <a:noFill/>
          </a:ln>
        </p:spPr>
        <p:txBody>
          <a:bodyPr wrap="square" lIns="0" rIns="0" tIns="0" bIns="0" anchor="t"/>
          <a:lstStyle/>
          <a:p>
            <a:pPr algn="l">
              <a:lnSpc>
                <a:spcPts val="1207"/>
              </a:lnSpc>
              <a:spcBef>
                <a:spcPts val="0"/>
              </a:spcBef>
              <a:spcAft>
                <a:spcPts val="0"/>
              </a:spcAft>
              <a:buNone/>
            </a:pPr>
            <a:r>
              <a:rPr lang="en-US" sz="1050" b="0" i="0" spc="0">
                <a:solidFill>
                  <a:srgbClr val="141414"/>
                </a:solidFill>
                <a:latin typeface="Instrument Sans"/>
                <a:ea typeface="Instrument Sans"/>
                <a:cs typeface="Instrument Sans"/>
              </a:rPr>
              <a:t xml:space="preserve">Diamond, free journal</a:t>
            </a:r>
            <a:endParaRPr lang="en-US"/>
          </a:p>
        </p:txBody>
      </p:sp>
      <p:sp>
        <p:nvSpPr>
          <p:cNvPr id="12" name="Text 12"/>
          <p:cNvSpPr txBox="1"/>
          <p:nvPr/>
        </p:nvSpPr>
        <p:spPr>
          <a:xfrm>
            <a:off x="8062912" y="1876946"/>
            <a:ext cx="471488" cy="180975"/>
          </a:xfrm>
          <a:prstGeom prst="rect">
            <a:avLst/>
          </a:prstGeom>
          <a:noFill/>
          <a:ln>
            <a:noFill/>
          </a:ln>
        </p:spPr>
        <p:txBody>
          <a:bodyPr wrap="square" lIns="0" rIns="0" tIns="0" bIns="0" anchor="t"/>
          <a:lstStyle/>
          <a:p>
            <a:pPr algn="r">
              <a:lnSpc>
                <a:spcPts val="1207"/>
              </a:lnSpc>
              <a:spcBef>
                <a:spcPts val="0"/>
              </a:spcBef>
              <a:spcAft>
                <a:spcPts val="0"/>
              </a:spcAft>
              <a:buNone/>
            </a:pPr>
            <a:r>
              <a:rPr lang="en-US" sz="1050" b="0" i="0" spc="0">
                <a:solidFill>
                  <a:srgbClr val="141414"/>
                </a:solidFill>
                <a:latin typeface="Instrument Sans"/>
                <a:ea typeface="Instrument Sans"/>
                <a:cs typeface="Instrument Sans"/>
              </a:rPr>
              <a:t xml:space="preserve">16%</a:t>
            </a:r>
            <a:endParaRPr lang="en-US"/>
          </a:p>
        </p:txBody>
      </p:sp>
      <p:sp>
        <p:nvSpPr>
          <p:cNvPr id="13" name="Text 13"/>
          <p:cNvSpPr txBox="1"/>
          <p:nvPr/>
        </p:nvSpPr>
        <p:spPr>
          <a:xfrm>
            <a:off x="5448300" y="2134121"/>
            <a:ext cx="2690812" cy="180975"/>
          </a:xfrm>
          <a:prstGeom prst="rect">
            <a:avLst/>
          </a:prstGeom>
          <a:noFill/>
          <a:ln>
            <a:noFill/>
          </a:ln>
        </p:spPr>
        <p:txBody>
          <a:bodyPr wrap="square" lIns="0" rIns="0" tIns="0" bIns="0" anchor="t"/>
          <a:lstStyle/>
          <a:p>
            <a:pPr algn="l">
              <a:lnSpc>
                <a:spcPts val="1207"/>
              </a:lnSpc>
              <a:spcBef>
                <a:spcPts val="0"/>
              </a:spcBef>
              <a:spcAft>
                <a:spcPts val="0"/>
              </a:spcAft>
              <a:buNone/>
            </a:pPr>
            <a:r>
              <a:rPr lang="en-US" sz="1050" b="0" i="0" spc="0">
                <a:solidFill>
                  <a:srgbClr val="141414"/>
                </a:solidFill>
                <a:latin typeface="Instrument Sans"/>
                <a:ea typeface="Instrument Sans"/>
                <a:cs typeface="Instrument Sans"/>
              </a:rPr>
              <a:t xml:space="preserve">Hybrid, paid in a subscription journal</a:t>
            </a:r>
            <a:endParaRPr lang="en-US"/>
          </a:p>
        </p:txBody>
      </p:sp>
      <p:sp>
        <p:nvSpPr>
          <p:cNvPr id="14" name="Text 14"/>
          <p:cNvSpPr txBox="1"/>
          <p:nvPr/>
        </p:nvSpPr>
        <p:spPr>
          <a:xfrm>
            <a:off x="8062912" y="2134121"/>
            <a:ext cx="471488" cy="180975"/>
          </a:xfrm>
          <a:prstGeom prst="rect">
            <a:avLst/>
          </a:prstGeom>
          <a:noFill/>
          <a:ln>
            <a:noFill/>
          </a:ln>
        </p:spPr>
        <p:txBody>
          <a:bodyPr wrap="square" lIns="0" rIns="0" tIns="0" bIns="0" anchor="t"/>
          <a:lstStyle/>
          <a:p>
            <a:pPr algn="r">
              <a:lnSpc>
                <a:spcPts val="1207"/>
              </a:lnSpc>
              <a:spcBef>
                <a:spcPts val="0"/>
              </a:spcBef>
              <a:spcAft>
                <a:spcPts val="0"/>
              </a:spcAft>
              <a:buNone/>
            </a:pPr>
            <a:r>
              <a:rPr lang="en-US" sz="1050" b="0" i="0" spc="0">
                <a:solidFill>
                  <a:srgbClr val="141414"/>
                </a:solidFill>
                <a:latin typeface="Instrument Sans"/>
                <a:ea typeface="Instrument Sans"/>
                <a:cs typeface="Instrument Sans"/>
              </a:rPr>
              <a:t xml:space="preserve">10%</a:t>
            </a:r>
            <a:endParaRPr lang="en-US"/>
          </a:p>
        </p:txBody>
      </p:sp>
      <p:sp>
        <p:nvSpPr>
          <p:cNvPr id="15" name="Text 15"/>
          <p:cNvSpPr txBox="1"/>
          <p:nvPr/>
        </p:nvSpPr>
        <p:spPr>
          <a:xfrm>
            <a:off x="5448300" y="2391296"/>
            <a:ext cx="2690812" cy="180975"/>
          </a:xfrm>
          <a:prstGeom prst="rect">
            <a:avLst/>
          </a:prstGeom>
          <a:noFill/>
          <a:ln>
            <a:noFill/>
          </a:ln>
        </p:spPr>
        <p:txBody>
          <a:bodyPr wrap="square" lIns="0" rIns="0" tIns="0" bIns="0" anchor="t"/>
          <a:lstStyle/>
          <a:p>
            <a:pPr algn="l">
              <a:lnSpc>
                <a:spcPts val="1207"/>
              </a:lnSpc>
              <a:spcBef>
                <a:spcPts val="0"/>
              </a:spcBef>
              <a:spcAft>
                <a:spcPts val="0"/>
              </a:spcAft>
              <a:buNone/>
            </a:pPr>
            <a:r>
              <a:rPr lang="en-US" sz="1050" b="0" i="0" spc="0">
                <a:solidFill>
                  <a:srgbClr val="141414"/>
                </a:solidFill>
                <a:latin typeface="Instrument Sans"/>
                <a:ea typeface="Instrument Sans"/>
                <a:cs typeface="Instrument Sans"/>
              </a:rPr>
              <a:t xml:space="preserve">Bronze, free to read, no licence</a:t>
            </a:r>
            <a:endParaRPr lang="en-US"/>
          </a:p>
        </p:txBody>
      </p:sp>
      <p:sp>
        <p:nvSpPr>
          <p:cNvPr id="16" name="Text 16"/>
          <p:cNvSpPr txBox="1"/>
          <p:nvPr/>
        </p:nvSpPr>
        <p:spPr>
          <a:xfrm>
            <a:off x="8062912" y="2391296"/>
            <a:ext cx="471488" cy="180975"/>
          </a:xfrm>
          <a:prstGeom prst="rect">
            <a:avLst/>
          </a:prstGeom>
          <a:noFill/>
          <a:ln>
            <a:noFill/>
          </a:ln>
        </p:spPr>
        <p:txBody>
          <a:bodyPr wrap="square" lIns="0" rIns="0" tIns="0" bIns="0" anchor="t"/>
          <a:lstStyle/>
          <a:p>
            <a:pPr algn="r">
              <a:lnSpc>
                <a:spcPts val="1207"/>
              </a:lnSpc>
              <a:spcBef>
                <a:spcPts val="0"/>
              </a:spcBef>
              <a:spcAft>
                <a:spcPts val="0"/>
              </a:spcAft>
              <a:buNone/>
            </a:pPr>
            <a:r>
              <a:rPr lang="en-US" sz="1050" b="0" i="0" spc="0">
                <a:solidFill>
                  <a:srgbClr val="141414"/>
                </a:solidFill>
                <a:latin typeface="Instrument Sans"/>
                <a:ea typeface="Instrument Sans"/>
                <a:cs typeface="Instrument Sans"/>
              </a:rPr>
              <a:t xml:space="preserve">10%</a:t>
            </a:r>
            <a:endParaRPr lang="en-US"/>
          </a:p>
        </p:txBody>
      </p:sp>
      <p:sp>
        <p:nvSpPr>
          <p:cNvPr id="17" name="Text 17"/>
          <p:cNvSpPr txBox="1"/>
          <p:nvPr/>
        </p:nvSpPr>
        <p:spPr>
          <a:xfrm>
            <a:off x="5448300" y="2648471"/>
            <a:ext cx="2690812" cy="180975"/>
          </a:xfrm>
          <a:prstGeom prst="rect">
            <a:avLst/>
          </a:prstGeom>
          <a:noFill/>
          <a:ln>
            <a:noFill/>
          </a:ln>
        </p:spPr>
        <p:txBody>
          <a:bodyPr wrap="square" lIns="0" rIns="0" tIns="0" bIns="0" anchor="t"/>
          <a:lstStyle/>
          <a:p>
            <a:pPr algn="l">
              <a:lnSpc>
                <a:spcPts val="1207"/>
              </a:lnSpc>
              <a:spcBef>
                <a:spcPts val="0"/>
              </a:spcBef>
              <a:spcAft>
                <a:spcPts val="0"/>
              </a:spcAft>
              <a:buNone/>
            </a:pPr>
            <a:r>
              <a:rPr lang="en-US" sz="1050" b="0" i="0" spc="0">
                <a:solidFill>
                  <a:srgbClr val="141414"/>
                </a:solidFill>
                <a:latin typeface="Instrument Sans"/>
                <a:ea typeface="Instrument Sans"/>
                <a:cs typeface="Instrument Sans"/>
              </a:rPr>
              <a:t xml:space="preserve">Green, repository copy</a:t>
            </a:r>
            <a:endParaRPr lang="en-US"/>
          </a:p>
        </p:txBody>
      </p:sp>
      <p:sp>
        <p:nvSpPr>
          <p:cNvPr id="18" name="Text 18"/>
          <p:cNvSpPr txBox="1"/>
          <p:nvPr/>
        </p:nvSpPr>
        <p:spPr>
          <a:xfrm>
            <a:off x="8062912" y="2648471"/>
            <a:ext cx="471488" cy="180975"/>
          </a:xfrm>
          <a:prstGeom prst="rect">
            <a:avLst/>
          </a:prstGeom>
          <a:noFill/>
          <a:ln>
            <a:noFill/>
          </a:ln>
        </p:spPr>
        <p:txBody>
          <a:bodyPr wrap="square" lIns="0" rIns="0" tIns="0" bIns="0" anchor="t"/>
          <a:lstStyle/>
          <a:p>
            <a:pPr algn="r">
              <a:lnSpc>
                <a:spcPts val="1207"/>
              </a:lnSpc>
              <a:spcBef>
                <a:spcPts val="0"/>
              </a:spcBef>
              <a:spcAft>
                <a:spcPts val="0"/>
              </a:spcAft>
              <a:buNone/>
            </a:pPr>
            <a:r>
              <a:rPr lang="en-US" sz="1050" b="0" i="0" spc="0">
                <a:solidFill>
                  <a:srgbClr val="141414"/>
                </a:solidFill>
                <a:latin typeface="Instrument Sans"/>
                <a:ea typeface="Instrument Sans"/>
                <a:cs typeface="Instrument Sans"/>
              </a:rPr>
              <a:t xml:space="preserve">6%</a:t>
            </a:r>
            <a:endParaRPr lang="en-US"/>
          </a:p>
        </p:txBody>
      </p:sp>
      <p:sp>
        <p:nvSpPr>
          <p:cNvPr id="19" name="Text 19"/>
          <p:cNvSpPr txBox="1"/>
          <p:nvPr/>
        </p:nvSpPr>
        <p:spPr>
          <a:xfrm>
            <a:off x="5448300" y="2905646"/>
            <a:ext cx="2690812" cy="180975"/>
          </a:xfrm>
          <a:prstGeom prst="rect">
            <a:avLst/>
          </a:prstGeom>
          <a:noFill/>
          <a:ln>
            <a:noFill/>
          </a:ln>
        </p:spPr>
        <p:txBody>
          <a:bodyPr wrap="square" lIns="0" rIns="0" tIns="0" bIns="0" anchor="t"/>
          <a:lstStyle/>
          <a:p>
            <a:pPr algn="l">
              <a:lnSpc>
                <a:spcPts val="1207"/>
              </a:lnSpc>
              <a:spcBef>
                <a:spcPts val="0"/>
              </a:spcBef>
              <a:spcAft>
                <a:spcPts val="0"/>
              </a:spcAft>
              <a:buNone/>
            </a:pPr>
            <a:r>
              <a:rPr lang="en-US" sz="1050" b="0" i="0" spc="0">
                <a:solidFill>
                  <a:srgbClr val="141414"/>
                </a:solidFill>
                <a:latin typeface="Instrument Sans"/>
                <a:ea typeface="Instrument Sans"/>
                <a:cs typeface="Instrument Sans"/>
              </a:rPr>
              <a:t xml:space="preserve">Closed</a:t>
            </a:r>
            <a:endParaRPr lang="en-US"/>
          </a:p>
        </p:txBody>
      </p:sp>
      <p:sp>
        <p:nvSpPr>
          <p:cNvPr id="20" name="Text 20"/>
          <p:cNvSpPr txBox="1"/>
          <p:nvPr/>
        </p:nvSpPr>
        <p:spPr>
          <a:xfrm>
            <a:off x="8062912" y="2905646"/>
            <a:ext cx="471488" cy="180975"/>
          </a:xfrm>
          <a:prstGeom prst="rect">
            <a:avLst/>
          </a:prstGeom>
          <a:noFill/>
          <a:ln>
            <a:noFill/>
          </a:ln>
        </p:spPr>
        <p:txBody>
          <a:bodyPr wrap="square" lIns="0" rIns="0" tIns="0" bIns="0" anchor="t"/>
          <a:lstStyle/>
          <a:p>
            <a:pPr algn="r">
              <a:lnSpc>
                <a:spcPts val="1207"/>
              </a:lnSpc>
              <a:spcBef>
                <a:spcPts val="0"/>
              </a:spcBef>
              <a:spcAft>
                <a:spcPts val="0"/>
              </a:spcAft>
              <a:buNone/>
            </a:pPr>
            <a:r>
              <a:rPr lang="en-US" sz="1050" b="0" i="0" spc="0">
                <a:solidFill>
                  <a:srgbClr val="141414"/>
                </a:solidFill>
                <a:latin typeface="Instrument Sans"/>
                <a:ea typeface="Instrument Sans"/>
                <a:cs typeface="Instrument Sans"/>
              </a:rPr>
              <a:t xml:space="preserve">34%</a:t>
            </a:r>
            <a:endParaRPr lang="en-US"/>
          </a:p>
        </p:txBody>
      </p:sp>
      <p:sp>
        <p:nvSpPr>
          <p:cNvPr id="21" name="Text 21"/>
          <p:cNvSpPr txBox="1"/>
          <p:nvPr/>
        </p:nvSpPr>
        <p:spPr>
          <a:xfrm>
            <a:off x="5448300" y="3229496"/>
            <a:ext cx="3124200" cy="739080"/>
          </a:xfrm>
          <a:prstGeom prst="rect">
            <a:avLst/>
          </a:prstGeom>
          <a:noFill/>
          <a:ln>
            <a:noFill/>
          </a:ln>
        </p:spPr>
        <p:txBody>
          <a:bodyPr wrap="square" lIns="0" rIns="0" tIns="0" bIns="0" anchor="t"/>
          <a:lstStyle/>
          <a:p>
            <a:pPr algn="l">
              <a:lnSpc>
                <a:spcPts val="1418"/>
              </a:lnSpc>
              <a:spcBef>
                <a:spcPts val="0"/>
              </a:spcBef>
              <a:spcAft>
                <a:spcPts val="0"/>
              </a:spcAft>
              <a:buNone/>
            </a:pPr>
            <a:r>
              <a:rPr lang="en-US" sz="1012" b="0" i="0" spc="0">
                <a:solidFill>
                  <a:srgbClr val="4A4A47"/>
                </a:solidFill>
                <a:latin typeface="Instrument Sans"/>
                <a:ea typeface="Instrument Sans"/>
                <a:cs typeface="Instrument Sans"/>
              </a:rPr>
              <a:t xml:space="preserve">From 2015 to 2024 gold, a paid route, grew the most (+18 points); diamond (+9) outgrew hybrid (+7). Green fell from 9% in 2015 to 3% in 2025. Bronze can be withdrawn at any time.</a:t>
            </a:r>
            <a:endParaRPr lang="en-US"/>
          </a:p>
        </p:txBody>
      </p:sp>
      <p:sp>
        <p:nvSpPr>
          <p:cNvPr id="22" name="Text 22"/>
          <p:cNvSpPr txBox="1"/>
          <p:nvPr/>
        </p:nvSpPr>
        <p:spPr>
          <a:xfrm>
            <a:off x="609600" y="4695825"/>
            <a:ext cx="79629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Open access became a transaction between funders and publishers. It did not come with openness of anything else.</a:t>
            </a:r>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flat">
    <p:bg>
      <p:bgPr>
        <a:solidFill>
          <a:srgbClr val="F1F1EF"/>
        </a:solidFill>
        <a:effectLst/>
      </p:bgPr>
    </p:bg>
    <p:spTree>
      <p:nvGrpSpPr>
        <p:cNvPr id="1" name=""/>
        <p:cNvGrpSpPr/>
        <p:nvPr/>
      </p:nvGrpSpPr>
      <p:grpSpPr/>
      <p:sp>
        <p:nvSpPr>
          <p:cNvPr id="2" name="Rule 2"/>
          <p:cNvSpPr txBox="0"/>
          <p:nvPr/>
        </p:nvSpPr>
        <p:spPr>
          <a:xfrm>
            <a:off x="609600" y="2691333"/>
            <a:ext cx="1984772" cy="4762"/>
          </a:xfrm>
          <a:prstGeom prst="rect">
            <a:avLst/>
          </a:prstGeom>
          <a:solidFill>
            <a:srgbClr val="C6C6C1"/>
          </a:solidFill>
          <a:ln>
            <a:noFill/>
          </a:ln>
        </p:spPr>
      </p:sp>
      <p:sp>
        <p:nvSpPr>
          <p:cNvPr id="3" name="Rule 3"/>
          <p:cNvSpPr txBox="0"/>
          <p:nvPr/>
        </p:nvSpPr>
        <p:spPr>
          <a:xfrm>
            <a:off x="2589609" y="2691333"/>
            <a:ext cx="4762" cy="1562100"/>
          </a:xfrm>
          <a:prstGeom prst="rect">
            <a:avLst/>
          </a:prstGeom>
          <a:solidFill>
            <a:srgbClr val="C6C6C1"/>
          </a:solidFill>
          <a:ln>
            <a:noFill/>
          </a:ln>
        </p:spPr>
      </p:sp>
      <p:sp>
        <p:nvSpPr>
          <p:cNvPr id="4" name="Rule 4"/>
          <p:cNvSpPr txBox="0"/>
          <p:nvPr/>
        </p:nvSpPr>
        <p:spPr>
          <a:xfrm>
            <a:off x="609600" y="4248671"/>
            <a:ext cx="1984772" cy="4762"/>
          </a:xfrm>
          <a:prstGeom prst="rect">
            <a:avLst/>
          </a:prstGeom>
          <a:solidFill>
            <a:srgbClr val="C6C6C1"/>
          </a:solidFill>
          <a:ln>
            <a:noFill/>
          </a:ln>
        </p:spPr>
      </p:sp>
      <p:sp>
        <p:nvSpPr>
          <p:cNvPr id="5" name="Rule 5"/>
          <p:cNvSpPr txBox="0"/>
          <p:nvPr/>
        </p:nvSpPr>
        <p:spPr>
          <a:xfrm>
            <a:off x="609600" y="2691333"/>
            <a:ext cx="4762" cy="1562100"/>
          </a:xfrm>
          <a:prstGeom prst="rect">
            <a:avLst/>
          </a:prstGeom>
          <a:solidFill>
            <a:srgbClr val="C6C6C1"/>
          </a:solidFill>
          <a:ln>
            <a:noFill/>
          </a:ln>
        </p:spPr>
      </p:sp>
      <p:sp>
        <p:nvSpPr>
          <p:cNvPr id="6" name="Rule 6"/>
          <p:cNvSpPr txBox="0"/>
          <p:nvPr/>
        </p:nvSpPr>
        <p:spPr>
          <a:xfrm>
            <a:off x="2594372" y="2691333"/>
            <a:ext cx="1980009" cy="4762"/>
          </a:xfrm>
          <a:prstGeom prst="rect">
            <a:avLst/>
          </a:prstGeom>
          <a:solidFill>
            <a:srgbClr val="C6C6C1"/>
          </a:solidFill>
          <a:ln>
            <a:noFill/>
          </a:ln>
        </p:spPr>
      </p:sp>
      <p:sp>
        <p:nvSpPr>
          <p:cNvPr id="7" name="Rule 7"/>
          <p:cNvSpPr txBox="0"/>
          <p:nvPr/>
        </p:nvSpPr>
        <p:spPr>
          <a:xfrm>
            <a:off x="4569619" y="2691333"/>
            <a:ext cx="4762" cy="1562100"/>
          </a:xfrm>
          <a:prstGeom prst="rect">
            <a:avLst/>
          </a:prstGeom>
          <a:solidFill>
            <a:srgbClr val="C6C6C1"/>
          </a:solidFill>
          <a:ln>
            <a:noFill/>
          </a:ln>
        </p:spPr>
      </p:sp>
      <p:sp>
        <p:nvSpPr>
          <p:cNvPr id="8" name="Rule 8"/>
          <p:cNvSpPr txBox="0"/>
          <p:nvPr/>
        </p:nvSpPr>
        <p:spPr>
          <a:xfrm>
            <a:off x="2594372" y="4248671"/>
            <a:ext cx="1980009" cy="4762"/>
          </a:xfrm>
          <a:prstGeom prst="rect">
            <a:avLst/>
          </a:prstGeom>
          <a:solidFill>
            <a:srgbClr val="C6C6C1"/>
          </a:solidFill>
          <a:ln>
            <a:noFill/>
          </a:ln>
        </p:spPr>
      </p:sp>
      <p:sp>
        <p:nvSpPr>
          <p:cNvPr id="9" name="Rule 9"/>
          <p:cNvSpPr txBox="0"/>
          <p:nvPr/>
        </p:nvSpPr>
        <p:spPr>
          <a:xfrm>
            <a:off x="4574381" y="2691333"/>
            <a:ext cx="1980009" cy="4762"/>
          </a:xfrm>
          <a:prstGeom prst="rect">
            <a:avLst/>
          </a:prstGeom>
          <a:solidFill>
            <a:srgbClr val="C6C6C1"/>
          </a:solidFill>
          <a:ln>
            <a:noFill/>
          </a:ln>
        </p:spPr>
      </p:sp>
      <p:sp>
        <p:nvSpPr>
          <p:cNvPr id="10" name="Rule 10"/>
          <p:cNvSpPr txBox="0"/>
          <p:nvPr/>
        </p:nvSpPr>
        <p:spPr>
          <a:xfrm>
            <a:off x="6549628" y="2691333"/>
            <a:ext cx="4762" cy="1562100"/>
          </a:xfrm>
          <a:prstGeom prst="rect">
            <a:avLst/>
          </a:prstGeom>
          <a:solidFill>
            <a:srgbClr val="C6C6C1"/>
          </a:solidFill>
          <a:ln>
            <a:noFill/>
          </a:ln>
        </p:spPr>
      </p:sp>
      <p:sp>
        <p:nvSpPr>
          <p:cNvPr id="11" name="Rule 11"/>
          <p:cNvSpPr txBox="0"/>
          <p:nvPr/>
        </p:nvSpPr>
        <p:spPr>
          <a:xfrm>
            <a:off x="4574381" y="4248671"/>
            <a:ext cx="1980009" cy="4762"/>
          </a:xfrm>
          <a:prstGeom prst="rect">
            <a:avLst/>
          </a:prstGeom>
          <a:solidFill>
            <a:srgbClr val="C6C6C1"/>
          </a:solidFill>
          <a:ln>
            <a:noFill/>
          </a:ln>
        </p:spPr>
      </p:sp>
      <p:sp>
        <p:nvSpPr>
          <p:cNvPr id="12" name="Rule 12"/>
          <p:cNvSpPr txBox="0"/>
          <p:nvPr/>
        </p:nvSpPr>
        <p:spPr>
          <a:xfrm>
            <a:off x="6554391" y="2691333"/>
            <a:ext cx="1980009" cy="4762"/>
          </a:xfrm>
          <a:prstGeom prst="rect">
            <a:avLst/>
          </a:prstGeom>
          <a:solidFill>
            <a:srgbClr val="C6C6C1"/>
          </a:solidFill>
          <a:ln>
            <a:noFill/>
          </a:ln>
        </p:spPr>
      </p:sp>
      <p:sp>
        <p:nvSpPr>
          <p:cNvPr id="13" name="Rule 13"/>
          <p:cNvSpPr txBox="0"/>
          <p:nvPr/>
        </p:nvSpPr>
        <p:spPr>
          <a:xfrm>
            <a:off x="8529638" y="2691333"/>
            <a:ext cx="4762" cy="1562100"/>
          </a:xfrm>
          <a:prstGeom prst="rect">
            <a:avLst/>
          </a:prstGeom>
          <a:solidFill>
            <a:srgbClr val="C6C6C1"/>
          </a:solidFill>
          <a:ln>
            <a:noFill/>
          </a:ln>
        </p:spPr>
      </p:sp>
      <p:sp>
        <p:nvSpPr>
          <p:cNvPr id="14" name="Rule 14"/>
          <p:cNvSpPr txBox="0"/>
          <p:nvPr/>
        </p:nvSpPr>
        <p:spPr>
          <a:xfrm>
            <a:off x="6554391" y="4248671"/>
            <a:ext cx="1980009" cy="4762"/>
          </a:xfrm>
          <a:prstGeom prst="rect">
            <a:avLst/>
          </a:prstGeom>
          <a:solidFill>
            <a:srgbClr val="C6C6C1"/>
          </a:solidFill>
          <a:ln>
            <a:noFill/>
          </a:ln>
        </p:spPr>
      </p:sp>
      <p:pic>
        <p:nvPicPr>
          <p:cNvPr id="15" name="Illustration 15" descr="Data in a public repository by year"/>
          <p:cNvPicPr>
            <a:picLocks noChangeAspect="1"/>
          </p:cNvPicPr>
          <p:nvPr/>
        </p:nvPicPr>
        <p:blipFill>
          <a:blip r:embed="rIdFigure15"/>
          <a:stretch>
            <a:fillRect/>
          </a:stretch>
        </p:blipFill>
        <p:spPr>
          <a:xfrm>
            <a:off x="609600" y="1390613"/>
            <a:ext cx="2524125" cy="958379"/>
          </a:xfrm>
          <a:prstGeom prst="rect">
            <a:avLst/>
          </a:prstGeom>
        </p:spPr>
      </p:pic>
      <p:pic>
        <p:nvPicPr>
          <p:cNvPr id="16" name="Illustration 16" descr="Code links by year"/>
          <p:cNvPicPr>
            <a:picLocks noChangeAspect="1"/>
          </p:cNvPicPr>
          <p:nvPr/>
        </p:nvPicPr>
        <p:blipFill>
          <a:blip r:embed="rIdFigure16"/>
          <a:stretch>
            <a:fillRect/>
          </a:stretch>
        </p:blipFill>
        <p:spPr>
          <a:xfrm>
            <a:off x="3309938" y="1390613"/>
            <a:ext cx="2524125" cy="958379"/>
          </a:xfrm>
          <a:prstGeom prst="rect">
            <a:avLst/>
          </a:prstGeom>
        </p:spPr>
      </p:pic>
      <p:pic>
        <p:nvPicPr>
          <p:cNvPr id="17" name="Illustration 17" descr="Preprint versions by year"/>
          <p:cNvPicPr>
            <a:picLocks noChangeAspect="1"/>
          </p:cNvPicPr>
          <p:nvPr/>
        </p:nvPicPr>
        <p:blipFill>
          <a:blip r:embed="rIdFigure17"/>
          <a:stretch>
            <a:fillRect/>
          </a:stretch>
        </p:blipFill>
        <p:spPr>
          <a:xfrm>
            <a:off x="6010275" y="1390613"/>
            <a:ext cx="2524125" cy="958379"/>
          </a:xfrm>
          <a:prstGeom prst="rect">
            <a:avLst/>
          </a:prstGeom>
        </p:spPr>
      </p:pic>
      <p:sp>
        <p:nvSpPr>
          <p:cNvPr id="18" name="Text 18"/>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9" name="Text 19"/>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09</a:t>
            </a:r>
            <a:r>
              <a:rPr lang="en-US" sz="900" b="0" i="0" spc="0">
                <a:solidFill>
                  <a:srgbClr val="85857F"/>
                </a:solidFill>
                <a:latin typeface="Instrument Sans"/>
                <a:ea typeface="Instrument Sans"/>
                <a:cs typeface="Instrument Sans"/>
              </a:rPr>
              <a:t xml:space="preserve">  Finding 3</a:t>
            </a:r>
            <a:endParaRPr lang="en-US"/>
          </a:p>
        </p:txBody>
      </p:sp>
      <p:sp>
        <p:nvSpPr>
          <p:cNvPr id="20" name="Text 20"/>
          <p:cNvSpPr txBox="1"/>
          <p:nvPr/>
        </p:nvSpPr>
        <p:spPr>
          <a:xfrm>
            <a:off x="609600" y="895350"/>
            <a:ext cx="7962900" cy="348183"/>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In abstracts, data and code did not move in ten years</a:t>
            </a:r>
            <a:endParaRPr lang="en-US"/>
          </a:p>
        </p:txBody>
      </p:sp>
      <p:sp>
        <p:nvSpPr>
          <p:cNvPr id="21" name="Text 21"/>
          <p:cNvSpPr txBox="1"/>
          <p:nvPr/>
        </p:nvSpPr>
        <p:spPr>
          <a:xfrm>
            <a:off x="590550" y="2419871"/>
            <a:ext cx="2562225" cy="157162"/>
          </a:xfrm>
          <a:prstGeom prst="rect">
            <a:avLst/>
          </a:prstGeom>
          <a:noFill/>
          <a:ln>
            <a:noFill/>
          </a:ln>
        </p:spPr>
        <p:txBody>
          <a:bodyPr wrap="square" lIns="0" rIns="0" tIns="0" bIns="0" anchor="t"/>
          <a:lstStyle/>
          <a:p>
            <a:pPr algn="ctr">
              <a:lnSpc>
                <a:spcPts val="1035"/>
              </a:lnSpc>
              <a:spcBef>
                <a:spcPts val="0"/>
              </a:spcBef>
              <a:spcAft>
                <a:spcPts val="0"/>
              </a:spcAft>
              <a:buNone/>
            </a:pPr>
            <a:r>
              <a:rPr lang="en-US" sz="900" b="0" i="0" spc="0">
                <a:solidFill>
                  <a:srgbClr val="85857F"/>
                </a:solidFill>
                <a:latin typeface="Instrument Sans"/>
                <a:ea typeface="Instrument Sans"/>
                <a:cs typeface="Instrument Sans"/>
              </a:rPr>
              <a:t xml:space="preserve">Data in a public repository</a:t>
            </a:r>
            <a:endParaRPr lang="en-US"/>
          </a:p>
        </p:txBody>
      </p:sp>
      <p:sp>
        <p:nvSpPr>
          <p:cNvPr id="22" name="Text 22"/>
          <p:cNvSpPr txBox="1"/>
          <p:nvPr/>
        </p:nvSpPr>
        <p:spPr>
          <a:xfrm>
            <a:off x="3290888" y="2419871"/>
            <a:ext cx="2562225" cy="157162"/>
          </a:xfrm>
          <a:prstGeom prst="rect">
            <a:avLst/>
          </a:prstGeom>
          <a:noFill/>
          <a:ln>
            <a:noFill/>
          </a:ln>
        </p:spPr>
        <p:txBody>
          <a:bodyPr wrap="square" lIns="0" rIns="0" tIns="0" bIns="0" anchor="t"/>
          <a:lstStyle/>
          <a:p>
            <a:pPr algn="ctr">
              <a:lnSpc>
                <a:spcPts val="1035"/>
              </a:lnSpc>
              <a:spcBef>
                <a:spcPts val="0"/>
              </a:spcBef>
              <a:spcAft>
                <a:spcPts val="0"/>
              </a:spcAft>
              <a:buNone/>
            </a:pPr>
            <a:r>
              <a:rPr lang="en-US" sz="900" b="0" i="0" spc="0">
                <a:solidFill>
                  <a:srgbClr val="85857F"/>
                </a:solidFill>
                <a:latin typeface="Instrument Sans"/>
                <a:ea typeface="Instrument Sans"/>
                <a:cs typeface="Instrument Sans"/>
              </a:rPr>
              <a:t xml:space="preserve">GitHub or code link</a:t>
            </a:r>
            <a:endParaRPr lang="en-US"/>
          </a:p>
        </p:txBody>
      </p:sp>
      <p:sp>
        <p:nvSpPr>
          <p:cNvPr id="23" name="Text 23"/>
          <p:cNvSpPr txBox="1"/>
          <p:nvPr/>
        </p:nvSpPr>
        <p:spPr>
          <a:xfrm>
            <a:off x="5991225" y="2419871"/>
            <a:ext cx="2562225" cy="157162"/>
          </a:xfrm>
          <a:prstGeom prst="rect">
            <a:avLst/>
          </a:prstGeom>
          <a:noFill/>
          <a:ln>
            <a:noFill/>
          </a:ln>
        </p:spPr>
        <p:txBody>
          <a:bodyPr wrap="square" lIns="0" rIns="0" tIns="0" bIns="0" anchor="t"/>
          <a:lstStyle/>
          <a:p>
            <a:pPr algn="ctr">
              <a:lnSpc>
                <a:spcPts val="1035"/>
              </a:lnSpc>
              <a:spcBef>
                <a:spcPts val="0"/>
              </a:spcBef>
              <a:spcAft>
                <a:spcPts val="0"/>
              </a:spcAft>
              <a:buNone/>
            </a:pPr>
            <a:r>
              <a:rPr lang="en-US" sz="900" b="0" i="0" spc="0">
                <a:solidFill>
                  <a:srgbClr val="85857F"/>
                </a:solidFill>
                <a:latin typeface="Instrument Sans"/>
                <a:ea typeface="Instrument Sans"/>
                <a:cs typeface="Instrument Sans"/>
              </a:rPr>
              <a:t xml:space="preserve">Preprint version</a:t>
            </a:r>
            <a:endParaRPr lang="en-US"/>
          </a:p>
        </p:txBody>
      </p:sp>
      <p:sp>
        <p:nvSpPr>
          <p:cNvPr id="24" name="Text 24"/>
          <p:cNvSpPr txBox="1"/>
          <p:nvPr/>
        </p:nvSpPr>
        <p:spPr>
          <a:xfrm>
            <a:off x="766762" y="2829446"/>
            <a:ext cx="1708547"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Data in a repository</a:t>
            </a:r>
            <a:endParaRPr lang="en-US"/>
          </a:p>
        </p:txBody>
      </p:sp>
      <p:sp>
        <p:nvSpPr>
          <p:cNvPr id="25" name="Text 25"/>
          <p:cNvSpPr txBox="1"/>
          <p:nvPr/>
        </p:nvSpPr>
        <p:spPr>
          <a:xfrm>
            <a:off x="766762" y="3205683"/>
            <a:ext cx="1708547" cy="419100"/>
          </a:xfrm>
          <a:prstGeom prst="rect">
            <a:avLst/>
          </a:prstGeom>
          <a:noFill/>
          <a:ln>
            <a:noFill/>
          </a:ln>
        </p:spPr>
        <p:txBody>
          <a:bodyPr wrap="square" lIns="0" rIns="0" tIns="0" bIns="0" anchor="t"/>
          <a:lstStyle/>
          <a:p>
            <a:pPr algn="l">
              <a:lnSpc>
                <a:spcPts val="3150"/>
              </a:lnSpc>
              <a:spcBef>
                <a:spcPts val="0"/>
              </a:spcBef>
              <a:spcAft>
                <a:spcPts val="0"/>
              </a:spcAft>
              <a:buNone/>
            </a:pPr>
            <a:r>
              <a:rPr lang="en-US" sz="3150" b="0" i="0" spc="0">
                <a:solidFill>
                  <a:srgbClr val="D7263D"/>
                </a:solidFill>
                <a:latin typeface="Instrument Serif"/>
                <a:ea typeface="Instrument Serif"/>
                <a:cs typeface="Instrument Serif"/>
              </a:rPr>
              <a:t xml:space="preserve">0.2%</a:t>
            </a:r>
            <a:endParaRPr lang="en-US"/>
          </a:p>
        </p:txBody>
      </p:sp>
      <p:sp>
        <p:nvSpPr>
          <p:cNvPr id="26" name="Text 26"/>
          <p:cNvSpPr txBox="1"/>
          <p:nvPr/>
        </p:nvSpPr>
        <p:spPr>
          <a:xfrm>
            <a:off x="766762" y="3829571"/>
            <a:ext cx="1708547" cy="30480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of stroke articles in 2024; 0.2% in 2015, never above 0.6%</a:t>
            </a:r>
            <a:endParaRPr lang="en-US"/>
          </a:p>
        </p:txBody>
      </p:sp>
      <p:sp>
        <p:nvSpPr>
          <p:cNvPr id="27" name="Text 27"/>
          <p:cNvSpPr txBox="1"/>
          <p:nvPr/>
        </p:nvSpPr>
        <p:spPr>
          <a:xfrm>
            <a:off x="2746772" y="2829446"/>
            <a:ext cx="1708547"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Code link</a:t>
            </a:r>
            <a:endParaRPr lang="en-US"/>
          </a:p>
        </p:txBody>
      </p:sp>
      <p:sp>
        <p:nvSpPr>
          <p:cNvPr id="28" name="Text 28"/>
          <p:cNvSpPr txBox="1"/>
          <p:nvPr/>
        </p:nvSpPr>
        <p:spPr>
          <a:xfrm>
            <a:off x="2746772" y="3205683"/>
            <a:ext cx="1708547" cy="419100"/>
          </a:xfrm>
          <a:prstGeom prst="rect">
            <a:avLst/>
          </a:prstGeom>
          <a:noFill/>
          <a:ln>
            <a:noFill/>
          </a:ln>
        </p:spPr>
        <p:txBody>
          <a:bodyPr wrap="square" lIns="0" rIns="0" tIns="0" bIns="0" anchor="t"/>
          <a:lstStyle/>
          <a:p>
            <a:pPr algn="l">
              <a:lnSpc>
                <a:spcPts val="3150"/>
              </a:lnSpc>
              <a:spcBef>
                <a:spcPts val="0"/>
              </a:spcBef>
              <a:spcAft>
                <a:spcPts val="0"/>
              </a:spcAft>
              <a:buNone/>
            </a:pPr>
            <a:r>
              <a:rPr lang="en-US" sz="3150" b="0" i="0" spc="0">
                <a:solidFill>
                  <a:srgbClr val="D7263D"/>
                </a:solidFill>
                <a:latin typeface="Instrument Serif"/>
                <a:ea typeface="Instrument Serif"/>
                <a:cs typeface="Instrument Serif"/>
              </a:rPr>
              <a:t xml:space="preserve">&lt;0.1%</a:t>
            </a:r>
            <a:endParaRPr lang="en-US"/>
          </a:p>
        </p:txBody>
      </p:sp>
      <p:sp>
        <p:nvSpPr>
          <p:cNvPr id="29" name="Text 29"/>
          <p:cNvSpPr txBox="1"/>
          <p:nvPr/>
        </p:nvSpPr>
        <p:spPr>
          <a:xfrm>
            <a:off x="2746772" y="3829571"/>
            <a:ext cx="1708547" cy="30480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every year 2015-2024; GitHub in 2.5% of 2024 full texts</a:t>
            </a:r>
            <a:endParaRPr lang="en-US"/>
          </a:p>
        </p:txBody>
      </p:sp>
      <p:sp>
        <p:nvSpPr>
          <p:cNvPr id="30" name="Text 30"/>
          <p:cNvSpPr txBox="1"/>
          <p:nvPr/>
        </p:nvSpPr>
        <p:spPr>
          <a:xfrm>
            <a:off x="4726781" y="2829446"/>
            <a:ext cx="1708547"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Preprint version</a:t>
            </a:r>
            <a:endParaRPr lang="en-US"/>
          </a:p>
        </p:txBody>
      </p:sp>
      <p:sp>
        <p:nvSpPr>
          <p:cNvPr id="31" name="Text 31"/>
          <p:cNvSpPr txBox="1"/>
          <p:nvPr/>
        </p:nvSpPr>
        <p:spPr>
          <a:xfrm>
            <a:off x="4726781" y="3134246"/>
            <a:ext cx="1708547" cy="419100"/>
          </a:xfrm>
          <a:prstGeom prst="rect">
            <a:avLst/>
          </a:prstGeom>
          <a:noFill/>
          <a:ln>
            <a:noFill/>
          </a:ln>
        </p:spPr>
        <p:txBody>
          <a:bodyPr wrap="square" lIns="0" rIns="0" tIns="0" bIns="0" anchor="t"/>
          <a:lstStyle/>
          <a:p>
            <a:pPr algn="l">
              <a:lnSpc>
                <a:spcPts val="3150"/>
              </a:lnSpc>
              <a:spcBef>
                <a:spcPts val="0"/>
              </a:spcBef>
              <a:spcAft>
                <a:spcPts val="0"/>
              </a:spcAft>
              <a:buNone/>
            </a:pPr>
            <a:r>
              <a:rPr lang="en-US" sz="3150" b="0" i="0" spc="0">
                <a:solidFill>
                  <a:srgbClr val="D7263D"/>
                </a:solidFill>
                <a:latin typeface="Instrument Serif"/>
                <a:ea typeface="Instrument Serif"/>
                <a:cs typeface="Instrument Serif"/>
              </a:rPr>
              <a:t xml:space="preserve">2.7%</a:t>
            </a:r>
            <a:endParaRPr lang="en-US"/>
          </a:p>
        </p:txBody>
      </p:sp>
      <p:sp>
        <p:nvSpPr>
          <p:cNvPr id="32" name="Text 32"/>
          <p:cNvSpPr txBox="1"/>
          <p:nvPr/>
        </p:nvSpPr>
        <p:spPr>
          <a:xfrm>
            <a:off x="4726781" y="3686696"/>
            <a:ext cx="1708547" cy="44767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in 2024; 1.5% in 2015-2025. A lower bound, partly publisher-driven</a:t>
            </a:r>
            <a:endParaRPr lang="en-US"/>
          </a:p>
        </p:txBody>
      </p:sp>
      <p:sp>
        <p:nvSpPr>
          <p:cNvPr id="33" name="Text 33"/>
          <p:cNvSpPr txBox="1"/>
          <p:nvPr/>
        </p:nvSpPr>
        <p:spPr>
          <a:xfrm>
            <a:off x="6706791" y="2829446"/>
            <a:ext cx="1708547" cy="3238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Registration ID in the abstract</a:t>
            </a:r>
            <a:endParaRPr lang="en-US"/>
          </a:p>
        </p:txBody>
      </p:sp>
      <p:sp>
        <p:nvSpPr>
          <p:cNvPr id="34" name="Text 34"/>
          <p:cNvSpPr txBox="1"/>
          <p:nvPr/>
        </p:nvSpPr>
        <p:spPr>
          <a:xfrm>
            <a:off x="6706791" y="3210446"/>
            <a:ext cx="1708547" cy="419100"/>
          </a:xfrm>
          <a:prstGeom prst="rect">
            <a:avLst/>
          </a:prstGeom>
          <a:noFill/>
          <a:ln>
            <a:noFill/>
          </a:ln>
        </p:spPr>
        <p:txBody>
          <a:bodyPr wrap="square" lIns="0" rIns="0" tIns="0" bIns="0" anchor="t"/>
          <a:lstStyle/>
          <a:p>
            <a:pPr algn="l">
              <a:lnSpc>
                <a:spcPts val="3150"/>
              </a:lnSpc>
              <a:spcBef>
                <a:spcPts val="0"/>
              </a:spcBef>
              <a:spcAft>
                <a:spcPts val="0"/>
              </a:spcAft>
              <a:buNone/>
            </a:pPr>
            <a:r>
              <a:rPr lang="en-US" sz="3150" b="0" i="0" spc="0">
                <a:solidFill>
                  <a:srgbClr val="141414"/>
                </a:solidFill>
                <a:latin typeface="Instrument Serif"/>
                <a:ea typeface="Instrument Serif"/>
                <a:cs typeface="Instrument Serif"/>
              </a:rPr>
              <a:t xml:space="preserve">5.3%</a:t>
            </a:r>
            <a:endParaRPr lang="en-US"/>
          </a:p>
        </p:txBody>
      </p:sp>
      <p:sp>
        <p:nvSpPr>
          <p:cNvPr id="35" name="Text 35"/>
          <p:cNvSpPr txBox="1"/>
          <p:nvPr/>
        </p:nvSpPr>
        <p:spPr>
          <a:xfrm>
            <a:off x="6706791" y="3686696"/>
            <a:ext cx="1708547" cy="44767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in 2024, from 2.8% in 2015; stroke ahead of cardiology, neurology and neuroscience</a:t>
            </a:r>
            <a:endParaRPr lang="en-US"/>
          </a:p>
        </p:txBody>
      </p:sp>
      <p:sp>
        <p:nvSpPr>
          <p:cNvPr id="36" name="Text 36"/>
          <p:cNvSpPr txBox="1"/>
          <p:nvPr/>
        </p:nvSpPr>
        <p:spPr>
          <a:xfrm>
            <a:off x="609600" y="4552950"/>
            <a:ext cx="7962900" cy="30480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High impact is barely better at sharing: top-cited or IF 10+ articles (16% of the corpus) are 74% open access vs 65%, registration 10.0% vs 3.5%, but data 0.45% vs 0.34%, code 0.08% vs 0.06%. These are lower bounds from abstracts and metadata. So we read the full text.</a:t>
            </a:r>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das">
    <p:bg>
      <p:bgPr>
        <a:solidFill>
          <a:srgbClr val="F1F1EF"/>
        </a:solidFill>
        <a:effectLst/>
      </p:bgPr>
    </p:bg>
    <p:spTree>
      <p:nvGrpSpPr>
        <p:cNvPr id="1" name=""/>
        <p:cNvGrpSpPr/>
        <p:nvPr/>
      </p:nvGrpSpPr>
      <p:grpSpPr/>
      <p:sp>
        <p:nvSpPr>
          <p:cNvPr id="2" name="Rule 2"/>
          <p:cNvSpPr txBox="0"/>
          <p:nvPr/>
        </p:nvSpPr>
        <p:spPr>
          <a:xfrm>
            <a:off x="609600" y="876300"/>
            <a:ext cx="2644750" cy="4762"/>
          </a:xfrm>
          <a:prstGeom prst="rect">
            <a:avLst/>
          </a:prstGeom>
          <a:solidFill>
            <a:srgbClr val="C6C6C1"/>
          </a:solidFill>
          <a:ln>
            <a:noFill/>
          </a:ln>
        </p:spPr>
      </p:sp>
      <p:sp>
        <p:nvSpPr>
          <p:cNvPr id="3" name="Rule 3"/>
          <p:cNvSpPr txBox="0"/>
          <p:nvPr/>
        </p:nvSpPr>
        <p:spPr>
          <a:xfrm>
            <a:off x="3249588" y="876300"/>
            <a:ext cx="4762" cy="1028700"/>
          </a:xfrm>
          <a:prstGeom prst="rect">
            <a:avLst/>
          </a:prstGeom>
          <a:solidFill>
            <a:srgbClr val="C6C6C1"/>
          </a:solidFill>
          <a:ln>
            <a:noFill/>
          </a:ln>
        </p:spPr>
      </p:sp>
      <p:sp>
        <p:nvSpPr>
          <p:cNvPr id="4" name="Rule 4"/>
          <p:cNvSpPr txBox="0"/>
          <p:nvPr/>
        </p:nvSpPr>
        <p:spPr>
          <a:xfrm>
            <a:off x="609600" y="1900238"/>
            <a:ext cx="2644750" cy="4762"/>
          </a:xfrm>
          <a:prstGeom prst="rect">
            <a:avLst/>
          </a:prstGeom>
          <a:solidFill>
            <a:srgbClr val="C6C6C1"/>
          </a:solidFill>
          <a:ln>
            <a:noFill/>
          </a:ln>
        </p:spPr>
      </p:sp>
      <p:sp>
        <p:nvSpPr>
          <p:cNvPr id="5" name="Rule 5"/>
          <p:cNvSpPr txBox="0"/>
          <p:nvPr/>
        </p:nvSpPr>
        <p:spPr>
          <a:xfrm>
            <a:off x="609600" y="876300"/>
            <a:ext cx="4762" cy="1028700"/>
          </a:xfrm>
          <a:prstGeom prst="rect">
            <a:avLst/>
          </a:prstGeom>
          <a:solidFill>
            <a:srgbClr val="C6C6C1"/>
          </a:solidFill>
          <a:ln>
            <a:noFill/>
          </a:ln>
        </p:spPr>
      </p:sp>
      <p:sp>
        <p:nvSpPr>
          <p:cNvPr id="6" name="Rule 6"/>
          <p:cNvSpPr txBox="0"/>
          <p:nvPr/>
        </p:nvSpPr>
        <p:spPr>
          <a:xfrm>
            <a:off x="3254350" y="876300"/>
            <a:ext cx="2640062" cy="4762"/>
          </a:xfrm>
          <a:prstGeom prst="rect">
            <a:avLst/>
          </a:prstGeom>
          <a:solidFill>
            <a:srgbClr val="C6C6C1"/>
          </a:solidFill>
          <a:ln>
            <a:noFill/>
          </a:ln>
        </p:spPr>
      </p:sp>
      <p:sp>
        <p:nvSpPr>
          <p:cNvPr id="7" name="Rule 7"/>
          <p:cNvSpPr txBox="0"/>
          <p:nvPr/>
        </p:nvSpPr>
        <p:spPr>
          <a:xfrm>
            <a:off x="5889650" y="876300"/>
            <a:ext cx="4762" cy="1028700"/>
          </a:xfrm>
          <a:prstGeom prst="rect">
            <a:avLst/>
          </a:prstGeom>
          <a:solidFill>
            <a:srgbClr val="C6C6C1"/>
          </a:solidFill>
          <a:ln>
            <a:noFill/>
          </a:ln>
        </p:spPr>
      </p:sp>
      <p:sp>
        <p:nvSpPr>
          <p:cNvPr id="8" name="Rule 8"/>
          <p:cNvSpPr txBox="0"/>
          <p:nvPr/>
        </p:nvSpPr>
        <p:spPr>
          <a:xfrm>
            <a:off x="3254350" y="1900238"/>
            <a:ext cx="2640062" cy="4762"/>
          </a:xfrm>
          <a:prstGeom prst="rect">
            <a:avLst/>
          </a:prstGeom>
          <a:solidFill>
            <a:srgbClr val="C6C6C1"/>
          </a:solidFill>
          <a:ln>
            <a:noFill/>
          </a:ln>
        </p:spPr>
      </p:sp>
      <p:sp>
        <p:nvSpPr>
          <p:cNvPr id="9" name="Rule 9"/>
          <p:cNvSpPr txBox="0"/>
          <p:nvPr/>
        </p:nvSpPr>
        <p:spPr>
          <a:xfrm>
            <a:off x="5894412" y="876300"/>
            <a:ext cx="2639988" cy="4762"/>
          </a:xfrm>
          <a:prstGeom prst="rect">
            <a:avLst/>
          </a:prstGeom>
          <a:solidFill>
            <a:srgbClr val="C6C6C1"/>
          </a:solidFill>
          <a:ln>
            <a:noFill/>
          </a:ln>
        </p:spPr>
      </p:sp>
      <p:sp>
        <p:nvSpPr>
          <p:cNvPr id="10" name="Rule 10"/>
          <p:cNvSpPr txBox="0"/>
          <p:nvPr/>
        </p:nvSpPr>
        <p:spPr>
          <a:xfrm>
            <a:off x="8529638" y="876300"/>
            <a:ext cx="4762" cy="1028700"/>
          </a:xfrm>
          <a:prstGeom prst="rect">
            <a:avLst/>
          </a:prstGeom>
          <a:solidFill>
            <a:srgbClr val="C6C6C1"/>
          </a:solidFill>
          <a:ln>
            <a:noFill/>
          </a:ln>
        </p:spPr>
      </p:sp>
      <p:sp>
        <p:nvSpPr>
          <p:cNvPr id="11" name="Rule 11"/>
          <p:cNvSpPr txBox="0"/>
          <p:nvPr/>
        </p:nvSpPr>
        <p:spPr>
          <a:xfrm>
            <a:off x="5894412" y="1900238"/>
            <a:ext cx="2639988" cy="4762"/>
          </a:xfrm>
          <a:prstGeom prst="rect">
            <a:avLst/>
          </a:prstGeom>
          <a:solidFill>
            <a:srgbClr val="C6C6C1"/>
          </a:solidFill>
          <a:ln>
            <a:noFill/>
          </a:ln>
        </p:spPr>
      </p:sp>
      <p:pic>
        <p:nvPicPr>
          <p:cNvPr id="12" name="Illustration 12" descr="Data-availability statement classes by year, 2015 to 2025, stroke open-access full texts"/>
          <p:cNvPicPr>
            <a:picLocks noChangeAspect="1"/>
          </p:cNvPicPr>
          <p:nvPr/>
        </p:nvPicPr>
        <p:blipFill>
          <a:blip r:embed="rIdFigure12"/>
          <a:stretch>
            <a:fillRect/>
          </a:stretch>
        </p:blipFill>
        <p:spPr>
          <a:xfrm>
            <a:off x="989578" y="2019300"/>
            <a:ext cx="6383794" cy="2324100"/>
          </a:xfrm>
          <a:prstGeom prst="rect">
            <a:avLst/>
          </a:prstGeom>
        </p:spPr>
      </p:pic>
      <p:sp>
        <p:nvSpPr>
          <p:cNvPr id="13" name="Text 13"/>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4" name="Text 14"/>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10</a:t>
            </a:r>
            <a:r>
              <a:rPr lang="en-US" sz="900" b="0" i="0" spc="0">
                <a:solidFill>
                  <a:srgbClr val="85857F"/>
                </a:solidFill>
                <a:latin typeface="Instrument Sans"/>
                <a:ea typeface="Instrument Sans"/>
                <a:cs typeface="Instrument Sans"/>
              </a:rPr>
              <a:t xml:space="preserve">  What data-availability statements actually say</a:t>
            </a:r>
            <a:endParaRPr lang="en-US"/>
          </a:p>
        </p:txBody>
      </p:sp>
      <p:sp>
        <p:nvSpPr>
          <p:cNvPr id="15" name="Text 15"/>
          <p:cNvSpPr txBox="1"/>
          <p:nvPr/>
        </p:nvSpPr>
        <p:spPr>
          <a:xfrm>
            <a:off x="766762" y="985838"/>
            <a:ext cx="2368525"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Write a statement, 2025</a:t>
            </a:r>
            <a:endParaRPr lang="en-US"/>
          </a:p>
        </p:txBody>
      </p:sp>
      <p:sp>
        <p:nvSpPr>
          <p:cNvPr id="16" name="Text 16"/>
          <p:cNvSpPr txBox="1"/>
          <p:nvPr/>
        </p:nvSpPr>
        <p:spPr>
          <a:xfrm>
            <a:off x="766762" y="1185862"/>
            <a:ext cx="2368525" cy="438150"/>
          </a:xfrm>
          <a:prstGeom prst="rect">
            <a:avLst/>
          </a:prstGeom>
          <a:noFill/>
          <a:ln>
            <a:noFill/>
          </a:ln>
        </p:spPr>
        <p:txBody>
          <a:bodyPr wrap="square" lIns="0" rIns="0" tIns="0" bIns="0" anchor="t"/>
          <a:lstStyle/>
          <a:p>
            <a:pPr algn="l">
              <a:lnSpc>
                <a:spcPts val="3300"/>
              </a:lnSpc>
              <a:spcBef>
                <a:spcPts val="0"/>
              </a:spcBef>
              <a:spcAft>
                <a:spcPts val="0"/>
              </a:spcAft>
              <a:buNone/>
            </a:pPr>
            <a:r>
              <a:rPr lang="en-US" sz="3300" b="0" i="0" spc="0">
                <a:solidFill>
                  <a:srgbClr val="141414"/>
                </a:solidFill>
                <a:latin typeface="Instrument Serif"/>
                <a:ea typeface="Instrument Serif"/>
                <a:cs typeface="Instrument Serif"/>
              </a:rPr>
              <a:t xml:space="preserve">74%</a:t>
            </a:r>
            <a:endParaRPr lang="en-US"/>
          </a:p>
        </p:txBody>
      </p:sp>
      <p:sp>
        <p:nvSpPr>
          <p:cNvPr id="17" name="Text 17"/>
          <p:cNvSpPr txBox="1"/>
          <p:nvPr/>
        </p:nvSpPr>
        <p:spPr>
          <a:xfrm>
            <a:off x="766762" y="1652588"/>
            <a:ext cx="2368525"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from 14% in 2015; arrived with mandates</a:t>
            </a:r>
            <a:endParaRPr lang="en-US"/>
          </a:p>
        </p:txBody>
      </p:sp>
      <p:sp>
        <p:nvSpPr>
          <p:cNvPr id="18" name="Text 18"/>
          <p:cNvSpPr txBox="1"/>
          <p:nvPr/>
        </p:nvSpPr>
        <p:spPr>
          <a:xfrm>
            <a:off x="3406750" y="985838"/>
            <a:ext cx="23686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Say “available on request”, 2025</a:t>
            </a:r>
            <a:endParaRPr lang="en-US"/>
          </a:p>
        </p:txBody>
      </p:sp>
      <p:sp>
        <p:nvSpPr>
          <p:cNvPr id="19" name="Text 19"/>
          <p:cNvSpPr txBox="1"/>
          <p:nvPr/>
        </p:nvSpPr>
        <p:spPr>
          <a:xfrm>
            <a:off x="3406750" y="1185862"/>
            <a:ext cx="2368600" cy="438150"/>
          </a:xfrm>
          <a:prstGeom prst="rect">
            <a:avLst/>
          </a:prstGeom>
          <a:noFill/>
          <a:ln>
            <a:noFill/>
          </a:ln>
        </p:spPr>
        <p:txBody>
          <a:bodyPr wrap="square" lIns="0" rIns="0" tIns="0" bIns="0" anchor="t"/>
          <a:lstStyle/>
          <a:p>
            <a:pPr algn="l">
              <a:lnSpc>
                <a:spcPts val="3300"/>
              </a:lnSpc>
              <a:spcBef>
                <a:spcPts val="0"/>
              </a:spcBef>
              <a:spcAft>
                <a:spcPts val="0"/>
              </a:spcAft>
              <a:buNone/>
            </a:pPr>
            <a:r>
              <a:rPr lang="en-US" sz="3300" b="0" i="0" spc="0">
                <a:solidFill>
                  <a:srgbClr val="D7263D"/>
                </a:solidFill>
                <a:latin typeface="Instrument Serif"/>
                <a:ea typeface="Instrument Serif"/>
                <a:cs typeface="Instrument Serif"/>
              </a:rPr>
              <a:t xml:space="preserve">29%</a:t>
            </a:r>
            <a:endParaRPr lang="en-US"/>
          </a:p>
        </p:txBody>
      </p:sp>
      <p:sp>
        <p:nvSpPr>
          <p:cNvPr id="20" name="Text 20"/>
          <p:cNvSpPr txBox="1"/>
          <p:nvPr/>
        </p:nvSpPr>
        <p:spPr>
          <a:xfrm>
            <a:off x="3406750" y="1652588"/>
            <a:ext cx="23686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from 0.6% in 2015; the largest answer</a:t>
            </a:r>
            <a:endParaRPr lang="en-US"/>
          </a:p>
        </p:txBody>
      </p:sp>
      <p:sp>
        <p:nvSpPr>
          <p:cNvPr id="21" name="Text 21"/>
          <p:cNvSpPr txBox="1"/>
          <p:nvPr/>
        </p:nvSpPr>
        <p:spPr>
          <a:xfrm>
            <a:off x="6046812" y="985838"/>
            <a:ext cx="2368525"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75" b="0" i="0" spc="0">
                <a:solidFill>
                  <a:srgbClr val="141414"/>
                </a:solidFill>
                <a:latin typeface="Instrument Sans Medium"/>
                <a:ea typeface="Instrument Sans Medium"/>
                <a:cs typeface="Instrument Sans Medium"/>
              </a:rPr>
              <a:t xml:space="preserve">Deposit or name a public dataset, 2025</a:t>
            </a:r>
            <a:endParaRPr lang="en-US"/>
          </a:p>
        </p:txBody>
      </p:sp>
      <p:sp>
        <p:nvSpPr>
          <p:cNvPr id="22" name="Text 22"/>
          <p:cNvSpPr txBox="1"/>
          <p:nvPr/>
        </p:nvSpPr>
        <p:spPr>
          <a:xfrm>
            <a:off x="6046812" y="1185862"/>
            <a:ext cx="2368525" cy="438150"/>
          </a:xfrm>
          <a:prstGeom prst="rect">
            <a:avLst/>
          </a:prstGeom>
          <a:noFill/>
          <a:ln>
            <a:noFill/>
          </a:ln>
        </p:spPr>
        <p:txBody>
          <a:bodyPr wrap="square" lIns="0" rIns="0" tIns="0" bIns="0" anchor="t"/>
          <a:lstStyle/>
          <a:p>
            <a:pPr algn="l">
              <a:lnSpc>
                <a:spcPts val="3300"/>
              </a:lnSpc>
              <a:spcBef>
                <a:spcPts val="0"/>
              </a:spcBef>
              <a:spcAft>
                <a:spcPts val="0"/>
              </a:spcAft>
              <a:buNone/>
            </a:pPr>
            <a:r>
              <a:rPr lang="en-US" sz="3300" b="0" i="0" spc="0">
                <a:solidFill>
                  <a:srgbClr val="D7263D"/>
                </a:solidFill>
                <a:latin typeface="Instrument Serif"/>
                <a:ea typeface="Instrument Serif"/>
                <a:cs typeface="Instrument Serif"/>
              </a:rPr>
              <a:t xml:space="preserve">9.8%</a:t>
            </a:r>
            <a:endParaRPr lang="en-US"/>
          </a:p>
        </p:txBody>
      </p:sp>
      <p:sp>
        <p:nvSpPr>
          <p:cNvPr id="23" name="Text 23"/>
          <p:cNvSpPr txBox="1"/>
          <p:nvPr/>
        </p:nvSpPr>
        <p:spPr>
          <a:xfrm>
            <a:off x="6046812" y="1652588"/>
            <a:ext cx="2368525"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4A4A47"/>
                </a:solidFill>
                <a:latin typeface="Instrument Sans"/>
                <a:ea typeface="Instrument Sans"/>
                <a:cs typeface="Instrument Sans"/>
              </a:rPr>
              <a:t xml:space="preserve">from 0.7% in 2015; own deposit 5.9%</a:t>
            </a:r>
            <a:endParaRPr lang="en-US"/>
          </a:p>
        </p:txBody>
      </p:sp>
      <p:sp>
        <p:nvSpPr>
          <p:cNvPr id="24" name="Text 24"/>
          <p:cNvSpPr txBox="1"/>
          <p:nvPr/>
        </p:nvSpPr>
        <p:spPr>
          <a:xfrm>
            <a:off x="609600" y="4552950"/>
            <a:ext cx="7962900" cy="30480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16,362 open-access stroke full texts, up to 1,500 per year, Europe PMC; optimistic for stroke overall. Elsewhere, “on request” delivers little: 6.8% of authors shared when asked (Gabelica 2022); 20% of 391 vascular and cognitive trials, median 241 days (Scutt 2020).</a:t>
            </a:r>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equity">
    <p:bg>
      <p:bgPr>
        <a:solidFill>
          <a:srgbClr val="F1F1EF"/>
        </a:solidFill>
        <a:effectLst/>
      </p:bgPr>
    </p:bg>
    <p:spTree>
      <p:nvGrpSpPr>
        <p:cNvPr id="1" name=""/>
        <p:cNvGrpSpPr/>
        <p:nvPr/>
      </p:nvGrpSpPr>
      <p:grpSpPr/>
      <p:pic>
        <p:nvPicPr>
          <p:cNvPr id="2" name="Illustration 2" descr="Open-access route by first-author income group, stroke"/>
          <p:cNvPicPr>
            <a:picLocks noChangeAspect="1"/>
          </p:cNvPicPr>
          <p:nvPr/>
        </p:nvPicPr>
        <p:blipFill>
          <a:blip r:embed="rIdFigure2"/>
          <a:stretch>
            <a:fillRect/>
          </a:stretch>
        </p:blipFill>
        <p:spPr>
          <a:xfrm>
            <a:off x="746872" y="1686967"/>
            <a:ext cx="3554506" cy="2324100"/>
          </a:xfrm>
          <a:prstGeom prst="rect">
            <a:avLst/>
          </a:prstGeom>
        </p:spPr>
      </p:pic>
      <p:pic>
        <p:nvPicPr>
          <p:cNvPr id="3" name="Illustration 3" descr="Full-text sharing indicators by income group, stroke"/>
          <p:cNvPicPr>
            <a:picLocks noChangeAspect="1"/>
          </p:cNvPicPr>
          <p:nvPr/>
        </p:nvPicPr>
        <p:blipFill>
          <a:blip r:embed="rIdFigure3"/>
          <a:stretch>
            <a:fillRect/>
          </a:stretch>
        </p:blipFill>
        <p:spPr>
          <a:xfrm>
            <a:off x="4765098" y="1686967"/>
            <a:ext cx="3709555" cy="1700212"/>
          </a:xfrm>
          <a:prstGeom prst="rect">
            <a:avLst/>
          </a:prstGeom>
        </p:spPr>
      </p:pic>
      <p:sp>
        <p:nvSpPr>
          <p:cNvPr id="4" name="Text 4"/>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5" name="Text 5"/>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11</a:t>
            </a:r>
            <a:r>
              <a:rPr lang="en-US" sz="900" b="0" i="0" spc="0">
                <a:solidFill>
                  <a:srgbClr val="85857F"/>
                </a:solidFill>
                <a:latin typeface="Instrument Sans"/>
                <a:ea typeface="Instrument Sans"/>
                <a:cs typeface="Instrument Sans"/>
              </a:rPr>
              <a:t xml:space="preserve">  Who pays to be read, and who shares</a:t>
            </a:r>
            <a:endParaRPr lang="en-US"/>
          </a:p>
        </p:txBody>
      </p:sp>
      <p:sp>
        <p:nvSpPr>
          <p:cNvPr id="6" name="Text 6"/>
          <p:cNvSpPr txBox="1"/>
          <p:nvPr/>
        </p:nvSpPr>
        <p:spPr>
          <a:xfrm>
            <a:off x="609600" y="895350"/>
            <a:ext cx="7962900" cy="677317"/>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Reading access has been solved for the global South by free routes. Reuse has not.</a:t>
            </a:r>
            <a:endParaRPr lang="en-US"/>
          </a:p>
        </p:txBody>
      </p:sp>
      <p:sp>
        <p:nvSpPr>
          <p:cNvPr id="7" name="Text 7"/>
          <p:cNvSpPr txBox="1"/>
          <p:nvPr/>
        </p:nvSpPr>
        <p:spPr>
          <a:xfrm>
            <a:off x="609600" y="4058692"/>
            <a:ext cx="3867150" cy="295275"/>
          </a:xfrm>
          <a:prstGeom prst="rect">
            <a:avLst/>
          </a:prstGeom>
          <a:noFill/>
          <a:ln>
            <a:noFill/>
          </a:ln>
        </p:spPr>
        <p:txBody>
          <a:bodyPr wrap="square" lIns="0" rIns="0" tIns="0" bIns="0" anchor="t"/>
          <a:lstStyle/>
          <a:p>
            <a:pPr algn="l">
              <a:lnSpc>
                <a:spcPts val="1035"/>
              </a:lnSpc>
              <a:spcBef>
                <a:spcPts val="0"/>
              </a:spcBef>
              <a:spcAft>
                <a:spcPts val="0"/>
              </a:spcAft>
              <a:buNone/>
            </a:pPr>
            <a:r>
              <a:rPr lang="en-US" sz="900" b="0" i="0" spc="0">
                <a:solidFill>
                  <a:srgbClr val="85857F"/>
                </a:solidFill>
                <a:latin typeface="Instrument Sans"/>
                <a:ea typeface="Instrument Sans"/>
                <a:cs typeface="Instrument Sans"/>
              </a:rPr>
              <a:t xml:space="preserve">Open-access route by World Bank income group of the first author’s country</a:t>
            </a:r>
            <a:endParaRPr lang="en-US"/>
          </a:p>
        </p:txBody>
      </p:sp>
      <p:sp>
        <p:nvSpPr>
          <p:cNvPr id="8" name="Text 8"/>
          <p:cNvSpPr txBox="1"/>
          <p:nvPr/>
        </p:nvSpPr>
        <p:spPr>
          <a:xfrm>
            <a:off x="4705350" y="3434804"/>
            <a:ext cx="3867150" cy="157162"/>
          </a:xfrm>
          <a:prstGeom prst="rect">
            <a:avLst/>
          </a:prstGeom>
          <a:noFill/>
          <a:ln>
            <a:noFill/>
          </a:ln>
        </p:spPr>
        <p:txBody>
          <a:bodyPr wrap="square" lIns="0" rIns="0" tIns="0" bIns="0" anchor="t"/>
          <a:lstStyle/>
          <a:p>
            <a:pPr algn="l">
              <a:lnSpc>
                <a:spcPts val="1035"/>
              </a:lnSpc>
              <a:spcBef>
                <a:spcPts val="0"/>
              </a:spcBef>
              <a:spcAft>
                <a:spcPts val="0"/>
              </a:spcAft>
              <a:buNone/>
            </a:pPr>
            <a:r>
              <a:rPr lang="en-US" sz="900" b="0" i="0" spc="0">
                <a:solidFill>
                  <a:srgbClr val="85857F"/>
                </a:solidFill>
                <a:latin typeface="Instrument Sans"/>
                <a:ea typeface="Instrument Sans"/>
                <a:cs typeface="Instrument Sans"/>
              </a:rPr>
              <a:t xml:space="preserve">What the full text shows, by income group</a:t>
            </a:r>
            <a:endParaRPr lang="en-US"/>
          </a:p>
        </p:txBody>
      </p:sp>
      <p:sp>
        <p:nvSpPr>
          <p:cNvPr id="9" name="Text 9"/>
          <p:cNvSpPr txBox="1"/>
          <p:nvPr/>
        </p:nvSpPr>
        <p:spPr>
          <a:xfrm>
            <a:off x="4705350" y="3677692"/>
            <a:ext cx="3867150" cy="739080"/>
          </a:xfrm>
          <a:prstGeom prst="rect">
            <a:avLst/>
          </a:prstGeom>
          <a:noFill/>
          <a:ln>
            <a:noFill/>
          </a:ln>
        </p:spPr>
        <p:txBody>
          <a:bodyPr wrap="square" lIns="0" rIns="0" tIns="0" bIns="0" anchor="t"/>
          <a:lstStyle/>
          <a:p>
            <a:pPr algn="l">
              <a:lnSpc>
                <a:spcPts val="1418"/>
              </a:lnSpc>
              <a:spcBef>
                <a:spcPts val="0"/>
              </a:spcBef>
              <a:spcAft>
                <a:spcPts val="0"/>
              </a:spcAft>
              <a:buNone/>
            </a:pPr>
            <a:r>
              <a:rPr lang="en-US" sz="1012" b="0" i="0" spc="0">
                <a:solidFill>
                  <a:srgbClr val="141414"/>
                </a:solidFill>
                <a:latin typeface="Instrument Sans"/>
                <a:ea typeface="Instrument Sans"/>
                <a:cs typeface="Instrument Sans"/>
              </a:rPr>
              <a:t xml:space="preserve">Lower-middle-income authors publish 42% through routes that cost nothing (high income 19%), yet over 2015-2025 deposit or name public data in 1.8% (high 4.0%), mention GitHub in 0.3% (1.6%) and a trial registration in 5.7% (15.0%).</a:t>
            </a:r>
            <a:endParaRPr lang="en-US"/>
          </a:p>
        </p:txBody>
      </p:sp>
      <p:sp>
        <p:nvSpPr>
          <p:cNvPr id="10" name="Text 10"/>
          <p:cNvSpPr txBox="1"/>
          <p:nvPr/>
        </p:nvSpPr>
        <p:spPr>
          <a:xfrm>
            <a:off x="609600" y="4552950"/>
            <a:ext cx="7962900" cy="30480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Income group known for 85% of the corpus: high 62%, upper-middle 32% (mostly China), lower-middle 6%, low 0.3% (400 articles). Korea: 5,490 first-author articles, 75% open access.</a:t>
            </a:r>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commitment">
    <p:bg>
      <p:bgPr>
        <a:solidFill>
          <a:srgbClr val="F1F1EF"/>
        </a:solidFill>
        <a:effectLst/>
      </p:bgPr>
    </p:bg>
    <p:spTree>
      <p:nvGrpSpPr>
        <p:cNvPr id="1" name=""/>
        <p:cNvGrpSpPr/>
        <p:nvPr/>
      </p:nvGrpSpPr>
      <p:grpSpPr/>
      <p:pic>
        <p:nvPicPr>
          <p:cNvPr id="2" name="Illustration 2" descr="Institutions ranked on the commitment index, stroke: top 15 of the 60 with the most audited articles"/>
          <p:cNvPicPr>
            <a:picLocks noChangeAspect="1"/>
          </p:cNvPicPr>
          <p:nvPr/>
        </p:nvPicPr>
        <p:blipFill>
          <a:blip r:embed="rIdFigure2"/>
          <a:stretch>
            <a:fillRect/>
          </a:stretch>
        </p:blipFill>
        <p:spPr>
          <a:xfrm>
            <a:off x="712353" y="1319733"/>
            <a:ext cx="7719294" cy="2371725"/>
          </a:xfrm>
          <a:prstGeom prst="rect">
            <a:avLst/>
          </a:prstGeom>
        </p:spPr>
      </p:pic>
      <p:sp>
        <p:nvSpPr>
          <p:cNvPr id="3" name="Text 3"/>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4" name="Text 4"/>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12</a:t>
            </a:r>
            <a:r>
              <a:rPr lang="en-US" sz="900" b="0" i="0" spc="0">
                <a:solidFill>
                  <a:srgbClr val="85857F"/>
                </a:solidFill>
                <a:latin typeface="Instrument Sans"/>
                <a:ea typeface="Instrument Sans"/>
                <a:cs typeface="Instrument Sans"/>
              </a:rPr>
              <a:t xml:space="preserve">  Who is already doing it</a:t>
            </a:r>
            <a:endParaRPr lang="en-US"/>
          </a:p>
        </p:txBody>
      </p:sp>
      <p:sp>
        <p:nvSpPr>
          <p:cNvPr id="5" name="Text 5"/>
          <p:cNvSpPr txBox="1"/>
          <p:nvPr/>
        </p:nvSpPr>
        <p:spPr>
          <a:xfrm>
            <a:off x="609600" y="876300"/>
            <a:ext cx="7962900" cy="348183"/>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A commitment index, verified in the full text</a:t>
            </a:r>
            <a:endParaRPr lang="en-US"/>
          </a:p>
        </p:txBody>
      </p:sp>
      <p:sp>
        <p:nvSpPr>
          <p:cNvPr id="6" name="Text 6"/>
          <p:cNvSpPr txBox="1"/>
          <p:nvPr/>
        </p:nvSpPr>
        <p:spPr>
          <a:xfrm>
            <a:off x="609600" y="3805758"/>
            <a:ext cx="7962900" cy="365671"/>
          </a:xfrm>
          <a:prstGeom prst="rect">
            <a:avLst/>
          </a:prstGeom>
          <a:noFill/>
          <a:ln>
            <a:noFill/>
          </a:ln>
        </p:spPr>
        <p:txBody>
          <a:bodyPr wrap="square" lIns="0" rIns="0" tIns="0" bIns="0" anchor="t"/>
          <a:lstStyle/>
          <a:p>
            <a:pPr algn="l">
              <a:lnSpc>
                <a:spcPts val="1365"/>
              </a:lnSpc>
              <a:spcBef>
                <a:spcPts val="0"/>
              </a:spcBef>
              <a:spcAft>
                <a:spcPts val="0"/>
              </a:spcAft>
              <a:buNone/>
            </a:pPr>
            <a:r>
              <a:rPr lang="en-US" sz="975" b="0" i="0" spc="0">
                <a:solidFill>
                  <a:srgbClr val="4A4A47"/>
                </a:solidFill>
                <a:latin typeface="Instrument Sans"/>
                <a:ea typeface="Instrument Sans"/>
                <a:cs typeface="Instrument Sans"/>
              </a:rPr>
              <a:t xml:space="preserve">Journals: Nature Communications, Brain Communications, PeerJ, NeuroImage Clinical lead; </a:t>
            </a:r>
            <a:r>
              <a:rPr lang="en-US" sz="975" b="0" i="1" spc="0">
                <a:solidFill>
                  <a:srgbClr val="4A4A47"/>
                </a:solidFill>
                <a:latin typeface="Instrument Sans"/>
                <a:ea typeface="Instrument Sans"/>
                <a:cs typeface="Instrument Sans"/>
              </a:rPr>
              <a:t xml:space="preserve">Stroke</a:t>
            </a:r>
            <a:r>
              <a:rPr lang="en-US" sz="975" b="0" i="0" spc="0">
                <a:solidFill>
                  <a:srgbClr val="4A4A47"/>
                </a:solidFill>
                <a:latin typeface="Instrument Sans"/>
                <a:ea typeface="Instrument Sans"/>
                <a:cs typeface="Instrument Sans"/>
              </a:rPr>
              <a:t xml:space="preserve"> is about 15th of 99, at 1.5×. Funders: US federal institutes, ANR, Swiss Heart Foundation, Leducq, DFG. Countries: Belgium 2.4×, Germany 2.2×, Switzerland 2.0×, France 1.8×, UK 1.5×.</a:t>
            </a:r>
            <a:endParaRPr lang="en-US"/>
          </a:p>
        </p:txBody>
      </p:sp>
      <p:sp>
        <p:nvSpPr>
          <p:cNvPr id="7" name="Text 7"/>
          <p:cNvSpPr txBox="1"/>
          <p:nvPr/>
        </p:nvSpPr>
        <p:spPr>
          <a:xfrm>
            <a:off x="609600" y="4410075"/>
            <a:ext cx="7962900" cy="44767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Index = mean, over data deposited or public source in the statement, GitHub and trial registration in the full text, of the entity’s rate divided by the stroke audit rate (4.2%, 1.3%, 14.1%). 1 = stroke average. Institutions: the 60 with the most audited articles over the whole audit (each 82+ in 2015-2025); countries 50+, journals and funders 30+.</a:t>
            </a:r>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mandates">
    <p:bg>
      <p:bgPr>
        <a:solidFill>
          <a:srgbClr val="F1F1EF"/>
        </a:solidFill>
        <a:effectLst/>
      </p:bgPr>
    </p:bg>
    <p:spTree>
      <p:nvGrpSpPr>
        <p:cNvPr id="1" name=""/>
        <p:cNvGrpSpPr/>
        <p:nvPr/>
      </p:nvGrpSpPr>
      <p:grpSpPr/>
      <p:sp>
        <p:nvSpPr>
          <p:cNvPr id="2" name="Rule 2"/>
          <p:cNvSpPr txBox="0"/>
          <p:nvPr/>
        </p:nvSpPr>
        <p:spPr>
          <a:xfrm>
            <a:off x="609600" y="1357833"/>
            <a:ext cx="7924800" cy="4762"/>
          </a:xfrm>
          <a:prstGeom prst="rect">
            <a:avLst/>
          </a:prstGeom>
          <a:solidFill>
            <a:srgbClr val="C6C6C1"/>
          </a:solidFill>
          <a:ln>
            <a:noFill/>
          </a:ln>
        </p:spPr>
      </p:sp>
      <p:sp>
        <p:nvSpPr>
          <p:cNvPr id="3" name="Rule 3"/>
          <p:cNvSpPr txBox="0"/>
          <p:nvPr/>
        </p:nvSpPr>
        <p:spPr>
          <a:xfrm>
            <a:off x="609600" y="1862063"/>
            <a:ext cx="7924800" cy="4762"/>
          </a:xfrm>
          <a:prstGeom prst="rect">
            <a:avLst/>
          </a:prstGeom>
          <a:solidFill>
            <a:srgbClr val="C6C6C1"/>
          </a:solidFill>
          <a:ln>
            <a:noFill/>
          </a:ln>
        </p:spPr>
      </p:sp>
      <p:sp>
        <p:nvSpPr>
          <p:cNvPr id="4" name="Rule 4"/>
          <p:cNvSpPr txBox="0"/>
          <p:nvPr/>
        </p:nvSpPr>
        <p:spPr>
          <a:xfrm>
            <a:off x="609600" y="2366293"/>
            <a:ext cx="7924800" cy="4762"/>
          </a:xfrm>
          <a:prstGeom prst="rect">
            <a:avLst/>
          </a:prstGeom>
          <a:solidFill>
            <a:srgbClr val="C6C6C1"/>
          </a:solidFill>
          <a:ln>
            <a:noFill/>
          </a:ln>
        </p:spPr>
      </p:sp>
      <p:sp>
        <p:nvSpPr>
          <p:cNvPr id="5" name="Rule 5"/>
          <p:cNvSpPr txBox="0"/>
          <p:nvPr/>
        </p:nvSpPr>
        <p:spPr>
          <a:xfrm>
            <a:off x="609600" y="2870522"/>
            <a:ext cx="7924800" cy="4762"/>
          </a:xfrm>
          <a:prstGeom prst="rect">
            <a:avLst/>
          </a:prstGeom>
          <a:solidFill>
            <a:srgbClr val="C6C6C1"/>
          </a:solidFill>
          <a:ln>
            <a:noFill/>
          </a:ln>
        </p:spPr>
      </p:sp>
      <p:sp>
        <p:nvSpPr>
          <p:cNvPr id="6" name="Rule 6"/>
          <p:cNvSpPr txBox="0"/>
          <p:nvPr/>
        </p:nvSpPr>
        <p:spPr>
          <a:xfrm>
            <a:off x="609600" y="3374752"/>
            <a:ext cx="7924800" cy="4762"/>
          </a:xfrm>
          <a:prstGeom prst="rect">
            <a:avLst/>
          </a:prstGeom>
          <a:solidFill>
            <a:srgbClr val="C6C6C1"/>
          </a:solidFill>
          <a:ln>
            <a:noFill/>
          </a:ln>
        </p:spPr>
      </p:sp>
      <p:sp>
        <p:nvSpPr>
          <p:cNvPr id="7" name="Text 7"/>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8" name="Text 8"/>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13</a:t>
            </a:r>
            <a:r>
              <a:rPr lang="en-US" sz="900" b="0" i="0" spc="0">
                <a:solidFill>
                  <a:srgbClr val="85857F"/>
                </a:solidFill>
                <a:latin typeface="Instrument Sans"/>
                <a:ea typeface="Instrument Sans"/>
                <a:cs typeface="Instrument Sans"/>
              </a:rPr>
              <a:t xml:space="preserve">  Why mandates alone did not work</a:t>
            </a:r>
            <a:endParaRPr lang="en-US"/>
          </a:p>
        </p:txBody>
      </p:sp>
      <p:sp>
        <p:nvSpPr>
          <p:cNvPr id="9" name="Text 9"/>
          <p:cNvSpPr txBox="1"/>
          <p:nvPr/>
        </p:nvSpPr>
        <p:spPr>
          <a:xfrm>
            <a:off x="609600" y="895350"/>
            <a:ext cx="7962900" cy="348183"/>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Rules produced statements. Incentives produce data.</a:t>
            </a:r>
            <a:endParaRPr lang="en-US"/>
          </a:p>
        </p:txBody>
      </p:sp>
      <p:sp>
        <p:nvSpPr>
          <p:cNvPr id="10" name="Text 10"/>
          <p:cNvSpPr txBox="1"/>
          <p:nvPr/>
        </p:nvSpPr>
        <p:spPr>
          <a:xfrm>
            <a:off x="609600" y="1459929"/>
            <a:ext cx="1752600" cy="323850"/>
          </a:xfrm>
          <a:prstGeom prst="rect">
            <a:avLst/>
          </a:prstGeom>
          <a:noFill/>
          <a:ln>
            <a:noFill/>
          </a:ln>
        </p:spPr>
        <p:txBody>
          <a:bodyPr wrap="square" lIns="0" rIns="0" tIns="0" bIns="0" anchor="t"/>
          <a:lstStyle/>
          <a:p>
            <a:pPr algn="l">
              <a:lnSpc>
                <a:spcPts val="2400"/>
              </a:lnSpc>
              <a:spcBef>
                <a:spcPts val="0"/>
              </a:spcBef>
              <a:spcAft>
                <a:spcPts val="0"/>
              </a:spcAft>
              <a:buNone/>
            </a:pPr>
            <a:r>
              <a:rPr lang="en-US" sz="2400" b="0" i="0" spc="0">
                <a:solidFill>
                  <a:srgbClr val="D7263D"/>
                </a:solidFill>
                <a:latin typeface="Instrument Serif"/>
                <a:ea typeface="Instrument Serif"/>
                <a:cs typeface="Instrument Serif"/>
              </a:rPr>
              <a:t xml:space="preserve">3.1% to 3.1%</a:t>
            </a:r>
            <a:endParaRPr lang="en-US"/>
          </a:p>
        </p:txBody>
      </p:sp>
      <p:sp>
        <p:nvSpPr>
          <p:cNvPr id="11" name="Text 11"/>
          <p:cNvSpPr txBox="1"/>
          <p:nvPr/>
        </p:nvSpPr>
        <p:spPr>
          <a:xfrm>
            <a:off x="2514600" y="1438796"/>
            <a:ext cx="4438650" cy="366117"/>
          </a:xfrm>
          <a:prstGeom prst="rect">
            <a:avLst/>
          </a:prstGeom>
          <a:noFill/>
          <a:ln>
            <a:noFill/>
          </a:ln>
        </p:spPr>
        <p:txBody>
          <a:bodyPr wrap="square" lIns="0" rIns="0" tIns="0" bIns="0" anchor="t"/>
          <a:lstStyle/>
          <a:p>
            <a:pPr algn="l">
              <a:lnSpc>
                <a:spcPts val="1367"/>
              </a:lnSpc>
              <a:spcBef>
                <a:spcPts val="0"/>
              </a:spcBef>
              <a:spcAft>
                <a:spcPts val="0"/>
              </a:spcAft>
              <a:buNone/>
            </a:pPr>
            <a:r>
              <a:rPr lang="en-US" sz="1012" b="0" i="0" spc="0">
                <a:solidFill>
                  <a:srgbClr val="141414"/>
                </a:solidFill>
                <a:latin typeface="Instrument Sans"/>
                <a:ea typeface="Instrument Sans"/>
                <a:cs typeface="Instrument Sans"/>
              </a:rPr>
              <a:t xml:space="preserve">Data obtainable from surgical trials before and after the ICMJE statement requirement.</a:t>
            </a:r>
            <a:endParaRPr lang="en-US"/>
          </a:p>
        </p:txBody>
      </p:sp>
      <p:sp>
        <p:nvSpPr>
          <p:cNvPr id="12" name="Text 12"/>
          <p:cNvSpPr txBox="1"/>
          <p:nvPr/>
        </p:nvSpPr>
        <p:spPr>
          <a:xfrm>
            <a:off x="7105650" y="1469975"/>
            <a:ext cx="1466850" cy="303758"/>
          </a:xfrm>
          <a:prstGeom prst="rect">
            <a:avLst/>
          </a:prstGeom>
          <a:noFill/>
          <a:ln>
            <a:noFill/>
          </a:ln>
        </p:spPr>
        <p:txBody>
          <a:bodyPr wrap="square" lIns="0" rIns="0" tIns="0" bIns="0" anchor="t"/>
          <a:lstStyle/>
          <a:p>
            <a:pPr algn="l">
              <a:lnSpc>
                <a:spcPts val="1121"/>
              </a:lnSpc>
              <a:spcBef>
                <a:spcPts val="0"/>
              </a:spcBef>
              <a:spcAft>
                <a:spcPts val="0"/>
              </a:spcAft>
              <a:buNone/>
            </a:pPr>
            <a:r>
              <a:rPr lang="en-US" sz="862" b="0" i="0" spc="0">
                <a:solidFill>
                  <a:srgbClr val="85857F"/>
                </a:solidFill>
                <a:latin typeface="Instrument Sans"/>
                <a:ea typeface="Instrument Sans"/>
                <a:cs typeface="Instrument Sans"/>
              </a:rPr>
              <a:t xml:space="preserve">Bergeat 2022, JAMA Netw Open</a:t>
            </a:r>
            <a:endParaRPr lang="en-US"/>
          </a:p>
        </p:txBody>
      </p:sp>
      <p:sp>
        <p:nvSpPr>
          <p:cNvPr id="13" name="Text 13"/>
          <p:cNvSpPr txBox="1"/>
          <p:nvPr/>
        </p:nvSpPr>
        <p:spPr>
          <a:xfrm>
            <a:off x="609600" y="1964159"/>
            <a:ext cx="1752600" cy="323850"/>
          </a:xfrm>
          <a:prstGeom prst="rect">
            <a:avLst/>
          </a:prstGeom>
          <a:noFill/>
          <a:ln>
            <a:noFill/>
          </a:ln>
        </p:spPr>
        <p:txBody>
          <a:bodyPr wrap="square" lIns="0" rIns="0" tIns="0" bIns="0" anchor="t"/>
          <a:lstStyle/>
          <a:p>
            <a:pPr algn="l">
              <a:lnSpc>
                <a:spcPts val="2400"/>
              </a:lnSpc>
              <a:spcBef>
                <a:spcPts val="0"/>
              </a:spcBef>
              <a:spcAft>
                <a:spcPts val="0"/>
              </a:spcAft>
              <a:buNone/>
            </a:pPr>
            <a:r>
              <a:rPr lang="en-US" sz="2400" b="0" i="0" spc="0">
                <a:solidFill>
                  <a:srgbClr val="D7263D"/>
                </a:solidFill>
                <a:latin typeface="Instrument Serif"/>
                <a:ea typeface="Instrument Serif"/>
                <a:cs typeface="Instrument Serif"/>
              </a:rPr>
              <a:t xml:space="preserve">OR 0.9</a:t>
            </a:r>
            <a:endParaRPr lang="en-US"/>
          </a:p>
        </p:txBody>
      </p:sp>
      <p:sp>
        <p:nvSpPr>
          <p:cNvPr id="14" name="Text 14"/>
          <p:cNvSpPr txBox="1"/>
          <p:nvPr/>
        </p:nvSpPr>
        <p:spPr>
          <a:xfrm>
            <a:off x="2514600" y="1943026"/>
            <a:ext cx="4438650" cy="366117"/>
          </a:xfrm>
          <a:prstGeom prst="rect">
            <a:avLst/>
          </a:prstGeom>
          <a:noFill/>
          <a:ln>
            <a:noFill/>
          </a:ln>
        </p:spPr>
        <p:txBody>
          <a:bodyPr wrap="square" lIns="0" rIns="0" tIns="0" bIns="0" anchor="t"/>
          <a:lstStyle/>
          <a:p>
            <a:pPr algn="l">
              <a:lnSpc>
                <a:spcPts val="1367"/>
              </a:lnSpc>
              <a:spcBef>
                <a:spcPts val="0"/>
              </a:spcBef>
              <a:spcAft>
                <a:spcPts val="0"/>
              </a:spcAft>
              <a:buNone/>
            </a:pPr>
            <a:r>
              <a:rPr lang="en-US" sz="1012" b="0" i="0" spc="0">
                <a:solidFill>
                  <a:srgbClr val="141414"/>
                </a:solidFill>
                <a:latin typeface="Instrument Sans"/>
                <a:ea typeface="Instrument Sans"/>
                <a:cs typeface="Instrument Sans"/>
              </a:rPr>
              <a:t xml:space="preserve">Open-data badges in the only medical randomised trial, at BMJ Open. The same badges took Psychological Science from under 3% to 39% open data.</a:t>
            </a:r>
            <a:endParaRPr lang="en-US"/>
          </a:p>
        </p:txBody>
      </p:sp>
      <p:sp>
        <p:nvSpPr>
          <p:cNvPr id="15" name="Text 15"/>
          <p:cNvSpPr txBox="1"/>
          <p:nvPr/>
        </p:nvSpPr>
        <p:spPr>
          <a:xfrm>
            <a:off x="7105650" y="1974205"/>
            <a:ext cx="1466850" cy="303758"/>
          </a:xfrm>
          <a:prstGeom prst="rect">
            <a:avLst/>
          </a:prstGeom>
          <a:noFill/>
          <a:ln>
            <a:noFill/>
          </a:ln>
        </p:spPr>
        <p:txBody>
          <a:bodyPr wrap="square" lIns="0" rIns="0" tIns="0" bIns="0" anchor="t"/>
          <a:lstStyle/>
          <a:p>
            <a:pPr algn="l">
              <a:lnSpc>
                <a:spcPts val="1121"/>
              </a:lnSpc>
              <a:spcBef>
                <a:spcPts val="0"/>
              </a:spcBef>
              <a:spcAft>
                <a:spcPts val="0"/>
              </a:spcAft>
              <a:buNone/>
            </a:pPr>
            <a:r>
              <a:rPr lang="en-US" sz="862" b="0" i="0" spc="0">
                <a:solidFill>
                  <a:srgbClr val="85857F"/>
                </a:solidFill>
                <a:latin typeface="Instrument Sans"/>
                <a:ea typeface="Instrument Sans"/>
                <a:cs typeface="Instrument Sans"/>
              </a:rPr>
              <a:t xml:space="preserve">Rowhani-Farid 2020; Kidwell 2016</a:t>
            </a:r>
            <a:endParaRPr lang="en-US"/>
          </a:p>
        </p:txBody>
      </p:sp>
      <p:sp>
        <p:nvSpPr>
          <p:cNvPr id="16" name="Text 16"/>
          <p:cNvSpPr txBox="1"/>
          <p:nvPr/>
        </p:nvSpPr>
        <p:spPr>
          <a:xfrm>
            <a:off x="609600" y="2468389"/>
            <a:ext cx="1752600" cy="323850"/>
          </a:xfrm>
          <a:prstGeom prst="rect">
            <a:avLst/>
          </a:prstGeom>
          <a:noFill/>
          <a:ln>
            <a:noFill/>
          </a:ln>
        </p:spPr>
        <p:txBody>
          <a:bodyPr wrap="square" lIns="0" rIns="0" tIns="0" bIns="0" anchor="t"/>
          <a:lstStyle/>
          <a:p>
            <a:pPr algn="l">
              <a:lnSpc>
                <a:spcPts val="2400"/>
              </a:lnSpc>
              <a:spcBef>
                <a:spcPts val="0"/>
              </a:spcBef>
              <a:spcAft>
                <a:spcPts val="0"/>
              </a:spcAft>
              <a:buNone/>
            </a:pPr>
            <a:r>
              <a:rPr lang="en-US" sz="2400" b="0" i="0" spc="0">
                <a:solidFill>
                  <a:srgbClr val="D7263D"/>
                </a:solidFill>
                <a:latin typeface="Instrument Serif"/>
                <a:ea typeface="Instrument Serif"/>
                <a:cs typeface="Instrument Serif"/>
              </a:rPr>
              <a:t xml:space="preserve">0 of 92</a:t>
            </a:r>
            <a:endParaRPr lang="en-US"/>
          </a:p>
        </p:txBody>
      </p:sp>
      <p:sp>
        <p:nvSpPr>
          <p:cNvPr id="17" name="Text 17"/>
          <p:cNvSpPr txBox="1"/>
          <p:nvPr/>
        </p:nvSpPr>
        <p:spPr>
          <a:xfrm>
            <a:off x="2514600" y="2447255"/>
            <a:ext cx="4438650" cy="366117"/>
          </a:xfrm>
          <a:prstGeom prst="rect">
            <a:avLst/>
          </a:prstGeom>
          <a:noFill/>
          <a:ln>
            <a:noFill/>
          </a:ln>
        </p:spPr>
        <p:txBody>
          <a:bodyPr wrap="square" lIns="0" rIns="0" tIns="0" bIns="0" anchor="t"/>
          <a:lstStyle/>
          <a:p>
            <a:pPr algn="l">
              <a:lnSpc>
                <a:spcPts val="1367"/>
              </a:lnSpc>
              <a:spcBef>
                <a:spcPts val="0"/>
              </a:spcBef>
              <a:spcAft>
                <a:spcPts val="0"/>
              </a:spcAft>
              <a:buNone/>
            </a:pPr>
            <a:r>
              <a:rPr lang="en-US" sz="1012" b="0" i="0" spc="0">
                <a:solidFill>
                  <a:srgbClr val="141414"/>
                </a:solidFill>
                <a:latin typeface="Instrument Sans"/>
                <a:ea typeface="Instrument Sans"/>
                <a:cs typeface="Instrument Sans"/>
              </a:rPr>
              <a:t xml:space="preserve">Biomedical promotion guidelines worldwide that mention data sharing, registration or open access.</a:t>
            </a:r>
            <a:endParaRPr lang="en-US"/>
          </a:p>
        </p:txBody>
      </p:sp>
      <p:sp>
        <p:nvSpPr>
          <p:cNvPr id="18" name="Text 18"/>
          <p:cNvSpPr txBox="1"/>
          <p:nvPr/>
        </p:nvSpPr>
        <p:spPr>
          <a:xfrm>
            <a:off x="7105650" y="2549575"/>
            <a:ext cx="1466850" cy="161404"/>
          </a:xfrm>
          <a:prstGeom prst="rect">
            <a:avLst/>
          </a:prstGeom>
          <a:noFill/>
          <a:ln>
            <a:noFill/>
          </a:ln>
        </p:spPr>
        <p:txBody>
          <a:bodyPr wrap="square" lIns="0" rIns="0" tIns="0" bIns="0" anchor="t"/>
          <a:lstStyle/>
          <a:p>
            <a:pPr algn="l">
              <a:lnSpc>
                <a:spcPts val="1121"/>
              </a:lnSpc>
              <a:spcBef>
                <a:spcPts val="0"/>
              </a:spcBef>
              <a:spcAft>
                <a:spcPts val="0"/>
              </a:spcAft>
              <a:buNone/>
            </a:pPr>
            <a:r>
              <a:rPr lang="en-US" sz="862" b="0" i="0" spc="0">
                <a:solidFill>
                  <a:srgbClr val="85857F"/>
                </a:solidFill>
                <a:latin typeface="Instrument Sans"/>
                <a:ea typeface="Instrument Sans"/>
                <a:cs typeface="Instrument Sans"/>
              </a:rPr>
              <a:t xml:space="preserve">Rice 2020, BMJ</a:t>
            </a:r>
            <a:endParaRPr lang="en-US"/>
          </a:p>
        </p:txBody>
      </p:sp>
      <p:sp>
        <p:nvSpPr>
          <p:cNvPr id="19" name="Text 19"/>
          <p:cNvSpPr txBox="1"/>
          <p:nvPr/>
        </p:nvSpPr>
        <p:spPr>
          <a:xfrm>
            <a:off x="609600" y="2972619"/>
            <a:ext cx="1752600" cy="323850"/>
          </a:xfrm>
          <a:prstGeom prst="rect">
            <a:avLst/>
          </a:prstGeom>
          <a:noFill/>
          <a:ln>
            <a:noFill/>
          </a:ln>
        </p:spPr>
        <p:txBody>
          <a:bodyPr wrap="square" lIns="0" rIns="0" tIns="0" bIns="0" anchor="t"/>
          <a:lstStyle/>
          <a:p>
            <a:pPr algn="l">
              <a:lnSpc>
                <a:spcPts val="2400"/>
              </a:lnSpc>
              <a:spcBef>
                <a:spcPts val="0"/>
              </a:spcBef>
              <a:spcAft>
                <a:spcPts val="0"/>
              </a:spcAft>
              <a:buNone/>
            </a:pPr>
            <a:r>
              <a:rPr lang="en-US" sz="2400" b="0" i="0" spc="0">
                <a:solidFill>
                  <a:srgbClr val="141414"/>
                </a:solidFill>
                <a:latin typeface="Instrument Serif"/>
                <a:ea typeface="Instrument Serif"/>
                <a:cs typeface="Instrument Serif"/>
              </a:rPr>
              <a:t xml:space="preserve">44% vs 96%</a:t>
            </a:r>
            <a:endParaRPr lang="en-US"/>
          </a:p>
        </p:txBody>
      </p:sp>
      <p:sp>
        <p:nvSpPr>
          <p:cNvPr id="20" name="Text 20"/>
          <p:cNvSpPr txBox="1"/>
          <p:nvPr/>
        </p:nvSpPr>
        <p:spPr>
          <a:xfrm>
            <a:off x="2514600" y="2951485"/>
            <a:ext cx="4438650" cy="366117"/>
          </a:xfrm>
          <a:prstGeom prst="rect">
            <a:avLst/>
          </a:prstGeom>
          <a:noFill/>
          <a:ln>
            <a:noFill/>
          </a:ln>
        </p:spPr>
        <p:txBody>
          <a:bodyPr wrap="square" lIns="0" rIns="0" tIns="0" bIns="0" anchor="t"/>
          <a:lstStyle/>
          <a:p>
            <a:pPr algn="l">
              <a:lnSpc>
                <a:spcPts val="1367"/>
              </a:lnSpc>
              <a:spcBef>
                <a:spcPts val="0"/>
              </a:spcBef>
              <a:spcAft>
                <a:spcPts val="0"/>
              </a:spcAft>
              <a:buNone/>
            </a:pPr>
            <a:r>
              <a:rPr lang="en-US" sz="1012" b="0" i="0" spc="0">
                <a:solidFill>
                  <a:srgbClr val="141414"/>
                </a:solidFill>
                <a:latin typeface="Instrument Sans"/>
                <a:ea typeface="Instrument Sans"/>
                <a:cs typeface="Instrument Sans"/>
              </a:rPr>
              <a:t xml:space="preserve">Positive results in Registered Reports versus the standard literature. Changing when review happens changes what gets published.</a:t>
            </a:r>
            <a:endParaRPr lang="en-US"/>
          </a:p>
        </p:txBody>
      </p:sp>
      <p:sp>
        <p:nvSpPr>
          <p:cNvPr id="21" name="Text 21"/>
          <p:cNvSpPr txBox="1"/>
          <p:nvPr/>
        </p:nvSpPr>
        <p:spPr>
          <a:xfrm>
            <a:off x="7105650" y="3053804"/>
            <a:ext cx="1466850" cy="161404"/>
          </a:xfrm>
          <a:prstGeom prst="rect">
            <a:avLst/>
          </a:prstGeom>
          <a:noFill/>
          <a:ln>
            <a:noFill/>
          </a:ln>
        </p:spPr>
        <p:txBody>
          <a:bodyPr wrap="square" lIns="0" rIns="0" tIns="0" bIns="0" anchor="t"/>
          <a:lstStyle/>
          <a:p>
            <a:pPr algn="l">
              <a:lnSpc>
                <a:spcPts val="1121"/>
              </a:lnSpc>
              <a:spcBef>
                <a:spcPts val="0"/>
              </a:spcBef>
              <a:spcAft>
                <a:spcPts val="0"/>
              </a:spcAft>
              <a:buNone/>
            </a:pPr>
            <a:r>
              <a:rPr lang="en-US" sz="862" b="0" i="0" spc="0">
                <a:solidFill>
                  <a:srgbClr val="85857F"/>
                </a:solidFill>
                <a:latin typeface="Instrument Sans"/>
                <a:ea typeface="Instrument Sans"/>
                <a:cs typeface="Instrument Sans"/>
              </a:rPr>
              <a:t xml:space="preserve">Scheel 2021</a:t>
            </a:r>
            <a:endParaRPr lang="en-US"/>
          </a:p>
        </p:txBody>
      </p:sp>
      <p:sp>
        <p:nvSpPr>
          <p:cNvPr id="22" name="Text 22"/>
          <p:cNvSpPr txBox="1"/>
          <p:nvPr/>
        </p:nvSpPr>
        <p:spPr>
          <a:xfrm>
            <a:off x="609600" y="4155281"/>
            <a:ext cx="7962900" cy="245269"/>
          </a:xfrm>
          <a:prstGeom prst="rect">
            <a:avLst/>
          </a:prstGeom>
          <a:noFill/>
          <a:ln>
            <a:noFill/>
          </a:ln>
        </p:spPr>
        <p:txBody>
          <a:bodyPr wrap="square" lIns="0" rIns="0" tIns="0" bIns="0" anchor="t"/>
          <a:lstStyle/>
          <a:p>
            <a:pPr algn="l">
              <a:lnSpc>
                <a:spcPts val="1781"/>
              </a:lnSpc>
              <a:spcBef>
                <a:spcPts val="0"/>
              </a:spcBef>
              <a:spcAft>
                <a:spcPts val="0"/>
              </a:spcAft>
              <a:buNone/>
            </a:pPr>
            <a:r>
              <a:rPr lang="en-US" sz="1425" b="0" i="0" spc="0">
                <a:solidFill>
                  <a:srgbClr val="141414"/>
                </a:solidFill>
                <a:latin typeface="Instrument Serif"/>
                <a:ea typeface="Instrument Serif"/>
                <a:cs typeface="Instrument Serif"/>
              </a:rPr>
              <a:t xml:space="preserve">Stroke researchers are not less honest than psychologists. They respond to the same incentives, and ours point the other way.</a:t>
            </a:r>
            <a:endParaRPr lang="en-US"/>
          </a:p>
        </p:txBody>
      </p:sp>
      <p:sp>
        <p:nvSpPr>
          <p:cNvPr id="23" name="Text 23"/>
          <p:cNvSpPr txBox="1"/>
          <p:nvPr/>
        </p:nvSpPr>
        <p:spPr>
          <a:xfrm>
            <a:off x="609600" y="4695825"/>
            <a:ext cx="79629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Cardiology survey, n = 198: funding named the most essential incentive; “policy alone will not lead to implementation” (Cobey 2024).</a:t>
            </a:r>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future">
    <p:bg>
      <p:bgPr>
        <a:solidFill>
          <a:srgbClr val="F1F1EF"/>
        </a:solidFill>
        <a:effectLst/>
      </p:bgPr>
    </p:bg>
    <p:spTree>
      <p:nvGrpSpPr>
        <p:cNvPr id="1" name=""/>
        <p:cNvGrpSpPr/>
        <p:nvPr/>
      </p:nvGrpSpPr>
      <p:grpSpPr/>
      <p:sp>
        <p:nvSpPr>
          <p:cNvPr id="2" name="Rule 2"/>
          <p:cNvSpPr txBox="0"/>
          <p:nvPr/>
        </p:nvSpPr>
        <p:spPr>
          <a:xfrm>
            <a:off x="609600" y="1395933"/>
            <a:ext cx="2644750" cy="4762"/>
          </a:xfrm>
          <a:prstGeom prst="rect">
            <a:avLst/>
          </a:prstGeom>
          <a:solidFill>
            <a:srgbClr val="C6C6C1"/>
          </a:solidFill>
          <a:ln>
            <a:noFill/>
          </a:ln>
        </p:spPr>
      </p:sp>
      <p:sp>
        <p:nvSpPr>
          <p:cNvPr id="3" name="Rule 3"/>
          <p:cNvSpPr txBox="0"/>
          <p:nvPr/>
        </p:nvSpPr>
        <p:spPr>
          <a:xfrm>
            <a:off x="3249588" y="1395933"/>
            <a:ext cx="4762" cy="3090565"/>
          </a:xfrm>
          <a:prstGeom prst="rect">
            <a:avLst/>
          </a:prstGeom>
          <a:solidFill>
            <a:srgbClr val="C6C6C1"/>
          </a:solidFill>
          <a:ln>
            <a:noFill/>
          </a:ln>
        </p:spPr>
      </p:sp>
      <p:sp>
        <p:nvSpPr>
          <p:cNvPr id="4" name="Rule 4"/>
          <p:cNvSpPr txBox="0"/>
          <p:nvPr/>
        </p:nvSpPr>
        <p:spPr>
          <a:xfrm>
            <a:off x="609600" y="4481736"/>
            <a:ext cx="2644750" cy="4762"/>
          </a:xfrm>
          <a:prstGeom prst="rect">
            <a:avLst/>
          </a:prstGeom>
          <a:solidFill>
            <a:srgbClr val="C6C6C1"/>
          </a:solidFill>
          <a:ln>
            <a:noFill/>
          </a:ln>
        </p:spPr>
      </p:sp>
      <p:sp>
        <p:nvSpPr>
          <p:cNvPr id="5" name="Rule 5"/>
          <p:cNvSpPr txBox="0"/>
          <p:nvPr/>
        </p:nvSpPr>
        <p:spPr>
          <a:xfrm>
            <a:off x="609600" y="1395933"/>
            <a:ext cx="4762" cy="3090565"/>
          </a:xfrm>
          <a:prstGeom prst="rect">
            <a:avLst/>
          </a:prstGeom>
          <a:solidFill>
            <a:srgbClr val="C6C6C1"/>
          </a:solidFill>
          <a:ln>
            <a:noFill/>
          </a:ln>
        </p:spPr>
      </p:sp>
      <p:sp>
        <p:nvSpPr>
          <p:cNvPr id="6" name="Rule 6"/>
          <p:cNvSpPr txBox="0"/>
          <p:nvPr/>
        </p:nvSpPr>
        <p:spPr>
          <a:xfrm>
            <a:off x="3254350" y="1395933"/>
            <a:ext cx="2640062" cy="4762"/>
          </a:xfrm>
          <a:prstGeom prst="rect">
            <a:avLst/>
          </a:prstGeom>
          <a:solidFill>
            <a:srgbClr val="C6C6C1"/>
          </a:solidFill>
          <a:ln>
            <a:noFill/>
          </a:ln>
        </p:spPr>
      </p:sp>
      <p:sp>
        <p:nvSpPr>
          <p:cNvPr id="7" name="Rule 7"/>
          <p:cNvSpPr txBox="0"/>
          <p:nvPr/>
        </p:nvSpPr>
        <p:spPr>
          <a:xfrm>
            <a:off x="5889650" y="1395933"/>
            <a:ext cx="4762" cy="3090565"/>
          </a:xfrm>
          <a:prstGeom prst="rect">
            <a:avLst/>
          </a:prstGeom>
          <a:solidFill>
            <a:srgbClr val="C6C6C1"/>
          </a:solidFill>
          <a:ln>
            <a:noFill/>
          </a:ln>
        </p:spPr>
      </p:sp>
      <p:sp>
        <p:nvSpPr>
          <p:cNvPr id="8" name="Rule 8"/>
          <p:cNvSpPr txBox="0"/>
          <p:nvPr/>
        </p:nvSpPr>
        <p:spPr>
          <a:xfrm>
            <a:off x="3254350" y="4481736"/>
            <a:ext cx="2640062" cy="4762"/>
          </a:xfrm>
          <a:prstGeom prst="rect">
            <a:avLst/>
          </a:prstGeom>
          <a:solidFill>
            <a:srgbClr val="C6C6C1"/>
          </a:solidFill>
          <a:ln>
            <a:noFill/>
          </a:ln>
        </p:spPr>
      </p:sp>
      <p:sp>
        <p:nvSpPr>
          <p:cNvPr id="9" name="Rule 9"/>
          <p:cNvSpPr txBox="0"/>
          <p:nvPr/>
        </p:nvSpPr>
        <p:spPr>
          <a:xfrm>
            <a:off x="5894412" y="1395933"/>
            <a:ext cx="2639988" cy="4762"/>
          </a:xfrm>
          <a:prstGeom prst="rect">
            <a:avLst/>
          </a:prstGeom>
          <a:solidFill>
            <a:srgbClr val="C6C6C1"/>
          </a:solidFill>
          <a:ln>
            <a:noFill/>
          </a:ln>
        </p:spPr>
      </p:sp>
      <p:sp>
        <p:nvSpPr>
          <p:cNvPr id="10" name="Rule 10"/>
          <p:cNvSpPr txBox="0"/>
          <p:nvPr/>
        </p:nvSpPr>
        <p:spPr>
          <a:xfrm>
            <a:off x="8529638" y="1395933"/>
            <a:ext cx="4762" cy="3090565"/>
          </a:xfrm>
          <a:prstGeom prst="rect">
            <a:avLst/>
          </a:prstGeom>
          <a:solidFill>
            <a:srgbClr val="C6C6C1"/>
          </a:solidFill>
          <a:ln>
            <a:noFill/>
          </a:ln>
        </p:spPr>
      </p:sp>
      <p:sp>
        <p:nvSpPr>
          <p:cNvPr id="11" name="Rule 11"/>
          <p:cNvSpPr txBox="0"/>
          <p:nvPr/>
        </p:nvSpPr>
        <p:spPr>
          <a:xfrm>
            <a:off x="5894412" y="4481736"/>
            <a:ext cx="2639988" cy="4762"/>
          </a:xfrm>
          <a:prstGeom prst="rect">
            <a:avLst/>
          </a:prstGeom>
          <a:solidFill>
            <a:srgbClr val="C6C6C1"/>
          </a:solidFill>
          <a:ln>
            <a:noFill/>
          </a:ln>
        </p:spPr>
      </p:sp>
      <p:sp>
        <p:nvSpPr>
          <p:cNvPr id="12" name="Text 12"/>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13" name="Text 13"/>
          <p:cNvSpPr txBox="1"/>
          <p:nvPr/>
        </p:nvSpPr>
        <p:spPr>
          <a:xfrm>
            <a:off x="609600" y="609600"/>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0">
                <a:solidFill>
                  <a:srgbClr val="D7263D"/>
                </a:solidFill>
                <a:latin typeface="Instrument Sans Medium"/>
                <a:ea typeface="Instrument Sans Medium"/>
                <a:cs typeface="Instrument Sans Medium"/>
              </a:rPr>
              <a:t xml:space="preserve">14</a:t>
            </a:r>
            <a:r>
              <a:rPr lang="en-US" sz="900" b="0" i="0" spc="0">
                <a:solidFill>
                  <a:srgbClr val="85857F"/>
                </a:solidFill>
                <a:latin typeface="Instrument Sans"/>
                <a:ea typeface="Instrument Sans"/>
                <a:cs typeface="Instrument Sans"/>
              </a:rPr>
              <a:t xml:space="preserve">  What to do next</a:t>
            </a:r>
            <a:endParaRPr lang="en-US"/>
          </a:p>
        </p:txBody>
      </p:sp>
      <p:sp>
        <p:nvSpPr>
          <p:cNvPr id="14" name="Text 14"/>
          <p:cNvSpPr txBox="1"/>
          <p:nvPr/>
        </p:nvSpPr>
        <p:spPr>
          <a:xfrm>
            <a:off x="609600" y="914400"/>
            <a:ext cx="7962900" cy="348183"/>
          </a:xfrm>
          <a:prstGeom prst="rect">
            <a:avLst/>
          </a:prstGeom>
          <a:noFill/>
          <a:ln>
            <a:noFill/>
          </a:ln>
        </p:spPr>
        <p:txBody>
          <a:bodyPr wrap="square" lIns="0" rIns="0" tIns="0" bIns="0" anchor="t"/>
          <a:lstStyle/>
          <a:p>
            <a:pPr algn="l">
              <a:lnSpc>
                <a:spcPts val="2592"/>
              </a:lnSpc>
              <a:spcBef>
                <a:spcPts val="0"/>
              </a:spcBef>
              <a:spcAft>
                <a:spcPts val="0"/>
              </a:spcAft>
              <a:buNone/>
            </a:pPr>
            <a:r>
              <a:rPr lang="en-US" sz="2400" b="0" i="0" spc="-75">
                <a:solidFill>
                  <a:srgbClr val="141414"/>
                </a:solidFill>
                <a:latin typeface="Instrument Sans Medium"/>
                <a:ea typeface="Instrument Sans Medium"/>
                <a:cs typeface="Instrument Sans Medium"/>
              </a:rPr>
              <a:t xml:space="preserve">A task force, a prize, and awareness</a:t>
            </a:r>
            <a:endParaRPr lang="en-US"/>
          </a:p>
        </p:txBody>
      </p:sp>
      <p:sp>
        <p:nvSpPr>
          <p:cNvPr id="15" name="Text 15"/>
          <p:cNvSpPr txBox="1"/>
          <p:nvPr/>
        </p:nvSpPr>
        <p:spPr>
          <a:xfrm>
            <a:off x="766762" y="1553096"/>
            <a:ext cx="2368525" cy="361950"/>
          </a:xfrm>
          <a:prstGeom prst="rect">
            <a:avLst/>
          </a:prstGeom>
          <a:noFill/>
          <a:ln>
            <a:noFill/>
          </a:ln>
        </p:spPr>
        <p:txBody>
          <a:bodyPr wrap="square" lIns="0" rIns="0" tIns="0" bIns="0" anchor="t"/>
          <a:lstStyle/>
          <a:p>
            <a:pPr algn="l">
              <a:lnSpc>
                <a:spcPts val="2700"/>
              </a:lnSpc>
              <a:spcBef>
                <a:spcPts val="0"/>
              </a:spcBef>
              <a:spcAft>
                <a:spcPts val="0"/>
              </a:spcAft>
              <a:buNone/>
            </a:pPr>
            <a:r>
              <a:rPr lang="en-US" sz="2700" b="0" i="0" spc="0">
                <a:solidFill>
                  <a:srgbClr val="D7263D"/>
                </a:solidFill>
                <a:latin typeface="Instrument Serif"/>
                <a:ea typeface="Instrument Serif"/>
                <a:cs typeface="Instrument Serif"/>
              </a:rPr>
              <a:t xml:space="preserve">1</a:t>
            </a:r>
            <a:endParaRPr lang="en-US"/>
          </a:p>
        </p:txBody>
      </p:sp>
      <p:sp>
        <p:nvSpPr>
          <p:cNvPr id="16" name="Text 16"/>
          <p:cNvSpPr txBox="1"/>
          <p:nvPr/>
        </p:nvSpPr>
        <p:spPr>
          <a:xfrm>
            <a:off x="766762" y="1981721"/>
            <a:ext cx="2368525" cy="438150"/>
          </a:xfrm>
          <a:prstGeom prst="rect">
            <a:avLst/>
          </a:prstGeom>
          <a:noFill/>
          <a:ln>
            <a:noFill/>
          </a:ln>
        </p:spPr>
        <p:txBody>
          <a:bodyPr wrap="square" lIns="0" rIns="0" tIns="0" bIns="0" anchor="t"/>
          <a:lstStyle/>
          <a:p>
            <a:pPr algn="l">
              <a:lnSpc>
                <a:spcPts val="1650"/>
              </a:lnSpc>
              <a:spcBef>
                <a:spcPts val="0"/>
              </a:spcBef>
              <a:spcAft>
                <a:spcPts val="0"/>
              </a:spcAft>
              <a:buNone/>
            </a:pPr>
            <a:r>
              <a:rPr lang="en-US" sz="1500" b="0" i="0" spc="-38">
                <a:solidFill>
                  <a:srgbClr val="141414"/>
                </a:solidFill>
                <a:latin typeface="Instrument Sans Medium"/>
                <a:ea typeface="Instrument Sans Medium"/>
                <a:cs typeface="Instrument Sans Medium"/>
              </a:rPr>
              <a:t xml:space="preserve">A WSO task force on open science</a:t>
            </a:r>
            <a:endParaRPr lang="en-US"/>
          </a:p>
        </p:txBody>
      </p:sp>
      <p:sp>
        <p:nvSpPr>
          <p:cNvPr id="17" name="Text 17"/>
          <p:cNvSpPr txBox="1"/>
          <p:nvPr/>
        </p:nvSpPr>
        <p:spPr>
          <a:xfrm>
            <a:off x="900112" y="2486546"/>
            <a:ext cx="2235175"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141414"/>
                </a:solidFill>
                <a:latin typeface="Instrument Sans"/>
                <a:ea typeface="Instrument Sans"/>
                <a:cs typeface="Instrument Sans"/>
              </a:rPr>
              <a:t xml:space="preserve">A position statement: no stroke society has one</a:t>
            </a:r>
            <a:endParaRPr lang="en-US"/>
          </a:p>
        </p:txBody>
      </p:sp>
      <p:sp>
        <p:nvSpPr>
          <p:cNvPr id="18" name="Text 18"/>
          <p:cNvSpPr txBox="1"/>
          <p:nvPr/>
        </p:nvSpPr>
        <p:spPr>
          <a:xfrm>
            <a:off x="900112" y="2877964"/>
            <a:ext cx="2235175" cy="520452"/>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141414"/>
                </a:solidFill>
                <a:latin typeface="Instrument Sans"/>
                <a:ea typeface="Instrument Sans"/>
                <a:cs typeface="Instrument Sans"/>
              </a:rPr>
              <a:t xml:space="preserve">Retire “available on request” in Stroke, IJS, ESJ and JSCVD: a repository, VISTA or Vivli, or a stated reason</a:t>
            </a:r>
            <a:endParaRPr lang="en-US"/>
          </a:p>
        </p:txBody>
      </p:sp>
      <p:sp>
        <p:nvSpPr>
          <p:cNvPr id="19" name="Text 19"/>
          <p:cNvSpPr txBox="1"/>
          <p:nvPr/>
        </p:nvSpPr>
        <p:spPr>
          <a:xfrm>
            <a:off x="900112" y="3436516"/>
            <a:ext cx="2235175" cy="520452"/>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141414"/>
                </a:solidFill>
                <a:latin typeface="Instrument Sans"/>
                <a:ea typeface="Instrument Sans"/>
                <a:cs typeface="Instrument Sans"/>
              </a:rPr>
              <a:t xml:space="preserve">Registered Reports for stroke trials, with in-principle acceptance tied to WSO and ESO grants</a:t>
            </a:r>
            <a:endParaRPr lang="en-US"/>
          </a:p>
        </p:txBody>
      </p:sp>
      <p:sp>
        <p:nvSpPr>
          <p:cNvPr id="20" name="Text 20"/>
          <p:cNvSpPr txBox="1"/>
          <p:nvPr/>
        </p:nvSpPr>
        <p:spPr>
          <a:xfrm>
            <a:off x="900112" y="3995068"/>
            <a:ext cx="2235175"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141414"/>
                </a:solidFill>
                <a:latin typeface="Instrument Sans"/>
                <a:ea typeface="Instrument Sans"/>
                <a:cs typeface="Instrument Sans"/>
              </a:rPr>
              <a:t xml:space="preserve">Embargoed sharing as the trial default, twelve months after publication</a:t>
            </a:r>
            <a:endParaRPr lang="en-US"/>
          </a:p>
        </p:txBody>
      </p:sp>
      <p:sp>
        <p:nvSpPr>
          <p:cNvPr id="21" name="Text 21"/>
          <p:cNvSpPr txBox="1"/>
          <p:nvPr/>
        </p:nvSpPr>
        <p:spPr>
          <a:xfrm>
            <a:off x="3406750" y="1553096"/>
            <a:ext cx="2368600" cy="361950"/>
          </a:xfrm>
          <a:prstGeom prst="rect">
            <a:avLst/>
          </a:prstGeom>
          <a:noFill/>
          <a:ln>
            <a:noFill/>
          </a:ln>
        </p:spPr>
        <p:txBody>
          <a:bodyPr wrap="square" lIns="0" rIns="0" tIns="0" bIns="0" anchor="t"/>
          <a:lstStyle/>
          <a:p>
            <a:pPr algn="l">
              <a:lnSpc>
                <a:spcPts val="2700"/>
              </a:lnSpc>
              <a:spcBef>
                <a:spcPts val="0"/>
              </a:spcBef>
              <a:spcAft>
                <a:spcPts val="0"/>
              </a:spcAft>
              <a:buNone/>
            </a:pPr>
            <a:r>
              <a:rPr lang="en-US" sz="2700" b="0" i="0" spc="0">
                <a:solidFill>
                  <a:srgbClr val="D7263D"/>
                </a:solidFill>
                <a:latin typeface="Instrument Serif"/>
                <a:ea typeface="Instrument Serif"/>
                <a:cs typeface="Instrument Serif"/>
              </a:rPr>
              <a:t xml:space="preserve">2</a:t>
            </a:r>
            <a:endParaRPr lang="en-US"/>
          </a:p>
        </p:txBody>
      </p:sp>
      <p:sp>
        <p:nvSpPr>
          <p:cNvPr id="22" name="Text 22"/>
          <p:cNvSpPr txBox="1"/>
          <p:nvPr/>
        </p:nvSpPr>
        <p:spPr>
          <a:xfrm>
            <a:off x="3406750" y="1981721"/>
            <a:ext cx="2368600" cy="438150"/>
          </a:xfrm>
          <a:prstGeom prst="rect">
            <a:avLst/>
          </a:prstGeom>
          <a:noFill/>
          <a:ln>
            <a:noFill/>
          </a:ln>
        </p:spPr>
        <p:txBody>
          <a:bodyPr wrap="square" lIns="0" rIns="0" tIns="0" bIns="0" anchor="t"/>
          <a:lstStyle/>
          <a:p>
            <a:pPr algn="l">
              <a:lnSpc>
                <a:spcPts val="1650"/>
              </a:lnSpc>
              <a:spcBef>
                <a:spcPts val="0"/>
              </a:spcBef>
              <a:spcAft>
                <a:spcPts val="0"/>
              </a:spcAft>
              <a:buNone/>
            </a:pPr>
            <a:r>
              <a:rPr lang="en-US" sz="1500" b="0" i="0" spc="-38">
                <a:solidFill>
                  <a:srgbClr val="141414"/>
                </a:solidFill>
                <a:latin typeface="Instrument Sans Medium"/>
                <a:ea typeface="Instrument Sans Medium"/>
                <a:cs typeface="Instrument Sans Medium"/>
              </a:rPr>
              <a:t xml:space="preserve">A prize for the teams that share</a:t>
            </a:r>
            <a:endParaRPr lang="en-US"/>
          </a:p>
        </p:txBody>
      </p:sp>
      <p:sp>
        <p:nvSpPr>
          <p:cNvPr id="23" name="Text 23"/>
          <p:cNvSpPr txBox="1"/>
          <p:nvPr/>
        </p:nvSpPr>
        <p:spPr>
          <a:xfrm>
            <a:off x="3540100" y="2486546"/>
            <a:ext cx="2235250"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141414"/>
                </a:solidFill>
                <a:latin typeface="Instrument Sans"/>
                <a:ea typeface="Instrument Sans"/>
                <a:cs typeface="Instrument Sans"/>
              </a:rPr>
              <a:t xml:space="preserve">The commitment index: verified in the full text, recomputed every six months</a:t>
            </a:r>
            <a:endParaRPr lang="en-US"/>
          </a:p>
        </p:txBody>
      </p:sp>
      <p:sp>
        <p:nvSpPr>
          <p:cNvPr id="24" name="Text 24"/>
          <p:cNvSpPr txBox="1"/>
          <p:nvPr/>
        </p:nvSpPr>
        <p:spPr>
          <a:xfrm>
            <a:off x="3540100" y="2877964"/>
            <a:ext cx="2235250"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141414"/>
                </a:solidFill>
                <a:latin typeface="Instrument Sans"/>
                <a:ea typeface="Instrument Sans"/>
                <a:cs typeface="Instrument Sans"/>
              </a:rPr>
              <a:t xml:space="preserve">Institutions, journals, funders and countries</a:t>
            </a:r>
            <a:endParaRPr lang="en-US"/>
          </a:p>
        </p:txBody>
      </p:sp>
      <p:sp>
        <p:nvSpPr>
          <p:cNvPr id="25" name="Text 25"/>
          <p:cNvSpPr txBox="1"/>
          <p:nvPr/>
        </p:nvSpPr>
        <p:spPr>
          <a:xfrm>
            <a:off x="3540100" y="3269382"/>
            <a:ext cx="2235250"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141414"/>
                </a:solidFill>
                <a:latin typeface="Instrument Sans"/>
                <a:ea typeface="Instrument Sans"/>
                <a:cs typeface="Instrument Sans"/>
              </a:rPr>
              <a:t xml:space="preserve">On the Einstein Foundation model, presented at this congress</a:t>
            </a:r>
            <a:endParaRPr lang="en-US"/>
          </a:p>
        </p:txBody>
      </p:sp>
      <p:sp>
        <p:nvSpPr>
          <p:cNvPr id="26" name="Text 26"/>
          <p:cNvSpPr txBox="1"/>
          <p:nvPr/>
        </p:nvSpPr>
        <p:spPr>
          <a:xfrm>
            <a:off x="6046812" y="1553096"/>
            <a:ext cx="2368525" cy="361950"/>
          </a:xfrm>
          <a:prstGeom prst="rect">
            <a:avLst/>
          </a:prstGeom>
          <a:noFill/>
          <a:ln>
            <a:noFill/>
          </a:ln>
        </p:spPr>
        <p:txBody>
          <a:bodyPr wrap="square" lIns="0" rIns="0" tIns="0" bIns="0" anchor="t"/>
          <a:lstStyle/>
          <a:p>
            <a:pPr algn="l">
              <a:lnSpc>
                <a:spcPts val="2700"/>
              </a:lnSpc>
              <a:spcBef>
                <a:spcPts val="0"/>
              </a:spcBef>
              <a:spcAft>
                <a:spcPts val="0"/>
              </a:spcAft>
              <a:buNone/>
            </a:pPr>
            <a:r>
              <a:rPr lang="en-US" sz="2700" b="0" i="0" spc="0">
                <a:solidFill>
                  <a:srgbClr val="D7263D"/>
                </a:solidFill>
                <a:latin typeface="Instrument Serif"/>
                <a:ea typeface="Instrument Serif"/>
                <a:cs typeface="Instrument Serif"/>
              </a:rPr>
              <a:t xml:space="preserve">3</a:t>
            </a:r>
            <a:endParaRPr lang="en-US"/>
          </a:p>
        </p:txBody>
      </p:sp>
      <p:sp>
        <p:nvSpPr>
          <p:cNvPr id="27" name="Text 27"/>
          <p:cNvSpPr txBox="1"/>
          <p:nvPr/>
        </p:nvSpPr>
        <p:spPr>
          <a:xfrm>
            <a:off x="6046812" y="1981721"/>
            <a:ext cx="2368525" cy="228600"/>
          </a:xfrm>
          <a:prstGeom prst="rect">
            <a:avLst/>
          </a:prstGeom>
          <a:noFill/>
          <a:ln>
            <a:noFill/>
          </a:ln>
        </p:spPr>
        <p:txBody>
          <a:bodyPr wrap="square" lIns="0" rIns="0" tIns="0" bIns="0" anchor="t"/>
          <a:lstStyle/>
          <a:p>
            <a:pPr algn="l">
              <a:lnSpc>
                <a:spcPts val="1650"/>
              </a:lnSpc>
              <a:spcBef>
                <a:spcPts val="0"/>
              </a:spcBef>
              <a:spcAft>
                <a:spcPts val="0"/>
              </a:spcAft>
              <a:buNone/>
            </a:pPr>
            <a:r>
              <a:rPr lang="en-US" sz="1500" b="0" i="0" spc="-38">
                <a:solidFill>
                  <a:srgbClr val="141414"/>
                </a:solidFill>
                <a:latin typeface="Instrument Sans Medium"/>
                <a:ea typeface="Instrument Sans Medium"/>
                <a:cs typeface="Instrument Sans Medium"/>
              </a:rPr>
              <a:t xml:space="preserve">Awareness</a:t>
            </a:r>
            <a:endParaRPr lang="en-US"/>
          </a:p>
        </p:txBody>
      </p:sp>
      <p:sp>
        <p:nvSpPr>
          <p:cNvPr id="28" name="Text 28"/>
          <p:cNvSpPr txBox="1"/>
          <p:nvPr/>
        </p:nvSpPr>
        <p:spPr>
          <a:xfrm>
            <a:off x="6180162" y="2276996"/>
            <a:ext cx="2235175"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141414"/>
                </a:solidFill>
                <a:latin typeface="Instrument Sans"/>
                <a:ea typeface="Instrument Sans"/>
                <a:cs typeface="Instrument Sans"/>
              </a:rPr>
              <a:t xml:space="preserve">The public benchmark, updated every six months</a:t>
            </a:r>
            <a:endParaRPr lang="en-US"/>
          </a:p>
        </p:txBody>
      </p:sp>
      <p:sp>
        <p:nvSpPr>
          <p:cNvPr id="29" name="Text 29"/>
          <p:cNvSpPr txBox="1"/>
          <p:nvPr/>
        </p:nvSpPr>
        <p:spPr>
          <a:xfrm>
            <a:off x="6180162" y="2668414"/>
            <a:ext cx="2235175" cy="353318"/>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141414"/>
                </a:solidFill>
                <a:latin typeface="Instrument Sans"/>
                <a:ea typeface="Instrument Sans"/>
                <a:cs typeface="Instrument Sans"/>
              </a:rPr>
              <a:t xml:space="preserve">Open-science items in promotion criteria: 0 of 92 guidelines today</a:t>
            </a:r>
            <a:endParaRPr lang="en-US"/>
          </a:p>
        </p:txBody>
      </p:sp>
      <p:sp>
        <p:nvSpPr>
          <p:cNvPr id="30" name="Text 30"/>
          <p:cNvSpPr txBox="1"/>
          <p:nvPr/>
        </p:nvSpPr>
        <p:spPr>
          <a:xfrm>
            <a:off x="6180162" y="3059832"/>
            <a:ext cx="2235175" cy="854720"/>
          </a:xfrm>
          <a:prstGeom prst="rect">
            <a:avLst/>
          </a:prstGeom>
          <a:noFill/>
          <a:ln>
            <a:noFill/>
          </a:ln>
        </p:spPr>
        <p:txBody>
          <a:bodyPr wrap="square" lIns="0" rIns="0" tIns="0" bIns="0" anchor="t"/>
          <a:lstStyle/>
          <a:p>
            <a:pPr algn="l">
              <a:lnSpc>
                <a:spcPts val="1316"/>
              </a:lnSpc>
              <a:spcBef>
                <a:spcPts val="0"/>
              </a:spcBef>
              <a:spcAft>
                <a:spcPts val="0"/>
              </a:spcAft>
              <a:buNone/>
            </a:pPr>
            <a:r>
              <a:rPr lang="en-US" sz="975" b="0" i="0" spc="0">
                <a:solidFill>
                  <a:srgbClr val="141414"/>
                </a:solidFill>
                <a:latin typeface="Instrument Sans"/>
                <a:ea typeface="Instrument Sans"/>
                <a:cs typeface="Instrument Sans"/>
              </a:rPr>
              <a:t xml:space="preserve">Targets to discuss: data in a repository or controlled-access platform for 25% of stroke articles by 2030; “on request” under 10%; one Registered Report track in a stroke journal by 2028</a:t>
            </a:r>
            <a:endParaRPr lang="en-US"/>
          </a:p>
        </p:txBody>
      </p:sp>
      <p:sp>
        <p:nvSpPr>
          <p:cNvPr id="31" name="Text 31"/>
          <p:cNvSpPr txBox="1"/>
          <p:nvPr/>
        </p:nvSpPr>
        <p:spPr>
          <a:xfrm>
            <a:off x="609600" y="4552950"/>
            <a:ext cx="7962900" cy="304800"/>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85857F"/>
                </a:solidFill>
                <a:latin typeface="Instrument Sans"/>
                <a:ea typeface="Instrument Sans"/>
                <a:cs typeface="Instrument Sans"/>
              </a:rPr>
              <a:t xml:space="preserve">The statement, retiring “on request” and promotion criteria cost nothing. Registered Reports, the prize and the infrastructure need money, and the infrastructure mostly exists: VISTA, ATLAS, ENIGMA.</a:t>
            </a:r>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close">
    <p:bg>
      <p:bgPr>
        <a:solidFill>
          <a:srgbClr val="141414"/>
        </a:solidFill>
        <a:effectLst/>
      </p:bgPr>
    </p:bg>
    <p:spTree>
      <p:nvGrpSpPr>
        <p:cNvPr id="1" name=""/>
        <p:cNvGrpSpPr/>
        <p:nvPr/>
      </p:nvGrpSpPr>
      <p:grpSpPr/>
      <p:sp>
        <p:nvSpPr>
          <p:cNvPr id="2" name="Data mark 2"/>
          <p:cNvSpPr txBox="0"/>
          <p:nvPr/>
        </p:nvSpPr>
        <p:spPr>
          <a:xfrm>
            <a:off x="609600" y="3367311"/>
            <a:ext cx="895350" cy="914400"/>
          </a:xfrm>
          <a:prstGeom prst="rect">
            <a:avLst/>
          </a:prstGeom>
          <a:solidFill>
            <a:srgbClr val="F0F0EC"/>
          </a:solidFill>
          <a:ln>
            <a:noFill/>
          </a:ln>
        </p:spPr>
      </p:sp>
      <p:sp>
        <p:nvSpPr>
          <p:cNvPr id="3" name="Data mark 3"/>
          <p:cNvSpPr txBox="0"/>
          <p:nvPr/>
        </p:nvSpPr>
        <p:spPr>
          <a:xfrm>
            <a:off x="3377282" y="3367311"/>
            <a:ext cx="895350" cy="914400"/>
          </a:xfrm>
          <a:prstGeom prst="rect">
            <a:avLst/>
          </a:prstGeom>
          <a:solidFill>
            <a:srgbClr val="F0F0EC"/>
          </a:solidFill>
          <a:ln>
            <a:noFill/>
          </a:ln>
        </p:spPr>
      </p:sp>
      <p:sp>
        <p:nvSpPr>
          <p:cNvPr id="4" name="Rule 4"/>
          <p:cNvSpPr txBox="0"/>
          <p:nvPr/>
        </p:nvSpPr>
        <p:spPr>
          <a:xfrm>
            <a:off x="5953423" y="3367311"/>
            <a:ext cx="4762" cy="1014189"/>
          </a:xfrm>
          <a:prstGeom prst="rect">
            <a:avLst/>
          </a:prstGeom>
          <a:solidFill>
            <a:srgbClr val="3B3B38"/>
          </a:solidFill>
          <a:ln>
            <a:noFill/>
          </a:ln>
        </p:spPr>
      </p:sp>
      <p:pic>
        <p:nvPicPr>
          <p:cNvPr id="5" name="Illustration 5" descr="QR code: benchmark"/>
          <p:cNvPicPr>
            <a:picLocks noChangeAspect="1"/>
          </p:cNvPicPr>
          <p:nvPr/>
        </p:nvPicPr>
        <p:blipFill>
          <a:blip r:embed="rIdFigure5"/>
          <a:stretch>
            <a:fillRect/>
          </a:stretch>
        </p:blipFill>
        <p:spPr>
          <a:xfrm>
            <a:off x="657225" y="3414936"/>
            <a:ext cx="800100" cy="800100"/>
          </a:xfrm>
          <a:prstGeom prst="rect">
            <a:avLst/>
          </a:prstGeom>
        </p:spPr>
      </p:pic>
      <p:pic>
        <p:nvPicPr>
          <p:cNvPr id="6" name="Illustration 6" descr="QR code: code"/>
          <p:cNvPicPr>
            <a:picLocks noChangeAspect="1"/>
          </p:cNvPicPr>
          <p:nvPr/>
        </p:nvPicPr>
        <p:blipFill>
          <a:blip r:embed="rIdFigure6"/>
          <a:stretch>
            <a:fillRect/>
          </a:stretch>
        </p:blipFill>
        <p:spPr>
          <a:xfrm>
            <a:off x="3424907" y="3414936"/>
            <a:ext cx="800100" cy="800100"/>
          </a:xfrm>
          <a:prstGeom prst="rect">
            <a:avLst/>
          </a:prstGeom>
        </p:spPr>
      </p:pic>
      <p:sp>
        <p:nvSpPr>
          <p:cNvPr id="7" name="Text 7"/>
          <p:cNvSpPr txBox="1"/>
          <p:nvPr/>
        </p:nvSpPr>
        <p:spPr>
          <a:xfrm>
            <a:off x="609600" y="266700"/>
            <a:ext cx="57531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75">
                <a:solidFill>
                  <a:srgbClr val="85857F"/>
                </a:solidFill>
                <a:latin typeface="Instrument Sans"/>
                <a:ea typeface="Instrument Sans"/>
                <a:cs typeface="Instrument Sans"/>
              </a:rPr>
              <a:t xml:space="preserve">WORLD STROKE CONGRESS 2026 · SEOUL</a:t>
            </a:r>
            <a:endParaRPr lang="en-US"/>
          </a:p>
        </p:txBody>
      </p:sp>
      <p:sp>
        <p:nvSpPr>
          <p:cNvPr id="8" name="Text 8"/>
          <p:cNvSpPr txBox="1"/>
          <p:nvPr/>
        </p:nvSpPr>
        <p:spPr>
          <a:xfrm>
            <a:off x="609600" y="609600"/>
            <a:ext cx="7962900" cy="750540"/>
          </a:xfrm>
          <a:prstGeom prst="rect">
            <a:avLst/>
          </a:prstGeom>
          <a:noFill/>
          <a:ln>
            <a:noFill/>
          </a:ln>
        </p:spPr>
        <p:txBody>
          <a:bodyPr wrap="square" lIns="0" rIns="0" tIns="0" bIns="0" anchor="t"/>
          <a:lstStyle/>
          <a:p>
            <a:pPr algn="l">
              <a:lnSpc>
                <a:spcPts val="2880"/>
              </a:lnSpc>
              <a:spcBef>
                <a:spcPts val="0"/>
              </a:spcBef>
              <a:spcAft>
                <a:spcPts val="0"/>
              </a:spcAft>
              <a:buNone/>
            </a:pPr>
            <a:r>
              <a:rPr lang="en-US" sz="2400" b="0" i="0" spc="0">
                <a:solidFill>
                  <a:srgbClr val="F0F0EC"/>
                </a:solidFill>
                <a:latin typeface="Instrument Serif"/>
                <a:ea typeface="Instrument Serif"/>
                <a:cs typeface="Instrument Serif"/>
              </a:rPr>
              <a:t xml:space="preserve">We measured ourselves. The numbers are not flattering, but they are measurable, which means they are improvable.</a:t>
            </a:r>
            <a:endParaRPr lang="en-US"/>
          </a:p>
        </p:txBody>
      </p:sp>
      <p:sp>
        <p:nvSpPr>
          <p:cNvPr id="9" name="Text 9"/>
          <p:cNvSpPr txBox="1"/>
          <p:nvPr/>
        </p:nvSpPr>
        <p:spPr>
          <a:xfrm>
            <a:off x="609600" y="3043461"/>
            <a:ext cx="7962900" cy="171450"/>
          </a:xfrm>
          <a:prstGeom prst="rect">
            <a:avLst/>
          </a:prstGeom>
          <a:noFill/>
          <a:ln>
            <a:noFill/>
          </a:ln>
        </p:spPr>
        <p:txBody>
          <a:bodyPr wrap="square" lIns="0" rIns="0" tIns="0" bIns="0" anchor="t"/>
          <a:lstStyle/>
          <a:p>
            <a:pPr algn="l">
              <a:lnSpc>
                <a:spcPts val="1200"/>
              </a:lnSpc>
              <a:spcBef>
                <a:spcPts val="0"/>
              </a:spcBef>
              <a:spcAft>
                <a:spcPts val="0"/>
              </a:spcAft>
              <a:buNone/>
            </a:pPr>
            <a:r>
              <a:rPr lang="en-US" sz="900" b="0" i="0" spc="75">
                <a:solidFill>
                  <a:srgbClr val="E8475B"/>
                </a:solidFill>
                <a:latin typeface="Instrument Sans Medium"/>
                <a:ea typeface="Instrument Sans Medium"/>
                <a:cs typeface="Instrument Sans Medium"/>
              </a:rPr>
              <a:t xml:space="preserve">COLLABORATE</a:t>
            </a:r>
            <a:endParaRPr lang="en-US"/>
          </a:p>
        </p:txBody>
      </p:sp>
      <p:sp>
        <p:nvSpPr>
          <p:cNvPr id="10" name="Text 10"/>
          <p:cNvSpPr txBox="1"/>
          <p:nvPr/>
        </p:nvSpPr>
        <p:spPr>
          <a:xfrm>
            <a:off x="1638300" y="3367311"/>
            <a:ext cx="1548482" cy="323850"/>
          </a:xfrm>
          <a:prstGeom prst="rect">
            <a:avLst/>
          </a:prstGeom>
          <a:noFill/>
          <a:ln>
            <a:noFill/>
          </a:ln>
        </p:spPr>
        <p:txBody>
          <a:bodyPr wrap="square" lIns="0" rIns="0" tIns="0" bIns="0" anchor="t"/>
          <a:lstStyle/>
          <a:p>
            <a:pPr algn="l">
              <a:lnSpc>
                <a:spcPts val="1121"/>
              </a:lnSpc>
              <a:spcBef>
                <a:spcPts val="0"/>
              </a:spcBef>
              <a:spcAft>
                <a:spcPts val="0"/>
              </a:spcAft>
              <a:buNone/>
            </a:pPr>
            <a:r>
              <a:rPr lang="en-US" sz="975" b="0" i="0" spc="0">
                <a:solidFill>
                  <a:srgbClr val="F0F0EC"/>
                </a:solidFill>
                <a:latin typeface="Instrument Sans Medium"/>
                <a:ea typeface="Instrument Sans Medium"/>
                <a:cs typeface="Instrument Sans Medium"/>
              </a:rPr>
              <a:t xml:space="preserve">Stroke Open-Science Benchmark</a:t>
            </a:r>
            <a:endParaRPr lang="en-US"/>
          </a:p>
        </p:txBody>
      </p:sp>
      <p:sp>
        <p:nvSpPr>
          <p:cNvPr id="11" name="Text 11"/>
          <p:cNvSpPr txBox="1"/>
          <p:nvPr/>
        </p:nvSpPr>
        <p:spPr>
          <a:xfrm>
            <a:off x="1638300" y="3700686"/>
            <a:ext cx="1548482" cy="339030"/>
          </a:xfrm>
          <a:prstGeom prst="rect">
            <a:avLst/>
          </a:prstGeom>
          <a:noFill/>
          <a:ln>
            <a:noFill/>
          </a:ln>
        </p:spPr>
        <p:txBody>
          <a:bodyPr wrap="square" lIns="0" rIns="0" tIns="0" bIns="0" anchor="t"/>
          <a:lstStyle/>
          <a:p>
            <a:pPr algn="l">
              <a:lnSpc>
                <a:spcPts val="1260"/>
              </a:lnSpc>
              <a:spcBef>
                <a:spcPts val="0"/>
              </a:spcBef>
              <a:spcAft>
                <a:spcPts val="0"/>
              </a:spcAft>
              <a:buNone/>
            </a:pPr>
            <a:r>
              <a:rPr lang="en-US" sz="900" b="0" i="0" spc="0">
                <a:solidFill>
                  <a:srgbClr val="C6C6C0"/>
                </a:solidFill>
                <a:latin typeface="Instrument Sans"/>
                <a:ea typeface="Instrument Sans"/>
                <a:cs typeface="Instrument Sans"/>
              </a:rPr>
              <a:t xml:space="preserve">friseeb.github.io/</a:t>
            </a:r>
            <a:br/>
            <a:r>
              <a:rPr lang="en-US" sz="900" b="0" i="0" spc="0">
                <a:solidFill>
                  <a:srgbClr val="C6C6C0"/>
                </a:solidFill>
                <a:latin typeface="Instrument Sans"/>
                <a:ea typeface="Instrument Sans"/>
                <a:cs typeface="Instrument Sans"/>
              </a:rPr>
              <a:t xml:space="preserve">stroke_open_science_outputs</a:t>
            </a:r>
            <a:endParaRPr lang="en-US"/>
          </a:p>
        </p:txBody>
      </p:sp>
      <p:sp>
        <p:nvSpPr>
          <p:cNvPr id="12" name="Text 12"/>
          <p:cNvSpPr txBox="1"/>
          <p:nvPr/>
        </p:nvSpPr>
        <p:spPr>
          <a:xfrm>
            <a:off x="1638300" y="4049241"/>
            <a:ext cx="1548482" cy="301823"/>
          </a:xfrm>
          <a:prstGeom prst="rect">
            <a:avLst/>
          </a:prstGeom>
          <a:noFill/>
          <a:ln>
            <a:noFill/>
          </a:ln>
        </p:spPr>
        <p:txBody>
          <a:bodyPr wrap="square" lIns="0" rIns="0" tIns="0" bIns="0" anchor="t"/>
          <a:lstStyle/>
          <a:p>
            <a:pPr algn="l">
              <a:lnSpc>
                <a:spcPts val="1114"/>
              </a:lnSpc>
              <a:spcBef>
                <a:spcPts val="0"/>
              </a:spcBef>
              <a:spcAft>
                <a:spcPts val="0"/>
              </a:spcAft>
              <a:buNone/>
            </a:pPr>
            <a:r>
              <a:rPr lang="en-US" sz="825" b="0" i="0" spc="0">
                <a:solidFill>
                  <a:srgbClr val="C6C6C0"/>
                </a:solidFill>
                <a:latin typeface="Instrument Sans"/>
                <a:ea typeface="Instrument Sans"/>
                <a:cs typeface="Instrument Sans"/>
              </a:rPr>
              <a:t xml:space="preserve">Explore it, challenge it, run it on your field</a:t>
            </a:r>
            <a:endParaRPr lang="en-US"/>
          </a:p>
        </p:txBody>
      </p:sp>
      <p:sp>
        <p:nvSpPr>
          <p:cNvPr id="13" name="Text 13"/>
          <p:cNvSpPr txBox="1"/>
          <p:nvPr/>
        </p:nvSpPr>
        <p:spPr>
          <a:xfrm>
            <a:off x="4405982" y="3367311"/>
            <a:ext cx="1356940" cy="171450"/>
          </a:xfrm>
          <a:prstGeom prst="rect">
            <a:avLst/>
          </a:prstGeom>
          <a:noFill/>
          <a:ln>
            <a:noFill/>
          </a:ln>
        </p:spPr>
        <p:txBody>
          <a:bodyPr wrap="square" lIns="0" rIns="0" tIns="0" bIns="0" anchor="t"/>
          <a:lstStyle/>
          <a:p>
            <a:pPr algn="l">
              <a:lnSpc>
                <a:spcPts val="1121"/>
              </a:lnSpc>
              <a:spcBef>
                <a:spcPts val="0"/>
              </a:spcBef>
              <a:spcAft>
                <a:spcPts val="0"/>
              </a:spcAft>
              <a:buNone/>
            </a:pPr>
            <a:r>
              <a:rPr lang="en-US" sz="975" b="0" i="0" spc="0">
                <a:solidFill>
                  <a:srgbClr val="F0F0EC"/>
                </a:solidFill>
                <a:latin typeface="Instrument Sans Medium"/>
                <a:ea typeface="Instrument Sans Medium"/>
                <a:cs typeface="Instrument Sans Medium"/>
              </a:rPr>
              <a:t xml:space="preserve">Code and data</a:t>
            </a:r>
            <a:endParaRPr lang="en-US"/>
          </a:p>
        </p:txBody>
      </p:sp>
      <p:sp>
        <p:nvSpPr>
          <p:cNvPr id="14" name="Text 14"/>
          <p:cNvSpPr txBox="1"/>
          <p:nvPr/>
        </p:nvSpPr>
        <p:spPr>
          <a:xfrm>
            <a:off x="4405982" y="3548286"/>
            <a:ext cx="1356940" cy="339030"/>
          </a:xfrm>
          <a:prstGeom prst="rect">
            <a:avLst/>
          </a:prstGeom>
          <a:noFill/>
          <a:ln>
            <a:noFill/>
          </a:ln>
        </p:spPr>
        <p:txBody>
          <a:bodyPr wrap="square" lIns="0" rIns="0" tIns="0" bIns="0" anchor="t"/>
          <a:lstStyle/>
          <a:p>
            <a:pPr algn="l">
              <a:lnSpc>
                <a:spcPts val="1260"/>
              </a:lnSpc>
              <a:spcBef>
                <a:spcPts val="0"/>
              </a:spcBef>
              <a:spcAft>
                <a:spcPts val="0"/>
              </a:spcAft>
              <a:buNone/>
            </a:pPr>
            <a:r>
              <a:rPr lang="en-US" sz="900" b="0" i="0" spc="0">
                <a:solidFill>
                  <a:srgbClr val="C6C6C0"/>
                </a:solidFill>
                <a:latin typeface="Instrument Sans"/>
                <a:ea typeface="Instrument Sans"/>
                <a:cs typeface="Instrument Sans"/>
              </a:rPr>
              <a:t xml:space="preserve">github.com/Friseeb/</a:t>
            </a:r>
            <a:br/>
            <a:r>
              <a:rPr lang="en-US" sz="900" b="0" i="0" spc="0">
                <a:solidFill>
                  <a:srgbClr val="C6C6C0"/>
                </a:solidFill>
                <a:latin typeface="Instrument Sans"/>
                <a:ea typeface="Instrument Sans"/>
                <a:cs typeface="Instrument Sans"/>
              </a:rPr>
              <a:t xml:space="preserve">stroke_open_science</a:t>
            </a:r>
            <a:endParaRPr lang="en-US"/>
          </a:p>
        </p:txBody>
      </p:sp>
      <p:sp>
        <p:nvSpPr>
          <p:cNvPr id="15" name="Text 15"/>
          <p:cNvSpPr txBox="1"/>
          <p:nvPr/>
        </p:nvSpPr>
        <p:spPr>
          <a:xfrm>
            <a:off x="4405982" y="3896841"/>
            <a:ext cx="1356940" cy="301823"/>
          </a:xfrm>
          <a:prstGeom prst="rect">
            <a:avLst/>
          </a:prstGeom>
          <a:noFill/>
          <a:ln>
            <a:noFill/>
          </a:ln>
        </p:spPr>
        <p:txBody>
          <a:bodyPr wrap="square" lIns="0" rIns="0" tIns="0" bIns="0" anchor="t"/>
          <a:lstStyle/>
          <a:p>
            <a:pPr algn="l">
              <a:lnSpc>
                <a:spcPts val="1114"/>
              </a:lnSpc>
              <a:spcBef>
                <a:spcPts val="0"/>
              </a:spcBef>
              <a:spcAft>
                <a:spcPts val="0"/>
              </a:spcAft>
              <a:buNone/>
            </a:pPr>
            <a:r>
              <a:rPr lang="en-US" sz="825" b="0" i="0" spc="0">
                <a:solidFill>
                  <a:srgbClr val="C6C6C0"/>
                </a:solidFill>
                <a:latin typeface="Instrument Sans"/>
                <a:ea typeface="Instrument Sans"/>
                <a:cs typeface="Instrument Sans"/>
              </a:rPr>
              <a:t xml:space="preserve">Open source; the next run is January 2027</a:t>
            </a:r>
            <a:endParaRPr lang="en-US"/>
          </a:p>
        </p:txBody>
      </p:sp>
      <p:sp>
        <p:nvSpPr>
          <p:cNvPr id="16" name="Text 16"/>
          <p:cNvSpPr txBox="1"/>
          <p:nvPr/>
        </p:nvSpPr>
        <p:spPr>
          <a:xfrm>
            <a:off x="6186785" y="3367311"/>
            <a:ext cx="2385715" cy="171450"/>
          </a:xfrm>
          <a:prstGeom prst="rect">
            <a:avLst/>
          </a:prstGeom>
          <a:noFill/>
          <a:ln>
            <a:noFill/>
          </a:ln>
        </p:spPr>
        <p:txBody>
          <a:bodyPr wrap="square" lIns="0" rIns="0" tIns="0" bIns="0" anchor="t"/>
          <a:lstStyle/>
          <a:p>
            <a:pPr algn="l">
              <a:lnSpc>
                <a:spcPts val="1121"/>
              </a:lnSpc>
              <a:spcBef>
                <a:spcPts val="0"/>
              </a:spcBef>
              <a:spcAft>
                <a:spcPts val="0"/>
              </a:spcAft>
              <a:buNone/>
            </a:pPr>
            <a:r>
              <a:rPr lang="en-US" sz="975" b="0" i="0" spc="0">
                <a:solidFill>
                  <a:srgbClr val="F0F0EC"/>
                </a:solidFill>
                <a:latin typeface="Instrument Sans Medium"/>
                <a:ea typeface="Instrument Sans Medium"/>
                <a:cs typeface="Instrument Sans Medium"/>
              </a:rPr>
              <a:t xml:space="preserve">Sebastian Fridman</a:t>
            </a:r>
            <a:endParaRPr lang="en-US"/>
          </a:p>
        </p:txBody>
      </p:sp>
      <p:sp>
        <p:nvSpPr>
          <p:cNvPr id="17" name="Text 17"/>
          <p:cNvSpPr txBox="1"/>
          <p:nvPr/>
        </p:nvSpPr>
        <p:spPr>
          <a:xfrm>
            <a:off x="6186785" y="3548286"/>
            <a:ext cx="2385715" cy="339030"/>
          </a:xfrm>
          <a:prstGeom prst="rect">
            <a:avLst/>
          </a:prstGeom>
          <a:noFill/>
          <a:ln>
            <a:noFill/>
          </a:ln>
        </p:spPr>
        <p:txBody>
          <a:bodyPr wrap="square" lIns="0" rIns="0" tIns="0" bIns="0" anchor="t"/>
          <a:lstStyle/>
          <a:p>
            <a:pPr algn="l">
              <a:lnSpc>
                <a:spcPts val="1260"/>
              </a:lnSpc>
              <a:spcBef>
                <a:spcPts val="0"/>
              </a:spcBef>
              <a:spcAft>
                <a:spcPts val="0"/>
              </a:spcAft>
              <a:buNone/>
            </a:pPr>
            <a:r>
              <a:rPr lang="en-US" sz="900" b="0" i="0" spc="0">
                <a:solidFill>
                  <a:srgbClr val="C6C6C0"/>
                </a:solidFill>
                <a:latin typeface="Instrument Sans"/>
                <a:ea typeface="Instrument Sans"/>
                <a:cs typeface="Instrument Sans"/>
              </a:rPr>
              <a:t xml:space="preserve">Western University · London Health Sciences Centre</a:t>
            </a:r>
            <a:endParaRPr lang="en-US"/>
          </a:p>
        </p:txBody>
      </p:sp>
      <p:sp>
        <p:nvSpPr>
          <p:cNvPr id="18" name="Text 18"/>
          <p:cNvSpPr txBox="1"/>
          <p:nvPr/>
        </p:nvSpPr>
        <p:spPr>
          <a:xfrm>
            <a:off x="6186785" y="3896841"/>
            <a:ext cx="2385715" cy="192360"/>
          </a:xfrm>
          <a:prstGeom prst="rect">
            <a:avLst/>
          </a:prstGeom>
          <a:noFill/>
          <a:ln>
            <a:noFill/>
          </a:ln>
        </p:spPr>
        <p:txBody>
          <a:bodyPr wrap="square" lIns="0" rIns="0" tIns="0" bIns="0" anchor="t"/>
          <a:lstStyle/>
          <a:p>
            <a:pPr algn="l">
              <a:lnSpc>
                <a:spcPts val="1365"/>
              </a:lnSpc>
              <a:spcBef>
                <a:spcPts val="0"/>
              </a:spcBef>
              <a:spcAft>
                <a:spcPts val="0"/>
              </a:spcAft>
              <a:buNone/>
            </a:pPr>
            <a:r>
              <a:rPr lang="en-US" sz="975" b="0" i="0" spc="0">
                <a:solidFill>
                  <a:srgbClr val="F0F0EC"/>
                </a:solidFill>
                <a:latin typeface="Instrument Sans"/>
                <a:ea typeface="Instrument Sans"/>
                <a:cs typeface="Instrument Sans"/>
              </a:rPr>
              <a:t xml:space="preserve">sfridma@uwo.ca</a:t>
            </a:r>
            <a:endParaRPr lang="en-US"/>
          </a:p>
        </p:txBody>
      </p:sp>
      <p:sp>
        <p:nvSpPr>
          <p:cNvPr id="19" name="Text 19"/>
          <p:cNvSpPr txBox="1"/>
          <p:nvPr/>
        </p:nvSpPr>
        <p:spPr>
          <a:xfrm>
            <a:off x="6186785" y="4098727"/>
            <a:ext cx="2385715" cy="301823"/>
          </a:xfrm>
          <a:prstGeom prst="rect">
            <a:avLst/>
          </a:prstGeom>
          <a:noFill/>
          <a:ln>
            <a:noFill/>
          </a:ln>
        </p:spPr>
        <p:txBody>
          <a:bodyPr wrap="square" lIns="0" rIns="0" tIns="0" bIns="0" anchor="t"/>
          <a:lstStyle/>
          <a:p>
            <a:pPr algn="l">
              <a:lnSpc>
                <a:spcPts val="1114"/>
              </a:lnSpc>
              <a:spcBef>
                <a:spcPts val="0"/>
              </a:spcBef>
              <a:spcAft>
                <a:spcPts val="0"/>
              </a:spcAft>
              <a:buNone/>
            </a:pPr>
            <a:r>
              <a:rPr lang="en-US" sz="825" b="0" i="0" spc="0">
                <a:solidFill>
                  <a:srgbClr val="C6C6C0"/>
                </a:solidFill>
                <a:latin typeface="Instrument Sans"/>
                <a:ea typeface="Instrument Sans"/>
                <a:cs typeface="Instrument Sans"/>
              </a:rPr>
              <a:t xml:space="preserve">Write to join the task force or to audit your own field</a:t>
            </a:r>
            <a:endParaRPr lang="en-US"/>
          </a:p>
        </p:txBody>
      </p:sp>
      <p:sp>
        <p:nvSpPr>
          <p:cNvPr id="20" name="Text 20"/>
          <p:cNvSpPr txBox="1"/>
          <p:nvPr/>
        </p:nvSpPr>
        <p:spPr>
          <a:xfrm>
            <a:off x="609600" y="4695825"/>
            <a:ext cx="7962900" cy="161925"/>
          </a:xfrm>
          <a:prstGeom prst="rect">
            <a:avLst/>
          </a:prstGeom>
          <a:noFill/>
          <a:ln>
            <a:noFill/>
          </a:ln>
        </p:spPr>
        <p:txBody>
          <a:bodyPr wrap="square" lIns="0" rIns="0" tIns="0" bIns="0" anchor="t"/>
          <a:lstStyle/>
          <a:p>
            <a:pPr algn="l">
              <a:lnSpc>
                <a:spcPts val="1125"/>
              </a:lnSpc>
              <a:spcBef>
                <a:spcPts val="0"/>
              </a:spcBef>
              <a:spcAft>
                <a:spcPts val="0"/>
              </a:spcAft>
              <a:buNone/>
            </a:pPr>
            <a:r>
              <a:rPr lang="en-US" sz="900" b="0" i="0" spc="0">
                <a:solidFill>
                  <a:srgbClr val="C6C6C0"/>
                </a:solidFill>
                <a:latin typeface="Instrument Sans"/>
                <a:ea typeface="Instrument Sans"/>
                <a:cs typeface="Instrument Sans"/>
              </a:rPr>
              <a:t xml:space="preserve">Disclosures: none.</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 science in stroke research</dc:title>
  <dc:subject>World Stroke Congress 2026, Seoul: The latest in stroke implementation science</dc:subject>
  <dc:creator>Sebastian Fridman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