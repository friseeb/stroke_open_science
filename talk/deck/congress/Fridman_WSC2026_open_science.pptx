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media/image4.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59" r:id="rId4"/>
  </p:sldMasterIdLst>
  <p:notesMasterIdLst>
    <p:notesMasterId r:id="rId9"/>
  </p:notesMasterIdLst>
  <p:sldIdLst>
    <p:sldId id="256" r:id="rId5"/>
    <p:sldId id="260" r:id="rId6"/>
    <p:sldId id="261" r:id="rId14"/>
    <p:sldId id="262" r:id="rId15"/>
    <p:sldId id="263" r:id="rId16"/>
    <p:sldId id="264" r:id="rId17"/>
    <p:sldId id="265" r:id="rId18"/>
    <p:sldId id="266" r:id="rId19"/>
    <p:sldId id="267" r:id="rId20"/>
    <p:sldId id="268" r:id="rId21"/>
    <p:sldId id="269" r:id="rId22"/>
    <p:sldId id="270" r:id="rId23"/>
    <p:sldId id="271" r:id="rId24"/>
    <p:sldId id="272" r:id="rId25"/>
    <p:sldId id="273" r:id="rId26"/>
    <p:sldId id="274" r:id="rId27"/>
    <p:sldId id="275" r:id="rId28"/>
  </p:sldIdLst>
  <p:sldSz cx="9144000" cy="5143500" type="screen16x9"/>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userDrawn="1">
          <p15:clr>
            <a:srgbClr val="747775"/>
          </p15:clr>
        </p15:guide>
        <p15:guide id="2" pos="2880" userDrawn="1">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138" d="100"/>
          <a:sy n="138" d="100"/>
        </p:scale>
        <p:origin x="834" y="120"/>
      </p:cViewPr>
      <p:guideLst>
        <p:guide orient="horz" pos="162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 Id="rId14" Type="http://schemas.openxmlformats.org/officeDocument/2006/relationships/slide" Target="slides/slide5.xml"/><Relationship Id="rId15" Type="http://schemas.openxmlformats.org/officeDocument/2006/relationships/slide" Target="slides/slide6.xml"/><Relationship Id="rId16" Type="http://schemas.openxmlformats.org/officeDocument/2006/relationships/slide" Target="slides/slide7.xml"/><Relationship Id="rId17" Type="http://schemas.openxmlformats.org/officeDocument/2006/relationships/slide" Target="slides/slide8.xml"/><Relationship Id="rId18" Type="http://schemas.openxmlformats.org/officeDocument/2006/relationships/slide" Target="slides/slide9.xml"/><Relationship Id="rId19" Type="http://schemas.openxmlformats.org/officeDocument/2006/relationships/slide" Target="slides/slide10.xml"/><Relationship Id="rId20" Type="http://schemas.openxmlformats.org/officeDocument/2006/relationships/slide" Target="slides/slide11.xml"/><Relationship Id="rId21" Type="http://schemas.openxmlformats.org/officeDocument/2006/relationships/slide" Target="slides/slide12.xml"/><Relationship Id="rId22" Type="http://schemas.openxmlformats.org/officeDocument/2006/relationships/slide" Target="slides/slide13.xml"/><Relationship Id="rId23" Type="http://schemas.openxmlformats.org/officeDocument/2006/relationships/slide" Target="slides/slide14.xml"/><Relationship Id="rId24" Type="http://schemas.openxmlformats.org/officeDocument/2006/relationships/slide" Target="slides/slide15.xml"/><Relationship Id="rId25" Type="http://schemas.openxmlformats.org/officeDocument/2006/relationships/slide" Target="slides/slide16.xml"/><Relationship Id="rId26" Type="http://schemas.openxmlformats.org/officeDocument/2006/relationships/slide" Target="slides/slide17.xml"/><Relationship Id="rId27" Type="http://schemas.openxmlformats.org/officeDocument/2006/relationships/slide" Target="slides/slide18.xml"/><Relationship Id="rId28"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
        <p:cNvGrpSpPr/>
        <p:nvPr/>
      </p:nvGrpSpPr>
      <p:grpSpPr>
        <a:xfrm>
          <a:off x="0" y="0"/>
          <a:ext cx="0" cy="0"/>
          <a:chOff x="0" y="0"/>
          <a:chExt cx="0" cy="0"/>
        </a:xfrm>
      </p:grpSpPr>
      <p:sp>
        <p:nvSpPr>
          <p:cNvPr id="38" name="Google Shape;38;p: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9" name="Google Shape;39;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t>One sentence, no agenda slide: I want to tell you how this project started, what it found, and what I think we should do with it.</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Nothing to disclose. Required by the congress; a second, then move on.</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Fifty seconds, first person. I came to stroke from imaging and neuroscience. There, a lesion study is built from open parts at every step: segmentation (MRIcron, ITK-SNAP, LINDA, nnU-Net; DeepISLES, an ensemble of the ISLES 2022 winners, was validated on 1,685 external scans and neuroradiologists preferred its masks to manual ones in a Turing-like test), normalisation that respects the lesion (cost-function masking, enantiomorphic normalisation, the SPM Clinical Toolbox, ANTs), lesion-symptom mapping (VLSM since Bates 2003; NiiStat, SVR-LSM, LESYMAP), disconnection (lesion network mapping, BCBtoolkit, the Lesion Quantification Toolkit) and sharing (BIDS, OpenNeuro with 1,913 public datasets today, NeuroVault). Most are BSD, GPL or Apache licensed; a few need MATLAB. The datasets are real: ATLAS v2.0 (1,271 MRIs, 955 public; raw data under a data use agreement), ISLES 2022 (250 of 400 public), the Aphasia Recovery Cohort and SOOP on OpenNeuro under CC0. The caveat on the footer is the bridge to the talk: open data did not bring open code by itself. Then the turn: when I moved to clinical stroke, the trial data and code were not there. [Optional, your call: one sentence on your own lesion-mapping study at ESOC 2026 (351 patients) and the open tools it used.] Sources: talk/evidence_intro.md.</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Forty-five seconds. These are the speaker’s former fields; say so. Four numbers, then why: small samples, flexible analyses, selective reporting. The next slide says what those fields agreed and where they are now.</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Sixty seconds. Psychology did not fix itself: it measured itself, agreed on rules, and is still short of them. The newest and largest test, SCORE (Nature, April 2026): 151 of 274 claims (55%) from 164 papers in 54 journals replicated, median effect r = 0.25 down to 0.10, and authors made data available for only 24% of 600 papers (Miske 2026). Many Labs 2: 54% of 28 findings. In 2022 only 7% of psychology articles were preregistered and 14% shared raw data (Hardwicke 2024); the authors' words: transparency 'continues to be widely neglected'. Registered Reports work where they are used: 44% positive results vs 96% (Scheel 2021), rated higher on rigour and no lower on novelty (Soderberg 2021). The best-known evidence that rigour alone fixes replication, Protzko 2023 (86%), was retracted in September 2024 because its preregistration claims were false. Neuroimaging: 70 teams analysed one fMRI dataset and no two pipelines matched (NARPS, Nature 2020); cluster inference gave up to 70% false positives (Eklund 2016); brain-wide associations need thousands of participants (Marek 2022), still debated. Neuropsychology: only 1 of 62 Cortex Registered Reports used patients; about half of 47 neuropsychologists named field-specific barriers, mostly sensitive clinical data (Binney 2025); PECANS (2025) is the field's own consensus. Closest to this room: lesion network mapping, used in more than 200 studies, was challenged in Nature Neuroscience in January 2026 with public data only (van den Heuvel 2026); the replies are in the same journal. That debate is possible because the data were open. Lesion mapping itself: maps shift by about 16 mm with vascular anatomy (Mah 2014), and fewer than 40% of N = 30 resamples reach significance (Lorca-Puls 2018). Sources: talk/evidence_intro.md.</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If asked: in the animal work one in seven experiments was never published (Sena 2010). One minute, three examples the room knows. Do not editorialise on any single trial; the point is heterogeneity that cannot be resolved from the papers alone. Confirm that the embolisation trio is the example you meant.</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Forty-five seconds. Implementation science applied to research practice itself: you cannot improve what you do not measure.</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Forty-five seconds. The method is the credibility. One published run, 13 October 2026: 231,580 OpenAlex records from six title terms, 2015 to 2026, of which 140,281 are stroke journal articles and reviews with a DOI from 2015 to 2025. The full-text audit reads up to 1,500 open-access articles per year in each field through Europe PMC, 16,362 for stroke. Open-access full text only, so those rates run high, and a pooled rate gives every year the same weight, so I lead with single years and say "over the decade" when I pool. Everything that follows is on the dashboard, where the selection can be changed by anyone. On the card, neuroscience leads on code, GitHub, deposit and preprints, partly because its title term "neural", which brings in about 45% of that corpus, also catches machine-learning papers. If asked: neurology 129,644, cardiology 312,703, neuroscience 509,973 articles.</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good-news slide. Let it land, then turn it on the next one. Stroke sits between cardiology and neurology every year through 2024; in the incomplete 2025 it is just above cardiology (75% vs 74%). The peak so far is 77% in 2023. Do not rank neuroscience: about 45% of it comes only from the title term “neural”, much of it machine learning; without those papers it is 67% open access. It is above stroke until 2019 and below neurology in 2024 and 2025.</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For this room: diamond is a long tail of about 4,800 free journals. Cureus is the largest (1,187 articles), then Journal of Physical Therapy Science (487) and Journal of Stroke (334). About a quarter of Korean (27%) and Japanese (25%) first-author articles are diamond; Chinese 5%. Gold plus hybrid is about half of the open articles over the decade (52% with 2025, 49% through 2024) and the majority every year since 2021: 35% in 2015, 53% in 2021, 59% in 2024. One sentence on APCs and the equity angle; the equity slide comes later. The growth figures stop at 2024 because 2025 is still filling in. Green fills in last, as repository copies appear after embargoes end, but it was already down to 4% in 2024, so its fall does not rest on the partial year.</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Say the caveat before anyone says it for you: lower bounds from abstracts. Preprints did move, from under 0.2% before 2019 to 2.7% in 2024, but only as far as OpenAlex links them (it merged many preprint records into their articles in early October), and about half are on Research Square or SSRN, mostly publisher routes at submission (In Review, Lancet and Elsevier). GitHub in full text: 2.5% of the 1,500 audited 2024 articles, 1.3% pooled over the decade with every year weighted the same; the code chart counts GitHub or code links in abstracts, and the high-impact line also counts Zenodo and OSF links. Registration nearly doubled, 2.8% to 5.3%, from a low base: stroke 4.6% over the decade, cardiology 4.1%, neurology 2.4%, neuroscience 1.0%; neuroscience's term "neural" pulls in machine-learning papers, and without them it is still only about 1.5%. The neuroscience preprint line also reflects "neural": machine-learning papers, many on arXiv. Then the pivot: so we read the full text.</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slide people photograph. Three numbers, slowly. Against the other fields, 2022 to 2025: stroke says “on request” more than any other field (30%; neurology 27%, neuroscience 26%, cardiology 24%), writes statements as often as any of them (69%; neuroscience 72%, neurology 64%, cardiology 61%), and deposits or names a public dataset at the level of the other clinical fields (6.9%; cardiology 7.3%, neurology 5.6%), well under neuroscience (17.5%). Neuroscience caveat: its title term “neural” also catches machine-learning papers; without them neuroscience writes statements in 68% (stroke 69%) and deposits 13.6%. If asked for the decade: “on request” 19% and deposit or public source 4.2%, pooled over yearly samples of up to 1,500, so every year weighs the same; they are not corpus rates. Full text versus abstract for the same audited articles, 2015 to 2025 pooled the same way: GitHub in 1.3% of full texts vs code, OSF or Zenodo links in 0.07% of abstracts; trial registration 14.1% vs 7.5%. If asked about top journals: 0.6% of top-journal RCTs that declared sharing had downloadable data (Danchev 2021).</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Seoul is a high-income audience with LMIC trialists in the room. Open access rises as income falls: 67% high, 70% upper-middle, 75% lower-middle (88% low, only 400 articles, do not lean on it). Upper-middle-income authors pay an APC for 43%. The data and code that lower-income teams could build on are not there, and their own work is the least likely to be shared: a data statement in 23% of lower-middle-income full texts (high 43%, upper-middle 57%), from only 609 audited articles. These full-text rates pool 2015-2025 over the audit's sample of up to 1,500 open-access full texts a year, so they average equal yearly samples, not the corpus. The gap holds in 2022-2025 alone: a statement in 37% of lower-middle vs 65% high and 78% upper-middle; deposit or public source 3.0% vs 6.2% and 8.7%. That is the inequality open science can close. Korea: 5,490 first-author articles, 75% open access, none with a data-repository link in the abstract or metadata; 1.3% of 1,293 audited full texts deposit or name a public source.</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Recomputed every six months. Say the n out loud: Charité 129 audited articles, Oxford 177, Hamburg-Eppendorf 109; Nature Communications 30, PeerJ 31 (25 of them deposit). The top two in the figure are both Charité: the Center for Stroke Research Berlin (5.2×) is part of it (4.4×). The figure ranks the 60 institutions with the most audited articles (82 or more); with every institution at 50 or more, the German Center for Neurodegenerative Diseases (5.6×, 61 audited) and the Berlin Institute of Health at Charité (5.2×, 64) also lead, then Zurich (4.7×, 64). Small counts are a hint, not a ranking: GitHub is rare (1.3%), so one more GitHub mention in 100 audited articles adds about 0.26, and the order shifts between runs. Countries need 50 audited articles: at 30, Russia, with 43 audited, would be second at 2.2×. The baselines pool the 2015-2025 audit with every year weighted the same, and the signals rose over the decade (deposit or public source 0.7% in 2015, 9.8% in 2025), so an index also reflects which years an entity published in. Stroke sits above the average, not among the leaders of the 99 journals; the dashboard keeps only the 40 largest journals and 25 largest countries, so there Stroke ranks third and Belgium and Ireland do not appear. Oxford is also listed as a funder in OpenAlex (4.9×, 33 audited); it is an institution, so I leave it out of the funders. Also on the lists: PeerJ deposits in 81%; funders NIDCD, NIBIB, HHS, Horizon 2020 and BMBF; Ireland 1.7×. The point is not the names: the measurement exists, is cheap, and is what a prize would recognise.</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pivot of the talk. Four numbers, then the sentence in serif. No more studies here; the evidence brief has them if asked.</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Two minutes fifteen. Invite the WSO leadership in the room to take the task force home. Say which items cost nothing and which need money.</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One line, then stop. Leave the links and the QR codes up during questions. Thank the session chairs.</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bg>
      <p:bgPr>
        <a:blipFill dpi="0" rotWithShape="1">
          <a:blip r:embed="rId2">
            <a:lum/>
          </a:blip>
          <a:srcRect/>
          <a:stretch>
            <a:fillRect/>
          </a:stretch>
        </a:blipFill>
        <a:effectLst/>
      </p:bgPr>
    </p:bg>
    <p:spTree>
      <p:nvGrpSpPr>
        <p:cNvPr id="1" name="Shape 8"/>
        <p:cNvGrpSpPr/>
        <p:nvPr/>
      </p:nvGrpSpPr>
      <p:grpSpPr>
        <a:xfrm>
          <a:off x="0" y="0"/>
          <a:ext cx="0" cy="0"/>
          <a:chOff x="0" y="0"/>
          <a:chExt cx="0" cy="0"/>
        </a:xfrm>
      </p:grpSpPr>
      <p:sp>
        <p:nvSpPr>
          <p:cNvPr id="9" name="Google Shape;9;p2"/>
          <p:cNvSpPr txBox="1">
            <a:spLocks noGrp="1"/>
          </p:cNvSpPr>
          <p:nvPr>
            <p:ph type="ctrTitle"/>
          </p:nvPr>
        </p:nvSpPr>
        <p:spPr>
          <a:xfrm>
            <a:off x="511175" y="3226175"/>
            <a:ext cx="3679500" cy="1010400"/>
          </a:xfrm>
          <a:prstGeom prst="rect">
            <a:avLst/>
          </a:prstGeom>
        </p:spPr>
        <p:txBody>
          <a:bodyPr spcFirstLastPara="1" wrap="square" lIns="91425" tIns="91425" rIns="91425" bIns="91425" anchor="b" anchorCtr="0">
            <a:normAutofit/>
          </a:bodyPr>
          <a:lstStyle>
            <a:lvl1pPr lvl="0">
              <a:spcBef>
                <a:spcPts val="0"/>
              </a:spcBef>
              <a:spcAft>
                <a:spcPts val="0"/>
              </a:spcAft>
              <a:buClr>
                <a:srgbClr val="1D429C"/>
              </a:buClr>
              <a:buSzPts val="3000"/>
              <a:buNone/>
              <a:defRPr sz="4000" b="1">
                <a:solidFill>
                  <a:schemeClr val="bg1"/>
                </a:solidFill>
              </a:defRPr>
            </a:lvl1pPr>
            <a:lvl2pPr lvl="1" algn="ctr">
              <a:spcBef>
                <a:spcPts val="0"/>
              </a:spcBef>
              <a:spcAft>
                <a:spcPts val="0"/>
              </a:spcAft>
              <a:buClr>
                <a:srgbClr val="333132"/>
              </a:buClr>
              <a:buSzPts val="3000"/>
              <a:buNone/>
              <a:defRPr sz="4000" b="1">
                <a:solidFill>
                  <a:srgbClr val="333132"/>
                </a:solidFill>
              </a:defRPr>
            </a:lvl2pPr>
            <a:lvl3pPr lvl="2" algn="ctr">
              <a:spcBef>
                <a:spcPts val="0"/>
              </a:spcBef>
              <a:spcAft>
                <a:spcPts val="0"/>
              </a:spcAft>
              <a:buClr>
                <a:srgbClr val="333132"/>
              </a:buClr>
              <a:buSzPts val="3000"/>
              <a:buNone/>
              <a:defRPr sz="4000" b="1">
                <a:solidFill>
                  <a:srgbClr val="333132"/>
                </a:solidFill>
              </a:defRPr>
            </a:lvl3pPr>
            <a:lvl4pPr lvl="3" algn="ctr">
              <a:spcBef>
                <a:spcPts val="0"/>
              </a:spcBef>
              <a:spcAft>
                <a:spcPts val="0"/>
              </a:spcAft>
              <a:buClr>
                <a:srgbClr val="333132"/>
              </a:buClr>
              <a:buSzPts val="3000"/>
              <a:buNone/>
              <a:defRPr sz="4000" b="1">
                <a:solidFill>
                  <a:srgbClr val="333132"/>
                </a:solidFill>
              </a:defRPr>
            </a:lvl4pPr>
            <a:lvl5pPr lvl="4" algn="ctr">
              <a:spcBef>
                <a:spcPts val="0"/>
              </a:spcBef>
              <a:spcAft>
                <a:spcPts val="0"/>
              </a:spcAft>
              <a:buClr>
                <a:srgbClr val="333132"/>
              </a:buClr>
              <a:buSzPts val="3000"/>
              <a:buNone/>
              <a:defRPr sz="4000" b="1">
                <a:solidFill>
                  <a:srgbClr val="333132"/>
                </a:solidFill>
              </a:defRPr>
            </a:lvl5pPr>
            <a:lvl6pPr lvl="5" algn="ctr">
              <a:spcBef>
                <a:spcPts val="0"/>
              </a:spcBef>
              <a:spcAft>
                <a:spcPts val="0"/>
              </a:spcAft>
              <a:buClr>
                <a:srgbClr val="333132"/>
              </a:buClr>
              <a:buSzPts val="3000"/>
              <a:buNone/>
              <a:defRPr sz="4000" b="1">
                <a:solidFill>
                  <a:srgbClr val="333132"/>
                </a:solidFill>
              </a:defRPr>
            </a:lvl6pPr>
            <a:lvl7pPr lvl="6" algn="ctr">
              <a:spcBef>
                <a:spcPts val="0"/>
              </a:spcBef>
              <a:spcAft>
                <a:spcPts val="0"/>
              </a:spcAft>
              <a:buClr>
                <a:srgbClr val="333132"/>
              </a:buClr>
              <a:buSzPts val="3000"/>
              <a:buNone/>
              <a:defRPr sz="4000" b="1">
                <a:solidFill>
                  <a:srgbClr val="333132"/>
                </a:solidFill>
              </a:defRPr>
            </a:lvl7pPr>
            <a:lvl8pPr lvl="7" algn="ctr">
              <a:spcBef>
                <a:spcPts val="0"/>
              </a:spcBef>
              <a:spcAft>
                <a:spcPts val="0"/>
              </a:spcAft>
              <a:buClr>
                <a:srgbClr val="333132"/>
              </a:buClr>
              <a:buSzPts val="3000"/>
              <a:buNone/>
              <a:defRPr sz="4000" b="1">
                <a:solidFill>
                  <a:srgbClr val="333132"/>
                </a:solidFill>
              </a:defRPr>
            </a:lvl8pPr>
            <a:lvl9pPr lvl="8" algn="ctr">
              <a:spcBef>
                <a:spcPts val="0"/>
              </a:spcBef>
              <a:spcAft>
                <a:spcPts val="0"/>
              </a:spcAft>
              <a:buClr>
                <a:srgbClr val="333132"/>
              </a:buClr>
              <a:buSzPts val="3000"/>
              <a:buNone/>
              <a:defRPr sz="4000" b="1">
                <a:solidFill>
                  <a:srgbClr val="333132"/>
                </a:solidFill>
              </a:defRPr>
            </a:lvl9pPr>
          </a:lstStyle>
          <a:p>
            <a:endParaRPr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bg>
      <p:bgPr>
        <a:blipFill dpi="0" rotWithShape="1">
          <a:blip r:embed="rId2">
            <a:lum/>
          </a:blip>
          <a:srcRect/>
          <a:stretch>
            <a:fillRect/>
          </a:stretch>
        </a:blipFill>
        <a:effectLst/>
      </p:bgPr>
    </p:bg>
    <p:spTree>
      <p:nvGrpSpPr>
        <p:cNvPr id="1" name="Shape 10"/>
        <p:cNvGrpSpPr/>
        <p:nvPr/>
      </p:nvGrpSpPr>
      <p:grpSpPr>
        <a:xfrm>
          <a:off x="0" y="0"/>
          <a:ext cx="0" cy="0"/>
          <a:chOff x="0" y="0"/>
          <a:chExt cx="0" cy="0"/>
        </a:xfrm>
      </p:grpSpPr>
      <p:sp>
        <p:nvSpPr>
          <p:cNvPr id="11" name="Google Shape;11;p3"/>
          <p:cNvSpPr txBox="1">
            <a:spLocks noGrp="1"/>
          </p:cNvSpPr>
          <p:nvPr>
            <p:ph type="ctrTitle"/>
          </p:nvPr>
        </p:nvSpPr>
        <p:spPr>
          <a:xfrm>
            <a:off x="511175" y="3226175"/>
            <a:ext cx="3679500" cy="1010400"/>
          </a:xfrm>
          <a:prstGeom prst="rect">
            <a:avLst/>
          </a:prstGeom>
        </p:spPr>
        <p:txBody>
          <a:bodyPr spcFirstLastPara="1" wrap="square" lIns="91425" tIns="91425" rIns="91425" bIns="91425" anchor="b" anchorCtr="0">
            <a:normAutofit/>
          </a:bodyPr>
          <a:lstStyle>
            <a:lvl1pPr lvl="0">
              <a:spcBef>
                <a:spcPts val="0"/>
              </a:spcBef>
              <a:spcAft>
                <a:spcPts val="0"/>
              </a:spcAft>
              <a:buClr>
                <a:srgbClr val="1D429C"/>
              </a:buClr>
              <a:buSzPts val="3000"/>
              <a:buNone/>
              <a:defRPr sz="4000" b="1">
                <a:solidFill>
                  <a:srgbClr val="1D429C"/>
                </a:solidFill>
              </a:defRPr>
            </a:lvl1pPr>
            <a:lvl2pPr lvl="1" algn="ctr">
              <a:spcBef>
                <a:spcPts val="0"/>
              </a:spcBef>
              <a:spcAft>
                <a:spcPts val="0"/>
              </a:spcAft>
              <a:buClr>
                <a:srgbClr val="333132"/>
              </a:buClr>
              <a:buSzPts val="3000"/>
              <a:buNone/>
              <a:defRPr sz="4000" b="1">
                <a:solidFill>
                  <a:srgbClr val="333132"/>
                </a:solidFill>
              </a:defRPr>
            </a:lvl2pPr>
            <a:lvl3pPr lvl="2" algn="ctr">
              <a:spcBef>
                <a:spcPts val="0"/>
              </a:spcBef>
              <a:spcAft>
                <a:spcPts val="0"/>
              </a:spcAft>
              <a:buClr>
                <a:srgbClr val="333132"/>
              </a:buClr>
              <a:buSzPts val="3000"/>
              <a:buNone/>
              <a:defRPr sz="4000" b="1">
                <a:solidFill>
                  <a:srgbClr val="333132"/>
                </a:solidFill>
              </a:defRPr>
            </a:lvl3pPr>
            <a:lvl4pPr lvl="3" algn="ctr">
              <a:spcBef>
                <a:spcPts val="0"/>
              </a:spcBef>
              <a:spcAft>
                <a:spcPts val="0"/>
              </a:spcAft>
              <a:buClr>
                <a:srgbClr val="333132"/>
              </a:buClr>
              <a:buSzPts val="3000"/>
              <a:buNone/>
              <a:defRPr sz="4000" b="1">
                <a:solidFill>
                  <a:srgbClr val="333132"/>
                </a:solidFill>
              </a:defRPr>
            </a:lvl4pPr>
            <a:lvl5pPr lvl="4" algn="ctr">
              <a:spcBef>
                <a:spcPts val="0"/>
              </a:spcBef>
              <a:spcAft>
                <a:spcPts val="0"/>
              </a:spcAft>
              <a:buClr>
                <a:srgbClr val="333132"/>
              </a:buClr>
              <a:buSzPts val="3000"/>
              <a:buNone/>
              <a:defRPr sz="4000" b="1">
                <a:solidFill>
                  <a:srgbClr val="333132"/>
                </a:solidFill>
              </a:defRPr>
            </a:lvl5pPr>
            <a:lvl6pPr lvl="5" algn="ctr">
              <a:spcBef>
                <a:spcPts val="0"/>
              </a:spcBef>
              <a:spcAft>
                <a:spcPts val="0"/>
              </a:spcAft>
              <a:buClr>
                <a:srgbClr val="333132"/>
              </a:buClr>
              <a:buSzPts val="3000"/>
              <a:buNone/>
              <a:defRPr sz="4000" b="1">
                <a:solidFill>
                  <a:srgbClr val="333132"/>
                </a:solidFill>
              </a:defRPr>
            </a:lvl6pPr>
            <a:lvl7pPr lvl="6" algn="ctr">
              <a:spcBef>
                <a:spcPts val="0"/>
              </a:spcBef>
              <a:spcAft>
                <a:spcPts val="0"/>
              </a:spcAft>
              <a:buClr>
                <a:srgbClr val="333132"/>
              </a:buClr>
              <a:buSzPts val="3000"/>
              <a:buNone/>
              <a:defRPr sz="4000" b="1">
                <a:solidFill>
                  <a:srgbClr val="333132"/>
                </a:solidFill>
              </a:defRPr>
            </a:lvl7pPr>
            <a:lvl8pPr lvl="7" algn="ctr">
              <a:spcBef>
                <a:spcPts val="0"/>
              </a:spcBef>
              <a:spcAft>
                <a:spcPts val="0"/>
              </a:spcAft>
              <a:buClr>
                <a:srgbClr val="333132"/>
              </a:buClr>
              <a:buSzPts val="3000"/>
              <a:buNone/>
              <a:defRPr sz="4000" b="1">
                <a:solidFill>
                  <a:srgbClr val="333132"/>
                </a:solidFill>
              </a:defRPr>
            </a:lvl8pPr>
            <a:lvl9pPr lvl="8" algn="ctr">
              <a:spcBef>
                <a:spcPts val="0"/>
              </a:spcBef>
              <a:spcAft>
                <a:spcPts val="0"/>
              </a:spcAft>
              <a:buClr>
                <a:srgbClr val="333132"/>
              </a:buClr>
              <a:buSzPts val="3000"/>
              <a:buNone/>
              <a:defRPr sz="4000" b="1">
                <a:solidFill>
                  <a:srgbClr val="333132"/>
                </a:solidFill>
              </a:defRPr>
            </a:lvl9pPr>
          </a:lstStyle>
          <a:p>
            <a:endParaRPr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bg>
      <p:bgPr>
        <a:blipFill dpi="0" rotWithShape="1">
          <a:blip r:embed="rId2">
            <a:lum/>
          </a:blip>
          <a:srcRect/>
          <a:stretch>
            <a:fillRect/>
          </a:stretch>
        </a:blipFill>
        <a:effectLst/>
      </p:bgPr>
    </p:bg>
    <p:spTree>
      <p:nvGrpSpPr>
        <p:cNvPr id="1" name="Shape 12"/>
        <p:cNvGrpSpPr/>
        <p:nvPr/>
      </p:nvGrpSpPr>
      <p:grpSpPr>
        <a:xfrm>
          <a:off x="0" y="0"/>
          <a:ext cx="0" cy="0"/>
          <a:chOff x="0" y="0"/>
          <a:chExt cx="0" cy="0"/>
        </a:xfrm>
      </p:grpSpPr>
      <p:sp>
        <p:nvSpPr>
          <p:cNvPr id="13" name="Google Shape;13;p4"/>
          <p:cNvSpPr txBox="1">
            <a:spLocks noGrp="1"/>
          </p:cNvSpPr>
          <p:nvPr>
            <p:ph type="title"/>
          </p:nvPr>
        </p:nvSpPr>
        <p:spPr>
          <a:xfrm>
            <a:off x="311700" y="289150"/>
            <a:ext cx="591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7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4" name="Google Shape;14;p4"/>
          <p:cNvSpPr txBox="1">
            <a:spLocks noGrp="1"/>
          </p:cNvSpPr>
          <p:nvPr>
            <p:ph type="body" idx="1"/>
          </p:nvPr>
        </p:nvSpPr>
        <p:spPr>
          <a:xfrm>
            <a:off x="311700" y="1214900"/>
            <a:ext cx="8520600" cy="3190500"/>
          </a:xfrm>
          <a:prstGeom prst="rect">
            <a:avLst/>
          </a:prstGeom>
        </p:spPr>
        <p:txBody>
          <a:bodyPr spcFirstLastPara="1" wrap="square" lIns="91425" tIns="91425" rIns="91425" bIns="91425" anchor="t" anchorCtr="0">
            <a:normAutofit/>
          </a:bodyPr>
          <a:lstStyle>
            <a:lvl1pPr marL="609585" lvl="0" indent="-457189">
              <a:spcBef>
                <a:spcPts val="0"/>
              </a:spcBef>
              <a:spcAft>
                <a:spcPts val="0"/>
              </a:spcAft>
              <a:buSzPts val="1800"/>
              <a:buChar char="●"/>
              <a:defRPr/>
            </a:lvl1pPr>
            <a:lvl2pPr marL="1219170" lvl="1" indent="-423323">
              <a:spcBef>
                <a:spcPts val="0"/>
              </a:spcBef>
              <a:spcAft>
                <a:spcPts val="0"/>
              </a:spcAft>
              <a:buSzPts val="1400"/>
              <a:buChar char="○"/>
              <a:defRPr/>
            </a:lvl2pPr>
            <a:lvl3pPr marL="1828754" lvl="2" indent="-423323">
              <a:spcBef>
                <a:spcPts val="0"/>
              </a:spcBef>
              <a:spcAft>
                <a:spcPts val="0"/>
              </a:spcAft>
              <a:buSzPts val="1400"/>
              <a:buChar char="■"/>
              <a:defRPr/>
            </a:lvl3pPr>
            <a:lvl4pPr marL="2438339" lvl="3" indent="-423323">
              <a:spcBef>
                <a:spcPts val="0"/>
              </a:spcBef>
              <a:spcAft>
                <a:spcPts val="0"/>
              </a:spcAft>
              <a:buSzPts val="1400"/>
              <a:buChar char="●"/>
              <a:defRPr/>
            </a:lvl4pPr>
            <a:lvl5pPr marL="3047924" lvl="4" indent="-423323">
              <a:spcBef>
                <a:spcPts val="0"/>
              </a:spcBef>
              <a:spcAft>
                <a:spcPts val="0"/>
              </a:spcAft>
              <a:buSzPts val="1400"/>
              <a:buChar char="○"/>
              <a:defRPr/>
            </a:lvl5pPr>
            <a:lvl6pPr marL="3657509" lvl="5" indent="-423323">
              <a:spcBef>
                <a:spcPts val="0"/>
              </a:spcBef>
              <a:spcAft>
                <a:spcPts val="0"/>
              </a:spcAft>
              <a:buSzPts val="1400"/>
              <a:buChar char="■"/>
              <a:defRPr/>
            </a:lvl6pPr>
            <a:lvl7pPr marL="4267093" lvl="6" indent="-423323">
              <a:spcBef>
                <a:spcPts val="0"/>
              </a:spcBef>
              <a:spcAft>
                <a:spcPts val="0"/>
              </a:spcAft>
              <a:buSzPts val="1400"/>
              <a:buChar char="●"/>
              <a:defRPr/>
            </a:lvl7pPr>
            <a:lvl8pPr marL="4876678" lvl="7" indent="-423323">
              <a:spcBef>
                <a:spcPts val="0"/>
              </a:spcBef>
              <a:spcAft>
                <a:spcPts val="0"/>
              </a:spcAft>
              <a:buSzPts val="1400"/>
              <a:buChar char="○"/>
              <a:defRPr/>
            </a:lvl8pPr>
            <a:lvl9pPr marL="5486263" lvl="8" indent="-423323">
              <a:spcBef>
                <a:spcPts val="0"/>
              </a:spcBef>
              <a:spcAft>
                <a:spcPts val="0"/>
              </a:spcAft>
              <a:buSzPts val="1400"/>
              <a:buChar char="■"/>
              <a:defRPr/>
            </a:lvl9p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bg>
      <p:bgPr>
        <a:blipFill dpi="0" rotWithShape="1">
          <a:blip r:embed="rId2">
            <a:lum/>
          </a:blip>
          <a:srcRect/>
          <a:stretch>
            <a:fillRect/>
          </a:stretch>
        </a:blipFill>
        <a:effectLst/>
      </p:bgPr>
    </p:bg>
    <p:spTree>
      <p:nvGrpSpPr>
        <p:cNvPr id="1" name="Shape 15"/>
        <p:cNvGrpSpPr/>
        <p:nvPr/>
      </p:nvGrpSpPr>
      <p:grpSpPr>
        <a:xfrm>
          <a:off x="0" y="0"/>
          <a:ext cx="0" cy="0"/>
          <a:chOff x="0" y="0"/>
          <a:chExt cx="0" cy="0"/>
        </a:xfrm>
      </p:grpSpPr>
      <p:sp>
        <p:nvSpPr>
          <p:cNvPr id="16" name="Google Shape;16;p5"/>
          <p:cNvSpPr txBox="1">
            <a:spLocks noGrp="1"/>
          </p:cNvSpPr>
          <p:nvPr>
            <p:ph type="title"/>
          </p:nvPr>
        </p:nvSpPr>
        <p:spPr>
          <a:xfrm>
            <a:off x="311700" y="289150"/>
            <a:ext cx="591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7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7" name="Google Shape;17;p5"/>
          <p:cNvSpPr txBox="1">
            <a:spLocks noGrp="1"/>
          </p:cNvSpPr>
          <p:nvPr>
            <p:ph type="body" idx="1"/>
          </p:nvPr>
        </p:nvSpPr>
        <p:spPr>
          <a:xfrm>
            <a:off x="311701" y="1152475"/>
            <a:ext cx="3999900" cy="3219000"/>
          </a:xfrm>
          <a:prstGeom prst="rect">
            <a:avLst/>
          </a:prstGeom>
        </p:spPr>
        <p:txBody>
          <a:bodyPr spcFirstLastPara="1" wrap="square" lIns="91425" tIns="91425" rIns="91425" bIns="91425" anchor="t" anchorCtr="0">
            <a:normAutofit/>
          </a:bodyPr>
          <a:lstStyle>
            <a:lvl1pPr marL="609585" lvl="0" indent="-423323">
              <a:spcBef>
                <a:spcPts val="0"/>
              </a:spcBef>
              <a:spcAft>
                <a:spcPts val="0"/>
              </a:spcAft>
              <a:buSzPts val="1400"/>
              <a:buChar char="●"/>
              <a:defRPr sz="1867"/>
            </a:lvl1pPr>
            <a:lvl2pPr marL="1219170" lvl="1" indent="-406390">
              <a:spcBef>
                <a:spcPts val="0"/>
              </a:spcBef>
              <a:spcAft>
                <a:spcPts val="0"/>
              </a:spcAft>
              <a:buSzPts val="1200"/>
              <a:buChar char="○"/>
              <a:defRPr sz="1600"/>
            </a:lvl2pPr>
            <a:lvl3pPr marL="1828754" lvl="2" indent="-406390">
              <a:spcBef>
                <a:spcPts val="0"/>
              </a:spcBef>
              <a:spcAft>
                <a:spcPts val="0"/>
              </a:spcAft>
              <a:buSzPts val="1200"/>
              <a:buChar char="■"/>
              <a:defRPr sz="1600"/>
            </a:lvl3pPr>
            <a:lvl4pPr marL="2438339" lvl="3" indent="-406390">
              <a:spcBef>
                <a:spcPts val="0"/>
              </a:spcBef>
              <a:spcAft>
                <a:spcPts val="0"/>
              </a:spcAft>
              <a:buSzPts val="1200"/>
              <a:buChar char="●"/>
              <a:defRPr sz="1600"/>
            </a:lvl4pPr>
            <a:lvl5pPr marL="3047924" lvl="4" indent="-406390">
              <a:spcBef>
                <a:spcPts val="0"/>
              </a:spcBef>
              <a:spcAft>
                <a:spcPts val="0"/>
              </a:spcAft>
              <a:buSzPts val="1200"/>
              <a:buChar char="○"/>
              <a:defRPr sz="1600"/>
            </a:lvl5pPr>
            <a:lvl6pPr marL="3657509" lvl="5" indent="-406390">
              <a:spcBef>
                <a:spcPts val="0"/>
              </a:spcBef>
              <a:spcAft>
                <a:spcPts val="0"/>
              </a:spcAft>
              <a:buSzPts val="1200"/>
              <a:buChar char="■"/>
              <a:defRPr sz="1600"/>
            </a:lvl6pPr>
            <a:lvl7pPr marL="4267093" lvl="6" indent="-406390">
              <a:spcBef>
                <a:spcPts val="0"/>
              </a:spcBef>
              <a:spcAft>
                <a:spcPts val="0"/>
              </a:spcAft>
              <a:buSzPts val="1200"/>
              <a:buChar char="●"/>
              <a:defRPr sz="1600"/>
            </a:lvl7pPr>
            <a:lvl8pPr marL="4876678" lvl="7" indent="-406390">
              <a:spcBef>
                <a:spcPts val="0"/>
              </a:spcBef>
              <a:spcAft>
                <a:spcPts val="0"/>
              </a:spcAft>
              <a:buSzPts val="1200"/>
              <a:buChar char="○"/>
              <a:defRPr sz="1600"/>
            </a:lvl8pPr>
            <a:lvl9pPr marL="5486263" lvl="8" indent="-406390">
              <a:spcBef>
                <a:spcPts val="0"/>
              </a:spcBef>
              <a:spcAft>
                <a:spcPts val="0"/>
              </a:spcAft>
              <a:buSzPts val="1200"/>
              <a:buChar char="■"/>
              <a:defRPr sz="1600"/>
            </a:lvl9pPr>
          </a:lstStyle>
          <a:p>
            <a:endParaRPr/>
          </a:p>
        </p:txBody>
      </p:sp>
      <p:sp>
        <p:nvSpPr>
          <p:cNvPr id="18" name="Google Shape;18;p5"/>
          <p:cNvSpPr txBox="1">
            <a:spLocks noGrp="1"/>
          </p:cNvSpPr>
          <p:nvPr>
            <p:ph type="body" idx="2"/>
          </p:nvPr>
        </p:nvSpPr>
        <p:spPr>
          <a:xfrm>
            <a:off x="4832401" y="1152475"/>
            <a:ext cx="3999900" cy="3219000"/>
          </a:xfrm>
          <a:prstGeom prst="rect">
            <a:avLst/>
          </a:prstGeom>
        </p:spPr>
        <p:txBody>
          <a:bodyPr spcFirstLastPara="1" wrap="square" lIns="91425" tIns="91425" rIns="91425" bIns="91425" anchor="t" anchorCtr="0">
            <a:normAutofit/>
          </a:bodyPr>
          <a:lstStyle>
            <a:lvl1pPr marL="609585" lvl="0" indent="-423323">
              <a:spcBef>
                <a:spcPts val="0"/>
              </a:spcBef>
              <a:spcAft>
                <a:spcPts val="0"/>
              </a:spcAft>
              <a:buSzPts val="1400"/>
              <a:buChar char="●"/>
              <a:defRPr sz="1867"/>
            </a:lvl1pPr>
            <a:lvl2pPr marL="1219170" lvl="1" indent="-406390">
              <a:spcBef>
                <a:spcPts val="0"/>
              </a:spcBef>
              <a:spcAft>
                <a:spcPts val="0"/>
              </a:spcAft>
              <a:buSzPts val="1200"/>
              <a:buChar char="○"/>
              <a:defRPr sz="1600"/>
            </a:lvl2pPr>
            <a:lvl3pPr marL="1828754" lvl="2" indent="-406390">
              <a:spcBef>
                <a:spcPts val="0"/>
              </a:spcBef>
              <a:spcAft>
                <a:spcPts val="0"/>
              </a:spcAft>
              <a:buSzPts val="1200"/>
              <a:buChar char="■"/>
              <a:defRPr sz="1600"/>
            </a:lvl3pPr>
            <a:lvl4pPr marL="2438339" lvl="3" indent="-406390">
              <a:spcBef>
                <a:spcPts val="0"/>
              </a:spcBef>
              <a:spcAft>
                <a:spcPts val="0"/>
              </a:spcAft>
              <a:buSzPts val="1200"/>
              <a:buChar char="●"/>
              <a:defRPr sz="1600"/>
            </a:lvl4pPr>
            <a:lvl5pPr marL="3047924" lvl="4" indent="-406390">
              <a:spcBef>
                <a:spcPts val="0"/>
              </a:spcBef>
              <a:spcAft>
                <a:spcPts val="0"/>
              </a:spcAft>
              <a:buSzPts val="1200"/>
              <a:buChar char="○"/>
              <a:defRPr sz="1600"/>
            </a:lvl5pPr>
            <a:lvl6pPr marL="3657509" lvl="5" indent="-406390">
              <a:spcBef>
                <a:spcPts val="0"/>
              </a:spcBef>
              <a:spcAft>
                <a:spcPts val="0"/>
              </a:spcAft>
              <a:buSzPts val="1200"/>
              <a:buChar char="■"/>
              <a:defRPr sz="1600"/>
            </a:lvl6pPr>
            <a:lvl7pPr marL="4267093" lvl="6" indent="-406390">
              <a:spcBef>
                <a:spcPts val="0"/>
              </a:spcBef>
              <a:spcAft>
                <a:spcPts val="0"/>
              </a:spcAft>
              <a:buSzPts val="1200"/>
              <a:buChar char="●"/>
              <a:defRPr sz="1600"/>
            </a:lvl7pPr>
            <a:lvl8pPr marL="4876678" lvl="7" indent="-406390">
              <a:spcBef>
                <a:spcPts val="0"/>
              </a:spcBef>
              <a:spcAft>
                <a:spcPts val="0"/>
              </a:spcAft>
              <a:buSzPts val="1200"/>
              <a:buChar char="○"/>
              <a:defRPr sz="1600"/>
            </a:lvl8pPr>
            <a:lvl9pPr marL="5486263" lvl="8" indent="-406390">
              <a:spcBef>
                <a:spcPts val="0"/>
              </a:spcBef>
              <a:spcAft>
                <a:spcPts val="0"/>
              </a:spcAft>
              <a:buSzPts val="1200"/>
              <a:buChar char="■"/>
              <a:defRPr sz="1600"/>
            </a:lvl9pPr>
          </a:lstStyle>
          <a:p>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 Id="rId6" Type="http://schemas.openxmlformats.org/officeDocument/2006/relationships/image" Target="../media/image1.jpg"/></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blipFill dpi="0" rotWithShape="1">
          <a:blip r:embed="rId6">
            <a:lum/>
          </a:blip>
          <a:srcRect/>
          <a:stretch>
            <a:fillRect/>
          </a:stretch>
        </a:blip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289150"/>
            <a:ext cx="591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rgbClr val="1D429C"/>
              </a:buClr>
              <a:buSzPts val="2700"/>
              <a:buNone/>
              <a:defRPr sz="2700" b="1">
                <a:solidFill>
                  <a:srgbClr val="1D429C"/>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a:endParaRPr/>
          </a:p>
        </p:txBody>
      </p:sp>
      <p:sp>
        <p:nvSpPr>
          <p:cNvPr id="7" name="Google Shape;7;p1"/>
          <p:cNvSpPr txBox="1">
            <a:spLocks noGrp="1"/>
          </p:cNvSpPr>
          <p:nvPr>
            <p:ph type="body" idx="1"/>
          </p:nvPr>
        </p:nvSpPr>
        <p:spPr>
          <a:xfrm>
            <a:off x="311700" y="1363800"/>
            <a:ext cx="8520600" cy="3480900"/>
          </a:xfrm>
          <a:prstGeom prst="rect">
            <a:avLst/>
          </a:prstGeom>
          <a:noFill/>
          <a:ln>
            <a:noFill/>
          </a:ln>
        </p:spPr>
        <p:txBody>
          <a:bodyPr spcFirstLastPara="1" wrap="square" lIns="91425" tIns="91425" rIns="91425" bIns="91425" anchor="t" anchorCtr="0">
            <a:normAutofit/>
          </a:bodyPr>
          <a:lstStyle>
            <a:lvl1pPr marL="457200" lvl="0" indent="-342900">
              <a:lnSpc>
                <a:spcPct val="115000"/>
              </a:lnSpc>
              <a:spcBef>
                <a:spcPts val="0"/>
              </a:spcBef>
              <a:spcAft>
                <a:spcPts val="0"/>
              </a:spcAft>
              <a:buClr>
                <a:srgbClr val="51B848"/>
              </a:buClr>
              <a:buSzPts val="1800"/>
              <a:buChar char="●"/>
              <a:defRPr sz="1800">
                <a:solidFill>
                  <a:srgbClr val="51B848"/>
                </a:solidFill>
              </a:defRPr>
            </a:lvl1pPr>
            <a:lvl2pPr marL="914400" lvl="1" indent="-317500">
              <a:lnSpc>
                <a:spcPct val="115000"/>
              </a:lnSpc>
              <a:spcBef>
                <a:spcPts val="0"/>
              </a:spcBef>
              <a:spcAft>
                <a:spcPts val="0"/>
              </a:spcAft>
              <a:buClr>
                <a:srgbClr val="51B848"/>
              </a:buClr>
              <a:buSzPts val="1400"/>
              <a:buChar char="○"/>
              <a:defRPr>
                <a:solidFill>
                  <a:srgbClr val="51B848"/>
                </a:solidFill>
              </a:defRPr>
            </a:lvl2pPr>
            <a:lvl3pPr marL="1371600" lvl="2" indent="-317500">
              <a:lnSpc>
                <a:spcPct val="115000"/>
              </a:lnSpc>
              <a:spcBef>
                <a:spcPts val="0"/>
              </a:spcBef>
              <a:spcAft>
                <a:spcPts val="0"/>
              </a:spcAft>
              <a:buClr>
                <a:srgbClr val="51B848"/>
              </a:buClr>
              <a:buSzPts val="1400"/>
              <a:buChar char="■"/>
              <a:defRPr>
                <a:solidFill>
                  <a:srgbClr val="51B848"/>
                </a:solidFill>
              </a:defRPr>
            </a:lvl3pPr>
            <a:lvl4pPr marL="1828800" lvl="3" indent="-317500">
              <a:lnSpc>
                <a:spcPct val="115000"/>
              </a:lnSpc>
              <a:spcBef>
                <a:spcPts val="0"/>
              </a:spcBef>
              <a:spcAft>
                <a:spcPts val="0"/>
              </a:spcAft>
              <a:buClr>
                <a:srgbClr val="51B848"/>
              </a:buClr>
              <a:buSzPts val="1400"/>
              <a:buChar char="●"/>
              <a:defRPr>
                <a:solidFill>
                  <a:srgbClr val="51B848"/>
                </a:solidFill>
              </a:defRPr>
            </a:lvl4pPr>
            <a:lvl5pPr marL="2286000" lvl="4" indent="-317500">
              <a:lnSpc>
                <a:spcPct val="115000"/>
              </a:lnSpc>
              <a:spcBef>
                <a:spcPts val="0"/>
              </a:spcBef>
              <a:spcAft>
                <a:spcPts val="0"/>
              </a:spcAft>
              <a:buClr>
                <a:srgbClr val="51B848"/>
              </a:buClr>
              <a:buSzPts val="1400"/>
              <a:buChar char="○"/>
              <a:defRPr>
                <a:solidFill>
                  <a:srgbClr val="51B848"/>
                </a:solidFill>
              </a:defRPr>
            </a:lvl5pPr>
            <a:lvl6pPr marL="2743200" lvl="5" indent="-317500">
              <a:lnSpc>
                <a:spcPct val="115000"/>
              </a:lnSpc>
              <a:spcBef>
                <a:spcPts val="0"/>
              </a:spcBef>
              <a:spcAft>
                <a:spcPts val="0"/>
              </a:spcAft>
              <a:buClr>
                <a:srgbClr val="51B848"/>
              </a:buClr>
              <a:buSzPts val="1400"/>
              <a:buChar char="■"/>
              <a:defRPr>
                <a:solidFill>
                  <a:srgbClr val="51B848"/>
                </a:solidFill>
              </a:defRPr>
            </a:lvl6pPr>
            <a:lvl7pPr marL="3200400" lvl="6" indent="-317500">
              <a:lnSpc>
                <a:spcPct val="115000"/>
              </a:lnSpc>
              <a:spcBef>
                <a:spcPts val="0"/>
              </a:spcBef>
              <a:spcAft>
                <a:spcPts val="0"/>
              </a:spcAft>
              <a:buClr>
                <a:srgbClr val="51B848"/>
              </a:buClr>
              <a:buSzPts val="1400"/>
              <a:buChar char="●"/>
              <a:defRPr>
                <a:solidFill>
                  <a:srgbClr val="51B848"/>
                </a:solidFill>
              </a:defRPr>
            </a:lvl7pPr>
            <a:lvl8pPr marL="3657600" lvl="7" indent="-317500">
              <a:lnSpc>
                <a:spcPct val="115000"/>
              </a:lnSpc>
              <a:spcBef>
                <a:spcPts val="0"/>
              </a:spcBef>
              <a:spcAft>
                <a:spcPts val="0"/>
              </a:spcAft>
              <a:buClr>
                <a:srgbClr val="51B848"/>
              </a:buClr>
              <a:buSzPts val="1400"/>
              <a:buChar char="○"/>
              <a:defRPr>
                <a:solidFill>
                  <a:srgbClr val="51B848"/>
                </a:solidFill>
              </a:defRPr>
            </a:lvl8pPr>
            <a:lvl9pPr marL="4114800" lvl="8" indent="-317500">
              <a:lnSpc>
                <a:spcPct val="115000"/>
              </a:lnSpc>
              <a:spcBef>
                <a:spcPts val="0"/>
              </a:spcBef>
              <a:spcAft>
                <a:spcPts val="0"/>
              </a:spcAft>
              <a:buClr>
                <a:srgbClr val="51B848"/>
              </a:buClr>
              <a:buSzPts val="1400"/>
              <a:buChar char="■"/>
              <a:defRPr>
                <a:solidFill>
                  <a:srgbClr val="51B848"/>
                </a:solidFill>
              </a:defRPr>
            </a:lvl9pPr>
          </a:lstStyle>
          <a:p>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4.sv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8.jpg"/><Relationship Id="rId3"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9.jpg"/><Relationship Id="rId3"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0.jpg"/><Relationship Id="rId3" Type="http://schemas.openxmlformats.org/officeDocument/2006/relationships/notesSlide" Target="../notesSlides/notesSlide1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1.jpg"/><Relationship Id="rId3" Type="http://schemas.openxmlformats.org/officeDocument/2006/relationships/image" Target="../media/image12.jpg"/><Relationship Id="rId4" Type="http://schemas.openxmlformats.org/officeDocument/2006/relationships/image" Target="../media/image13.jpg"/><Relationship Id="rId5" Type="http://schemas.openxmlformats.org/officeDocument/2006/relationships/notesSlide" Target="../notesSlides/notesSlide1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4.jpg"/><Relationship Id="rId3" Type="http://schemas.openxmlformats.org/officeDocument/2006/relationships/notesSlide" Target="../notesSlides/notesSlide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5.jpg"/><Relationship Id="rId3" Type="http://schemas.openxmlformats.org/officeDocument/2006/relationships/image" Target="../media/image16.jpg"/><Relationship Id="rId4" Type="http://schemas.openxmlformats.org/officeDocument/2006/relationships/notesSlide" Target="../notesSlides/notesSlide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7.jpg"/><Relationship Id="rId3" Type="http://schemas.openxmlformats.org/officeDocument/2006/relationships/notesSlide" Target="../notesSlides/notesSlide1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8.jpg"/><Relationship Id="rId3" Type="http://schemas.openxmlformats.org/officeDocument/2006/relationships/image" Target="../media/image19.jpg"/><Relationship Id="rId4"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p:bg>
      <p:bgPr>
        <a:blipFill dpi="0" rotWithShape="1">
          <a:blip>
            <a:lum/>
            <a:extLst>
              <a:ext uri="{96DAC541-7B7A-43D3-8B79-37D633B846F1}">
                <asvg:svgBlip xmlns:asvg="http://schemas.microsoft.com/office/drawing/2016/SVG/main" r:embed="rId3"/>
              </a:ext>
            </a:extLst>
          </a:blip>
          <a:srcRect/>
          <a:stretch>
            <a:fillRect/>
          </a:stretch>
        </a:blipFill>
        <a:effectLst/>
      </p:bgPr>
    </p:bg>
    <p:spTree>
      <p:nvGrpSpPr>
        <p:cNvPr id="1" name="Shape 40"/>
        <p:cNvGrpSpPr/>
        <p:nvPr/>
      </p:nvGrpSpPr>
      <p:grpSpPr>
        <a:xfrm>
          <a:off x="0" y="0"/>
          <a:ext cx="0" cy="0"/>
          <a:chOff x="0" y="0"/>
          <a:chExt cx="0" cy="0"/>
        </a:xfrm>
      </p:grpSpPr>
      <p:sp>
        <p:nvSpPr>
          <p:cNvPr id="41" name="Google Shape;41;p13"/>
          <p:cNvSpPr txBox="1">
            <a:spLocks noGrp="1"/>
          </p:cNvSpPr>
          <p:nvPr>
            <p:ph type="ctrTitle"/>
          </p:nvPr>
        </p:nvSpPr>
        <p:spPr>
          <a:xfrm>
            <a:off x="548640" y="1572768"/>
            <a:ext cx="4846320" cy="1143000"/>
          </a:xfrm>
          <a:prstGeom prst="rect">
            <a:avLst/>
          </a:prstGeom>
        </p:spPr>
        <p:txBody>
          <a:bodyPr spcFirstLastPara="1" wrap="square" lIns="0" tIns="0" rIns="0" bIns="0" anchor="t" anchorCtr="0">
            <a:noAutofit/>
          </a:bodyPr>
          <a:lstStyle/>
          <a:p>
            <a:r>
              <a:rPr sz="3200" b="1" i="0" u="none">
                <a:solidFill>
                  <a:srgbClr val="FFFFFF"/>
                </a:solidFill>
                <a:latin typeface="Arial"/>
                <a:ea typeface="Arial"/>
                <a:cs typeface="Arial"/>
              </a:rPr>
              <a:t>Open science in stroke research</a:t>
            </a:r>
            <a:endParaRPr dirty="0">
              <a:solidFill>
                <a:schemeClr val="bg1"/>
              </a:solidFill>
              <a:latin typeface="DINOT" panose="020B0504020101020102" pitchFamily="34" charset="0"/>
            </a:endParaRPr>
          </a:p>
        </p:txBody>
      </p:sp>
      <p:sp>
        <p:nvSpPr>
          <p:cNvPr id="42" name="TextBox 41"/>
          <p:cNvSpPr txBox="1"/>
          <p:nvPr/>
        </p:nvSpPr>
        <p:spPr>
          <a:xfrm>
            <a:off x="548640" y="2724912"/>
            <a:ext cx="4754880" cy="566928"/>
          </a:xfrm>
          <a:prstGeom prst="rect">
            <a:avLst/>
          </a:prstGeom>
          <a:noFill/>
        </p:spPr>
        <p:txBody>
          <a:bodyPr wrap="square" lIns="0" rIns="0" tIns="0" bIns="0" anchor="t">
            <a:noAutofit/>
          </a:bodyPr>
          <a:lstStyle/>
          <a:p>
            <a:r>
              <a:rPr sz="1600" b="0" i="0" u="none">
                <a:solidFill>
                  <a:srgbClr val="DCE6F5"/>
                </a:solidFill>
                <a:latin typeface="Arial"/>
                <a:ea typeface="Arial"/>
                <a:cs typeface="Arial"/>
              </a:rPr>
              <a:t>Measuring reproducibility and transparency, and what to do with the numbers</a:t>
            </a:r>
          </a:p>
        </p:txBody>
      </p:sp>
      <p:sp>
        <p:nvSpPr>
          <p:cNvPr id="43" name="TextBox 42"/>
          <p:cNvSpPr txBox="1"/>
          <p:nvPr/>
        </p:nvSpPr>
        <p:spPr>
          <a:xfrm>
            <a:off x="548640" y="3611880"/>
            <a:ext cx="4754880" cy="292608"/>
          </a:xfrm>
          <a:prstGeom prst="rect">
            <a:avLst/>
          </a:prstGeom>
          <a:noFill/>
        </p:spPr>
        <p:txBody>
          <a:bodyPr wrap="square" lIns="0" rIns="0" tIns="0" bIns="0" anchor="t">
            <a:noAutofit/>
          </a:bodyPr>
          <a:lstStyle/>
          <a:p>
            <a:r>
              <a:rPr sz="1600" b="1" i="0" u="none">
                <a:solidFill>
                  <a:srgbClr val="FFFFFF"/>
                </a:solidFill>
                <a:latin typeface="Arial"/>
                <a:ea typeface="Arial"/>
                <a:cs typeface="Arial"/>
              </a:rPr>
              <a:t>Sebastian Fridman, MD</a:t>
            </a:r>
          </a:p>
        </p:txBody>
      </p:sp>
      <p:sp>
        <p:nvSpPr>
          <p:cNvPr id="44" name="TextBox 43"/>
          <p:cNvSpPr txBox="1"/>
          <p:nvPr/>
        </p:nvSpPr>
        <p:spPr>
          <a:xfrm>
            <a:off x="548640" y="3904487"/>
            <a:ext cx="4754880" cy="274320"/>
          </a:xfrm>
          <a:prstGeom prst="rect">
            <a:avLst/>
          </a:prstGeom>
          <a:noFill/>
        </p:spPr>
        <p:txBody>
          <a:bodyPr wrap="square" lIns="0" rIns="0" tIns="0" bIns="0" anchor="t">
            <a:noAutofit/>
          </a:bodyPr>
          <a:lstStyle/>
          <a:p>
            <a:r>
              <a:rPr sz="1200" b="0" i="0" u="none">
                <a:solidFill>
                  <a:srgbClr val="DCE6F5"/>
                </a:solidFill>
                <a:latin typeface="Arial"/>
                <a:ea typeface="Arial"/>
                <a:cs typeface="Arial"/>
              </a:rPr>
              <a:t>Western University · London Health Sciences Centre · Canada</a:t>
            </a:r>
          </a:p>
        </p:txBody>
      </p:sp>
      <p:sp>
        <p:nvSpPr>
          <p:cNvPr id="45" name="TextBox 44"/>
          <p:cNvSpPr txBox="1"/>
          <p:nvPr/>
        </p:nvSpPr>
        <p:spPr>
          <a:xfrm>
            <a:off x="548640" y="4389120"/>
            <a:ext cx="4754880" cy="384048"/>
          </a:xfrm>
          <a:prstGeom prst="rect">
            <a:avLst/>
          </a:prstGeom>
          <a:noFill/>
        </p:spPr>
        <p:txBody>
          <a:bodyPr wrap="square" lIns="0" rIns="0" tIns="0" bIns="0" anchor="t">
            <a:noAutofit/>
          </a:bodyPr>
          <a:lstStyle/>
          <a:p>
            <a:r>
              <a:rPr sz="1100" b="0" i="0" u="none">
                <a:solidFill>
                  <a:srgbClr val="DCE6F5"/>
                </a:solidFill>
                <a:latin typeface="Arial"/>
                <a:ea typeface="Arial"/>
                <a:cs typeface="Arial"/>
              </a:rPr>
              <a:t>The latest in stroke implementation science · Thursday 22 October 2026</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p:cNvGraphicFramePr>
            <a:graphicFrameLocks noGrp="1"/>
          </p:cNvGraphicFramePr>
          <p:nvPr/>
        </p:nvGraphicFramePr>
        <p:xfrm>
          <a:off x="310896" y="283464"/>
          <a:ext cx="4325112" cy="731520"/>
        </p:xfrm>
        <a:graphic>
          <a:graphicData uri="http://schemas.openxmlformats.org/drawingml/2006/table">
            <a:tbl>
              <a:tblPr firstRow="0" bandRow="0"/>
              <a:tblGrid>
                <a:gridCol w="438912"/>
                <a:gridCol w="3886200"/>
              </a:tblGrid>
              <a:tr h="365760">
                <a:tc>
                  <a:txBody>
                    <a:bodyPr wrap="square"/>
                    <a:lstStyle/>
                    <a:p>
                      <a:pPr algn="ctr"/>
                      <a:r>
                        <a:rPr sz="1500" b="0" i="0" u="none">
                          <a:solidFill>
                            <a:srgbClr val="FFFFFF"/>
                          </a:solidFill>
                          <a:latin typeface="Arial"/>
                          <a:ea typeface="Arial"/>
                          <a:cs typeface="Arial"/>
                        </a:rPr>
                        <a:t>x</a:t>
                      </a:r>
                    </a:p>
                  </a:txBody>
                  <a:tcPr marL="27432" marR="27432" marT="18288" marB="18288" anchor="ctr">
                    <a:lnL w="9525">
                      <a:solidFill>
                        <a:srgbClr val="000000"/>
                      </a:solidFill>
                    </a:lnL>
                    <a:lnR w="9525">
                      <a:solidFill>
                        <a:srgbClr val="000000"/>
                      </a:solidFill>
                    </a:lnR>
                    <a:lnT w="9525">
                      <a:solidFill>
                        <a:srgbClr val="000000"/>
                      </a:solidFill>
                    </a:lnT>
                    <a:lnB w="9525">
                      <a:solidFill>
                        <a:srgbClr val="000000"/>
                      </a:solidFill>
                    </a:lnB>
                    <a:solidFill>
                      <a:srgbClr val="2E247A"/>
                    </a:solidFill>
                  </a:tcPr>
                </a:tc>
                <a:tc>
                  <a:txBody>
                    <a:bodyPr wrap="square"/>
                    <a:lstStyle/>
                    <a:p>
                      <a:pPr algn="l"/>
                      <a:r>
                        <a:rPr sz="1500" b="0" i="0" u="none">
                          <a:solidFill>
                            <a:srgbClr val="000000"/>
                          </a:solidFill>
                          <a:latin typeface="Arial"/>
                          <a:ea typeface="Arial"/>
                          <a:cs typeface="Arial"/>
                        </a:rPr>
                        <a:t>No, nothing to disclose</a:t>
                      </a:r>
                    </a:p>
                  </a:txBody>
                  <a:tcPr marL="27432" marR="27432" marT="18288" marB="18288" anchor="ctr">
                    <a:lnL w="9525">
                      <a:solidFill>
                        <a:srgbClr val="000000"/>
                      </a:solidFill>
                    </a:lnL>
                    <a:lnR w="9525">
                      <a:solidFill>
                        <a:srgbClr val="000000"/>
                      </a:solidFill>
                    </a:lnR>
                    <a:lnT w="9525">
                      <a:solidFill>
                        <a:srgbClr val="000000"/>
                      </a:solidFill>
                    </a:lnT>
                    <a:lnB w="9525">
                      <a:solidFill>
                        <a:srgbClr val="000000"/>
                      </a:solidFill>
                    </a:lnB>
                    <a:solidFill>
                      <a:srgbClr val="52AE32"/>
                    </a:solidFill>
                  </a:tcPr>
                </a:tc>
              </a:tr>
              <a:tr h="365760">
                <a:tc>
                  <a:txBody>
                    <a:bodyPr wrap="square"/>
                    <a:lstStyle/>
                    <a:p>
                      <a:pPr algn="ctr"/>
                      <a:r>
                        <a:rPr sz="1500" b="0" i="0" u="none">
                          <a:solidFill>
                            <a:srgbClr val="FFFFFF"/>
                          </a:solidFill>
                          <a:latin typeface="Arial"/>
                          <a:ea typeface="Arial"/>
                          <a:cs typeface="Arial"/>
                        </a:rPr>
                        <a:t/>
                      </a:r>
                    </a:p>
                  </a:txBody>
                  <a:tcPr marL="27432" marR="27432" marT="18288" marB="18288" anchor="ctr">
                    <a:lnL w="9525">
                      <a:solidFill>
                        <a:srgbClr val="000000"/>
                      </a:solidFill>
                    </a:lnL>
                    <a:lnR w="9525">
                      <a:solidFill>
                        <a:srgbClr val="000000"/>
                      </a:solidFill>
                    </a:lnR>
                    <a:lnT w="9525">
                      <a:solidFill>
                        <a:srgbClr val="000000"/>
                      </a:solidFill>
                    </a:lnT>
                    <a:lnB w="9525">
                      <a:solidFill>
                        <a:srgbClr val="000000"/>
                      </a:solidFill>
                    </a:lnB>
                    <a:solidFill>
                      <a:srgbClr val="2E247A"/>
                    </a:solidFill>
                  </a:tcPr>
                </a:tc>
                <a:tc>
                  <a:txBody>
                    <a:bodyPr wrap="square"/>
                    <a:lstStyle/>
                    <a:p>
                      <a:pPr algn="l"/>
                      <a:r>
                        <a:rPr sz="1500" b="0" i="0" u="none">
                          <a:solidFill>
                            <a:srgbClr val="000000"/>
                          </a:solidFill>
                          <a:latin typeface="Arial"/>
                          <a:ea typeface="Arial"/>
                          <a:cs typeface="Arial"/>
                        </a:rPr>
                        <a:t>Yes, please specify:</a:t>
                      </a:r>
                    </a:p>
                  </a:txBody>
                  <a:tcPr marL="27432" marR="27432" marT="18288" marB="18288" anchor="ctr">
                    <a:lnL w="9525">
                      <a:solidFill>
                        <a:srgbClr val="000000"/>
                      </a:solidFill>
                    </a:lnL>
                    <a:lnR w="9525">
                      <a:solidFill>
                        <a:srgbClr val="000000"/>
                      </a:solidFill>
                    </a:lnR>
                    <a:lnT w="9525">
                      <a:solidFill>
                        <a:srgbClr val="000000"/>
                      </a:solidFill>
                    </a:lnT>
                    <a:lnB w="9525">
                      <a:solidFill>
                        <a:srgbClr val="000000"/>
                      </a:solidFill>
                    </a:lnB>
                    <a:solidFill>
                      <a:srgbClr val="52AE32"/>
                    </a:solidFill>
                  </a:tcPr>
                </a:tc>
              </a:tr>
            </a:tbl>
          </a:graphicData>
        </a:graphic>
      </p:graphicFrame>
      <p:graphicFrame>
        <p:nvGraphicFramePr>
          <p:cNvPr id="3" name="Table 2"/>
          <p:cNvGraphicFramePr>
            <a:graphicFrameLocks noGrp="1"/>
          </p:cNvGraphicFramePr>
          <p:nvPr/>
        </p:nvGraphicFramePr>
        <p:xfrm>
          <a:off x="274320" y="1490472"/>
          <a:ext cx="7781540" cy="2441448"/>
        </p:xfrm>
        <a:graphic>
          <a:graphicData uri="http://schemas.openxmlformats.org/drawingml/2006/table">
            <a:tbl>
              <a:tblPr firstRow="0" bandRow="0"/>
              <a:tblGrid>
                <a:gridCol w="1895504"/>
                <a:gridCol w="676174"/>
                <a:gridCol w="809191"/>
                <a:gridCol w="604122"/>
                <a:gridCol w="609665"/>
                <a:gridCol w="654004"/>
                <a:gridCol w="609665"/>
                <a:gridCol w="681716"/>
                <a:gridCol w="1241499"/>
              </a:tblGrid>
              <a:tr h="685800">
                <a:tc>
                  <a:txBody>
                    <a:bodyPr wrap="square"/>
                    <a:lstStyle/>
                    <a:p>
                      <a:pPr algn="ctr"/>
                      <a:r>
                        <a:rPr sz="900" b="0" i="1" u="none">
                          <a:solidFill>
                            <a:srgbClr val="FFFFFF"/>
                          </a:solidFill>
                          <a:latin typeface="Arial"/>
                          <a:ea typeface="Arial"/>
                          <a:cs typeface="Arial"/>
                        </a:rPr>
                        <a:t>Company Name</a:t>
                      </a:r>
                    </a:p>
                  </a:txBody>
                  <a:tcPr marL="27432" marR="27432" marT="18288" marB="18288" anchor="ctr">
                    <a:lnL w="9525">
                      <a:solidFill>
                        <a:srgbClr val="808080"/>
                      </a:solidFill>
                    </a:lnL>
                    <a:lnR w="9525">
                      <a:solidFill>
                        <a:srgbClr val="808080"/>
                      </a:solidFill>
                    </a:lnR>
                    <a:lnT w="9525">
                      <a:solidFill>
                        <a:srgbClr val="808080"/>
                      </a:solidFill>
                    </a:lnT>
                    <a:lnB w="9525">
                      <a:solidFill>
                        <a:srgbClr val="808080"/>
                      </a:solidFill>
                    </a:lnB>
                    <a:solidFill>
                      <a:srgbClr val="2E247A"/>
                    </a:solidFill>
                  </a:tcPr>
                </a:tc>
                <a:tc>
                  <a:txBody>
                    <a:bodyPr wrap="square"/>
                    <a:lstStyle/>
                    <a:p>
                      <a:pPr algn="ctr"/>
                      <a:r>
                        <a:rPr sz="900" b="0" i="1" u="none">
                          <a:solidFill>
                            <a:srgbClr val="FFFFFF"/>
                          </a:solidFill>
                          <a:latin typeface="Arial"/>
                          <a:ea typeface="Arial"/>
                          <a:cs typeface="Arial"/>
                        </a:rPr>
                        <a:t>Honoraria/ Expenses</a:t>
                      </a:r>
                    </a:p>
                  </a:txBody>
                  <a:tcPr marL="27432" marR="27432" marT="18288" marB="18288" anchor="ctr">
                    <a:lnL w="9525">
                      <a:solidFill>
                        <a:srgbClr val="808080"/>
                      </a:solidFill>
                    </a:lnL>
                    <a:lnR w="9525">
                      <a:solidFill>
                        <a:srgbClr val="808080"/>
                      </a:solidFill>
                    </a:lnR>
                    <a:lnT w="9525">
                      <a:solidFill>
                        <a:srgbClr val="808080"/>
                      </a:solidFill>
                    </a:lnT>
                    <a:lnB w="9525">
                      <a:solidFill>
                        <a:srgbClr val="808080"/>
                      </a:solidFill>
                    </a:lnB>
                    <a:solidFill>
                      <a:srgbClr val="2E247A"/>
                    </a:solidFill>
                  </a:tcPr>
                </a:tc>
                <a:tc>
                  <a:txBody>
                    <a:bodyPr wrap="square"/>
                    <a:lstStyle/>
                    <a:p>
                      <a:pPr algn="ctr"/>
                      <a:r>
                        <a:rPr sz="900" b="0" i="1" u="none">
                          <a:solidFill>
                            <a:srgbClr val="FFFFFF"/>
                          </a:solidFill>
                          <a:latin typeface="Arial"/>
                          <a:ea typeface="Arial"/>
                          <a:cs typeface="Arial"/>
                        </a:rPr>
                        <a:t>Consulting/ Advisory Board</a:t>
                      </a:r>
                    </a:p>
                  </a:txBody>
                  <a:tcPr marL="27432" marR="27432" marT="18288" marB="18288" anchor="ctr">
                    <a:lnL w="9525">
                      <a:solidFill>
                        <a:srgbClr val="808080"/>
                      </a:solidFill>
                    </a:lnL>
                    <a:lnR w="9525">
                      <a:solidFill>
                        <a:srgbClr val="808080"/>
                      </a:solidFill>
                    </a:lnR>
                    <a:lnT w="9525">
                      <a:solidFill>
                        <a:srgbClr val="808080"/>
                      </a:solidFill>
                    </a:lnT>
                    <a:lnB w="9525">
                      <a:solidFill>
                        <a:srgbClr val="808080"/>
                      </a:solidFill>
                    </a:lnB>
                    <a:solidFill>
                      <a:srgbClr val="2E247A"/>
                    </a:solidFill>
                  </a:tcPr>
                </a:tc>
                <a:tc>
                  <a:txBody>
                    <a:bodyPr wrap="square"/>
                    <a:lstStyle/>
                    <a:p>
                      <a:pPr algn="ctr"/>
                      <a:r>
                        <a:rPr sz="900" b="0" i="1" u="none">
                          <a:solidFill>
                            <a:srgbClr val="FFFFFF"/>
                          </a:solidFill>
                          <a:latin typeface="Arial"/>
                          <a:ea typeface="Arial"/>
                          <a:cs typeface="Arial"/>
                        </a:rPr>
                        <a:t>Funded Research</a:t>
                      </a:r>
                    </a:p>
                  </a:txBody>
                  <a:tcPr marL="27432" marR="27432" marT="18288" marB="18288" anchor="ctr">
                    <a:lnL w="9525">
                      <a:solidFill>
                        <a:srgbClr val="808080"/>
                      </a:solidFill>
                    </a:lnL>
                    <a:lnR w="9525">
                      <a:solidFill>
                        <a:srgbClr val="808080"/>
                      </a:solidFill>
                    </a:lnR>
                    <a:lnT w="9525">
                      <a:solidFill>
                        <a:srgbClr val="808080"/>
                      </a:solidFill>
                    </a:lnT>
                    <a:lnB w="9525">
                      <a:solidFill>
                        <a:srgbClr val="808080"/>
                      </a:solidFill>
                    </a:lnB>
                    <a:solidFill>
                      <a:srgbClr val="2E247A"/>
                    </a:solidFill>
                  </a:tcPr>
                </a:tc>
                <a:tc>
                  <a:txBody>
                    <a:bodyPr wrap="square"/>
                    <a:lstStyle/>
                    <a:p>
                      <a:pPr algn="ctr"/>
                      <a:r>
                        <a:rPr sz="900" b="0" i="1" u="none">
                          <a:solidFill>
                            <a:srgbClr val="FFFFFF"/>
                          </a:solidFill>
                          <a:latin typeface="Arial"/>
                          <a:ea typeface="Arial"/>
                          <a:cs typeface="Arial"/>
                        </a:rPr>
                        <a:t>Royalties/ Patent</a:t>
                      </a:r>
                    </a:p>
                  </a:txBody>
                  <a:tcPr marL="27432" marR="27432" marT="18288" marB="18288" anchor="ctr">
                    <a:lnL w="9525">
                      <a:solidFill>
                        <a:srgbClr val="808080"/>
                      </a:solidFill>
                    </a:lnL>
                    <a:lnR w="9525">
                      <a:solidFill>
                        <a:srgbClr val="808080"/>
                      </a:solidFill>
                    </a:lnR>
                    <a:lnT w="9525">
                      <a:solidFill>
                        <a:srgbClr val="808080"/>
                      </a:solidFill>
                    </a:lnT>
                    <a:lnB w="9525">
                      <a:solidFill>
                        <a:srgbClr val="808080"/>
                      </a:solidFill>
                    </a:lnB>
                    <a:solidFill>
                      <a:srgbClr val="2E247A"/>
                    </a:solidFill>
                  </a:tcPr>
                </a:tc>
                <a:tc>
                  <a:txBody>
                    <a:bodyPr wrap="square"/>
                    <a:lstStyle/>
                    <a:p>
                      <a:pPr algn="ctr"/>
                      <a:r>
                        <a:rPr sz="900" b="0" i="1" u="none">
                          <a:solidFill>
                            <a:srgbClr val="FFFFFF"/>
                          </a:solidFill>
                          <a:latin typeface="Arial"/>
                          <a:ea typeface="Arial"/>
                          <a:cs typeface="Arial"/>
                        </a:rPr>
                        <a:t>Stock Options</a:t>
                      </a:r>
                    </a:p>
                  </a:txBody>
                  <a:tcPr marL="27432" marR="27432" marT="18288" marB="18288" anchor="ctr">
                    <a:lnL w="9525">
                      <a:solidFill>
                        <a:srgbClr val="808080"/>
                      </a:solidFill>
                    </a:lnL>
                    <a:lnR w="9525">
                      <a:solidFill>
                        <a:srgbClr val="808080"/>
                      </a:solidFill>
                    </a:lnR>
                    <a:lnT w="9525">
                      <a:solidFill>
                        <a:srgbClr val="808080"/>
                      </a:solidFill>
                    </a:lnT>
                    <a:lnB w="9525">
                      <a:solidFill>
                        <a:srgbClr val="808080"/>
                      </a:solidFill>
                    </a:lnB>
                    <a:solidFill>
                      <a:srgbClr val="2E247A"/>
                    </a:solidFill>
                  </a:tcPr>
                </a:tc>
                <a:tc>
                  <a:txBody>
                    <a:bodyPr wrap="square"/>
                    <a:lstStyle/>
                    <a:p>
                      <a:pPr algn="ctr"/>
                      <a:r>
                        <a:rPr sz="900" b="0" i="1" u="none">
                          <a:solidFill>
                            <a:srgbClr val="FFFFFF"/>
                          </a:solidFill>
                          <a:latin typeface="Arial"/>
                          <a:ea typeface="Arial"/>
                          <a:cs typeface="Arial"/>
                        </a:rPr>
                        <a:t>Ownership/ Equity Position</a:t>
                      </a:r>
                    </a:p>
                  </a:txBody>
                  <a:tcPr marL="27432" marR="27432" marT="18288" marB="18288" anchor="ctr">
                    <a:lnL w="9525">
                      <a:solidFill>
                        <a:srgbClr val="808080"/>
                      </a:solidFill>
                    </a:lnL>
                    <a:lnR w="9525">
                      <a:solidFill>
                        <a:srgbClr val="808080"/>
                      </a:solidFill>
                    </a:lnR>
                    <a:lnT w="9525">
                      <a:solidFill>
                        <a:srgbClr val="808080"/>
                      </a:solidFill>
                    </a:lnT>
                    <a:lnB w="9525">
                      <a:solidFill>
                        <a:srgbClr val="808080"/>
                      </a:solidFill>
                    </a:lnB>
                    <a:solidFill>
                      <a:srgbClr val="2E247A"/>
                    </a:solidFill>
                  </a:tcPr>
                </a:tc>
                <a:tc>
                  <a:txBody>
                    <a:bodyPr wrap="square"/>
                    <a:lstStyle/>
                    <a:p>
                      <a:pPr algn="ctr"/>
                      <a:r>
                        <a:rPr sz="900" b="0" i="1" u="none">
                          <a:solidFill>
                            <a:srgbClr val="FFFFFF"/>
                          </a:solidFill>
                          <a:latin typeface="Arial"/>
                          <a:ea typeface="Arial"/>
                          <a:cs typeface="Arial"/>
                        </a:rPr>
                        <a:t>Employee</a:t>
                      </a:r>
                    </a:p>
                  </a:txBody>
                  <a:tcPr marL="27432" marR="27432" marT="18288" marB="18288" anchor="ctr">
                    <a:lnL w="9525">
                      <a:solidFill>
                        <a:srgbClr val="808080"/>
                      </a:solidFill>
                    </a:lnL>
                    <a:lnR w="9525">
                      <a:solidFill>
                        <a:srgbClr val="808080"/>
                      </a:solidFill>
                    </a:lnR>
                    <a:lnT w="9525">
                      <a:solidFill>
                        <a:srgbClr val="808080"/>
                      </a:solidFill>
                    </a:lnT>
                    <a:lnB w="9525">
                      <a:solidFill>
                        <a:srgbClr val="808080"/>
                      </a:solidFill>
                    </a:lnB>
                    <a:solidFill>
                      <a:srgbClr val="2E247A"/>
                    </a:solidFill>
                  </a:tcPr>
                </a:tc>
                <a:tc>
                  <a:txBody>
                    <a:bodyPr wrap="square"/>
                    <a:lstStyle/>
                    <a:p>
                      <a:pPr algn="ctr"/>
                      <a:r>
                        <a:rPr sz="900" b="0" i="1" u="none">
                          <a:solidFill>
                            <a:srgbClr val="FFFFFF"/>
                          </a:solidFill>
                          <a:latin typeface="Arial"/>
                          <a:ea typeface="Arial"/>
                          <a:cs typeface="Arial"/>
                        </a:rPr>
                        <a:t>Other (please specify)</a:t>
                      </a:r>
                    </a:p>
                  </a:txBody>
                  <a:tcPr marL="27432" marR="27432" marT="18288" marB="18288" anchor="ctr">
                    <a:lnL w="9525">
                      <a:solidFill>
                        <a:srgbClr val="808080"/>
                      </a:solidFill>
                    </a:lnL>
                    <a:lnR w="9525">
                      <a:solidFill>
                        <a:srgbClr val="808080"/>
                      </a:solidFill>
                    </a:lnR>
                    <a:lnT w="9525">
                      <a:solidFill>
                        <a:srgbClr val="808080"/>
                      </a:solidFill>
                    </a:lnT>
                    <a:lnB w="9525">
                      <a:solidFill>
                        <a:srgbClr val="808080"/>
                      </a:solidFill>
                    </a:lnB>
                    <a:solidFill>
                      <a:srgbClr val="2E247A"/>
                    </a:solidFill>
                  </a:tcPr>
                </a:tc>
              </a:tr>
              <a:tr h="438912">
                <a:tc>
                  <a:txBody>
                    <a:bodyPr wrap="square"/>
                    <a:lstStyle/>
                    <a:p>
                      <a:pPr algn="l"/>
                      <a:r>
                        <a:rPr sz="1100" b="0" i="0" u="none">
                          <a:solidFill>
                            <a:srgbClr val="000000"/>
                          </a:solidFill>
                          <a:latin typeface="Arial"/>
                          <a:ea typeface="Arial"/>
                          <a:cs typeface="Arial"/>
                        </a:rPr>
                        <a:t/>
                      </a:r>
                    </a:p>
                  </a:txBody>
                  <a:tcPr marL="27432" marR="27432" marT="18288" marB="18288" anchor="ctr">
                    <a:lnL w="9525">
                      <a:solidFill>
                        <a:srgbClr val="808080"/>
                      </a:solidFill>
                    </a:lnL>
                    <a:lnR w="9525">
                      <a:solidFill>
                        <a:srgbClr val="808080"/>
                      </a:solidFill>
                    </a:lnR>
                    <a:lnT w="9525">
                      <a:solidFill>
                        <a:srgbClr val="808080"/>
                      </a:solidFill>
                    </a:lnT>
                    <a:lnB w="9525">
                      <a:solidFill>
                        <a:srgbClr val="808080"/>
                      </a:solidFill>
                    </a:lnB>
                    <a:solidFill>
                      <a:srgbClr val="52AE32"/>
                    </a:solidFill>
                  </a:tcPr>
                </a:tc>
                <a:tc>
                  <a:txBody>
                    <a:bodyPr wrap="square"/>
                    <a:lstStyle/>
                    <a:p>
                      <a:pPr algn="ctr"/>
                      <a:r>
                        <a:rPr sz="1100" b="0" i="0" u="none">
                          <a:solidFill>
                            <a:srgbClr val="000000"/>
                          </a:solidFill>
                          <a:latin typeface="Arial"/>
                          <a:ea typeface="Arial"/>
                          <a:cs typeface="Arial"/>
                        </a:rPr>
                        <a:t/>
                      </a:r>
                    </a:p>
                  </a:txBody>
                  <a:tcPr marL="27432" marR="27432" marT="18288" marB="18288" anchor="ctr">
                    <a:lnL w="9525">
                      <a:solidFill>
                        <a:srgbClr val="808080"/>
                      </a:solidFill>
                    </a:lnL>
                    <a:lnR w="9525">
                      <a:solidFill>
                        <a:srgbClr val="808080"/>
                      </a:solidFill>
                    </a:lnR>
                    <a:lnT w="9525">
                      <a:solidFill>
                        <a:srgbClr val="808080"/>
                      </a:solidFill>
                    </a:lnT>
                    <a:lnB w="9525">
                      <a:solidFill>
                        <a:srgbClr val="808080"/>
                      </a:solidFill>
                    </a:lnB>
                    <a:solidFill>
                      <a:srgbClr val="52AE32"/>
                    </a:solidFill>
                  </a:tcPr>
                </a:tc>
                <a:tc>
                  <a:txBody>
                    <a:bodyPr wrap="square"/>
                    <a:lstStyle/>
                    <a:p>
                      <a:pPr algn="ctr"/>
                      <a:r>
                        <a:rPr sz="1100" b="0" i="0" u="none">
                          <a:solidFill>
                            <a:srgbClr val="000000"/>
                          </a:solidFill>
                          <a:latin typeface="Arial"/>
                          <a:ea typeface="Arial"/>
                          <a:cs typeface="Arial"/>
                        </a:rPr>
                        <a:t/>
                      </a:r>
                    </a:p>
                  </a:txBody>
                  <a:tcPr marL="27432" marR="27432" marT="18288" marB="18288" anchor="ctr">
                    <a:lnL w="9525">
                      <a:solidFill>
                        <a:srgbClr val="808080"/>
                      </a:solidFill>
                    </a:lnL>
                    <a:lnR w="9525">
                      <a:solidFill>
                        <a:srgbClr val="808080"/>
                      </a:solidFill>
                    </a:lnR>
                    <a:lnT w="9525">
                      <a:solidFill>
                        <a:srgbClr val="808080"/>
                      </a:solidFill>
                    </a:lnT>
                    <a:lnB w="9525">
                      <a:solidFill>
                        <a:srgbClr val="808080"/>
                      </a:solidFill>
                    </a:lnB>
                    <a:solidFill>
                      <a:srgbClr val="52AE32"/>
                    </a:solidFill>
                  </a:tcPr>
                </a:tc>
                <a:tc>
                  <a:txBody>
                    <a:bodyPr wrap="square"/>
                    <a:lstStyle/>
                    <a:p>
                      <a:pPr algn="ctr"/>
                      <a:r>
                        <a:rPr sz="1100" b="0" i="0" u="none">
                          <a:solidFill>
                            <a:srgbClr val="000000"/>
                          </a:solidFill>
                          <a:latin typeface="Arial"/>
                          <a:ea typeface="Arial"/>
                          <a:cs typeface="Arial"/>
                        </a:rPr>
                        <a:t/>
                      </a:r>
                    </a:p>
                  </a:txBody>
                  <a:tcPr marL="27432" marR="27432" marT="18288" marB="18288" anchor="ctr">
                    <a:lnL w="9525">
                      <a:solidFill>
                        <a:srgbClr val="808080"/>
                      </a:solidFill>
                    </a:lnL>
                    <a:lnR w="9525">
                      <a:solidFill>
                        <a:srgbClr val="808080"/>
                      </a:solidFill>
                    </a:lnR>
                    <a:lnT w="9525">
                      <a:solidFill>
                        <a:srgbClr val="808080"/>
                      </a:solidFill>
                    </a:lnT>
                    <a:lnB w="9525">
                      <a:solidFill>
                        <a:srgbClr val="808080"/>
                      </a:solidFill>
                    </a:lnB>
                    <a:solidFill>
                      <a:srgbClr val="52AE32"/>
                    </a:solidFill>
                  </a:tcPr>
                </a:tc>
                <a:tc>
                  <a:txBody>
                    <a:bodyPr wrap="square"/>
                    <a:lstStyle/>
                    <a:p>
                      <a:pPr algn="ctr"/>
                      <a:r>
                        <a:rPr sz="1100" b="0" i="0" u="none">
                          <a:solidFill>
                            <a:srgbClr val="000000"/>
                          </a:solidFill>
                          <a:latin typeface="Arial"/>
                          <a:ea typeface="Arial"/>
                          <a:cs typeface="Arial"/>
                        </a:rPr>
                        <a:t/>
                      </a:r>
                    </a:p>
                  </a:txBody>
                  <a:tcPr marL="27432" marR="27432" marT="18288" marB="18288" anchor="ctr">
                    <a:lnL w="9525">
                      <a:solidFill>
                        <a:srgbClr val="808080"/>
                      </a:solidFill>
                    </a:lnL>
                    <a:lnR w="9525">
                      <a:solidFill>
                        <a:srgbClr val="808080"/>
                      </a:solidFill>
                    </a:lnR>
                    <a:lnT w="9525">
                      <a:solidFill>
                        <a:srgbClr val="808080"/>
                      </a:solidFill>
                    </a:lnT>
                    <a:lnB w="9525">
                      <a:solidFill>
                        <a:srgbClr val="808080"/>
                      </a:solidFill>
                    </a:lnB>
                    <a:solidFill>
                      <a:srgbClr val="52AE32"/>
                    </a:solidFill>
                  </a:tcPr>
                </a:tc>
                <a:tc>
                  <a:txBody>
                    <a:bodyPr wrap="square"/>
                    <a:lstStyle/>
                    <a:p>
                      <a:pPr algn="ctr"/>
                      <a:r>
                        <a:rPr sz="1100" b="0" i="0" u="none">
                          <a:solidFill>
                            <a:srgbClr val="000000"/>
                          </a:solidFill>
                          <a:latin typeface="Arial"/>
                          <a:ea typeface="Arial"/>
                          <a:cs typeface="Arial"/>
                        </a:rPr>
                        <a:t/>
                      </a:r>
                    </a:p>
                  </a:txBody>
                  <a:tcPr marL="27432" marR="27432" marT="18288" marB="18288" anchor="ctr">
                    <a:lnL w="9525">
                      <a:solidFill>
                        <a:srgbClr val="808080"/>
                      </a:solidFill>
                    </a:lnL>
                    <a:lnR w="9525">
                      <a:solidFill>
                        <a:srgbClr val="808080"/>
                      </a:solidFill>
                    </a:lnR>
                    <a:lnT w="9525">
                      <a:solidFill>
                        <a:srgbClr val="808080"/>
                      </a:solidFill>
                    </a:lnT>
                    <a:lnB w="9525">
                      <a:solidFill>
                        <a:srgbClr val="808080"/>
                      </a:solidFill>
                    </a:lnB>
                    <a:solidFill>
                      <a:srgbClr val="52AE32"/>
                    </a:solidFill>
                  </a:tcPr>
                </a:tc>
                <a:tc>
                  <a:txBody>
                    <a:bodyPr wrap="square"/>
                    <a:lstStyle/>
                    <a:p>
                      <a:pPr algn="ctr"/>
                      <a:r>
                        <a:rPr sz="1100" b="0" i="0" u="none">
                          <a:solidFill>
                            <a:srgbClr val="000000"/>
                          </a:solidFill>
                          <a:latin typeface="Arial"/>
                          <a:ea typeface="Arial"/>
                          <a:cs typeface="Arial"/>
                        </a:rPr>
                        <a:t/>
                      </a:r>
                    </a:p>
                  </a:txBody>
                  <a:tcPr marL="27432" marR="27432" marT="18288" marB="18288" anchor="ctr">
                    <a:lnL w="9525">
                      <a:solidFill>
                        <a:srgbClr val="808080"/>
                      </a:solidFill>
                    </a:lnL>
                    <a:lnR w="9525">
                      <a:solidFill>
                        <a:srgbClr val="808080"/>
                      </a:solidFill>
                    </a:lnR>
                    <a:lnT w="9525">
                      <a:solidFill>
                        <a:srgbClr val="808080"/>
                      </a:solidFill>
                    </a:lnT>
                    <a:lnB w="9525">
                      <a:solidFill>
                        <a:srgbClr val="808080"/>
                      </a:solidFill>
                    </a:lnB>
                    <a:solidFill>
                      <a:srgbClr val="52AE32"/>
                    </a:solidFill>
                  </a:tcPr>
                </a:tc>
                <a:tc>
                  <a:txBody>
                    <a:bodyPr wrap="square"/>
                    <a:lstStyle/>
                    <a:p>
                      <a:pPr algn="ctr"/>
                      <a:r>
                        <a:rPr sz="1100" b="0" i="0" u="none">
                          <a:solidFill>
                            <a:srgbClr val="000000"/>
                          </a:solidFill>
                          <a:latin typeface="Arial"/>
                          <a:ea typeface="Arial"/>
                          <a:cs typeface="Arial"/>
                        </a:rPr>
                        <a:t/>
                      </a:r>
                    </a:p>
                  </a:txBody>
                  <a:tcPr marL="27432" marR="27432" marT="18288" marB="18288" anchor="ctr">
                    <a:lnL w="9525">
                      <a:solidFill>
                        <a:srgbClr val="808080"/>
                      </a:solidFill>
                    </a:lnL>
                    <a:lnR w="9525">
                      <a:solidFill>
                        <a:srgbClr val="808080"/>
                      </a:solidFill>
                    </a:lnR>
                    <a:lnT w="9525">
                      <a:solidFill>
                        <a:srgbClr val="808080"/>
                      </a:solidFill>
                    </a:lnT>
                    <a:lnB w="9525">
                      <a:solidFill>
                        <a:srgbClr val="808080"/>
                      </a:solidFill>
                    </a:lnB>
                    <a:solidFill>
                      <a:srgbClr val="52AE32"/>
                    </a:solidFill>
                  </a:tcPr>
                </a:tc>
                <a:tc>
                  <a:txBody>
                    <a:bodyPr wrap="square"/>
                    <a:lstStyle/>
                    <a:p>
                      <a:pPr algn="ctr"/>
                      <a:r>
                        <a:rPr sz="1100" b="0" i="0" u="none">
                          <a:solidFill>
                            <a:srgbClr val="000000"/>
                          </a:solidFill>
                          <a:latin typeface="Arial"/>
                          <a:ea typeface="Arial"/>
                          <a:cs typeface="Arial"/>
                        </a:rPr>
                        <a:t/>
                      </a:r>
                    </a:p>
                  </a:txBody>
                  <a:tcPr marL="27432" marR="27432" marT="18288" marB="18288" anchor="ctr">
                    <a:lnL w="9525">
                      <a:solidFill>
                        <a:srgbClr val="808080"/>
                      </a:solidFill>
                    </a:lnL>
                    <a:lnR w="9525">
                      <a:solidFill>
                        <a:srgbClr val="808080"/>
                      </a:solidFill>
                    </a:lnR>
                    <a:lnT w="9525">
                      <a:solidFill>
                        <a:srgbClr val="808080"/>
                      </a:solidFill>
                    </a:lnT>
                    <a:lnB w="9525">
                      <a:solidFill>
                        <a:srgbClr val="808080"/>
                      </a:solidFill>
                    </a:lnB>
                    <a:solidFill>
                      <a:srgbClr val="52AE32"/>
                    </a:solidFill>
                  </a:tcPr>
                </a:tc>
              </a:tr>
              <a:tr h="438912">
                <a:tc>
                  <a:txBody>
                    <a:bodyPr wrap="square"/>
                    <a:lstStyle/>
                    <a:p>
                      <a:pPr algn="l"/>
                      <a:r>
                        <a:rPr sz="1100" b="0" i="0" u="none">
                          <a:solidFill>
                            <a:srgbClr val="000000"/>
                          </a:solidFill>
                          <a:latin typeface="Arial"/>
                          <a:ea typeface="Arial"/>
                          <a:cs typeface="Arial"/>
                        </a:rPr>
                        <a:t/>
                      </a:r>
                    </a:p>
                  </a:txBody>
                  <a:tcPr marL="27432" marR="27432" marT="18288" marB="18288" anchor="ctr">
                    <a:lnL w="9525">
                      <a:solidFill>
                        <a:srgbClr val="808080"/>
                      </a:solidFill>
                    </a:lnL>
                    <a:lnR w="9525">
                      <a:solidFill>
                        <a:srgbClr val="808080"/>
                      </a:solidFill>
                    </a:lnR>
                    <a:lnT w="9525">
                      <a:solidFill>
                        <a:srgbClr val="808080"/>
                      </a:solidFill>
                    </a:lnT>
                    <a:lnB w="9525">
                      <a:solidFill>
                        <a:srgbClr val="808080"/>
                      </a:solidFill>
                    </a:lnB>
                    <a:solidFill>
                      <a:srgbClr val="52AE32"/>
                    </a:solidFill>
                  </a:tcPr>
                </a:tc>
                <a:tc>
                  <a:txBody>
                    <a:bodyPr wrap="square"/>
                    <a:lstStyle/>
                    <a:p>
                      <a:pPr algn="ctr"/>
                      <a:r>
                        <a:rPr sz="1100" b="0" i="0" u="none">
                          <a:solidFill>
                            <a:srgbClr val="000000"/>
                          </a:solidFill>
                          <a:latin typeface="Arial"/>
                          <a:ea typeface="Arial"/>
                          <a:cs typeface="Arial"/>
                        </a:rPr>
                        <a:t/>
                      </a:r>
                    </a:p>
                  </a:txBody>
                  <a:tcPr marL="27432" marR="27432" marT="18288" marB="18288" anchor="ctr">
                    <a:lnL w="9525">
                      <a:solidFill>
                        <a:srgbClr val="808080"/>
                      </a:solidFill>
                    </a:lnL>
                    <a:lnR w="9525">
                      <a:solidFill>
                        <a:srgbClr val="808080"/>
                      </a:solidFill>
                    </a:lnR>
                    <a:lnT w="9525">
                      <a:solidFill>
                        <a:srgbClr val="808080"/>
                      </a:solidFill>
                    </a:lnT>
                    <a:lnB w="9525">
                      <a:solidFill>
                        <a:srgbClr val="808080"/>
                      </a:solidFill>
                    </a:lnB>
                    <a:solidFill>
                      <a:srgbClr val="52AE32"/>
                    </a:solidFill>
                  </a:tcPr>
                </a:tc>
                <a:tc>
                  <a:txBody>
                    <a:bodyPr wrap="square"/>
                    <a:lstStyle/>
                    <a:p>
                      <a:pPr algn="ctr"/>
                      <a:r>
                        <a:rPr sz="1100" b="0" i="0" u="none">
                          <a:solidFill>
                            <a:srgbClr val="000000"/>
                          </a:solidFill>
                          <a:latin typeface="Arial"/>
                          <a:ea typeface="Arial"/>
                          <a:cs typeface="Arial"/>
                        </a:rPr>
                        <a:t/>
                      </a:r>
                    </a:p>
                  </a:txBody>
                  <a:tcPr marL="27432" marR="27432" marT="18288" marB="18288" anchor="ctr">
                    <a:lnL w="9525">
                      <a:solidFill>
                        <a:srgbClr val="808080"/>
                      </a:solidFill>
                    </a:lnL>
                    <a:lnR w="9525">
                      <a:solidFill>
                        <a:srgbClr val="808080"/>
                      </a:solidFill>
                    </a:lnR>
                    <a:lnT w="9525">
                      <a:solidFill>
                        <a:srgbClr val="808080"/>
                      </a:solidFill>
                    </a:lnT>
                    <a:lnB w="9525">
                      <a:solidFill>
                        <a:srgbClr val="808080"/>
                      </a:solidFill>
                    </a:lnB>
                    <a:solidFill>
                      <a:srgbClr val="52AE32"/>
                    </a:solidFill>
                  </a:tcPr>
                </a:tc>
                <a:tc>
                  <a:txBody>
                    <a:bodyPr wrap="square"/>
                    <a:lstStyle/>
                    <a:p>
                      <a:pPr algn="ctr"/>
                      <a:r>
                        <a:rPr sz="1100" b="0" i="0" u="none">
                          <a:solidFill>
                            <a:srgbClr val="000000"/>
                          </a:solidFill>
                          <a:latin typeface="Arial"/>
                          <a:ea typeface="Arial"/>
                          <a:cs typeface="Arial"/>
                        </a:rPr>
                        <a:t/>
                      </a:r>
                    </a:p>
                  </a:txBody>
                  <a:tcPr marL="27432" marR="27432" marT="18288" marB="18288" anchor="ctr">
                    <a:lnL w="9525">
                      <a:solidFill>
                        <a:srgbClr val="808080"/>
                      </a:solidFill>
                    </a:lnL>
                    <a:lnR w="9525">
                      <a:solidFill>
                        <a:srgbClr val="808080"/>
                      </a:solidFill>
                    </a:lnR>
                    <a:lnT w="9525">
                      <a:solidFill>
                        <a:srgbClr val="808080"/>
                      </a:solidFill>
                    </a:lnT>
                    <a:lnB w="9525">
                      <a:solidFill>
                        <a:srgbClr val="808080"/>
                      </a:solidFill>
                    </a:lnB>
                    <a:solidFill>
                      <a:srgbClr val="52AE32"/>
                    </a:solidFill>
                  </a:tcPr>
                </a:tc>
                <a:tc>
                  <a:txBody>
                    <a:bodyPr wrap="square"/>
                    <a:lstStyle/>
                    <a:p>
                      <a:pPr algn="ctr"/>
                      <a:r>
                        <a:rPr sz="1100" b="0" i="0" u="none">
                          <a:solidFill>
                            <a:srgbClr val="000000"/>
                          </a:solidFill>
                          <a:latin typeface="Arial"/>
                          <a:ea typeface="Arial"/>
                          <a:cs typeface="Arial"/>
                        </a:rPr>
                        <a:t/>
                      </a:r>
                    </a:p>
                  </a:txBody>
                  <a:tcPr marL="27432" marR="27432" marT="18288" marB="18288" anchor="ctr">
                    <a:lnL w="9525">
                      <a:solidFill>
                        <a:srgbClr val="808080"/>
                      </a:solidFill>
                    </a:lnL>
                    <a:lnR w="9525">
                      <a:solidFill>
                        <a:srgbClr val="808080"/>
                      </a:solidFill>
                    </a:lnR>
                    <a:lnT w="9525">
                      <a:solidFill>
                        <a:srgbClr val="808080"/>
                      </a:solidFill>
                    </a:lnT>
                    <a:lnB w="9525">
                      <a:solidFill>
                        <a:srgbClr val="808080"/>
                      </a:solidFill>
                    </a:lnB>
                    <a:solidFill>
                      <a:srgbClr val="52AE32"/>
                    </a:solidFill>
                  </a:tcPr>
                </a:tc>
                <a:tc>
                  <a:txBody>
                    <a:bodyPr wrap="square"/>
                    <a:lstStyle/>
                    <a:p>
                      <a:pPr algn="ctr"/>
                      <a:r>
                        <a:rPr sz="1100" b="0" i="0" u="none">
                          <a:solidFill>
                            <a:srgbClr val="000000"/>
                          </a:solidFill>
                          <a:latin typeface="Arial"/>
                          <a:ea typeface="Arial"/>
                          <a:cs typeface="Arial"/>
                        </a:rPr>
                        <a:t/>
                      </a:r>
                    </a:p>
                  </a:txBody>
                  <a:tcPr marL="27432" marR="27432" marT="18288" marB="18288" anchor="ctr">
                    <a:lnL w="9525">
                      <a:solidFill>
                        <a:srgbClr val="808080"/>
                      </a:solidFill>
                    </a:lnL>
                    <a:lnR w="9525">
                      <a:solidFill>
                        <a:srgbClr val="808080"/>
                      </a:solidFill>
                    </a:lnR>
                    <a:lnT w="9525">
                      <a:solidFill>
                        <a:srgbClr val="808080"/>
                      </a:solidFill>
                    </a:lnT>
                    <a:lnB w="9525">
                      <a:solidFill>
                        <a:srgbClr val="808080"/>
                      </a:solidFill>
                    </a:lnB>
                    <a:solidFill>
                      <a:srgbClr val="52AE32"/>
                    </a:solidFill>
                  </a:tcPr>
                </a:tc>
                <a:tc>
                  <a:txBody>
                    <a:bodyPr wrap="square"/>
                    <a:lstStyle/>
                    <a:p>
                      <a:pPr algn="ctr"/>
                      <a:r>
                        <a:rPr sz="1100" b="0" i="0" u="none">
                          <a:solidFill>
                            <a:srgbClr val="000000"/>
                          </a:solidFill>
                          <a:latin typeface="Arial"/>
                          <a:ea typeface="Arial"/>
                          <a:cs typeface="Arial"/>
                        </a:rPr>
                        <a:t/>
                      </a:r>
                    </a:p>
                  </a:txBody>
                  <a:tcPr marL="27432" marR="27432" marT="18288" marB="18288" anchor="ctr">
                    <a:lnL w="9525">
                      <a:solidFill>
                        <a:srgbClr val="808080"/>
                      </a:solidFill>
                    </a:lnL>
                    <a:lnR w="9525">
                      <a:solidFill>
                        <a:srgbClr val="808080"/>
                      </a:solidFill>
                    </a:lnR>
                    <a:lnT w="9525">
                      <a:solidFill>
                        <a:srgbClr val="808080"/>
                      </a:solidFill>
                    </a:lnT>
                    <a:lnB w="9525">
                      <a:solidFill>
                        <a:srgbClr val="808080"/>
                      </a:solidFill>
                    </a:lnB>
                    <a:solidFill>
                      <a:srgbClr val="52AE32"/>
                    </a:solidFill>
                  </a:tcPr>
                </a:tc>
                <a:tc>
                  <a:txBody>
                    <a:bodyPr wrap="square"/>
                    <a:lstStyle/>
                    <a:p>
                      <a:pPr algn="ctr"/>
                      <a:r>
                        <a:rPr sz="1100" b="0" i="0" u="none">
                          <a:solidFill>
                            <a:srgbClr val="000000"/>
                          </a:solidFill>
                          <a:latin typeface="Arial"/>
                          <a:ea typeface="Arial"/>
                          <a:cs typeface="Arial"/>
                        </a:rPr>
                        <a:t/>
                      </a:r>
                    </a:p>
                  </a:txBody>
                  <a:tcPr marL="27432" marR="27432" marT="18288" marB="18288" anchor="ctr">
                    <a:lnL w="9525">
                      <a:solidFill>
                        <a:srgbClr val="808080"/>
                      </a:solidFill>
                    </a:lnL>
                    <a:lnR w="9525">
                      <a:solidFill>
                        <a:srgbClr val="808080"/>
                      </a:solidFill>
                    </a:lnR>
                    <a:lnT w="9525">
                      <a:solidFill>
                        <a:srgbClr val="808080"/>
                      </a:solidFill>
                    </a:lnT>
                    <a:lnB w="9525">
                      <a:solidFill>
                        <a:srgbClr val="808080"/>
                      </a:solidFill>
                    </a:lnB>
                    <a:solidFill>
                      <a:srgbClr val="52AE32"/>
                    </a:solidFill>
                  </a:tcPr>
                </a:tc>
                <a:tc>
                  <a:txBody>
                    <a:bodyPr wrap="square"/>
                    <a:lstStyle/>
                    <a:p>
                      <a:pPr algn="ctr"/>
                      <a:r>
                        <a:rPr sz="1100" b="0" i="0" u="none">
                          <a:solidFill>
                            <a:srgbClr val="000000"/>
                          </a:solidFill>
                          <a:latin typeface="Arial"/>
                          <a:ea typeface="Arial"/>
                          <a:cs typeface="Arial"/>
                        </a:rPr>
                        <a:t/>
                      </a:r>
                    </a:p>
                  </a:txBody>
                  <a:tcPr marL="27432" marR="27432" marT="18288" marB="18288" anchor="ctr">
                    <a:lnL w="9525">
                      <a:solidFill>
                        <a:srgbClr val="808080"/>
                      </a:solidFill>
                    </a:lnL>
                    <a:lnR w="9525">
                      <a:solidFill>
                        <a:srgbClr val="808080"/>
                      </a:solidFill>
                    </a:lnR>
                    <a:lnT w="9525">
                      <a:solidFill>
                        <a:srgbClr val="808080"/>
                      </a:solidFill>
                    </a:lnT>
                    <a:lnB w="9525">
                      <a:solidFill>
                        <a:srgbClr val="808080"/>
                      </a:solidFill>
                    </a:lnB>
                    <a:solidFill>
                      <a:srgbClr val="52AE32"/>
                    </a:solidFill>
                  </a:tcPr>
                </a:tc>
              </a:tr>
              <a:tr h="438912">
                <a:tc>
                  <a:txBody>
                    <a:bodyPr wrap="square"/>
                    <a:lstStyle/>
                    <a:p>
                      <a:pPr algn="l"/>
                      <a:r>
                        <a:rPr sz="1100" b="0" i="0" u="none">
                          <a:solidFill>
                            <a:srgbClr val="000000"/>
                          </a:solidFill>
                          <a:latin typeface="Arial"/>
                          <a:ea typeface="Arial"/>
                          <a:cs typeface="Arial"/>
                        </a:rPr>
                        <a:t/>
                      </a:r>
                    </a:p>
                  </a:txBody>
                  <a:tcPr marL="27432" marR="27432" marT="18288" marB="18288" anchor="ctr">
                    <a:lnL w="9525">
                      <a:solidFill>
                        <a:srgbClr val="808080"/>
                      </a:solidFill>
                    </a:lnL>
                    <a:lnR w="9525">
                      <a:solidFill>
                        <a:srgbClr val="808080"/>
                      </a:solidFill>
                    </a:lnR>
                    <a:lnT w="9525">
                      <a:solidFill>
                        <a:srgbClr val="808080"/>
                      </a:solidFill>
                    </a:lnT>
                    <a:lnB w="9525">
                      <a:solidFill>
                        <a:srgbClr val="808080"/>
                      </a:solidFill>
                    </a:lnB>
                    <a:solidFill>
                      <a:srgbClr val="52AE32"/>
                    </a:solidFill>
                  </a:tcPr>
                </a:tc>
                <a:tc>
                  <a:txBody>
                    <a:bodyPr wrap="square"/>
                    <a:lstStyle/>
                    <a:p>
                      <a:pPr algn="ctr"/>
                      <a:r>
                        <a:rPr sz="1100" b="0" i="0" u="none">
                          <a:solidFill>
                            <a:srgbClr val="000000"/>
                          </a:solidFill>
                          <a:latin typeface="Arial"/>
                          <a:ea typeface="Arial"/>
                          <a:cs typeface="Arial"/>
                        </a:rPr>
                        <a:t/>
                      </a:r>
                    </a:p>
                  </a:txBody>
                  <a:tcPr marL="27432" marR="27432" marT="18288" marB="18288" anchor="ctr">
                    <a:lnL w="9525">
                      <a:solidFill>
                        <a:srgbClr val="808080"/>
                      </a:solidFill>
                    </a:lnL>
                    <a:lnR w="9525">
                      <a:solidFill>
                        <a:srgbClr val="808080"/>
                      </a:solidFill>
                    </a:lnR>
                    <a:lnT w="9525">
                      <a:solidFill>
                        <a:srgbClr val="808080"/>
                      </a:solidFill>
                    </a:lnT>
                    <a:lnB w="9525">
                      <a:solidFill>
                        <a:srgbClr val="808080"/>
                      </a:solidFill>
                    </a:lnB>
                    <a:solidFill>
                      <a:srgbClr val="52AE32"/>
                    </a:solidFill>
                  </a:tcPr>
                </a:tc>
                <a:tc>
                  <a:txBody>
                    <a:bodyPr wrap="square"/>
                    <a:lstStyle/>
                    <a:p>
                      <a:pPr algn="ctr"/>
                      <a:r>
                        <a:rPr sz="1100" b="0" i="0" u="none">
                          <a:solidFill>
                            <a:srgbClr val="000000"/>
                          </a:solidFill>
                          <a:latin typeface="Arial"/>
                          <a:ea typeface="Arial"/>
                          <a:cs typeface="Arial"/>
                        </a:rPr>
                        <a:t/>
                      </a:r>
                    </a:p>
                  </a:txBody>
                  <a:tcPr marL="27432" marR="27432" marT="18288" marB="18288" anchor="ctr">
                    <a:lnL w="9525">
                      <a:solidFill>
                        <a:srgbClr val="808080"/>
                      </a:solidFill>
                    </a:lnL>
                    <a:lnR w="9525">
                      <a:solidFill>
                        <a:srgbClr val="808080"/>
                      </a:solidFill>
                    </a:lnR>
                    <a:lnT w="9525">
                      <a:solidFill>
                        <a:srgbClr val="808080"/>
                      </a:solidFill>
                    </a:lnT>
                    <a:lnB w="9525">
                      <a:solidFill>
                        <a:srgbClr val="808080"/>
                      </a:solidFill>
                    </a:lnB>
                    <a:solidFill>
                      <a:srgbClr val="52AE32"/>
                    </a:solidFill>
                  </a:tcPr>
                </a:tc>
                <a:tc>
                  <a:txBody>
                    <a:bodyPr wrap="square"/>
                    <a:lstStyle/>
                    <a:p>
                      <a:pPr algn="ctr"/>
                      <a:r>
                        <a:rPr sz="1100" b="0" i="0" u="none">
                          <a:solidFill>
                            <a:srgbClr val="000000"/>
                          </a:solidFill>
                          <a:latin typeface="Arial"/>
                          <a:ea typeface="Arial"/>
                          <a:cs typeface="Arial"/>
                        </a:rPr>
                        <a:t/>
                      </a:r>
                    </a:p>
                  </a:txBody>
                  <a:tcPr marL="27432" marR="27432" marT="18288" marB="18288" anchor="ctr">
                    <a:lnL w="9525">
                      <a:solidFill>
                        <a:srgbClr val="808080"/>
                      </a:solidFill>
                    </a:lnL>
                    <a:lnR w="9525">
                      <a:solidFill>
                        <a:srgbClr val="808080"/>
                      </a:solidFill>
                    </a:lnR>
                    <a:lnT w="9525">
                      <a:solidFill>
                        <a:srgbClr val="808080"/>
                      </a:solidFill>
                    </a:lnT>
                    <a:lnB w="9525">
                      <a:solidFill>
                        <a:srgbClr val="808080"/>
                      </a:solidFill>
                    </a:lnB>
                    <a:solidFill>
                      <a:srgbClr val="52AE32"/>
                    </a:solidFill>
                  </a:tcPr>
                </a:tc>
                <a:tc>
                  <a:txBody>
                    <a:bodyPr wrap="square"/>
                    <a:lstStyle/>
                    <a:p>
                      <a:pPr algn="ctr"/>
                      <a:r>
                        <a:rPr sz="1100" b="0" i="0" u="none">
                          <a:solidFill>
                            <a:srgbClr val="000000"/>
                          </a:solidFill>
                          <a:latin typeface="Arial"/>
                          <a:ea typeface="Arial"/>
                          <a:cs typeface="Arial"/>
                        </a:rPr>
                        <a:t/>
                      </a:r>
                    </a:p>
                  </a:txBody>
                  <a:tcPr marL="27432" marR="27432" marT="18288" marB="18288" anchor="ctr">
                    <a:lnL w="9525">
                      <a:solidFill>
                        <a:srgbClr val="808080"/>
                      </a:solidFill>
                    </a:lnL>
                    <a:lnR w="9525">
                      <a:solidFill>
                        <a:srgbClr val="808080"/>
                      </a:solidFill>
                    </a:lnR>
                    <a:lnT w="9525">
                      <a:solidFill>
                        <a:srgbClr val="808080"/>
                      </a:solidFill>
                    </a:lnT>
                    <a:lnB w="9525">
                      <a:solidFill>
                        <a:srgbClr val="808080"/>
                      </a:solidFill>
                    </a:lnB>
                    <a:solidFill>
                      <a:srgbClr val="52AE32"/>
                    </a:solidFill>
                  </a:tcPr>
                </a:tc>
                <a:tc>
                  <a:txBody>
                    <a:bodyPr wrap="square"/>
                    <a:lstStyle/>
                    <a:p>
                      <a:pPr algn="ctr"/>
                      <a:r>
                        <a:rPr sz="1100" b="0" i="0" u="none">
                          <a:solidFill>
                            <a:srgbClr val="000000"/>
                          </a:solidFill>
                          <a:latin typeface="Arial"/>
                          <a:ea typeface="Arial"/>
                          <a:cs typeface="Arial"/>
                        </a:rPr>
                        <a:t/>
                      </a:r>
                    </a:p>
                  </a:txBody>
                  <a:tcPr marL="27432" marR="27432" marT="18288" marB="18288" anchor="ctr">
                    <a:lnL w="9525">
                      <a:solidFill>
                        <a:srgbClr val="808080"/>
                      </a:solidFill>
                    </a:lnL>
                    <a:lnR w="9525">
                      <a:solidFill>
                        <a:srgbClr val="808080"/>
                      </a:solidFill>
                    </a:lnR>
                    <a:lnT w="9525">
                      <a:solidFill>
                        <a:srgbClr val="808080"/>
                      </a:solidFill>
                    </a:lnT>
                    <a:lnB w="9525">
                      <a:solidFill>
                        <a:srgbClr val="808080"/>
                      </a:solidFill>
                    </a:lnB>
                    <a:solidFill>
                      <a:srgbClr val="52AE32"/>
                    </a:solidFill>
                  </a:tcPr>
                </a:tc>
                <a:tc>
                  <a:txBody>
                    <a:bodyPr wrap="square"/>
                    <a:lstStyle/>
                    <a:p>
                      <a:pPr algn="ctr"/>
                      <a:r>
                        <a:rPr sz="1100" b="0" i="0" u="none">
                          <a:solidFill>
                            <a:srgbClr val="000000"/>
                          </a:solidFill>
                          <a:latin typeface="Arial"/>
                          <a:ea typeface="Arial"/>
                          <a:cs typeface="Arial"/>
                        </a:rPr>
                        <a:t/>
                      </a:r>
                    </a:p>
                  </a:txBody>
                  <a:tcPr marL="27432" marR="27432" marT="18288" marB="18288" anchor="ctr">
                    <a:lnL w="9525">
                      <a:solidFill>
                        <a:srgbClr val="808080"/>
                      </a:solidFill>
                    </a:lnL>
                    <a:lnR w="9525">
                      <a:solidFill>
                        <a:srgbClr val="808080"/>
                      </a:solidFill>
                    </a:lnR>
                    <a:lnT w="9525">
                      <a:solidFill>
                        <a:srgbClr val="808080"/>
                      </a:solidFill>
                    </a:lnT>
                    <a:lnB w="9525">
                      <a:solidFill>
                        <a:srgbClr val="808080"/>
                      </a:solidFill>
                    </a:lnB>
                    <a:solidFill>
                      <a:srgbClr val="52AE32"/>
                    </a:solidFill>
                  </a:tcPr>
                </a:tc>
                <a:tc>
                  <a:txBody>
                    <a:bodyPr wrap="square"/>
                    <a:lstStyle/>
                    <a:p>
                      <a:pPr algn="ctr"/>
                      <a:r>
                        <a:rPr sz="1100" b="0" i="0" u="none">
                          <a:solidFill>
                            <a:srgbClr val="000000"/>
                          </a:solidFill>
                          <a:latin typeface="Arial"/>
                          <a:ea typeface="Arial"/>
                          <a:cs typeface="Arial"/>
                        </a:rPr>
                        <a:t/>
                      </a:r>
                    </a:p>
                  </a:txBody>
                  <a:tcPr marL="27432" marR="27432" marT="18288" marB="18288" anchor="ctr">
                    <a:lnL w="9525">
                      <a:solidFill>
                        <a:srgbClr val="808080"/>
                      </a:solidFill>
                    </a:lnL>
                    <a:lnR w="9525">
                      <a:solidFill>
                        <a:srgbClr val="808080"/>
                      </a:solidFill>
                    </a:lnR>
                    <a:lnT w="9525">
                      <a:solidFill>
                        <a:srgbClr val="808080"/>
                      </a:solidFill>
                    </a:lnT>
                    <a:lnB w="9525">
                      <a:solidFill>
                        <a:srgbClr val="808080"/>
                      </a:solidFill>
                    </a:lnB>
                    <a:solidFill>
                      <a:srgbClr val="52AE32"/>
                    </a:solidFill>
                  </a:tcPr>
                </a:tc>
                <a:tc>
                  <a:txBody>
                    <a:bodyPr wrap="square"/>
                    <a:lstStyle/>
                    <a:p>
                      <a:pPr algn="ctr"/>
                      <a:r>
                        <a:rPr sz="1100" b="0" i="0" u="none">
                          <a:solidFill>
                            <a:srgbClr val="000000"/>
                          </a:solidFill>
                          <a:latin typeface="Arial"/>
                          <a:ea typeface="Arial"/>
                          <a:cs typeface="Arial"/>
                        </a:rPr>
                        <a:t/>
                      </a:r>
                    </a:p>
                  </a:txBody>
                  <a:tcPr marL="27432" marR="27432" marT="18288" marB="18288" anchor="ctr">
                    <a:lnL w="9525">
                      <a:solidFill>
                        <a:srgbClr val="808080"/>
                      </a:solidFill>
                    </a:lnL>
                    <a:lnR w="9525">
                      <a:solidFill>
                        <a:srgbClr val="808080"/>
                      </a:solidFill>
                    </a:lnR>
                    <a:lnT w="9525">
                      <a:solidFill>
                        <a:srgbClr val="808080"/>
                      </a:solidFill>
                    </a:lnT>
                    <a:lnB w="9525">
                      <a:solidFill>
                        <a:srgbClr val="808080"/>
                      </a:solidFill>
                    </a:lnB>
                    <a:solidFill>
                      <a:srgbClr val="52AE32"/>
                    </a:solidFill>
                  </a:tcPr>
                </a:tc>
              </a:tr>
              <a:tr h="438912">
                <a:tc>
                  <a:txBody>
                    <a:bodyPr wrap="square"/>
                    <a:lstStyle/>
                    <a:p>
                      <a:pPr algn="l"/>
                      <a:r>
                        <a:rPr sz="1100" b="0" i="0" u="none">
                          <a:solidFill>
                            <a:srgbClr val="000000"/>
                          </a:solidFill>
                          <a:latin typeface="Arial"/>
                          <a:ea typeface="Arial"/>
                          <a:cs typeface="Arial"/>
                        </a:rPr>
                        <a:t/>
                      </a:r>
                    </a:p>
                  </a:txBody>
                  <a:tcPr marL="27432" marR="27432" marT="18288" marB="18288" anchor="ctr">
                    <a:lnL w="9525">
                      <a:solidFill>
                        <a:srgbClr val="808080"/>
                      </a:solidFill>
                    </a:lnL>
                    <a:lnR w="9525">
                      <a:solidFill>
                        <a:srgbClr val="808080"/>
                      </a:solidFill>
                    </a:lnR>
                    <a:lnT w="9525">
                      <a:solidFill>
                        <a:srgbClr val="808080"/>
                      </a:solidFill>
                    </a:lnT>
                    <a:lnB w="9525">
                      <a:solidFill>
                        <a:srgbClr val="808080"/>
                      </a:solidFill>
                    </a:lnB>
                    <a:solidFill>
                      <a:srgbClr val="52AE32"/>
                    </a:solidFill>
                  </a:tcPr>
                </a:tc>
                <a:tc>
                  <a:txBody>
                    <a:bodyPr wrap="square"/>
                    <a:lstStyle/>
                    <a:p>
                      <a:pPr algn="ctr"/>
                      <a:r>
                        <a:rPr sz="1100" b="0" i="0" u="none">
                          <a:solidFill>
                            <a:srgbClr val="000000"/>
                          </a:solidFill>
                          <a:latin typeface="Arial"/>
                          <a:ea typeface="Arial"/>
                          <a:cs typeface="Arial"/>
                        </a:rPr>
                        <a:t/>
                      </a:r>
                    </a:p>
                  </a:txBody>
                  <a:tcPr marL="27432" marR="27432" marT="18288" marB="18288" anchor="ctr">
                    <a:lnL w="9525">
                      <a:solidFill>
                        <a:srgbClr val="808080"/>
                      </a:solidFill>
                    </a:lnL>
                    <a:lnR w="9525">
                      <a:solidFill>
                        <a:srgbClr val="808080"/>
                      </a:solidFill>
                    </a:lnR>
                    <a:lnT w="9525">
                      <a:solidFill>
                        <a:srgbClr val="808080"/>
                      </a:solidFill>
                    </a:lnT>
                    <a:lnB w="9525">
                      <a:solidFill>
                        <a:srgbClr val="808080"/>
                      </a:solidFill>
                    </a:lnB>
                    <a:solidFill>
                      <a:srgbClr val="52AE32"/>
                    </a:solidFill>
                  </a:tcPr>
                </a:tc>
                <a:tc>
                  <a:txBody>
                    <a:bodyPr wrap="square"/>
                    <a:lstStyle/>
                    <a:p>
                      <a:pPr algn="ctr"/>
                      <a:r>
                        <a:rPr sz="1100" b="0" i="0" u="none">
                          <a:solidFill>
                            <a:srgbClr val="000000"/>
                          </a:solidFill>
                          <a:latin typeface="Arial"/>
                          <a:ea typeface="Arial"/>
                          <a:cs typeface="Arial"/>
                        </a:rPr>
                        <a:t/>
                      </a:r>
                    </a:p>
                  </a:txBody>
                  <a:tcPr marL="27432" marR="27432" marT="18288" marB="18288" anchor="ctr">
                    <a:lnL w="9525">
                      <a:solidFill>
                        <a:srgbClr val="808080"/>
                      </a:solidFill>
                    </a:lnL>
                    <a:lnR w="9525">
                      <a:solidFill>
                        <a:srgbClr val="808080"/>
                      </a:solidFill>
                    </a:lnR>
                    <a:lnT w="9525">
                      <a:solidFill>
                        <a:srgbClr val="808080"/>
                      </a:solidFill>
                    </a:lnT>
                    <a:lnB w="9525">
                      <a:solidFill>
                        <a:srgbClr val="808080"/>
                      </a:solidFill>
                    </a:lnB>
                    <a:solidFill>
                      <a:srgbClr val="52AE32"/>
                    </a:solidFill>
                  </a:tcPr>
                </a:tc>
                <a:tc>
                  <a:txBody>
                    <a:bodyPr wrap="square"/>
                    <a:lstStyle/>
                    <a:p>
                      <a:pPr algn="ctr"/>
                      <a:r>
                        <a:rPr sz="1100" b="0" i="0" u="none">
                          <a:solidFill>
                            <a:srgbClr val="000000"/>
                          </a:solidFill>
                          <a:latin typeface="Arial"/>
                          <a:ea typeface="Arial"/>
                          <a:cs typeface="Arial"/>
                        </a:rPr>
                        <a:t/>
                      </a:r>
                    </a:p>
                  </a:txBody>
                  <a:tcPr marL="27432" marR="27432" marT="18288" marB="18288" anchor="ctr">
                    <a:lnL w="9525">
                      <a:solidFill>
                        <a:srgbClr val="808080"/>
                      </a:solidFill>
                    </a:lnL>
                    <a:lnR w="9525">
                      <a:solidFill>
                        <a:srgbClr val="808080"/>
                      </a:solidFill>
                    </a:lnR>
                    <a:lnT w="9525">
                      <a:solidFill>
                        <a:srgbClr val="808080"/>
                      </a:solidFill>
                    </a:lnT>
                    <a:lnB w="9525">
                      <a:solidFill>
                        <a:srgbClr val="808080"/>
                      </a:solidFill>
                    </a:lnB>
                    <a:solidFill>
                      <a:srgbClr val="52AE32"/>
                    </a:solidFill>
                  </a:tcPr>
                </a:tc>
                <a:tc>
                  <a:txBody>
                    <a:bodyPr wrap="square"/>
                    <a:lstStyle/>
                    <a:p>
                      <a:pPr algn="ctr"/>
                      <a:r>
                        <a:rPr sz="1100" b="0" i="0" u="none">
                          <a:solidFill>
                            <a:srgbClr val="000000"/>
                          </a:solidFill>
                          <a:latin typeface="Arial"/>
                          <a:ea typeface="Arial"/>
                          <a:cs typeface="Arial"/>
                        </a:rPr>
                        <a:t/>
                      </a:r>
                    </a:p>
                  </a:txBody>
                  <a:tcPr marL="27432" marR="27432" marT="18288" marB="18288" anchor="ctr">
                    <a:lnL w="9525">
                      <a:solidFill>
                        <a:srgbClr val="808080"/>
                      </a:solidFill>
                    </a:lnL>
                    <a:lnR w="9525">
                      <a:solidFill>
                        <a:srgbClr val="808080"/>
                      </a:solidFill>
                    </a:lnR>
                    <a:lnT w="9525">
                      <a:solidFill>
                        <a:srgbClr val="808080"/>
                      </a:solidFill>
                    </a:lnT>
                    <a:lnB w="9525">
                      <a:solidFill>
                        <a:srgbClr val="808080"/>
                      </a:solidFill>
                    </a:lnB>
                    <a:solidFill>
                      <a:srgbClr val="52AE32"/>
                    </a:solidFill>
                  </a:tcPr>
                </a:tc>
                <a:tc>
                  <a:txBody>
                    <a:bodyPr wrap="square"/>
                    <a:lstStyle/>
                    <a:p>
                      <a:pPr algn="ctr"/>
                      <a:r>
                        <a:rPr sz="1100" b="0" i="0" u="none">
                          <a:solidFill>
                            <a:srgbClr val="000000"/>
                          </a:solidFill>
                          <a:latin typeface="Arial"/>
                          <a:ea typeface="Arial"/>
                          <a:cs typeface="Arial"/>
                        </a:rPr>
                        <a:t/>
                      </a:r>
                    </a:p>
                  </a:txBody>
                  <a:tcPr marL="27432" marR="27432" marT="18288" marB="18288" anchor="ctr">
                    <a:lnL w="9525">
                      <a:solidFill>
                        <a:srgbClr val="808080"/>
                      </a:solidFill>
                    </a:lnL>
                    <a:lnR w="9525">
                      <a:solidFill>
                        <a:srgbClr val="808080"/>
                      </a:solidFill>
                    </a:lnR>
                    <a:lnT w="9525">
                      <a:solidFill>
                        <a:srgbClr val="808080"/>
                      </a:solidFill>
                    </a:lnT>
                    <a:lnB w="9525">
                      <a:solidFill>
                        <a:srgbClr val="808080"/>
                      </a:solidFill>
                    </a:lnB>
                    <a:solidFill>
                      <a:srgbClr val="52AE32"/>
                    </a:solidFill>
                  </a:tcPr>
                </a:tc>
                <a:tc>
                  <a:txBody>
                    <a:bodyPr wrap="square"/>
                    <a:lstStyle/>
                    <a:p>
                      <a:pPr algn="ctr"/>
                      <a:r>
                        <a:rPr sz="1100" b="0" i="0" u="none">
                          <a:solidFill>
                            <a:srgbClr val="000000"/>
                          </a:solidFill>
                          <a:latin typeface="Arial"/>
                          <a:ea typeface="Arial"/>
                          <a:cs typeface="Arial"/>
                        </a:rPr>
                        <a:t/>
                      </a:r>
                    </a:p>
                  </a:txBody>
                  <a:tcPr marL="27432" marR="27432" marT="18288" marB="18288" anchor="ctr">
                    <a:lnL w="9525">
                      <a:solidFill>
                        <a:srgbClr val="808080"/>
                      </a:solidFill>
                    </a:lnL>
                    <a:lnR w="9525">
                      <a:solidFill>
                        <a:srgbClr val="808080"/>
                      </a:solidFill>
                    </a:lnR>
                    <a:lnT w="9525">
                      <a:solidFill>
                        <a:srgbClr val="808080"/>
                      </a:solidFill>
                    </a:lnT>
                    <a:lnB w="9525">
                      <a:solidFill>
                        <a:srgbClr val="808080"/>
                      </a:solidFill>
                    </a:lnB>
                    <a:solidFill>
                      <a:srgbClr val="52AE32"/>
                    </a:solidFill>
                  </a:tcPr>
                </a:tc>
                <a:tc>
                  <a:txBody>
                    <a:bodyPr wrap="square"/>
                    <a:lstStyle/>
                    <a:p>
                      <a:pPr algn="ctr"/>
                      <a:r>
                        <a:rPr sz="1100" b="0" i="0" u="none">
                          <a:solidFill>
                            <a:srgbClr val="000000"/>
                          </a:solidFill>
                          <a:latin typeface="Arial"/>
                          <a:ea typeface="Arial"/>
                          <a:cs typeface="Arial"/>
                        </a:rPr>
                        <a:t/>
                      </a:r>
                    </a:p>
                  </a:txBody>
                  <a:tcPr marL="27432" marR="27432" marT="18288" marB="18288" anchor="ctr">
                    <a:lnL w="9525">
                      <a:solidFill>
                        <a:srgbClr val="808080"/>
                      </a:solidFill>
                    </a:lnL>
                    <a:lnR w="9525">
                      <a:solidFill>
                        <a:srgbClr val="808080"/>
                      </a:solidFill>
                    </a:lnR>
                    <a:lnT w="9525">
                      <a:solidFill>
                        <a:srgbClr val="808080"/>
                      </a:solidFill>
                    </a:lnT>
                    <a:lnB w="9525">
                      <a:solidFill>
                        <a:srgbClr val="808080"/>
                      </a:solidFill>
                    </a:lnB>
                    <a:solidFill>
                      <a:srgbClr val="52AE32"/>
                    </a:solidFill>
                  </a:tcPr>
                </a:tc>
                <a:tc>
                  <a:txBody>
                    <a:bodyPr wrap="square"/>
                    <a:lstStyle/>
                    <a:p>
                      <a:pPr algn="ctr"/>
                      <a:r>
                        <a:rPr sz="1100" b="0" i="0" u="none">
                          <a:solidFill>
                            <a:srgbClr val="000000"/>
                          </a:solidFill>
                          <a:latin typeface="Arial"/>
                          <a:ea typeface="Arial"/>
                          <a:cs typeface="Arial"/>
                        </a:rPr>
                        <a:t/>
                      </a:r>
                    </a:p>
                  </a:txBody>
                  <a:tcPr marL="27432" marR="27432" marT="18288" marB="18288" anchor="ctr">
                    <a:lnL w="9525">
                      <a:solidFill>
                        <a:srgbClr val="808080"/>
                      </a:solidFill>
                    </a:lnL>
                    <a:lnR w="9525">
                      <a:solidFill>
                        <a:srgbClr val="808080"/>
                      </a:solidFill>
                    </a:lnR>
                    <a:lnT w="9525">
                      <a:solidFill>
                        <a:srgbClr val="808080"/>
                      </a:solidFill>
                    </a:lnT>
                    <a:lnB w="9525">
                      <a:solidFill>
                        <a:srgbClr val="808080"/>
                      </a:solidFill>
                    </a:lnB>
                    <a:solidFill>
                      <a:srgbClr val="52AE32"/>
                    </a:solidFill>
                  </a:tcPr>
                </a:tc>
              </a:tr>
            </a:tbl>
          </a:graphicData>
        </a:graphic>
      </p:graphicFrame>
    </p:spTree>
    <p:extLst>
      <p:ext uri="{BB962C8B-B14F-4D97-AF65-F5344CB8AC3E}">
        <p14:creationId xmlns:p14="http://schemas.microsoft.com/office/powerpoint/2010/main" val="2972448883"/>
      </p:ext>
    </p:extLst>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141414"/>
        </a:solidFill>
        <a:effectLst/>
      </p:bgPr>
    </p:bg>
    <p:spTree>
      <p:nvGrpSpPr>
        <p:cNvPr id="1" name=""/>
        <p:cNvGrpSpPr/>
        <p:nvPr/>
      </p:nvGrpSpPr>
      <p:grpSpPr/>
      <p:sp>
        <p:nvSpPr>
          <p:cNvPr id="2" name="Title 1"/>
          <p:cNvSpPr>
            <a:spLocks noGrp="1"/>
          </p:cNvSpPr>
          <p:nvPr>
            <p:ph type="title"/>
          </p:nvPr>
        </p:nvSpPr>
        <p:spPr>
          <a:xfrm>
            <a:off x="609600" y="895350"/>
            <a:ext cx="8162544" cy="329133"/>
          </a:xfrm>
        </p:spPr>
        <p:txBody>
          <a:bodyPr wrap="square" lIns="0" rIns="0" tIns="0" bIns="0" anchor="t">
            <a:noAutofit/>
          </a:bodyPr>
          <a:lstStyle/>
          <a:p>
            <a:pPr algn="l">
              <a:lnSpc>
                <a:spcPts val="2592"/>
              </a:lnSpc>
              <a:spcBef>
                <a:spcPts val="0"/>
              </a:spcBef>
              <a:spcAft>
                <a:spcPts val="0"/>
              </a:spcAft>
            </a:pPr>
            <a:r>
              <a:rPr sz="2400" b="1" i="0" u="none" spc="-75">
                <a:solidFill>
                  <a:srgbClr val="F0F0EC"/>
                </a:solidFill>
                <a:latin typeface="Arial"/>
                <a:ea typeface="Arial"/>
                <a:cs typeface="Arial"/>
              </a:rPr>
              <a:t>In lesion neuroscience, the whole pipeline is open</a:t>
            </a:r>
          </a:p>
        </p:txBody>
      </p:sp>
      <p:cxnSp>
        <p:nvCxnSpPr>
          <p:cNvPr id="3" name="Connector 2"/>
          <p:cNvCxnSpPr/>
          <p:nvPr/>
        </p:nvCxnSpPr>
        <p:spPr>
          <a:xfrm>
            <a:off x="609600" y="1922190"/>
            <a:ext cx="1611585" cy="0"/>
          </a:xfrm>
          <a:prstGeom prst="line">
            <a:avLst/>
          </a:prstGeom>
          <a:ln w="6350">
            <a:solidFill>
              <a:srgbClr val="3B3B38"/>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2221185" y="1922190"/>
            <a:ext cx="1611660" cy="0"/>
          </a:xfrm>
          <a:prstGeom prst="line">
            <a:avLst/>
          </a:prstGeom>
          <a:ln w="6350">
            <a:solidFill>
              <a:srgbClr val="3B3B38"/>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3832845" y="1922190"/>
            <a:ext cx="1611585" cy="0"/>
          </a:xfrm>
          <a:prstGeom prst="line">
            <a:avLst/>
          </a:prstGeom>
          <a:ln w="6350">
            <a:solidFill>
              <a:srgbClr val="3B3B38"/>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444430" y="1922190"/>
            <a:ext cx="1611660" cy="0"/>
          </a:xfrm>
          <a:prstGeom prst="line">
            <a:avLst/>
          </a:prstGeom>
          <a:ln w="6350">
            <a:solidFill>
              <a:srgbClr val="3B3B38"/>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7056090" y="1922190"/>
            <a:ext cx="1478310" cy="0"/>
          </a:xfrm>
          <a:prstGeom prst="line">
            <a:avLst/>
          </a:prstGeom>
          <a:ln w="6350">
            <a:solidFill>
              <a:srgbClr val="3B3B38"/>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609600" y="3250927"/>
            <a:ext cx="7924800" cy="0"/>
          </a:xfrm>
          <a:prstGeom prst="line">
            <a:avLst/>
          </a:prstGeom>
          <a:ln w="6350">
            <a:solidFill>
              <a:srgbClr val="3B3B38"/>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09600" y="266700"/>
            <a:ext cx="5886450" cy="142875"/>
          </a:xfrm>
          <a:prstGeom prst="rect">
            <a:avLst/>
          </a:prstGeom>
          <a:noFill/>
        </p:spPr>
        <p:txBody>
          <a:bodyPr wrap="square" lIns="0" rIns="0" tIns="0" bIns="0" anchor="t">
            <a:noAutofit/>
          </a:bodyPr>
          <a:lstStyle/>
          <a:p>
            <a:pPr algn="l">
              <a:lnSpc>
                <a:spcPts val="1125"/>
              </a:lnSpc>
              <a:spcBef>
                <a:spcPts val="0"/>
              </a:spcBef>
              <a:spcAft>
                <a:spcPts val="0"/>
              </a:spcAft>
            </a:pPr>
            <a:r>
              <a:rPr sz="900" b="0" i="0" u="none" spc="75">
                <a:solidFill>
                  <a:srgbClr val="85857F"/>
                </a:solidFill>
                <a:latin typeface="Arial"/>
                <a:ea typeface="Arial"/>
                <a:cs typeface="Arial"/>
              </a:rPr>
              <a:t>WORLD STROKE CONGRESS 2026 · SEOUL</a:t>
            </a:r>
          </a:p>
        </p:txBody>
      </p:sp>
      <p:sp>
        <p:nvSpPr>
          <p:cNvPr id="10" name="TextBox 9"/>
          <p:cNvSpPr txBox="1"/>
          <p:nvPr/>
        </p:nvSpPr>
        <p:spPr>
          <a:xfrm>
            <a:off x="609600" y="609600"/>
            <a:ext cx="8162544" cy="152400"/>
          </a:xfrm>
          <a:prstGeom prst="rect">
            <a:avLst/>
          </a:prstGeom>
          <a:noFill/>
        </p:spPr>
        <p:txBody>
          <a:bodyPr wrap="square" lIns="0" rIns="0" tIns="0" bIns="0" anchor="t">
            <a:noAutofit/>
          </a:bodyPr>
          <a:lstStyle/>
          <a:p>
            <a:pPr algn="l">
              <a:lnSpc>
                <a:spcPts val="1200"/>
              </a:lnSpc>
              <a:spcBef>
                <a:spcPts val="0"/>
              </a:spcBef>
              <a:spcAft>
                <a:spcPts val="0"/>
              </a:spcAft>
            </a:pPr>
            <a:r>
              <a:rPr sz="900" b="1" i="0" u="none">
                <a:solidFill>
                  <a:srgbClr val="E8475B"/>
                </a:solidFill>
                <a:latin typeface="Arial"/>
                <a:ea typeface="Arial"/>
                <a:cs typeface="Arial"/>
              </a:rPr>
              <a:t>01</a:t>
            </a:r>
            <a:r>
              <a:rPr sz="900" b="0" i="0" u="none">
                <a:solidFill>
                  <a:srgbClr val="C6C6C0"/>
                </a:solidFill>
                <a:latin typeface="Arial"/>
                <a:ea typeface="Arial"/>
                <a:cs typeface="Arial"/>
              </a:rPr>
              <a:t>  Where I come from</a:t>
            </a:r>
          </a:p>
        </p:txBody>
      </p:sp>
      <p:sp>
        <p:nvSpPr>
          <p:cNvPr id="11" name="TextBox 10"/>
          <p:cNvSpPr txBox="1"/>
          <p:nvPr/>
        </p:nvSpPr>
        <p:spPr>
          <a:xfrm>
            <a:off x="609600" y="1357833"/>
            <a:ext cx="7358062" cy="428625"/>
          </a:xfrm>
          <a:prstGeom prst="rect">
            <a:avLst/>
          </a:prstGeom>
          <a:noFill/>
        </p:spPr>
        <p:txBody>
          <a:bodyPr wrap="square" lIns="0" rIns="0" tIns="0" bIns="0" anchor="t">
            <a:noAutofit/>
          </a:bodyPr>
          <a:lstStyle/>
          <a:p>
            <a:pPr algn="l">
              <a:lnSpc>
                <a:spcPts val="1688"/>
              </a:lnSpc>
              <a:spcBef>
                <a:spcPts val="0"/>
              </a:spcBef>
              <a:spcAft>
                <a:spcPts val="0"/>
              </a:spcAft>
            </a:pPr>
            <a:r>
              <a:rPr sz="1350" b="0" i="0" u="none">
                <a:solidFill>
                  <a:srgbClr val="C6C6C0"/>
                </a:solidFill>
                <a:latin typeface="Times New Roman"/>
                <a:ea typeface="Times New Roman"/>
                <a:cs typeface="Times New Roman"/>
              </a:rPr>
              <a:t>I came to stroke from imaging and neuroscience. There, every step of a lesion study has open-source tools and shared data.</a:t>
            </a:r>
          </a:p>
        </p:txBody>
      </p:sp>
      <p:sp>
        <p:nvSpPr>
          <p:cNvPr id="12" name="TextBox 11"/>
          <p:cNvSpPr txBox="1"/>
          <p:nvPr/>
        </p:nvSpPr>
        <p:spPr>
          <a:xfrm>
            <a:off x="609600" y="2019821"/>
            <a:ext cx="1522582" cy="142875"/>
          </a:xfrm>
          <a:prstGeom prst="rect">
            <a:avLst/>
          </a:prstGeom>
          <a:noFill/>
        </p:spPr>
        <p:txBody>
          <a:bodyPr wrap="square" lIns="0" rIns="0" tIns="0" bIns="0" anchor="t">
            <a:noAutofit/>
          </a:bodyPr>
          <a:lstStyle/>
          <a:p>
            <a:pPr algn="l">
              <a:lnSpc>
                <a:spcPts val="1125"/>
              </a:lnSpc>
              <a:spcBef>
                <a:spcPts val="0"/>
              </a:spcBef>
              <a:spcAft>
                <a:spcPts val="0"/>
              </a:spcAft>
            </a:pPr>
            <a:r>
              <a:rPr sz="900" b="1" i="0" u="none">
                <a:solidFill>
                  <a:srgbClr val="E8475B"/>
                </a:solidFill>
                <a:latin typeface="Arial"/>
                <a:ea typeface="Arial"/>
                <a:cs typeface="Arial"/>
              </a:rPr>
              <a:t>1  Segment</a:t>
            </a:r>
          </a:p>
        </p:txBody>
      </p:sp>
      <p:sp>
        <p:nvSpPr>
          <p:cNvPr id="13" name="TextBox 12"/>
          <p:cNvSpPr txBox="1"/>
          <p:nvPr/>
        </p:nvSpPr>
        <p:spPr>
          <a:xfrm>
            <a:off x="609600" y="2200796"/>
            <a:ext cx="1522582" cy="152400"/>
          </a:xfrm>
          <a:prstGeom prst="rect">
            <a:avLst/>
          </a:prstGeom>
          <a:noFill/>
        </p:spPr>
        <p:txBody>
          <a:bodyPr wrap="square" lIns="0" rIns="0" tIns="0" bIns="0" anchor="t">
            <a:noAutofit/>
          </a:bodyPr>
          <a:lstStyle/>
          <a:p>
            <a:pPr algn="l">
              <a:lnSpc>
                <a:spcPts val="1200"/>
              </a:lnSpc>
              <a:spcBef>
                <a:spcPts val="0"/>
              </a:spcBef>
              <a:spcAft>
                <a:spcPts val="0"/>
              </a:spcAft>
            </a:pPr>
            <a:r>
              <a:rPr sz="975" b="0" i="0" u="none">
                <a:solidFill>
                  <a:srgbClr val="F0F0EC"/>
                </a:solidFill>
                <a:latin typeface="Arial"/>
                <a:ea typeface="Arial"/>
                <a:cs typeface="Arial"/>
              </a:rPr>
              <a:t>MRIcron</a:t>
            </a:r>
            <a:r>
              <a:rPr sz="975" b="0" i="0" u="none">
                <a:solidFill>
                  <a:srgbClr val="85857F"/>
                </a:solidFill>
                <a:latin typeface="Arial"/>
                <a:ea typeface="Arial"/>
                <a:cs typeface="Arial"/>
              </a:rPr>
              <a:t> 2007</a:t>
            </a:r>
          </a:p>
        </p:txBody>
      </p:sp>
      <p:sp>
        <p:nvSpPr>
          <p:cNvPr id="14" name="TextBox 13"/>
          <p:cNvSpPr txBox="1"/>
          <p:nvPr/>
        </p:nvSpPr>
        <p:spPr>
          <a:xfrm>
            <a:off x="609600" y="2391296"/>
            <a:ext cx="1522582" cy="152400"/>
          </a:xfrm>
          <a:prstGeom prst="rect">
            <a:avLst/>
          </a:prstGeom>
          <a:noFill/>
        </p:spPr>
        <p:txBody>
          <a:bodyPr wrap="square" lIns="0" rIns="0" tIns="0" bIns="0" anchor="t">
            <a:noAutofit/>
          </a:bodyPr>
          <a:lstStyle/>
          <a:p>
            <a:pPr algn="l">
              <a:lnSpc>
                <a:spcPts val="1200"/>
              </a:lnSpc>
              <a:spcBef>
                <a:spcPts val="0"/>
              </a:spcBef>
              <a:spcAft>
                <a:spcPts val="0"/>
              </a:spcAft>
            </a:pPr>
            <a:r>
              <a:rPr sz="975" b="0" i="0" u="none">
                <a:solidFill>
                  <a:srgbClr val="F0F0EC"/>
                </a:solidFill>
                <a:latin typeface="Arial"/>
                <a:ea typeface="Arial"/>
                <a:cs typeface="Arial"/>
              </a:rPr>
              <a:t>ITK-SNAP</a:t>
            </a:r>
            <a:r>
              <a:rPr sz="975" b="0" i="0" u="none">
                <a:solidFill>
                  <a:srgbClr val="85857F"/>
                </a:solidFill>
                <a:latin typeface="Arial"/>
                <a:ea typeface="Arial"/>
                <a:cs typeface="Arial"/>
              </a:rPr>
              <a:t> 2006</a:t>
            </a:r>
          </a:p>
        </p:txBody>
      </p:sp>
      <p:sp>
        <p:nvSpPr>
          <p:cNvPr id="15" name="TextBox 14"/>
          <p:cNvSpPr txBox="1"/>
          <p:nvPr/>
        </p:nvSpPr>
        <p:spPr>
          <a:xfrm>
            <a:off x="609600" y="2581796"/>
            <a:ext cx="1522582" cy="152400"/>
          </a:xfrm>
          <a:prstGeom prst="rect">
            <a:avLst/>
          </a:prstGeom>
          <a:noFill/>
        </p:spPr>
        <p:txBody>
          <a:bodyPr wrap="square" lIns="0" rIns="0" tIns="0" bIns="0" anchor="t">
            <a:noAutofit/>
          </a:bodyPr>
          <a:lstStyle/>
          <a:p>
            <a:pPr algn="l">
              <a:lnSpc>
                <a:spcPts val="1200"/>
              </a:lnSpc>
              <a:spcBef>
                <a:spcPts val="0"/>
              </a:spcBef>
              <a:spcAft>
                <a:spcPts val="0"/>
              </a:spcAft>
            </a:pPr>
            <a:r>
              <a:rPr sz="975" b="0" i="0" u="none">
                <a:solidFill>
                  <a:srgbClr val="F0F0EC"/>
                </a:solidFill>
                <a:latin typeface="Arial"/>
                <a:ea typeface="Arial"/>
                <a:cs typeface="Arial"/>
              </a:rPr>
              <a:t>LINDA</a:t>
            </a:r>
            <a:r>
              <a:rPr sz="975" b="0" i="0" u="none">
                <a:solidFill>
                  <a:srgbClr val="85857F"/>
                </a:solidFill>
                <a:latin typeface="Arial"/>
                <a:ea typeface="Arial"/>
                <a:cs typeface="Arial"/>
              </a:rPr>
              <a:t> 2016</a:t>
            </a:r>
          </a:p>
        </p:txBody>
      </p:sp>
      <p:sp>
        <p:nvSpPr>
          <p:cNvPr id="16" name="TextBox 15"/>
          <p:cNvSpPr txBox="1"/>
          <p:nvPr/>
        </p:nvSpPr>
        <p:spPr>
          <a:xfrm>
            <a:off x="609600" y="2772296"/>
            <a:ext cx="1522582" cy="152400"/>
          </a:xfrm>
          <a:prstGeom prst="rect">
            <a:avLst/>
          </a:prstGeom>
          <a:noFill/>
        </p:spPr>
        <p:txBody>
          <a:bodyPr wrap="square" lIns="0" rIns="0" tIns="0" bIns="0" anchor="t">
            <a:noAutofit/>
          </a:bodyPr>
          <a:lstStyle/>
          <a:p>
            <a:pPr algn="l">
              <a:lnSpc>
                <a:spcPts val="1200"/>
              </a:lnSpc>
              <a:spcBef>
                <a:spcPts val="0"/>
              </a:spcBef>
              <a:spcAft>
                <a:spcPts val="0"/>
              </a:spcAft>
            </a:pPr>
            <a:r>
              <a:rPr sz="975" b="0" i="0" u="none">
                <a:solidFill>
                  <a:srgbClr val="F0F0EC"/>
                </a:solidFill>
                <a:latin typeface="Arial"/>
                <a:ea typeface="Arial"/>
                <a:cs typeface="Arial"/>
              </a:rPr>
              <a:t>nnU-Net</a:t>
            </a:r>
            <a:r>
              <a:rPr sz="975" b="0" i="0" u="none">
                <a:solidFill>
                  <a:srgbClr val="85857F"/>
                </a:solidFill>
                <a:latin typeface="Arial"/>
                <a:ea typeface="Arial"/>
                <a:cs typeface="Arial"/>
              </a:rPr>
              <a:t> 2021</a:t>
            </a:r>
          </a:p>
        </p:txBody>
      </p:sp>
      <p:sp>
        <p:nvSpPr>
          <p:cNvPr id="17" name="TextBox 16"/>
          <p:cNvSpPr txBox="1"/>
          <p:nvPr/>
        </p:nvSpPr>
        <p:spPr>
          <a:xfrm>
            <a:off x="609600" y="2962796"/>
            <a:ext cx="1522582" cy="152400"/>
          </a:xfrm>
          <a:prstGeom prst="rect">
            <a:avLst/>
          </a:prstGeom>
          <a:noFill/>
        </p:spPr>
        <p:txBody>
          <a:bodyPr wrap="square" lIns="0" rIns="0" tIns="0" bIns="0" anchor="t">
            <a:noAutofit/>
          </a:bodyPr>
          <a:lstStyle/>
          <a:p>
            <a:pPr algn="l">
              <a:lnSpc>
                <a:spcPts val="1200"/>
              </a:lnSpc>
              <a:spcBef>
                <a:spcPts val="0"/>
              </a:spcBef>
              <a:spcAft>
                <a:spcPts val="0"/>
              </a:spcAft>
            </a:pPr>
            <a:r>
              <a:rPr sz="975" b="0" i="0" u="none">
                <a:solidFill>
                  <a:srgbClr val="F0F0EC"/>
                </a:solidFill>
                <a:latin typeface="Arial"/>
                <a:ea typeface="Arial"/>
                <a:cs typeface="Arial"/>
              </a:rPr>
              <a:t>DeepISLES</a:t>
            </a:r>
            <a:r>
              <a:rPr sz="975" b="0" i="0" u="none">
                <a:solidFill>
                  <a:srgbClr val="85857F"/>
                </a:solidFill>
                <a:latin typeface="Arial"/>
                <a:ea typeface="Arial"/>
                <a:cs typeface="Arial"/>
              </a:rPr>
              <a:t> 2025</a:t>
            </a:r>
          </a:p>
        </p:txBody>
      </p:sp>
      <p:sp>
        <p:nvSpPr>
          <p:cNvPr id="18" name="TextBox 17"/>
          <p:cNvSpPr txBox="1"/>
          <p:nvPr/>
        </p:nvSpPr>
        <p:spPr>
          <a:xfrm>
            <a:off x="2221185" y="2019821"/>
            <a:ext cx="1522659" cy="142875"/>
          </a:xfrm>
          <a:prstGeom prst="rect">
            <a:avLst/>
          </a:prstGeom>
          <a:noFill/>
        </p:spPr>
        <p:txBody>
          <a:bodyPr wrap="square" lIns="0" rIns="0" tIns="0" bIns="0" anchor="t">
            <a:noAutofit/>
          </a:bodyPr>
          <a:lstStyle/>
          <a:p>
            <a:pPr algn="l">
              <a:lnSpc>
                <a:spcPts val="1125"/>
              </a:lnSpc>
              <a:spcBef>
                <a:spcPts val="0"/>
              </a:spcBef>
              <a:spcAft>
                <a:spcPts val="0"/>
              </a:spcAft>
            </a:pPr>
            <a:r>
              <a:rPr sz="900" b="1" i="0" u="none">
                <a:solidFill>
                  <a:srgbClr val="E8475B"/>
                </a:solidFill>
                <a:latin typeface="Arial"/>
                <a:ea typeface="Arial"/>
                <a:cs typeface="Arial"/>
              </a:rPr>
              <a:t>2  Normalise</a:t>
            </a:r>
          </a:p>
        </p:txBody>
      </p:sp>
      <p:sp>
        <p:nvSpPr>
          <p:cNvPr id="19" name="TextBox 18"/>
          <p:cNvSpPr txBox="1"/>
          <p:nvPr/>
        </p:nvSpPr>
        <p:spPr>
          <a:xfrm>
            <a:off x="2221185" y="2200796"/>
            <a:ext cx="1522659" cy="304800"/>
          </a:xfrm>
          <a:prstGeom prst="rect">
            <a:avLst/>
          </a:prstGeom>
          <a:noFill/>
        </p:spPr>
        <p:txBody>
          <a:bodyPr wrap="square" lIns="0" rIns="0" tIns="0" bIns="0" anchor="t">
            <a:noAutofit/>
          </a:bodyPr>
          <a:lstStyle/>
          <a:p>
            <a:pPr algn="l">
              <a:lnSpc>
                <a:spcPts val="1200"/>
              </a:lnSpc>
              <a:spcBef>
                <a:spcPts val="0"/>
              </a:spcBef>
              <a:spcAft>
                <a:spcPts val="0"/>
              </a:spcAft>
            </a:pPr>
            <a:r>
              <a:rPr sz="975" b="0" i="0" u="none">
                <a:solidFill>
                  <a:srgbClr val="F0F0EC"/>
                </a:solidFill>
                <a:latin typeface="Arial"/>
                <a:ea typeface="Arial"/>
                <a:cs typeface="Arial"/>
              </a:rPr>
              <a:t>Cost-function masking</a:t>
            </a:r>
            <a:r>
              <a:rPr sz="975" b="0" i="0" u="none">
                <a:solidFill>
                  <a:srgbClr val="85857F"/>
                </a:solidFill>
                <a:latin typeface="Arial"/>
                <a:ea typeface="Arial"/>
                <a:cs typeface="Arial"/>
              </a:rPr>
              <a:t> 2001</a:t>
            </a:r>
          </a:p>
        </p:txBody>
      </p:sp>
      <p:sp>
        <p:nvSpPr>
          <p:cNvPr id="20" name="TextBox 19"/>
          <p:cNvSpPr txBox="1"/>
          <p:nvPr/>
        </p:nvSpPr>
        <p:spPr>
          <a:xfrm>
            <a:off x="2221185" y="2543696"/>
            <a:ext cx="1522659" cy="152400"/>
          </a:xfrm>
          <a:prstGeom prst="rect">
            <a:avLst/>
          </a:prstGeom>
          <a:noFill/>
        </p:spPr>
        <p:txBody>
          <a:bodyPr wrap="square" lIns="0" rIns="0" tIns="0" bIns="0" anchor="t">
            <a:noAutofit/>
          </a:bodyPr>
          <a:lstStyle/>
          <a:p>
            <a:pPr algn="l">
              <a:lnSpc>
                <a:spcPts val="1200"/>
              </a:lnSpc>
              <a:spcBef>
                <a:spcPts val="0"/>
              </a:spcBef>
              <a:spcAft>
                <a:spcPts val="0"/>
              </a:spcAft>
            </a:pPr>
            <a:r>
              <a:rPr sz="975" b="0" i="0" u="none">
                <a:solidFill>
                  <a:srgbClr val="F0F0EC"/>
                </a:solidFill>
                <a:latin typeface="Arial"/>
                <a:ea typeface="Arial"/>
                <a:cs typeface="Arial"/>
              </a:rPr>
              <a:t>Enantiomorphic</a:t>
            </a:r>
            <a:r>
              <a:rPr sz="975" b="0" i="0" u="none">
                <a:solidFill>
                  <a:srgbClr val="85857F"/>
                </a:solidFill>
                <a:latin typeface="Arial"/>
                <a:ea typeface="Arial"/>
                <a:cs typeface="Arial"/>
              </a:rPr>
              <a:t> 2008</a:t>
            </a:r>
          </a:p>
        </p:txBody>
      </p:sp>
      <p:sp>
        <p:nvSpPr>
          <p:cNvPr id="21" name="TextBox 20"/>
          <p:cNvSpPr txBox="1"/>
          <p:nvPr/>
        </p:nvSpPr>
        <p:spPr>
          <a:xfrm>
            <a:off x="2221185" y="2734196"/>
            <a:ext cx="1522659" cy="152400"/>
          </a:xfrm>
          <a:prstGeom prst="rect">
            <a:avLst/>
          </a:prstGeom>
          <a:noFill/>
        </p:spPr>
        <p:txBody>
          <a:bodyPr wrap="square" lIns="0" rIns="0" tIns="0" bIns="0" anchor="t">
            <a:noAutofit/>
          </a:bodyPr>
          <a:lstStyle/>
          <a:p>
            <a:pPr algn="l">
              <a:lnSpc>
                <a:spcPts val="1200"/>
              </a:lnSpc>
              <a:spcBef>
                <a:spcPts val="0"/>
              </a:spcBef>
              <a:spcAft>
                <a:spcPts val="0"/>
              </a:spcAft>
            </a:pPr>
            <a:r>
              <a:rPr sz="975" b="0" i="0" u="none">
                <a:solidFill>
                  <a:srgbClr val="F0F0EC"/>
                </a:solidFill>
                <a:latin typeface="Arial"/>
                <a:ea typeface="Arial"/>
                <a:cs typeface="Arial"/>
              </a:rPr>
              <a:t>SPM Clinical Toolbox</a:t>
            </a:r>
            <a:r>
              <a:rPr sz="975" b="0" i="0" u="none">
                <a:solidFill>
                  <a:srgbClr val="85857F"/>
                </a:solidFill>
                <a:latin typeface="Arial"/>
                <a:ea typeface="Arial"/>
                <a:cs typeface="Arial"/>
              </a:rPr>
              <a:t> 2012</a:t>
            </a:r>
          </a:p>
        </p:txBody>
      </p:sp>
      <p:sp>
        <p:nvSpPr>
          <p:cNvPr id="22" name="TextBox 21"/>
          <p:cNvSpPr txBox="1"/>
          <p:nvPr/>
        </p:nvSpPr>
        <p:spPr>
          <a:xfrm>
            <a:off x="2221185" y="2924696"/>
            <a:ext cx="1522659" cy="152400"/>
          </a:xfrm>
          <a:prstGeom prst="rect">
            <a:avLst/>
          </a:prstGeom>
          <a:noFill/>
        </p:spPr>
        <p:txBody>
          <a:bodyPr wrap="square" lIns="0" rIns="0" tIns="0" bIns="0" anchor="t">
            <a:noAutofit/>
          </a:bodyPr>
          <a:lstStyle/>
          <a:p>
            <a:pPr algn="l">
              <a:lnSpc>
                <a:spcPts val="1200"/>
              </a:lnSpc>
              <a:spcBef>
                <a:spcPts val="0"/>
              </a:spcBef>
              <a:spcAft>
                <a:spcPts val="0"/>
              </a:spcAft>
            </a:pPr>
            <a:r>
              <a:rPr sz="975" b="0" i="0" u="none">
                <a:solidFill>
                  <a:srgbClr val="F0F0EC"/>
                </a:solidFill>
                <a:latin typeface="Arial"/>
                <a:ea typeface="Arial"/>
                <a:cs typeface="Arial"/>
              </a:rPr>
              <a:t>ANTs</a:t>
            </a:r>
            <a:r>
              <a:rPr sz="975" b="0" i="0" u="none">
                <a:solidFill>
                  <a:srgbClr val="85857F"/>
                </a:solidFill>
                <a:latin typeface="Arial"/>
                <a:ea typeface="Arial"/>
                <a:cs typeface="Arial"/>
              </a:rPr>
              <a:t> 2008</a:t>
            </a:r>
          </a:p>
        </p:txBody>
      </p:sp>
      <p:sp>
        <p:nvSpPr>
          <p:cNvPr id="23" name="TextBox 22"/>
          <p:cNvSpPr txBox="1"/>
          <p:nvPr/>
        </p:nvSpPr>
        <p:spPr>
          <a:xfrm>
            <a:off x="3832845" y="2019821"/>
            <a:ext cx="1522582" cy="142875"/>
          </a:xfrm>
          <a:prstGeom prst="rect">
            <a:avLst/>
          </a:prstGeom>
          <a:noFill/>
        </p:spPr>
        <p:txBody>
          <a:bodyPr wrap="square" lIns="0" rIns="0" tIns="0" bIns="0" anchor="t">
            <a:noAutofit/>
          </a:bodyPr>
          <a:lstStyle/>
          <a:p>
            <a:pPr algn="l">
              <a:lnSpc>
                <a:spcPts val="1125"/>
              </a:lnSpc>
              <a:spcBef>
                <a:spcPts val="0"/>
              </a:spcBef>
              <a:spcAft>
                <a:spcPts val="0"/>
              </a:spcAft>
            </a:pPr>
            <a:r>
              <a:rPr sz="900" b="1" i="0" u="none">
                <a:solidFill>
                  <a:srgbClr val="E8475B"/>
                </a:solidFill>
                <a:latin typeface="Arial"/>
                <a:ea typeface="Arial"/>
                <a:cs typeface="Arial"/>
              </a:rPr>
              <a:t>3  Map the symptom</a:t>
            </a:r>
          </a:p>
        </p:txBody>
      </p:sp>
      <p:sp>
        <p:nvSpPr>
          <p:cNvPr id="24" name="TextBox 23"/>
          <p:cNvSpPr txBox="1"/>
          <p:nvPr/>
        </p:nvSpPr>
        <p:spPr>
          <a:xfrm>
            <a:off x="3832845" y="2200796"/>
            <a:ext cx="1522582" cy="152400"/>
          </a:xfrm>
          <a:prstGeom prst="rect">
            <a:avLst/>
          </a:prstGeom>
          <a:noFill/>
        </p:spPr>
        <p:txBody>
          <a:bodyPr wrap="square" lIns="0" rIns="0" tIns="0" bIns="0" anchor="t">
            <a:noAutofit/>
          </a:bodyPr>
          <a:lstStyle/>
          <a:p>
            <a:pPr algn="l">
              <a:lnSpc>
                <a:spcPts val="1200"/>
              </a:lnSpc>
              <a:spcBef>
                <a:spcPts val="0"/>
              </a:spcBef>
              <a:spcAft>
                <a:spcPts val="0"/>
              </a:spcAft>
            </a:pPr>
            <a:r>
              <a:rPr sz="975" b="0" i="0" u="none">
                <a:solidFill>
                  <a:srgbClr val="F0F0EC"/>
                </a:solidFill>
                <a:latin typeface="Arial"/>
                <a:ea typeface="Arial"/>
                <a:cs typeface="Arial"/>
              </a:rPr>
              <a:t>VLSM</a:t>
            </a:r>
            <a:r>
              <a:rPr sz="975" b="0" i="0" u="none">
                <a:solidFill>
                  <a:srgbClr val="85857F"/>
                </a:solidFill>
                <a:latin typeface="Arial"/>
                <a:ea typeface="Arial"/>
                <a:cs typeface="Arial"/>
              </a:rPr>
              <a:t> 2003</a:t>
            </a:r>
          </a:p>
        </p:txBody>
      </p:sp>
      <p:sp>
        <p:nvSpPr>
          <p:cNvPr id="25" name="TextBox 24"/>
          <p:cNvSpPr txBox="1"/>
          <p:nvPr/>
        </p:nvSpPr>
        <p:spPr>
          <a:xfrm>
            <a:off x="3832845" y="2391296"/>
            <a:ext cx="1522582" cy="152400"/>
          </a:xfrm>
          <a:prstGeom prst="rect">
            <a:avLst/>
          </a:prstGeom>
          <a:noFill/>
        </p:spPr>
        <p:txBody>
          <a:bodyPr wrap="square" lIns="0" rIns="0" tIns="0" bIns="0" anchor="t">
            <a:noAutofit/>
          </a:bodyPr>
          <a:lstStyle/>
          <a:p>
            <a:pPr algn="l">
              <a:lnSpc>
                <a:spcPts val="1200"/>
              </a:lnSpc>
              <a:spcBef>
                <a:spcPts val="0"/>
              </a:spcBef>
              <a:spcAft>
                <a:spcPts val="0"/>
              </a:spcAft>
            </a:pPr>
            <a:r>
              <a:rPr sz="975" b="0" i="0" u="none">
                <a:solidFill>
                  <a:srgbClr val="F0F0EC"/>
                </a:solidFill>
                <a:latin typeface="Arial"/>
                <a:ea typeface="Arial"/>
                <a:cs typeface="Arial"/>
              </a:rPr>
              <a:t>NiiStat</a:t>
            </a:r>
          </a:p>
        </p:txBody>
      </p:sp>
      <p:sp>
        <p:nvSpPr>
          <p:cNvPr id="26" name="TextBox 25"/>
          <p:cNvSpPr txBox="1"/>
          <p:nvPr/>
        </p:nvSpPr>
        <p:spPr>
          <a:xfrm>
            <a:off x="3832845" y="2581796"/>
            <a:ext cx="1522582" cy="152400"/>
          </a:xfrm>
          <a:prstGeom prst="rect">
            <a:avLst/>
          </a:prstGeom>
          <a:noFill/>
        </p:spPr>
        <p:txBody>
          <a:bodyPr wrap="square" lIns="0" rIns="0" tIns="0" bIns="0" anchor="t">
            <a:noAutofit/>
          </a:bodyPr>
          <a:lstStyle/>
          <a:p>
            <a:pPr algn="l">
              <a:lnSpc>
                <a:spcPts val="1200"/>
              </a:lnSpc>
              <a:spcBef>
                <a:spcPts val="0"/>
              </a:spcBef>
              <a:spcAft>
                <a:spcPts val="0"/>
              </a:spcAft>
            </a:pPr>
            <a:r>
              <a:rPr sz="975" b="0" i="0" u="none">
                <a:solidFill>
                  <a:srgbClr val="F0F0EC"/>
                </a:solidFill>
                <a:latin typeface="Arial"/>
                <a:ea typeface="Arial"/>
                <a:cs typeface="Arial"/>
              </a:rPr>
              <a:t>SVR-LSM</a:t>
            </a:r>
            <a:r>
              <a:rPr sz="975" b="0" i="0" u="none">
                <a:solidFill>
                  <a:srgbClr val="85857F"/>
                </a:solidFill>
                <a:latin typeface="Arial"/>
                <a:ea typeface="Arial"/>
                <a:cs typeface="Arial"/>
              </a:rPr>
              <a:t> 2014</a:t>
            </a:r>
          </a:p>
        </p:txBody>
      </p:sp>
      <p:sp>
        <p:nvSpPr>
          <p:cNvPr id="27" name="TextBox 26"/>
          <p:cNvSpPr txBox="1"/>
          <p:nvPr/>
        </p:nvSpPr>
        <p:spPr>
          <a:xfrm>
            <a:off x="3832845" y="2772296"/>
            <a:ext cx="1522582" cy="152400"/>
          </a:xfrm>
          <a:prstGeom prst="rect">
            <a:avLst/>
          </a:prstGeom>
          <a:noFill/>
        </p:spPr>
        <p:txBody>
          <a:bodyPr wrap="square" lIns="0" rIns="0" tIns="0" bIns="0" anchor="t">
            <a:noAutofit/>
          </a:bodyPr>
          <a:lstStyle/>
          <a:p>
            <a:pPr algn="l">
              <a:lnSpc>
                <a:spcPts val="1200"/>
              </a:lnSpc>
              <a:spcBef>
                <a:spcPts val="0"/>
              </a:spcBef>
              <a:spcAft>
                <a:spcPts val="0"/>
              </a:spcAft>
            </a:pPr>
            <a:r>
              <a:rPr sz="975" b="0" i="0" u="none">
                <a:solidFill>
                  <a:srgbClr val="F0F0EC"/>
                </a:solidFill>
                <a:latin typeface="Arial"/>
                <a:ea typeface="Arial"/>
                <a:cs typeface="Arial"/>
              </a:rPr>
              <a:t>LESYMAP</a:t>
            </a:r>
            <a:r>
              <a:rPr sz="975" b="0" i="0" u="none">
                <a:solidFill>
                  <a:srgbClr val="85857F"/>
                </a:solidFill>
                <a:latin typeface="Arial"/>
                <a:ea typeface="Arial"/>
                <a:cs typeface="Arial"/>
              </a:rPr>
              <a:t> 2018</a:t>
            </a:r>
          </a:p>
        </p:txBody>
      </p:sp>
      <p:sp>
        <p:nvSpPr>
          <p:cNvPr id="28" name="TextBox 27"/>
          <p:cNvSpPr txBox="1"/>
          <p:nvPr/>
        </p:nvSpPr>
        <p:spPr>
          <a:xfrm>
            <a:off x="5444430" y="2019821"/>
            <a:ext cx="1522659" cy="142875"/>
          </a:xfrm>
          <a:prstGeom prst="rect">
            <a:avLst/>
          </a:prstGeom>
          <a:noFill/>
        </p:spPr>
        <p:txBody>
          <a:bodyPr wrap="square" lIns="0" rIns="0" tIns="0" bIns="0" anchor="t">
            <a:noAutofit/>
          </a:bodyPr>
          <a:lstStyle/>
          <a:p>
            <a:pPr algn="l">
              <a:lnSpc>
                <a:spcPts val="1125"/>
              </a:lnSpc>
              <a:spcBef>
                <a:spcPts val="0"/>
              </a:spcBef>
              <a:spcAft>
                <a:spcPts val="0"/>
              </a:spcAft>
            </a:pPr>
            <a:r>
              <a:rPr sz="900" b="1" i="0" u="none">
                <a:solidFill>
                  <a:srgbClr val="E8475B"/>
                </a:solidFill>
                <a:latin typeface="Arial"/>
                <a:ea typeface="Arial"/>
                <a:cs typeface="Arial"/>
              </a:rPr>
              <a:t>4  Map disconnection</a:t>
            </a:r>
          </a:p>
        </p:txBody>
      </p:sp>
      <p:sp>
        <p:nvSpPr>
          <p:cNvPr id="29" name="TextBox 28"/>
          <p:cNvSpPr txBox="1"/>
          <p:nvPr/>
        </p:nvSpPr>
        <p:spPr>
          <a:xfrm>
            <a:off x="5444430" y="2200796"/>
            <a:ext cx="1522659" cy="304800"/>
          </a:xfrm>
          <a:prstGeom prst="rect">
            <a:avLst/>
          </a:prstGeom>
          <a:noFill/>
        </p:spPr>
        <p:txBody>
          <a:bodyPr wrap="square" lIns="0" rIns="0" tIns="0" bIns="0" anchor="t">
            <a:noAutofit/>
          </a:bodyPr>
          <a:lstStyle/>
          <a:p>
            <a:pPr algn="l">
              <a:lnSpc>
                <a:spcPts val="1200"/>
              </a:lnSpc>
              <a:spcBef>
                <a:spcPts val="0"/>
              </a:spcBef>
              <a:spcAft>
                <a:spcPts val="0"/>
              </a:spcAft>
            </a:pPr>
            <a:r>
              <a:rPr sz="975" b="0" i="0" u="none">
                <a:solidFill>
                  <a:srgbClr val="F0F0EC"/>
                </a:solidFill>
                <a:latin typeface="Arial"/>
                <a:ea typeface="Arial"/>
                <a:cs typeface="Arial"/>
              </a:rPr>
              <a:t>Lesion network mapping</a:t>
            </a:r>
            <a:r>
              <a:rPr sz="975" b="0" i="0" u="none">
                <a:solidFill>
                  <a:srgbClr val="85857F"/>
                </a:solidFill>
                <a:latin typeface="Arial"/>
                <a:ea typeface="Arial"/>
                <a:cs typeface="Arial"/>
              </a:rPr>
              <a:t> 2015</a:t>
            </a:r>
          </a:p>
        </p:txBody>
      </p:sp>
      <p:sp>
        <p:nvSpPr>
          <p:cNvPr id="30" name="TextBox 29"/>
          <p:cNvSpPr txBox="1"/>
          <p:nvPr/>
        </p:nvSpPr>
        <p:spPr>
          <a:xfrm>
            <a:off x="5444430" y="2543696"/>
            <a:ext cx="1522659" cy="152400"/>
          </a:xfrm>
          <a:prstGeom prst="rect">
            <a:avLst/>
          </a:prstGeom>
          <a:noFill/>
        </p:spPr>
        <p:txBody>
          <a:bodyPr wrap="square" lIns="0" rIns="0" tIns="0" bIns="0" anchor="t">
            <a:noAutofit/>
          </a:bodyPr>
          <a:lstStyle/>
          <a:p>
            <a:pPr algn="l">
              <a:lnSpc>
                <a:spcPts val="1200"/>
              </a:lnSpc>
              <a:spcBef>
                <a:spcPts val="0"/>
              </a:spcBef>
              <a:spcAft>
                <a:spcPts val="0"/>
              </a:spcAft>
            </a:pPr>
            <a:r>
              <a:rPr sz="975" b="0" i="0" u="none">
                <a:solidFill>
                  <a:srgbClr val="F0F0EC"/>
                </a:solidFill>
                <a:latin typeface="Arial"/>
                <a:ea typeface="Arial"/>
                <a:cs typeface="Arial"/>
              </a:rPr>
              <a:t>BCBtoolkit</a:t>
            </a:r>
            <a:r>
              <a:rPr sz="975" b="0" i="0" u="none">
                <a:solidFill>
                  <a:srgbClr val="85857F"/>
                </a:solidFill>
                <a:latin typeface="Arial"/>
                <a:ea typeface="Arial"/>
                <a:cs typeface="Arial"/>
              </a:rPr>
              <a:t> 2018</a:t>
            </a:r>
          </a:p>
        </p:txBody>
      </p:sp>
      <p:sp>
        <p:nvSpPr>
          <p:cNvPr id="31" name="TextBox 30"/>
          <p:cNvSpPr txBox="1"/>
          <p:nvPr/>
        </p:nvSpPr>
        <p:spPr>
          <a:xfrm>
            <a:off x="5444430" y="2734196"/>
            <a:ext cx="1522659" cy="304800"/>
          </a:xfrm>
          <a:prstGeom prst="rect">
            <a:avLst/>
          </a:prstGeom>
          <a:noFill/>
        </p:spPr>
        <p:txBody>
          <a:bodyPr wrap="square" lIns="0" rIns="0" tIns="0" bIns="0" anchor="t">
            <a:noAutofit/>
          </a:bodyPr>
          <a:lstStyle/>
          <a:p>
            <a:pPr algn="l">
              <a:lnSpc>
                <a:spcPts val="1200"/>
              </a:lnSpc>
              <a:spcBef>
                <a:spcPts val="0"/>
              </a:spcBef>
              <a:spcAft>
                <a:spcPts val="0"/>
              </a:spcAft>
            </a:pPr>
            <a:r>
              <a:rPr sz="975" b="0" i="0" u="none">
                <a:solidFill>
                  <a:srgbClr val="F0F0EC"/>
                </a:solidFill>
                <a:latin typeface="Arial"/>
                <a:ea typeface="Arial"/>
                <a:cs typeface="Arial"/>
              </a:rPr>
              <a:t>Lesion Quantification Toolkit</a:t>
            </a:r>
            <a:r>
              <a:rPr sz="975" b="0" i="0" u="none">
                <a:solidFill>
                  <a:srgbClr val="85857F"/>
                </a:solidFill>
                <a:latin typeface="Arial"/>
                <a:ea typeface="Arial"/>
                <a:cs typeface="Arial"/>
              </a:rPr>
              <a:t> 2021</a:t>
            </a:r>
          </a:p>
        </p:txBody>
      </p:sp>
      <p:sp>
        <p:nvSpPr>
          <p:cNvPr id="32" name="TextBox 31"/>
          <p:cNvSpPr txBox="1"/>
          <p:nvPr/>
        </p:nvSpPr>
        <p:spPr>
          <a:xfrm>
            <a:off x="7056090" y="2019821"/>
            <a:ext cx="1522659" cy="142875"/>
          </a:xfrm>
          <a:prstGeom prst="rect">
            <a:avLst/>
          </a:prstGeom>
          <a:noFill/>
        </p:spPr>
        <p:txBody>
          <a:bodyPr wrap="square" lIns="0" rIns="0" tIns="0" bIns="0" anchor="t">
            <a:noAutofit/>
          </a:bodyPr>
          <a:lstStyle/>
          <a:p>
            <a:pPr algn="l">
              <a:lnSpc>
                <a:spcPts val="1125"/>
              </a:lnSpc>
              <a:spcBef>
                <a:spcPts val="0"/>
              </a:spcBef>
              <a:spcAft>
                <a:spcPts val="0"/>
              </a:spcAft>
            </a:pPr>
            <a:r>
              <a:rPr sz="900" b="1" i="0" u="none">
                <a:solidFill>
                  <a:srgbClr val="E8475B"/>
                </a:solidFill>
                <a:latin typeface="Arial"/>
                <a:ea typeface="Arial"/>
                <a:cs typeface="Arial"/>
              </a:rPr>
              <a:t>5  Share</a:t>
            </a:r>
          </a:p>
        </p:txBody>
      </p:sp>
      <p:sp>
        <p:nvSpPr>
          <p:cNvPr id="33" name="TextBox 32"/>
          <p:cNvSpPr txBox="1"/>
          <p:nvPr/>
        </p:nvSpPr>
        <p:spPr>
          <a:xfrm>
            <a:off x="7056090" y="2200796"/>
            <a:ext cx="1522659" cy="152400"/>
          </a:xfrm>
          <a:prstGeom prst="rect">
            <a:avLst/>
          </a:prstGeom>
          <a:noFill/>
        </p:spPr>
        <p:txBody>
          <a:bodyPr wrap="square" lIns="0" rIns="0" tIns="0" bIns="0" anchor="t">
            <a:noAutofit/>
          </a:bodyPr>
          <a:lstStyle/>
          <a:p>
            <a:pPr algn="l">
              <a:lnSpc>
                <a:spcPts val="1200"/>
              </a:lnSpc>
              <a:spcBef>
                <a:spcPts val="0"/>
              </a:spcBef>
              <a:spcAft>
                <a:spcPts val="0"/>
              </a:spcAft>
            </a:pPr>
            <a:r>
              <a:rPr sz="975" b="0" i="0" u="none">
                <a:solidFill>
                  <a:srgbClr val="F0F0EC"/>
                </a:solidFill>
                <a:latin typeface="Arial"/>
                <a:ea typeface="Arial"/>
                <a:cs typeface="Arial"/>
              </a:rPr>
              <a:t>BIDS</a:t>
            </a:r>
            <a:r>
              <a:rPr sz="975" b="0" i="0" u="none">
                <a:solidFill>
                  <a:srgbClr val="85857F"/>
                </a:solidFill>
                <a:latin typeface="Arial"/>
                <a:ea typeface="Arial"/>
                <a:cs typeface="Arial"/>
              </a:rPr>
              <a:t> 2016</a:t>
            </a:r>
          </a:p>
        </p:txBody>
      </p:sp>
      <p:sp>
        <p:nvSpPr>
          <p:cNvPr id="34" name="TextBox 33"/>
          <p:cNvSpPr txBox="1"/>
          <p:nvPr/>
        </p:nvSpPr>
        <p:spPr>
          <a:xfrm>
            <a:off x="7056090" y="2391296"/>
            <a:ext cx="1522659" cy="152400"/>
          </a:xfrm>
          <a:prstGeom prst="rect">
            <a:avLst/>
          </a:prstGeom>
          <a:noFill/>
        </p:spPr>
        <p:txBody>
          <a:bodyPr wrap="square" lIns="0" rIns="0" tIns="0" bIns="0" anchor="t">
            <a:noAutofit/>
          </a:bodyPr>
          <a:lstStyle/>
          <a:p>
            <a:pPr algn="l">
              <a:lnSpc>
                <a:spcPts val="1200"/>
              </a:lnSpc>
              <a:spcBef>
                <a:spcPts val="0"/>
              </a:spcBef>
              <a:spcAft>
                <a:spcPts val="0"/>
              </a:spcAft>
            </a:pPr>
            <a:r>
              <a:rPr sz="975" b="0" i="0" u="none">
                <a:solidFill>
                  <a:srgbClr val="F0F0EC"/>
                </a:solidFill>
                <a:latin typeface="Arial"/>
                <a:ea typeface="Arial"/>
                <a:cs typeface="Arial"/>
              </a:rPr>
              <a:t>NeuroVault</a:t>
            </a:r>
            <a:r>
              <a:rPr sz="975" b="0" i="0" u="none">
                <a:solidFill>
                  <a:srgbClr val="85857F"/>
                </a:solidFill>
                <a:latin typeface="Arial"/>
                <a:ea typeface="Arial"/>
                <a:cs typeface="Arial"/>
              </a:rPr>
              <a:t> 2015</a:t>
            </a:r>
          </a:p>
        </p:txBody>
      </p:sp>
      <p:sp>
        <p:nvSpPr>
          <p:cNvPr id="35" name="TextBox 34"/>
          <p:cNvSpPr txBox="1"/>
          <p:nvPr/>
        </p:nvSpPr>
        <p:spPr>
          <a:xfrm>
            <a:off x="7056090" y="2581796"/>
            <a:ext cx="1522659" cy="152400"/>
          </a:xfrm>
          <a:prstGeom prst="rect">
            <a:avLst/>
          </a:prstGeom>
          <a:noFill/>
        </p:spPr>
        <p:txBody>
          <a:bodyPr wrap="square" lIns="0" rIns="0" tIns="0" bIns="0" anchor="t">
            <a:noAutofit/>
          </a:bodyPr>
          <a:lstStyle/>
          <a:p>
            <a:pPr algn="l">
              <a:lnSpc>
                <a:spcPts val="1200"/>
              </a:lnSpc>
              <a:spcBef>
                <a:spcPts val="0"/>
              </a:spcBef>
              <a:spcAft>
                <a:spcPts val="0"/>
              </a:spcAft>
            </a:pPr>
            <a:r>
              <a:rPr sz="975" b="0" i="0" u="none">
                <a:solidFill>
                  <a:srgbClr val="F0F0EC"/>
                </a:solidFill>
                <a:latin typeface="Arial"/>
                <a:ea typeface="Arial"/>
                <a:cs typeface="Arial"/>
              </a:rPr>
              <a:t>OpenNeuro</a:t>
            </a:r>
            <a:r>
              <a:rPr sz="975" b="0" i="0" u="none">
                <a:solidFill>
                  <a:srgbClr val="85857F"/>
                </a:solidFill>
                <a:latin typeface="Arial"/>
                <a:ea typeface="Arial"/>
                <a:cs typeface="Arial"/>
              </a:rPr>
              <a:t> 2021</a:t>
            </a:r>
          </a:p>
        </p:txBody>
      </p:sp>
      <p:sp>
        <p:nvSpPr>
          <p:cNvPr id="36" name="TextBox 35"/>
          <p:cNvSpPr txBox="1"/>
          <p:nvPr/>
        </p:nvSpPr>
        <p:spPr>
          <a:xfrm>
            <a:off x="609600" y="3348558"/>
            <a:ext cx="1373505" cy="142875"/>
          </a:xfrm>
          <a:prstGeom prst="rect">
            <a:avLst/>
          </a:prstGeom>
          <a:noFill/>
        </p:spPr>
        <p:txBody>
          <a:bodyPr wrap="square" lIns="0" rIns="0" tIns="0" bIns="0" anchor="t">
            <a:noAutofit/>
          </a:bodyPr>
          <a:lstStyle/>
          <a:p>
            <a:pPr algn="l">
              <a:lnSpc>
                <a:spcPts val="1125"/>
              </a:lnSpc>
              <a:spcBef>
                <a:spcPts val="0"/>
              </a:spcBef>
              <a:spcAft>
                <a:spcPts val="0"/>
              </a:spcAft>
            </a:pPr>
            <a:r>
              <a:rPr sz="900" b="1" i="0" u="none">
                <a:solidFill>
                  <a:srgbClr val="E8475B"/>
                </a:solidFill>
                <a:latin typeface="Arial"/>
                <a:ea typeface="Arial"/>
                <a:cs typeface="Arial"/>
              </a:rPr>
              <a:t>Open stroke data</a:t>
            </a:r>
          </a:p>
        </p:txBody>
      </p:sp>
      <p:sp>
        <p:nvSpPr>
          <p:cNvPr id="37" name="TextBox 36"/>
          <p:cNvSpPr txBox="1"/>
          <p:nvPr/>
        </p:nvSpPr>
        <p:spPr>
          <a:xfrm>
            <a:off x="1943100" y="3348558"/>
            <a:ext cx="1559909" cy="266700"/>
          </a:xfrm>
          <a:prstGeom prst="rect">
            <a:avLst/>
          </a:prstGeom>
          <a:noFill/>
        </p:spPr>
        <p:txBody>
          <a:bodyPr wrap="square" lIns="0" rIns="0" tIns="0" bIns="0" anchor="t">
            <a:noAutofit/>
          </a:bodyPr>
          <a:lstStyle/>
          <a:p>
            <a:pPr algn="l">
              <a:lnSpc>
                <a:spcPts val="2100"/>
              </a:lnSpc>
              <a:spcBef>
                <a:spcPts val="0"/>
              </a:spcBef>
              <a:spcAft>
                <a:spcPts val="0"/>
              </a:spcAft>
            </a:pPr>
            <a:r>
              <a:rPr sz="2100" b="0" i="0" u="none">
                <a:solidFill>
                  <a:srgbClr val="F0F0EC"/>
                </a:solidFill>
                <a:latin typeface="Times New Roman"/>
                <a:ea typeface="Times New Roman"/>
                <a:cs typeface="Times New Roman"/>
              </a:rPr>
              <a:t>1,271</a:t>
            </a:r>
          </a:p>
        </p:txBody>
      </p:sp>
      <p:sp>
        <p:nvSpPr>
          <p:cNvPr id="38" name="TextBox 37"/>
          <p:cNvSpPr txBox="1"/>
          <p:nvPr/>
        </p:nvSpPr>
        <p:spPr>
          <a:xfrm>
            <a:off x="1943100" y="3643833"/>
            <a:ext cx="1559909" cy="285750"/>
          </a:xfrm>
          <a:prstGeom prst="rect">
            <a:avLst/>
          </a:prstGeom>
          <a:noFill/>
        </p:spPr>
        <p:txBody>
          <a:bodyPr wrap="square" lIns="0" rIns="0" tIns="0" bIns="0" anchor="t">
            <a:noAutofit/>
          </a:bodyPr>
          <a:lstStyle/>
          <a:p>
            <a:pPr algn="l">
              <a:lnSpc>
                <a:spcPts val="1125"/>
              </a:lnSpc>
              <a:spcBef>
                <a:spcPts val="0"/>
              </a:spcBef>
              <a:spcAft>
                <a:spcPts val="0"/>
              </a:spcAft>
            </a:pPr>
            <a:r>
              <a:rPr sz="900" b="0" i="0" u="none">
                <a:solidFill>
                  <a:srgbClr val="C6C6C0"/>
                </a:solidFill>
                <a:latin typeface="Arial"/>
                <a:ea typeface="Arial"/>
                <a:cs typeface="Arial"/>
              </a:rPr>
              <a:t>ATLAS v2.0 stroke MRIs with traced lesions; 955 public</a:t>
            </a:r>
          </a:p>
        </p:txBody>
      </p:sp>
      <p:sp>
        <p:nvSpPr>
          <p:cNvPr id="39" name="TextBox 38"/>
          <p:cNvSpPr txBox="1"/>
          <p:nvPr/>
        </p:nvSpPr>
        <p:spPr>
          <a:xfrm>
            <a:off x="3590925" y="3348558"/>
            <a:ext cx="1559909" cy="266700"/>
          </a:xfrm>
          <a:prstGeom prst="rect">
            <a:avLst/>
          </a:prstGeom>
          <a:noFill/>
        </p:spPr>
        <p:txBody>
          <a:bodyPr wrap="square" lIns="0" rIns="0" tIns="0" bIns="0" anchor="t">
            <a:noAutofit/>
          </a:bodyPr>
          <a:lstStyle/>
          <a:p>
            <a:pPr algn="l">
              <a:lnSpc>
                <a:spcPts val="2100"/>
              </a:lnSpc>
              <a:spcBef>
                <a:spcPts val="0"/>
              </a:spcBef>
              <a:spcAft>
                <a:spcPts val="0"/>
              </a:spcAft>
            </a:pPr>
            <a:r>
              <a:rPr sz="2100" b="0" i="0" u="none">
                <a:solidFill>
                  <a:srgbClr val="F0F0EC"/>
                </a:solidFill>
                <a:latin typeface="Times New Roman"/>
                <a:ea typeface="Times New Roman"/>
                <a:cs typeface="Times New Roman"/>
              </a:rPr>
              <a:t>250</a:t>
            </a:r>
          </a:p>
        </p:txBody>
      </p:sp>
      <p:sp>
        <p:nvSpPr>
          <p:cNvPr id="40" name="TextBox 39"/>
          <p:cNvSpPr txBox="1"/>
          <p:nvPr/>
        </p:nvSpPr>
        <p:spPr>
          <a:xfrm>
            <a:off x="3590925" y="3643833"/>
            <a:ext cx="1559909" cy="285750"/>
          </a:xfrm>
          <a:prstGeom prst="rect">
            <a:avLst/>
          </a:prstGeom>
          <a:noFill/>
        </p:spPr>
        <p:txBody>
          <a:bodyPr wrap="square" lIns="0" rIns="0" tIns="0" bIns="0" anchor="t">
            <a:noAutofit/>
          </a:bodyPr>
          <a:lstStyle/>
          <a:p>
            <a:pPr algn="l">
              <a:lnSpc>
                <a:spcPts val="1125"/>
              </a:lnSpc>
              <a:spcBef>
                <a:spcPts val="0"/>
              </a:spcBef>
              <a:spcAft>
                <a:spcPts val="0"/>
              </a:spcAft>
            </a:pPr>
            <a:r>
              <a:rPr sz="900" b="0" i="0" u="none">
                <a:solidFill>
                  <a:srgbClr val="C6C6C0"/>
                </a:solidFill>
                <a:latin typeface="Arial"/>
                <a:ea typeface="Arial"/>
                <a:cs typeface="Arial"/>
              </a:rPr>
              <a:t>ISLES 2022 acute MRI cases public under CC BY, of 400</a:t>
            </a:r>
          </a:p>
        </p:txBody>
      </p:sp>
      <p:sp>
        <p:nvSpPr>
          <p:cNvPr id="41" name="TextBox 40"/>
          <p:cNvSpPr txBox="1"/>
          <p:nvPr/>
        </p:nvSpPr>
        <p:spPr>
          <a:xfrm>
            <a:off x="5238750" y="3348558"/>
            <a:ext cx="1559909" cy="266700"/>
          </a:xfrm>
          <a:prstGeom prst="rect">
            <a:avLst/>
          </a:prstGeom>
          <a:noFill/>
        </p:spPr>
        <p:txBody>
          <a:bodyPr wrap="square" lIns="0" rIns="0" tIns="0" bIns="0" anchor="t">
            <a:noAutofit/>
          </a:bodyPr>
          <a:lstStyle/>
          <a:p>
            <a:pPr algn="l">
              <a:lnSpc>
                <a:spcPts val="2100"/>
              </a:lnSpc>
              <a:spcBef>
                <a:spcPts val="0"/>
              </a:spcBef>
              <a:spcAft>
                <a:spcPts val="0"/>
              </a:spcAft>
            </a:pPr>
            <a:r>
              <a:rPr sz="2100" b="0" i="0" u="none">
                <a:solidFill>
                  <a:srgbClr val="F0F0EC"/>
                </a:solidFill>
                <a:latin typeface="Times New Roman"/>
                <a:ea typeface="Times New Roman"/>
                <a:cs typeface="Times New Roman"/>
              </a:rPr>
              <a:t>230</a:t>
            </a:r>
          </a:p>
        </p:txBody>
      </p:sp>
      <p:sp>
        <p:nvSpPr>
          <p:cNvPr id="42" name="TextBox 41"/>
          <p:cNvSpPr txBox="1"/>
          <p:nvPr/>
        </p:nvSpPr>
        <p:spPr>
          <a:xfrm>
            <a:off x="5238750" y="3643833"/>
            <a:ext cx="1559909" cy="428625"/>
          </a:xfrm>
          <a:prstGeom prst="rect">
            <a:avLst/>
          </a:prstGeom>
          <a:noFill/>
        </p:spPr>
        <p:txBody>
          <a:bodyPr wrap="square" lIns="0" rIns="0" tIns="0" bIns="0" anchor="t">
            <a:noAutofit/>
          </a:bodyPr>
          <a:lstStyle/>
          <a:p>
            <a:pPr algn="l">
              <a:lnSpc>
                <a:spcPts val="1125"/>
              </a:lnSpc>
              <a:spcBef>
                <a:spcPts val="0"/>
              </a:spcBef>
              <a:spcAft>
                <a:spcPts val="0"/>
              </a:spcAft>
            </a:pPr>
            <a:r>
              <a:rPr sz="900" b="0" i="0" u="none">
                <a:solidFill>
                  <a:srgbClr val="C6C6C0"/>
                </a:solidFill>
                <a:latin typeface="Arial"/>
                <a:ea typeface="Arial"/>
                <a:cs typeface="Arial"/>
              </a:rPr>
              <a:t>people with aphasia, 902 sessions, CC0: Aphasia Recovery Cohort</a:t>
            </a:r>
          </a:p>
        </p:txBody>
      </p:sp>
      <p:sp>
        <p:nvSpPr>
          <p:cNvPr id="43" name="TextBox 42"/>
          <p:cNvSpPr txBox="1"/>
          <p:nvPr/>
        </p:nvSpPr>
        <p:spPr>
          <a:xfrm>
            <a:off x="6886575" y="3348558"/>
            <a:ext cx="1559909" cy="266700"/>
          </a:xfrm>
          <a:prstGeom prst="rect">
            <a:avLst/>
          </a:prstGeom>
          <a:noFill/>
        </p:spPr>
        <p:txBody>
          <a:bodyPr wrap="square" lIns="0" rIns="0" tIns="0" bIns="0" anchor="t">
            <a:noAutofit/>
          </a:bodyPr>
          <a:lstStyle/>
          <a:p>
            <a:pPr algn="l">
              <a:lnSpc>
                <a:spcPts val="2100"/>
              </a:lnSpc>
              <a:spcBef>
                <a:spcPts val="0"/>
              </a:spcBef>
              <a:spcAft>
                <a:spcPts val="0"/>
              </a:spcAft>
            </a:pPr>
            <a:r>
              <a:rPr sz="2100" b="0" i="0" u="none">
                <a:solidFill>
                  <a:srgbClr val="F0F0EC"/>
                </a:solidFill>
                <a:latin typeface="Times New Roman"/>
                <a:ea typeface="Times New Roman"/>
                <a:cs typeface="Times New Roman"/>
              </a:rPr>
              <a:t>1,715</a:t>
            </a:r>
          </a:p>
        </p:txBody>
      </p:sp>
      <p:sp>
        <p:nvSpPr>
          <p:cNvPr id="44" name="TextBox 43"/>
          <p:cNvSpPr txBox="1"/>
          <p:nvPr/>
        </p:nvSpPr>
        <p:spPr>
          <a:xfrm>
            <a:off x="6886575" y="3643833"/>
            <a:ext cx="1559909" cy="285750"/>
          </a:xfrm>
          <a:prstGeom prst="rect">
            <a:avLst/>
          </a:prstGeom>
          <a:noFill/>
        </p:spPr>
        <p:txBody>
          <a:bodyPr wrap="square" lIns="0" rIns="0" tIns="0" bIns="0" anchor="t">
            <a:noAutofit/>
          </a:bodyPr>
          <a:lstStyle/>
          <a:p>
            <a:pPr algn="l">
              <a:lnSpc>
                <a:spcPts val="1125"/>
              </a:lnSpc>
              <a:spcBef>
                <a:spcPts val="0"/>
              </a:spcBef>
              <a:spcAft>
                <a:spcPts val="0"/>
              </a:spcAft>
            </a:pPr>
            <a:r>
              <a:rPr sz="900" b="0" i="0" u="none">
                <a:solidFill>
                  <a:srgbClr val="C6C6C0"/>
                </a:solidFill>
                <a:latin typeface="Arial"/>
                <a:ea typeface="Arial"/>
                <a:cs typeface="Arial"/>
              </a:rPr>
              <a:t>admissions with clinical MRI, CC0: SOOP</a:t>
            </a:r>
          </a:p>
        </p:txBody>
      </p:sp>
      <p:sp>
        <p:nvSpPr>
          <p:cNvPr id="45" name="TextBox 44"/>
          <p:cNvSpPr txBox="1"/>
          <p:nvPr/>
        </p:nvSpPr>
        <p:spPr>
          <a:xfrm>
            <a:off x="609600" y="4695825"/>
            <a:ext cx="8162544" cy="142875"/>
          </a:xfrm>
          <a:prstGeom prst="rect">
            <a:avLst/>
          </a:prstGeom>
          <a:noFill/>
        </p:spPr>
        <p:txBody>
          <a:bodyPr wrap="square" lIns="0" rIns="0" tIns="0" bIns="0" anchor="t">
            <a:noAutofit/>
          </a:bodyPr>
          <a:lstStyle/>
          <a:p>
            <a:pPr algn="l">
              <a:lnSpc>
                <a:spcPts val="1125"/>
              </a:lnSpc>
              <a:spcBef>
                <a:spcPts val="0"/>
              </a:spcBef>
              <a:spcAft>
                <a:spcPts val="0"/>
              </a:spcAft>
            </a:pPr>
            <a:r>
              <a:rPr sz="900" b="0" i="0" u="none">
                <a:solidFill>
                  <a:srgbClr val="85857F"/>
                </a:solidFill>
                <a:latin typeface="Arial"/>
                <a:ea typeface="Arial"/>
                <a:cs typeface="Arial"/>
              </a:rPr>
              <a:t>Open data has not guaranteed open code: of 17 segmentation methods published on ATLAS v1.2, 12 reported no public code (Liew 2022).</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1F1EF"/>
        </a:solidFill>
        <a:effectLst/>
      </p:bgPr>
    </p:bg>
    <p:spTree>
      <p:nvGrpSpPr>
        <p:cNvPr id="1" name=""/>
        <p:cNvGrpSpPr/>
        <p:nvPr/>
      </p:nvGrpSpPr>
      <p:grpSpPr/>
      <p:sp>
        <p:nvSpPr>
          <p:cNvPr id="2" name="Title 1"/>
          <p:cNvSpPr>
            <a:spLocks noGrp="1"/>
          </p:cNvSpPr>
          <p:nvPr>
            <p:ph type="title"/>
          </p:nvPr>
        </p:nvSpPr>
        <p:spPr>
          <a:xfrm>
            <a:off x="609600" y="952500"/>
            <a:ext cx="8162544" cy="329133"/>
          </a:xfrm>
        </p:spPr>
        <p:txBody>
          <a:bodyPr wrap="square" lIns="0" rIns="0" tIns="0" bIns="0" anchor="t">
            <a:noAutofit/>
          </a:bodyPr>
          <a:lstStyle/>
          <a:p>
            <a:pPr algn="l">
              <a:lnSpc>
                <a:spcPts val="2592"/>
              </a:lnSpc>
              <a:spcBef>
                <a:spcPts val="0"/>
              </a:spcBef>
              <a:spcAft>
                <a:spcPts val="0"/>
              </a:spcAft>
            </a:pPr>
            <a:r>
              <a:rPr sz="2400" b="1" i="0" u="none" spc="-75">
                <a:solidFill>
                  <a:srgbClr val="141414"/>
                </a:solidFill>
                <a:latin typeface="Arial"/>
                <a:ea typeface="Arial"/>
                <a:cs typeface="Arial"/>
              </a:rPr>
              <a:t>The fields next door had their crisis first</a:t>
            </a:r>
          </a:p>
        </p:txBody>
      </p:sp>
      <p:cxnSp>
        <p:nvCxnSpPr>
          <p:cNvPr id="3" name="Connector 2"/>
          <p:cNvCxnSpPr/>
          <p:nvPr/>
        </p:nvCxnSpPr>
        <p:spPr>
          <a:xfrm>
            <a:off x="609600" y="1474515"/>
            <a:ext cx="1984772" cy="0"/>
          </a:xfrm>
          <a:prstGeom prst="line">
            <a:avLst/>
          </a:prstGeom>
          <a:ln w="6350">
            <a:solidFill>
              <a:srgbClr val="C6C6C1"/>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2591991" y="1472133"/>
            <a:ext cx="0" cy="1828800"/>
          </a:xfrm>
          <a:prstGeom prst="line">
            <a:avLst/>
          </a:prstGeom>
          <a:ln w="6350">
            <a:solidFill>
              <a:srgbClr val="C6C6C1"/>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609600" y="3298552"/>
            <a:ext cx="1984772" cy="0"/>
          </a:xfrm>
          <a:prstGeom prst="line">
            <a:avLst/>
          </a:prstGeom>
          <a:ln w="6350">
            <a:solidFill>
              <a:srgbClr val="C6C6C1"/>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611981" y="1472133"/>
            <a:ext cx="0" cy="1828800"/>
          </a:xfrm>
          <a:prstGeom prst="line">
            <a:avLst/>
          </a:prstGeom>
          <a:ln w="6350">
            <a:solidFill>
              <a:srgbClr val="C6C6C1"/>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2594372" y="1474515"/>
            <a:ext cx="1980009" cy="0"/>
          </a:xfrm>
          <a:prstGeom prst="line">
            <a:avLst/>
          </a:prstGeom>
          <a:ln w="6350">
            <a:solidFill>
              <a:srgbClr val="C6C6C1"/>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4572000" y="1472133"/>
            <a:ext cx="0" cy="1828800"/>
          </a:xfrm>
          <a:prstGeom prst="line">
            <a:avLst/>
          </a:prstGeom>
          <a:ln w="6350">
            <a:solidFill>
              <a:srgbClr val="C6C6C1"/>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2594372" y="3298552"/>
            <a:ext cx="1980009" cy="0"/>
          </a:xfrm>
          <a:prstGeom prst="line">
            <a:avLst/>
          </a:prstGeom>
          <a:ln w="6350">
            <a:solidFill>
              <a:srgbClr val="C6C6C1"/>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4574381" y="1474515"/>
            <a:ext cx="1980010" cy="0"/>
          </a:xfrm>
          <a:prstGeom prst="line">
            <a:avLst/>
          </a:prstGeom>
          <a:ln w="6350">
            <a:solidFill>
              <a:srgbClr val="C6C6C1"/>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6552009" y="1472133"/>
            <a:ext cx="0" cy="1828800"/>
          </a:xfrm>
          <a:prstGeom prst="line">
            <a:avLst/>
          </a:prstGeom>
          <a:ln w="6350">
            <a:solidFill>
              <a:srgbClr val="C6C6C1"/>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4574381" y="3298552"/>
            <a:ext cx="1980010" cy="0"/>
          </a:xfrm>
          <a:prstGeom prst="line">
            <a:avLst/>
          </a:prstGeom>
          <a:ln w="6350">
            <a:solidFill>
              <a:srgbClr val="C6C6C1"/>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6554391" y="1474515"/>
            <a:ext cx="1980009" cy="0"/>
          </a:xfrm>
          <a:prstGeom prst="line">
            <a:avLst/>
          </a:prstGeom>
          <a:ln w="6350">
            <a:solidFill>
              <a:srgbClr val="C6C6C1"/>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8532019" y="1472133"/>
            <a:ext cx="0" cy="1828800"/>
          </a:xfrm>
          <a:prstGeom prst="line">
            <a:avLst/>
          </a:prstGeom>
          <a:ln w="6350">
            <a:solidFill>
              <a:srgbClr val="C6C6C1"/>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6554391" y="3298552"/>
            <a:ext cx="1980009" cy="0"/>
          </a:xfrm>
          <a:prstGeom prst="line">
            <a:avLst/>
          </a:prstGeom>
          <a:ln w="6350">
            <a:solidFill>
              <a:srgbClr val="C6C6C1"/>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609600" y="3684315"/>
            <a:ext cx="7924800" cy="0"/>
          </a:xfrm>
          <a:prstGeom prst="line">
            <a:avLst/>
          </a:prstGeom>
          <a:ln w="6350">
            <a:solidFill>
              <a:srgbClr val="141414"/>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09600" y="266700"/>
            <a:ext cx="5886450" cy="142875"/>
          </a:xfrm>
          <a:prstGeom prst="rect">
            <a:avLst/>
          </a:prstGeom>
          <a:noFill/>
        </p:spPr>
        <p:txBody>
          <a:bodyPr wrap="square" lIns="0" rIns="0" tIns="0" bIns="0" anchor="t">
            <a:noAutofit/>
          </a:bodyPr>
          <a:lstStyle/>
          <a:p>
            <a:pPr algn="l">
              <a:lnSpc>
                <a:spcPts val="1125"/>
              </a:lnSpc>
              <a:spcBef>
                <a:spcPts val="0"/>
              </a:spcBef>
              <a:spcAft>
                <a:spcPts val="0"/>
              </a:spcAft>
            </a:pPr>
            <a:r>
              <a:rPr sz="900" b="0" i="0" u="none" spc="75">
                <a:solidFill>
                  <a:srgbClr val="85857F"/>
                </a:solidFill>
                <a:latin typeface="Arial"/>
                <a:ea typeface="Arial"/>
                <a:cs typeface="Arial"/>
              </a:rPr>
              <a:t>WORLD STROKE CONGRESS 2026 · SEOUL</a:t>
            </a:r>
          </a:p>
        </p:txBody>
      </p:sp>
      <p:sp>
        <p:nvSpPr>
          <p:cNvPr id="18" name="TextBox 17"/>
          <p:cNvSpPr txBox="1"/>
          <p:nvPr/>
        </p:nvSpPr>
        <p:spPr>
          <a:xfrm>
            <a:off x="609600" y="609600"/>
            <a:ext cx="8162544" cy="152400"/>
          </a:xfrm>
          <a:prstGeom prst="rect">
            <a:avLst/>
          </a:prstGeom>
          <a:noFill/>
        </p:spPr>
        <p:txBody>
          <a:bodyPr wrap="square" lIns="0" rIns="0" tIns="0" bIns="0" anchor="t">
            <a:noAutofit/>
          </a:bodyPr>
          <a:lstStyle/>
          <a:p>
            <a:pPr algn="l">
              <a:lnSpc>
                <a:spcPts val="1200"/>
              </a:lnSpc>
              <a:spcBef>
                <a:spcPts val="0"/>
              </a:spcBef>
              <a:spcAft>
                <a:spcPts val="0"/>
              </a:spcAft>
            </a:pPr>
            <a:r>
              <a:rPr sz="900" b="1" i="0" u="none">
                <a:solidFill>
                  <a:srgbClr val="D7263D"/>
                </a:solidFill>
                <a:latin typeface="Arial"/>
                <a:ea typeface="Arial"/>
                <a:cs typeface="Arial"/>
              </a:rPr>
              <a:t>02</a:t>
            </a:r>
            <a:r>
              <a:rPr sz="900" b="0" i="0" u="none">
                <a:solidFill>
                  <a:srgbClr val="85857F"/>
                </a:solidFill>
                <a:latin typeface="Arial"/>
                <a:ea typeface="Arial"/>
                <a:cs typeface="Arial"/>
              </a:rPr>
              <a:t>  Why open science</a:t>
            </a:r>
          </a:p>
        </p:txBody>
      </p:sp>
      <p:sp>
        <p:nvSpPr>
          <p:cNvPr id="19" name="TextBox 18"/>
          <p:cNvSpPr txBox="1"/>
          <p:nvPr/>
        </p:nvSpPr>
        <p:spPr>
          <a:xfrm>
            <a:off x="766762" y="1610246"/>
            <a:ext cx="1720560" cy="152400"/>
          </a:xfrm>
          <a:prstGeom prst="rect">
            <a:avLst/>
          </a:prstGeom>
          <a:noFill/>
        </p:spPr>
        <p:txBody>
          <a:bodyPr wrap="square" lIns="0" rIns="0" tIns="0" bIns="0" anchor="t">
            <a:noAutofit/>
          </a:bodyPr>
          <a:lstStyle/>
          <a:p>
            <a:pPr algn="l">
              <a:lnSpc>
                <a:spcPts val="1200"/>
              </a:lnSpc>
              <a:spcBef>
                <a:spcPts val="0"/>
              </a:spcBef>
              <a:spcAft>
                <a:spcPts val="0"/>
              </a:spcAft>
            </a:pPr>
            <a:r>
              <a:rPr sz="975" b="1" i="0" u="none">
                <a:solidFill>
                  <a:srgbClr val="141414"/>
                </a:solidFill>
                <a:latin typeface="Arial"/>
                <a:ea typeface="Arial"/>
                <a:cs typeface="Arial"/>
              </a:rPr>
              <a:t>Psychology</a:t>
            </a:r>
          </a:p>
        </p:txBody>
      </p:sp>
      <p:sp>
        <p:nvSpPr>
          <p:cNvPr id="20" name="TextBox 19"/>
          <p:cNvSpPr txBox="1"/>
          <p:nvPr/>
        </p:nvSpPr>
        <p:spPr>
          <a:xfrm>
            <a:off x="766762" y="1838846"/>
            <a:ext cx="1720560" cy="533400"/>
          </a:xfrm>
          <a:prstGeom prst="rect">
            <a:avLst/>
          </a:prstGeom>
          <a:noFill/>
        </p:spPr>
        <p:txBody>
          <a:bodyPr wrap="square" lIns="0" rIns="0" tIns="0" bIns="0" anchor="t">
            <a:noAutofit/>
          </a:bodyPr>
          <a:lstStyle/>
          <a:p>
            <a:pPr algn="l">
              <a:lnSpc>
                <a:spcPts val="4200"/>
              </a:lnSpc>
              <a:spcBef>
                <a:spcPts val="0"/>
              </a:spcBef>
              <a:spcAft>
                <a:spcPts val="0"/>
              </a:spcAft>
            </a:pPr>
            <a:r>
              <a:rPr sz="4200" b="0" i="0" u="none">
                <a:solidFill>
                  <a:srgbClr val="D7263D"/>
                </a:solidFill>
                <a:latin typeface="Times New Roman"/>
                <a:ea typeface="Times New Roman"/>
                <a:cs typeface="Times New Roman"/>
              </a:rPr>
              <a:t>36%</a:t>
            </a:r>
          </a:p>
        </p:txBody>
      </p:sp>
      <p:sp>
        <p:nvSpPr>
          <p:cNvPr id="21" name="TextBox 20"/>
          <p:cNvSpPr txBox="1"/>
          <p:nvPr/>
        </p:nvSpPr>
        <p:spPr>
          <a:xfrm>
            <a:off x="766762" y="2448446"/>
            <a:ext cx="1720560" cy="714375"/>
          </a:xfrm>
          <a:prstGeom prst="rect">
            <a:avLst/>
          </a:prstGeom>
          <a:noFill/>
        </p:spPr>
        <p:txBody>
          <a:bodyPr wrap="square" lIns="0" rIns="0" tIns="0" bIns="0" anchor="t">
            <a:noAutofit/>
          </a:bodyPr>
          <a:lstStyle/>
          <a:p>
            <a:pPr algn="l">
              <a:lnSpc>
                <a:spcPts val="1125"/>
              </a:lnSpc>
              <a:spcBef>
                <a:spcPts val="0"/>
              </a:spcBef>
              <a:spcAft>
                <a:spcPts val="0"/>
              </a:spcAft>
            </a:pPr>
            <a:r>
              <a:rPr sz="900" b="0" i="0" u="none">
                <a:solidFill>
                  <a:srgbClr val="4A4A47"/>
                </a:solidFill>
                <a:latin typeface="Arial"/>
                <a:ea typeface="Arial"/>
                <a:cs typeface="Arial"/>
              </a:rPr>
              <a:t>of 100 published findings replicated with a significant result; effect sizes about half the originals. Open Science Collaboration, Science 2015</a:t>
            </a:r>
          </a:p>
        </p:txBody>
      </p:sp>
      <p:sp>
        <p:nvSpPr>
          <p:cNvPr id="22" name="TextBox 21"/>
          <p:cNvSpPr txBox="1"/>
          <p:nvPr/>
        </p:nvSpPr>
        <p:spPr>
          <a:xfrm>
            <a:off x="2746772" y="1610246"/>
            <a:ext cx="1720560" cy="152400"/>
          </a:xfrm>
          <a:prstGeom prst="rect">
            <a:avLst/>
          </a:prstGeom>
          <a:noFill/>
        </p:spPr>
        <p:txBody>
          <a:bodyPr wrap="square" lIns="0" rIns="0" tIns="0" bIns="0" anchor="t">
            <a:noAutofit/>
          </a:bodyPr>
          <a:lstStyle/>
          <a:p>
            <a:pPr algn="l">
              <a:lnSpc>
                <a:spcPts val="1200"/>
              </a:lnSpc>
              <a:spcBef>
                <a:spcPts val="0"/>
              </a:spcBef>
              <a:spcAft>
                <a:spcPts val="0"/>
              </a:spcAft>
            </a:pPr>
            <a:r>
              <a:rPr sz="975" b="1" i="0" u="none">
                <a:solidFill>
                  <a:srgbClr val="141414"/>
                </a:solidFill>
                <a:latin typeface="Arial"/>
                <a:ea typeface="Arial"/>
                <a:cs typeface="Arial"/>
              </a:rPr>
              <a:t>Neuroscience</a:t>
            </a:r>
          </a:p>
        </p:txBody>
      </p:sp>
      <p:sp>
        <p:nvSpPr>
          <p:cNvPr id="23" name="TextBox 22"/>
          <p:cNvSpPr txBox="1"/>
          <p:nvPr/>
        </p:nvSpPr>
        <p:spPr>
          <a:xfrm>
            <a:off x="2746772" y="1910283"/>
            <a:ext cx="1720560" cy="533400"/>
          </a:xfrm>
          <a:prstGeom prst="rect">
            <a:avLst/>
          </a:prstGeom>
          <a:noFill/>
        </p:spPr>
        <p:txBody>
          <a:bodyPr wrap="square" lIns="0" rIns="0" tIns="0" bIns="0" anchor="t">
            <a:noAutofit/>
          </a:bodyPr>
          <a:lstStyle/>
          <a:p>
            <a:pPr algn="l">
              <a:lnSpc>
                <a:spcPts val="4200"/>
              </a:lnSpc>
              <a:spcBef>
                <a:spcPts val="0"/>
              </a:spcBef>
              <a:spcAft>
                <a:spcPts val="0"/>
              </a:spcAft>
            </a:pPr>
            <a:r>
              <a:rPr sz="4200" b="0" i="0" u="none">
                <a:solidFill>
                  <a:srgbClr val="D7263D"/>
                </a:solidFill>
                <a:latin typeface="Times New Roman"/>
                <a:ea typeface="Times New Roman"/>
                <a:cs typeface="Times New Roman"/>
              </a:rPr>
              <a:t>21%</a:t>
            </a:r>
          </a:p>
        </p:txBody>
      </p:sp>
      <p:sp>
        <p:nvSpPr>
          <p:cNvPr id="24" name="TextBox 23"/>
          <p:cNvSpPr txBox="1"/>
          <p:nvPr/>
        </p:nvSpPr>
        <p:spPr>
          <a:xfrm>
            <a:off x="2746772" y="2591321"/>
            <a:ext cx="1720560" cy="571500"/>
          </a:xfrm>
          <a:prstGeom prst="rect">
            <a:avLst/>
          </a:prstGeom>
          <a:noFill/>
        </p:spPr>
        <p:txBody>
          <a:bodyPr wrap="square" lIns="0" rIns="0" tIns="0" bIns="0" anchor="t">
            <a:noAutofit/>
          </a:bodyPr>
          <a:lstStyle/>
          <a:p>
            <a:pPr algn="l">
              <a:lnSpc>
                <a:spcPts val="1125"/>
              </a:lnSpc>
              <a:spcBef>
                <a:spcPts val="0"/>
              </a:spcBef>
              <a:spcAft>
                <a:spcPts val="0"/>
              </a:spcAft>
            </a:pPr>
            <a:r>
              <a:rPr sz="900" b="0" i="0" u="none">
                <a:solidFill>
                  <a:srgbClr val="4A4A47"/>
                </a:solidFill>
                <a:latin typeface="Arial"/>
                <a:ea typeface="Arial"/>
                <a:cs typeface="Arial"/>
              </a:rPr>
              <a:t>median statistical power of neuroscience studies. Button et al., Nature Reviews Neuroscience 2013</a:t>
            </a:r>
          </a:p>
        </p:txBody>
      </p:sp>
      <p:sp>
        <p:nvSpPr>
          <p:cNvPr id="25" name="TextBox 24"/>
          <p:cNvSpPr txBox="1"/>
          <p:nvPr/>
        </p:nvSpPr>
        <p:spPr>
          <a:xfrm>
            <a:off x="4726781" y="1610246"/>
            <a:ext cx="1720560" cy="152400"/>
          </a:xfrm>
          <a:prstGeom prst="rect">
            <a:avLst/>
          </a:prstGeom>
          <a:noFill/>
        </p:spPr>
        <p:txBody>
          <a:bodyPr wrap="square" lIns="0" rIns="0" tIns="0" bIns="0" anchor="t">
            <a:noAutofit/>
          </a:bodyPr>
          <a:lstStyle/>
          <a:p>
            <a:pPr algn="l">
              <a:lnSpc>
                <a:spcPts val="1200"/>
              </a:lnSpc>
              <a:spcBef>
                <a:spcPts val="0"/>
              </a:spcBef>
              <a:spcAft>
                <a:spcPts val="0"/>
              </a:spcAft>
            </a:pPr>
            <a:r>
              <a:rPr sz="975" b="1" i="0" u="none">
                <a:solidFill>
                  <a:srgbClr val="141414"/>
                </a:solidFill>
                <a:latin typeface="Arial"/>
                <a:ea typeface="Arial"/>
                <a:cs typeface="Arial"/>
              </a:rPr>
              <a:t>Preclinical cancer</a:t>
            </a:r>
          </a:p>
        </p:txBody>
      </p:sp>
      <p:sp>
        <p:nvSpPr>
          <p:cNvPr id="26" name="TextBox 25"/>
          <p:cNvSpPr txBox="1"/>
          <p:nvPr/>
        </p:nvSpPr>
        <p:spPr>
          <a:xfrm>
            <a:off x="4726781" y="2019821"/>
            <a:ext cx="1720560" cy="457200"/>
          </a:xfrm>
          <a:prstGeom prst="rect">
            <a:avLst/>
          </a:prstGeom>
          <a:noFill/>
        </p:spPr>
        <p:txBody>
          <a:bodyPr wrap="square" lIns="0" rIns="0" tIns="0" bIns="0" anchor="t">
            <a:noAutofit/>
          </a:bodyPr>
          <a:lstStyle/>
          <a:p>
            <a:pPr algn="l">
              <a:lnSpc>
                <a:spcPts val="3600"/>
              </a:lnSpc>
              <a:spcBef>
                <a:spcPts val="0"/>
              </a:spcBef>
              <a:spcAft>
                <a:spcPts val="0"/>
              </a:spcAft>
            </a:pPr>
            <a:r>
              <a:rPr sz="3600" b="0" i="0" u="none">
                <a:solidFill>
                  <a:srgbClr val="D7263D"/>
                </a:solidFill>
                <a:latin typeface="Times New Roman"/>
                <a:ea typeface="Times New Roman"/>
                <a:cs typeface="Times New Roman"/>
              </a:rPr>
              <a:t>6 of 53</a:t>
            </a:r>
          </a:p>
        </p:txBody>
      </p:sp>
      <p:sp>
        <p:nvSpPr>
          <p:cNvPr id="27" name="TextBox 26"/>
          <p:cNvSpPr txBox="1"/>
          <p:nvPr/>
        </p:nvSpPr>
        <p:spPr>
          <a:xfrm>
            <a:off x="4726781" y="2734196"/>
            <a:ext cx="1720560" cy="428625"/>
          </a:xfrm>
          <a:prstGeom prst="rect">
            <a:avLst/>
          </a:prstGeom>
          <a:noFill/>
        </p:spPr>
        <p:txBody>
          <a:bodyPr wrap="square" lIns="0" rIns="0" tIns="0" bIns="0" anchor="t">
            <a:noAutofit/>
          </a:bodyPr>
          <a:lstStyle/>
          <a:p>
            <a:pPr algn="l">
              <a:lnSpc>
                <a:spcPts val="1125"/>
              </a:lnSpc>
              <a:spcBef>
                <a:spcPts val="0"/>
              </a:spcBef>
              <a:spcAft>
                <a:spcPts val="0"/>
              </a:spcAft>
            </a:pPr>
            <a:r>
              <a:rPr sz="900" b="0" i="0" u="none">
                <a:solidFill>
                  <a:srgbClr val="4A4A47"/>
                </a:solidFill>
                <a:latin typeface="Arial"/>
                <a:ea typeface="Arial"/>
                <a:cs typeface="Arial"/>
              </a:rPr>
              <a:t>landmark findings that Amgen could reproduce. Begley and Ellis, Nature 2012</a:t>
            </a:r>
          </a:p>
        </p:txBody>
      </p:sp>
      <p:sp>
        <p:nvSpPr>
          <p:cNvPr id="28" name="TextBox 27"/>
          <p:cNvSpPr txBox="1"/>
          <p:nvPr/>
        </p:nvSpPr>
        <p:spPr>
          <a:xfrm>
            <a:off x="6706791" y="1610246"/>
            <a:ext cx="1720560" cy="152400"/>
          </a:xfrm>
          <a:prstGeom prst="rect">
            <a:avLst/>
          </a:prstGeom>
          <a:noFill/>
        </p:spPr>
        <p:txBody>
          <a:bodyPr wrap="square" lIns="0" rIns="0" tIns="0" bIns="0" anchor="t">
            <a:noAutofit/>
          </a:bodyPr>
          <a:lstStyle/>
          <a:p>
            <a:pPr algn="l">
              <a:lnSpc>
                <a:spcPts val="1200"/>
              </a:lnSpc>
              <a:spcBef>
                <a:spcPts val="0"/>
              </a:spcBef>
              <a:spcAft>
                <a:spcPts val="0"/>
              </a:spcAft>
            </a:pPr>
            <a:r>
              <a:rPr sz="975" b="1" i="0" u="none">
                <a:solidFill>
                  <a:srgbClr val="141414"/>
                </a:solidFill>
                <a:latin typeface="Arial"/>
                <a:ea typeface="Arial"/>
                <a:cs typeface="Arial"/>
              </a:rPr>
              <a:t>Across science</a:t>
            </a:r>
          </a:p>
        </p:txBody>
      </p:sp>
      <p:sp>
        <p:nvSpPr>
          <p:cNvPr id="29" name="TextBox 28"/>
          <p:cNvSpPr txBox="1"/>
          <p:nvPr/>
        </p:nvSpPr>
        <p:spPr>
          <a:xfrm>
            <a:off x="6706791" y="1838846"/>
            <a:ext cx="1720560" cy="533400"/>
          </a:xfrm>
          <a:prstGeom prst="rect">
            <a:avLst/>
          </a:prstGeom>
          <a:noFill/>
        </p:spPr>
        <p:txBody>
          <a:bodyPr wrap="square" lIns="0" rIns="0" tIns="0" bIns="0" anchor="t">
            <a:noAutofit/>
          </a:bodyPr>
          <a:lstStyle/>
          <a:p>
            <a:pPr algn="l">
              <a:lnSpc>
                <a:spcPts val="4200"/>
              </a:lnSpc>
              <a:spcBef>
                <a:spcPts val="0"/>
              </a:spcBef>
              <a:spcAft>
                <a:spcPts val="0"/>
              </a:spcAft>
            </a:pPr>
            <a:r>
              <a:rPr sz="4200" b="0" i="0" u="none">
                <a:solidFill>
                  <a:srgbClr val="D7263D"/>
                </a:solidFill>
                <a:latin typeface="Times New Roman"/>
                <a:ea typeface="Times New Roman"/>
                <a:cs typeface="Times New Roman"/>
              </a:rPr>
              <a:t>70%</a:t>
            </a:r>
          </a:p>
        </p:txBody>
      </p:sp>
      <p:sp>
        <p:nvSpPr>
          <p:cNvPr id="30" name="TextBox 29"/>
          <p:cNvSpPr txBox="1"/>
          <p:nvPr/>
        </p:nvSpPr>
        <p:spPr>
          <a:xfrm>
            <a:off x="6706791" y="2448446"/>
            <a:ext cx="1720560" cy="714375"/>
          </a:xfrm>
          <a:prstGeom prst="rect">
            <a:avLst/>
          </a:prstGeom>
          <a:noFill/>
        </p:spPr>
        <p:txBody>
          <a:bodyPr wrap="square" lIns="0" rIns="0" tIns="0" bIns="0" anchor="t">
            <a:noAutofit/>
          </a:bodyPr>
          <a:lstStyle/>
          <a:p>
            <a:pPr algn="l">
              <a:lnSpc>
                <a:spcPts val="1125"/>
              </a:lnSpc>
              <a:spcBef>
                <a:spcPts val="0"/>
              </a:spcBef>
              <a:spcAft>
                <a:spcPts val="0"/>
              </a:spcAft>
            </a:pPr>
            <a:r>
              <a:rPr sz="900" b="0" i="0" u="none">
                <a:solidFill>
                  <a:srgbClr val="4A4A47"/>
                </a:solidFill>
                <a:latin typeface="Arial"/>
                <a:ea typeface="Arial"/>
                <a:cs typeface="Arial"/>
              </a:rPr>
              <a:t>of 1,576 researchers had failed to reproduce another group’s experiment; 52% called it a significant crisis. Baker, Nature 2016</a:t>
            </a:r>
          </a:p>
        </p:txBody>
      </p:sp>
      <p:sp>
        <p:nvSpPr>
          <p:cNvPr id="31" name="TextBox 30"/>
          <p:cNvSpPr txBox="1"/>
          <p:nvPr/>
        </p:nvSpPr>
        <p:spPr>
          <a:xfrm>
            <a:off x="609600" y="4033168"/>
            <a:ext cx="2060258" cy="152400"/>
          </a:xfrm>
          <a:prstGeom prst="rect">
            <a:avLst/>
          </a:prstGeom>
          <a:noFill/>
        </p:spPr>
        <p:txBody>
          <a:bodyPr wrap="square" lIns="0" rIns="0" tIns="0" bIns="0" anchor="t">
            <a:noAutofit/>
          </a:bodyPr>
          <a:lstStyle/>
          <a:p>
            <a:pPr algn="l">
              <a:lnSpc>
                <a:spcPts val="1200"/>
              </a:lnSpc>
              <a:spcBef>
                <a:spcPts val="0"/>
              </a:spcBef>
              <a:spcAft>
                <a:spcPts val="0"/>
              </a:spcAft>
            </a:pPr>
            <a:r>
              <a:rPr sz="975" b="1" i="0" u="none">
                <a:solidFill>
                  <a:srgbClr val="141414"/>
                </a:solidFill>
                <a:latin typeface="Arial"/>
                <a:ea typeface="Arial"/>
                <a:cs typeface="Arial"/>
              </a:rPr>
              <a:t>Why it happened</a:t>
            </a:r>
          </a:p>
        </p:txBody>
      </p:sp>
      <p:sp>
        <p:nvSpPr>
          <p:cNvPr id="32" name="TextBox 31"/>
          <p:cNvSpPr txBox="1"/>
          <p:nvPr/>
        </p:nvSpPr>
        <p:spPr>
          <a:xfrm>
            <a:off x="2800350" y="3820046"/>
            <a:ext cx="5906071" cy="578644"/>
          </a:xfrm>
          <a:prstGeom prst="rect">
            <a:avLst/>
          </a:prstGeom>
          <a:noFill/>
        </p:spPr>
        <p:txBody>
          <a:bodyPr wrap="square" lIns="0" rIns="0" tIns="0" bIns="0" anchor="t">
            <a:noAutofit/>
          </a:bodyPr>
          <a:lstStyle/>
          <a:p>
            <a:pPr algn="l">
              <a:lnSpc>
                <a:spcPts val="1519"/>
              </a:lnSpc>
              <a:spcBef>
                <a:spcPts val="0"/>
              </a:spcBef>
              <a:spcAft>
                <a:spcPts val="0"/>
              </a:spcAft>
            </a:pPr>
            <a:r>
              <a:rPr sz="1125" b="0" i="0" u="none">
                <a:solidFill>
                  <a:srgbClr val="4A4A47"/>
                </a:solidFill>
                <a:latin typeface="Arial"/>
                <a:ea typeface="Arial"/>
                <a:cs typeface="Arial"/>
              </a:rPr>
              <a:t>Small samples, flexible analyses, selective reporting. Four routine analysis choices raise a 5% false-positive rate to 61% (Simmons 2011); 63% of 2,155 psychologists admitted not reporting all their measures (John 2012).</a:t>
            </a:r>
          </a:p>
        </p:txBody>
      </p:sp>
      <p:sp>
        <p:nvSpPr>
          <p:cNvPr id="33" name="TextBox 32"/>
          <p:cNvSpPr txBox="1"/>
          <p:nvPr/>
        </p:nvSpPr>
        <p:spPr>
          <a:xfrm>
            <a:off x="609600" y="4695825"/>
            <a:ext cx="8162544" cy="142875"/>
          </a:xfrm>
          <a:prstGeom prst="rect">
            <a:avLst/>
          </a:prstGeom>
          <a:noFill/>
        </p:spPr>
        <p:txBody>
          <a:bodyPr wrap="square" lIns="0" rIns="0" tIns="0" bIns="0" anchor="t">
            <a:noAutofit/>
          </a:bodyPr>
          <a:lstStyle/>
          <a:p>
            <a:pPr algn="l">
              <a:lnSpc>
                <a:spcPts val="1125"/>
              </a:lnSpc>
              <a:spcBef>
                <a:spcPts val="0"/>
              </a:spcBef>
              <a:spcAft>
                <a:spcPts val="0"/>
              </a:spcAft>
            </a:pPr>
            <a:r>
              <a:rPr sz="900" b="0" i="0" u="none">
                <a:solidFill>
                  <a:srgbClr val="85857F"/>
                </a:solidFill>
                <a:latin typeface="Arial"/>
                <a:ea typeface="Arial"/>
                <a:cs typeface="Arial"/>
              </a:rPr>
              <a:t>Psychology and neuroscience measured themselves, it hurt, and they changed how they publish.</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1F1EF"/>
        </a:solidFill>
        <a:effectLst/>
      </p:bgPr>
    </p:bg>
    <p:spTree>
      <p:nvGrpSpPr>
        <p:cNvPr id="1" name=""/>
        <p:cNvGrpSpPr/>
        <p:nvPr/>
      </p:nvGrpSpPr>
      <p:grpSpPr/>
      <p:sp>
        <p:nvSpPr>
          <p:cNvPr id="2" name="Title 1"/>
          <p:cNvSpPr>
            <a:spLocks noGrp="1"/>
          </p:cNvSpPr>
          <p:nvPr>
            <p:ph type="title"/>
          </p:nvPr>
        </p:nvSpPr>
        <p:spPr>
          <a:xfrm>
            <a:off x="609600" y="895350"/>
            <a:ext cx="8162544" cy="329133"/>
          </a:xfrm>
        </p:spPr>
        <p:txBody>
          <a:bodyPr wrap="square" lIns="0" rIns="0" tIns="0" bIns="0" anchor="t">
            <a:noAutofit/>
          </a:bodyPr>
          <a:lstStyle/>
          <a:p>
            <a:pPr algn="l">
              <a:lnSpc>
                <a:spcPts val="2592"/>
              </a:lnSpc>
              <a:spcBef>
                <a:spcPts val="0"/>
              </a:spcBef>
              <a:spcAft>
                <a:spcPts val="0"/>
              </a:spcAft>
            </a:pPr>
            <a:r>
              <a:rPr sz="2400" b="1" i="0" u="none" spc="-75">
                <a:solidFill>
                  <a:srgbClr val="141414"/>
                </a:solidFill>
                <a:latin typeface="Arial"/>
                <a:ea typeface="Arial"/>
                <a:cs typeface="Arial"/>
              </a:rPr>
              <a:t>The rules now exist. Practice is catching up.</a:t>
            </a:r>
          </a:p>
        </p:txBody>
      </p:sp>
      <p:cxnSp>
        <p:nvCxnSpPr>
          <p:cNvPr id="3" name="Connector 2"/>
          <p:cNvCxnSpPr/>
          <p:nvPr/>
        </p:nvCxnSpPr>
        <p:spPr>
          <a:xfrm>
            <a:off x="609600" y="1560240"/>
            <a:ext cx="4572000" cy="0"/>
          </a:xfrm>
          <a:prstGeom prst="line">
            <a:avLst/>
          </a:prstGeom>
          <a:ln w="6350">
            <a:solidFill>
              <a:srgbClr val="C6C6C1"/>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609600" y="2039317"/>
            <a:ext cx="4572000" cy="0"/>
          </a:xfrm>
          <a:prstGeom prst="line">
            <a:avLst/>
          </a:prstGeom>
          <a:ln w="6350">
            <a:solidFill>
              <a:srgbClr val="C6C6C1"/>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609600" y="2518395"/>
            <a:ext cx="4572000" cy="0"/>
          </a:xfrm>
          <a:prstGeom prst="line">
            <a:avLst/>
          </a:prstGeom>
          <a:ln w="6350">
            <a:solidFill>
              <a:srgbClr val="C6C6C1"/>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609600" y="2836515"/>
            <a:ext cx="4572000" cy="0"/>
          </a:xfrm>
          <a:prstGeom prst="line">
            <a:avLst/>
          </a:prstGeom>
          <a:ln w="6350">
            <a:solidFill>
              <a:srgbClr val="C6C6C1"/>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609600" y="3315593"/>
            <a:ext cx="4572000" cy="0"/>
          </a:xfrm>
          <a:prstGeom prst="line">
            <a:avLst/>
          </a:prstGeom>
          <a:ln w="6350">
            <a:solidFill>
              <a:srgbClr val="C6C6C1"/>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609600" y="3794671"/>
            <a:ext cx="4572000" cy="0"/>
          </a:xfrm>
          <a:prstGeom prst="line">
            <a:avLst/>
          </a:prstGeom>
          <a:ln w="6350">
            <a:solidFill>
              <a:srgbClr val="C6C6C1"/>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5486400" y="1560240"/>
            <a:ext cx="3048000" cy="0"/>
          </a:xfrm>
          <a:prstGeom prst="line">
            <a:avLst/>
          </a:prstGeom>
          <a:ln w="6350">
            <a:solidFill>
              <a:srgbClr val="C6C6C1"/>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8532019" y="1557858"/>
            <a:ext cx="0" cy="933450"/>
          </a:xfrm>
          <a:prstGeom prst="line">
            <a:avLst/>
          </a:prstGeom>
          <a:ln w="6350">
            <a:solidFill>
              <a:srgbClr val="C6C6C1"/>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5486400" y="2488927"/>
            <a:ext cx="3048000" cy="0"/>
          </a:xfrm>
          <a:prstGeom prst="line">
            <a:avLst/>
          </a:prstGeom>
          <a:ln w="6350">
            <a:solidFill>
              <a:srgbClr val="C6C6C1"/>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5488781" y="1557858"/>
            <a:ext cx="0" cy="933450"/>
          </a:xfrm>
          <a:prstGeom prst="line">
            <a:avLst/>
          </a:prstGeom>
          <a:ln w="6350">
            <a:solidFill>
              <a:srgbClr val="C6C6C1"/>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8532019" y="2491308"/>
            <a:ext cx="0" cy="928688"/>
          </a:xfrm>
          <a:prstGeom prst="line">
            <a:avLst/>
          </a:prstGeom>
          <a:ln w="6350">
            <a:solidFill>
              <a:srgbClr val="C6C6C1"/>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5486400" y="3417615"/>
            <a:ext cx="3048000" cy="0"/>
          </a:xfrm>
          <a:prstGeom prst="line">
            <a:avLst/>
          </a:prstGeom>
          <a:ln w="6350">
            <a:solidFill>
              <a:srgbClr val="C6C6C1"/>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5488781" y="2491308"/>
            <a:ext cx="0" cy="928688"/>
          </a:xfrm>
          <a:prstGeom prst="line">
            <a:avLst/>
          </a:prstGeom>
          <a:ln w="6350">
            <a:solidFill>
              <a:srgbClr val="C6C6C1"/>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8532019" y="3419996"/>
            <a:ext cx="0" cy="928687"/>
          </a:xfrm>
          <a:prstGeom prst="line">
            <a:avLst/>
          </a:prstGeom>
          <a:ln w="6350">
            <a:solidFill>
              <a:srgbClr val="C6C6C1"/>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5486400" y="4346302"/>
            <a:ext cx="3048000" cy="0"/>
          </a:xfrm>
          <a:prstGeom prst="line">
            <a:avLst/>
          </a:prstGeom>
          <a:ln w="6350">
            <a:solidFill>
              <a:srgbClr val="C6C6C1"/>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5488781" y="3419996"/>
            <a:ext cx="0" cy="928687"/>
          </a:xfrm>
          <a:prstGeom prst="line">
            <a:avLst/>
          </a:prstGeom>
          <a:ln w="6350">
            <a:solidFill>
              <a:srgbClr val="C6C6C1"/>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09600" y="266700"/>
            <a:ext cx="5886450" cy="142875"/>
          </a:xfrm>
          <a:prstGeom prst="rect">
            <a:avLst/>
          </a:prstGeom>
          <a:noFill/>
        </p:spPr>
        <p:txBody>
          <a:bodyPr wrap="square" lIns="0" rIns="0" tIns="0" bIns="0" anchor="t">
            <a:noAutofit/>
          </a:bodyPr>
          <a:lstStyle/>
          <a:p>
            <a:pPr algn="l">
              <a:lnSpc>
                <a:spcPts val="1125"/>
              </a:lnSpc>
              <a:spcBef>
                <a:spcPts val="0"/>
              </a:spcBef>
              <a:spcAft>
                <a:spcPts val="0"/>
              </a:spcAft>
            </a:pPr>
            <a:r>
              <a:rPr sz="900" b="0" i="0" u="none" spc="75">
                <a:solidFill>
                  <a:srgbClr val="85857F"/>
                </a:solidFill>
                <a:latin typeface="Arial"/>
                <a:ea typeface="Arial"/>
                <a:cs typeface="Arial"/>
              </a:rPr>
              <a:t>WORLD STROKE CONGRESS 2026 · SEOUL</a:t>
            </a:r>
          </a:p>
        </p:txBody>
      </p:sp>
      <p:sp>
        <p:nvSpPr>
          <p:cNvPr id="20" name="TextBox 19"/>
          <p:cNvSpPr txBox="1"/>
          <p:nvPr/>
        </p:nvSpPr>
        <p:spPr>
          <a:xfrm>
            <a:off x="609600" y="609600"/>
            <a:ext cx="8162544" cy="152400"/>
          </a:xfrm>
          <a:prstGeom prst="rect">
            <a:avLst/>
          </a:prstGeom>
          <a:noFill/>
        </p:spPr>
        <p:txBody>
          <a:bodyPr wrap="square" lIns="0" rIns="0" tIns="0" bIns="0" anchor="t">
            <a:noAutofit/>
          </a:bodyPr>
          <a:lstStyle/>
          <a:p>
            <a:pPr algn="l">
              <a:lnSpc>
                <a:spcPts val="1200"/>
              </a:lnSpc>
              <a:spcBef>
                <a:spcPts val="0"/>
              </a:spcBef>
              <a:spcAft>
                <a:spcPts val="0"/>
              </a:spcAft>
            </a:pPr>
            <a:r>
              <a:rPr sz="900" b="1" i="0" u="none">
                <a:solidFill>
                  <a:srgbClr val="D7263D"/>
                </a:solidFill>
                <a:latin typeface="Arial"/>
                <a:ea typeface="Arial"/>
                <a:cs typeface="Arial"/>
              </a:rPr>
              <a:t>03</a:t>
            </a:r>
            <a:r>
              <a:rPr sz="900" b="0" i="0" u="none">
                <a:solidFill>
                  <a:srgbClr val="85857F"/>
                </a:solidFill>
                <a:latin typeface="Arial"/>
                <a:ea typeface="Arial"/>
                <a:cs typeface="Arial"/>
              </a:rPr>
              <a:t>  Where the fields next door are now</a:t>
            </a:r>
          </a:p>
        </p:txBody>
      </p:sp>
      <p:sp>
        <p:nvSpPr>
          <p:cNvPr id="21" name="TextBox 20"/>
          <p:cNvSpPr txBox="1"/>
          <p:nvPr/>
        </p:nvSpPr>
        <p:spPr>
          <a:xfrm>
            <a:off x="609600" y="1357833"/>
            <a:ext cx="4709160" cy="152400"/>
          </a:xfrm>
          <a:prstGeom prst="rect">
            <a:avLst/>
          </a:prstGeom>
          <a:noFill/>
        </p:spPr>
        <p:txBody>
          <a:bodyPr wrap="square" lIns="0" rIns="0" tIns="0" bIns="0" anchor="t">
            <a:noAutofit/>
          </a:bodyPr>
          <a:lstStyle/>
          <a:p>
            <a:pPr algn="l">
              <a:lnSpc>
                <a:spcPts val="1200"/>
              </a:lnSpc>
              <a:spcBef>
                <a:spcPts val="0"/>
              </a:spcBef>
              <a:spcAft>
                <a:spcPts val="0"/>
              </a:spcAft>
            </a:pPr>
            <a:r>
              <a:rPr sz="900" b="0" i="0" u="none">
                <a:solidFill>
                  <a:srgbClr val="85857F"/>
                </a:solidFill>
                <a:latin typeface="Arial"/>
                <a:ea typeface="Arial"/>
                <a:cs typeface="Arial"/>
              </a:rPr>
              <a:t>What they agreed on</a:t>
            </a:r>
          </a:p>
        </p:txBody>
      </p:sp>
      <p:sp>
        <p:nvSpPr>
          <p:cNvPr id="22" name="TextBox 21"/>
          <p:cNvSpPr txBox="1"/>
          <p:nvPr/>
        </p:nvSpPr>
        <p:spPr>
          <a:xfrm>
            <a:off x="609600" y="1619771"/>
            <a:ext cx="476250" cy="190500"/>
          </a:xfrm>
          <a:prstGeom prst="rect">
            <a:avLst/>
          </a:prstGeom>
          <a:noFill/>
        </p:spPr>
        <p:txBody>
          <a:bodyPr wrap="square" lIns="0" rIns="0" tIns="0" bIns="0" anchor="t">
            <a:noAutofit/>
          </a:bodyPr>
          <a:lstStyle/>
          <a:p>
            <a:pPr algn="l">
              <a:lnSpc>
                <a:spcPts val="1500"/>
              </a:lnSpc>
              <a:spcBef>
                <a:spcPts val="0"/>
              </a:spcBef>
              <a:spcAft>
                <a:spcPts val="0"/>
              </a:spcAft>
            </a:pPr>
            <a:r>
              <a:rPr sz="1500" b="0" i="0" u="none">
                <a:solidFill>
                  <a:srgbClr val="D7263D"/>
                </a:solidFill>
                <a:latin typeface="Times New Roman"/>
                <a:ea typeface="Times New Roman"/>
                <a:cs typeface="Times New Roman"/>
              </a:rPr>
              <a:t>2013</a:t>
            </a:r>
          </a:p>
        </p:txBody>
      </p:sp>
      <p:sp>
        <p:nvSpPr>
          <p:cNvPr id="23" name="TextBox 22"/>
          <p:cNvSpPr txBox="1"/>
          <p:nvPr/>
        </p:nvSpPr>
        <p:spPr>
          <a:xfrm>
            <a:off x="1200150" y="1657871"/>
            <a:ext cx="4100894" cy="321915"/>
          </a:xfrm>
          <a:prstGeom prst="rect">
            <a:avLst/>
          </a:prstGeom>
          <a:noFill/>
        </p:spPr>
        <p:txBody>
          <a:bodyPr wrap="square" lIns="0" rIns="0" tIns="0" bIns="0" anchor="t">
            <a:noAutofit/>
          </a:bodyPr>
          <a:lstStyle/>
          <a:p>
            <a:pPr algn="l">
              <a:lnSpc>
                <a:spcPts val="1268"/>
              </a:lnSpc>
              <a:spcBef>
                <a:spcPts val="0"/>
              </a:spcBef>
              <a:spcAft>
                <a:spcPts val="0"/>
              </a:spcAft>
            </a:pPr>
            <a:r>
              <a:rPr sz="975" b="0" i="0" u="none">
                <a:solidFill>
                  <a:srgbClr val="141414"/>
                </a:solidFill>
                <a:latin typeface="Arial"/>
                <a:ea typeface="Arial"/>
                <a:cs typeface="Arial"/>
              </a:rPr>
              <a:t>Registered Reports launch at </a:t>
            </a:r>
            <a:r>
              <a:rPr sz="975" b="0" i="1" u="none">
                <a:solidFill>
                  <a:srgbClr val="141414"/>
                </a:solidFill>
                <a:latin typeface="Arial"/>
                <a:ea typeface="Arial"/>
                <a:cs typeface="Arial"/>
              </a:rPr>
              <a:t>Cortex</a:t>
            </a:r>
            <a:r>
              <a:rPr sz="975" b="0" i="0" u="none">
                <a:solidFill>
                  <a:srgbClr val="141414"/>
                </a:solidFill>
                <a:latin typeface="Arial"/>
                <a:ea typeface="Arial"/>
                <a:cs typeface="Arial"/>
              </a:rPr>
              <a:t>, a neuroscience and neuropsychology journal; more than 300 journals offer them now</a:t>
            </a:r>
          </a:p>
        </p:txBody>
      </p:sp>
      <p:sp>
        <p:nvSpPr>
          <p:cNvPr id="24" name="TextBox 23"/>
          <p:cNvSpPr txBox="1"/>
          <p:nvPr/>
        </p:nvSpPr>
        <p:spPr>
          <a:xfrm>
            <a:off x="609600" y="2098849"/>
            <a:ext cx="476250" cy="190500"/>
          </a:xfrm>
          <a:prstGeom prst="rect">
            <a:avLst/>
          </a:prstGeom>
          <a:noFill/>
        </p:spPr>
        <p:txBody>
          <a:bodyPr wrap="square" lIns="0" rIns="0" tIns="0" bIns="0" anchor="t">
            <a:noAutofit/>
          </a:bodyPr>
          <a:lstStyle/>
          <a:p>
            <a:pPr algn="l">
              <a:lnSpc>
                <a:spcPts val="1500"/>
              </a:lnSpc>
              <a:spcBef>
                <a:spcPts val="0"/>
              </a:spcBef>
              <a:spcAft>
                <a:spcPts val="0"/>
              </a:spcAft>
            </a:pPr>
            <a:r>
              <a:rPr sz="1500" b="0" i="0" u="none">
                <a:solidFill>
                  <a:srgbClr val="D7263D"/>
                </a:solidFill>
                <a:latin typeface="Times New Roman"/>
                <a:ea typeface="Times New Roman"/>
                <a:cs typeface="Times New Roman"/>
              </a:rPr>
              <a:t>2015</a:t>
            </a:r>
          </a:p>
        </p:txBody>
      </p:sp>
      <p:sp>
        <p:nvSpPr>
          <p:cNvPr id="25" name="TextBox 24"/>
          <p:cNvSpPr txBox="1"/>
          <p:nvPr/>
        </p:nvSpPr>
        <p:spPr>
          <a:xfrm>
            <a:off x="1200150" y="2136949"/>
            <a:ext cx="4100894" cy="321915"/>
          </a:xfrm>
          <a:prstGeom prst="rect">
            <a:avLst/>
          </a:prstGeom>
          <a:noFill/>
        </p:spPr>
        <p:txBody>
          <a:bodyPr wrap="square" lIns="0" rIns="0" tIns="0" bIns="0" anchor="t">
            <a:noAutofit/>
          </a:bodyPr>
          <a:lstStyle/>
          <a:p>
            <a:pPr algn="l">
              <a:lnSpc>
                <a:spcPts val="1268"/>
              </a:lnSpc>
              <a:spcBef>
                <a:spcPts val="0"/>
              </a:spcBef>
              <a:spcAft>
                <a:spcPts val="0"/>
              </a:spcAft>
            </a:pPr>
            <a:r>
              <a:rPr sz="975" b="0" i="0" u="none">
                <a:solidFill>
                  <a:srgbClr val="141414"/>
                </a:solidFill>
                <a:latin typeface="Arial"/>
                <a:ea typeface="Arial"/>
                <a:cs typeface="Arial"/>
              </a:rPr>
              <a:t>TOP guidelines for journals, 5,000+ signatories; revised as TOP 2025, which certifies, not just asks</a:t>
            </a:r>
          </a:p>
        </p:txBody>
      </p:sp>
      <p:sp>
        <p:nvSpPr>
          <p:cNvPr id="26" name="TextBox 25"/>
          <p:cNvSpPr txBox="1"/>
          <p:nvPr/>
        </p:nvSpPr>
        <p:spPr>
          <a:xfrm>
            <a:off x="609600" y="2577926"/>
            <a:ext cx="476250" cy="190500"/>
          </a:xfrm>
          <a:prstGeom prst="rect">
            <a:avLst/>
          </a:prstGeom>
          <a:noFill/>
        </p:spPr>
        <p:txBody>
          <a:bodyPr wrap="square" lIns="0" rIns="0" tIns="0" bIns="0" anchor="t">
            <a:noAutofit/>
          </a:bodyPr>
          <a:lstStyle/>
          <a:p>
            <a:pPr algn="l">
              <a:lnSpc>
                <a:spcPts val="1500"/>
              </a:lnSpc>
              <a:spcBef>
                <a:spcPts val="0"/>
              </a:spcBef>
              <a:spcAft>
                <a:spcPts val="0"/>
              </a:spcAft>
            </a:pPr>
            <a:r>
              <a:rPr sz="1500" b="0" i="0" u="none">
                <a:solidFill>
                  <a:srgbClr val="D7263D"/>
                </a:solidFill>
                <a:latin typeface="Times New Roman"/>
                <a:ea typeface="Times New Roman"/>
                <a:cs typeface="Times New Roman"/>
              </a:rPr>
              <a:t>2016</a:t>
            </a:r>
          </a:p>
        </p:txBody>
      </p:sp>
      <p:sp>
        <p:nvSpPr>
          <p:cNvPr id="27" name="TextBox 26"/>
          <p:cNvSpPr txBox="1"/>
          <p:nvPr/>
        </p:nvSpPr>
        <p:spPr>
          <a:xfrm>
            <a:off x="1200150" y="2616026"/>
            <a:ext cx="4100894" cy="160958"/>
          </a:xfrm>
          <a:prstGeom prst="rect">
            <a:avLst/>
          </a:prstGeom>
          <a:noFill/>
        </p:spPr>
        <p:txBody>
          <a:bodyPr wrap="square" lIns="0" rIns="0" tIns="0" bIns="0" anchor="t">
            <a:noAutofit/>
          </a:bodyPr>
          <a:lstStyle/>
          <a:p>
            <a:pPr algn="l">
              <a:lnSpc>
                <a:spcPts val="1268"/>
              </a:lnSpc>
              <a:spcBef>
                <a:spcPts val="0"/>
              </a:spcBef>
              <a:spcAft>
                <a:spcPts val="0"/>
              </a:spcAft>
            </a:pPr>
            <a:r>
              <a:rPr sz="975" b="0" i="0" u="none">
                <a:solidFill>
                  <a:srgbClr val="141414"/>
                </a:solidFill>
                <a:latin typeface="Arial"/>
                <a:ea typeface="Arial"/>
                <a:cs typeface="Arial"/>
              </a:rPr>
              <a:t>BIDS, one standard for organising and sharing neuroimaging data</a:t>
            </a:r>
          </a:p>
        </p:txBody>
      </p:sp>
      <p:sp>
        <p:nvSpPr>
          <p:cNvPr id="28" name="TextBox 27"/>
          <p:cNvSpPr txBox="1"/>
          <p:nvPr/>
        </p:nvSpPr>
        <p:spPr>
          <a:xfrm>
            <a:off x="609600" y="2896046"/>
            <a:ext cx="476250" cy="190500"/>
          </a:xfrm>
          <a:prstGeom prst="rect">
            <a:avLst/>
          </a:prstGeom>
          <a:noFill/>
        </p:spPr>
        <p:txBody>
          <a:bodyPr wrap="square" lIns="0" rIns="0" tIns="0" bIns="0" anchor="t">
            <a:noAutofit/>
          </a:bodyPr>
          <a:lstStyle/>
          <a:p>
            <a:pPr algn="l">
              <a:lnSpc>
                <a:spcPts val="1500"/>
              </a:lnSpc>
              <a:spcBef>
                <a:spcPts val="0"/>
              </a:spcBef>
              <a:spcAft>
                <a:spcPts val="0"/>
              </a:spcAft>
            </a:pPr>
            <a:r>
              <a:rPr sz="1500" b="0" i="0" u="none">
                <a:solidFill>
                  <a:srgbClr val="D7263D"/>
                </a:solidFill>
                <a:latin typeface="Times New Roman"/>
                <a:ea typeface="Times New Roman"/>
                <a:cs typeface="Times New Roman"/>
              </a:rPr>
              <a:t>2017</a:t>
            </a:r>
          </a:p>
        </p:txBody>
      </p:sp>
      <p:sp>
        <p:nvSpPr>
          <p:cNvPr id="29" name="TextBox 28"/>
          <p:cNvSpPr txBox="1"/>
          <p:nvPr/>
        </p:nvSpPr>
        <p:spPr>
          <a:xfrm>
            <a:off x="1200150" y="2934146"/>
            <a:ext cx="4100894" cy="321915"/>
          </a:xfrm>
          <a:prstGeom prst="rect">
            <a:avLst/>
          </a:prstGeom>
          <a:noFill/>
        </p:spPr>
        <p:txBody>
          <a:bodyPr wrap="square" lIns="0" rIns="0" tIns="0" bIns="0" anchor="t">
            <a:noAutofit/>
          </a:bodyPr>
          <a:lstStyle/>
          <a:p>
            <a:pPr algn="l">
              <a:lnSpc>
                <a:spcPts val="1268"/>
              </a:lnSpc>
              <a:spcBef>
                <a:spcPts val="0"/>
              </a:spcBef>
              <a:spcAft>
                <a:spcPts val="0"/>
              </a:spcAft>
            </a:pPr>
            <a:r>
              <a:rPr sz="975" b="0" i="0" u="none">
                <a:solidFill>
                  <a:srgbClr val="141414"/>
                </a:solidFill>
                <a:latin typeface="Arial"/>
                <a:ea typeface="Arial"/>
                <a:cs typeface="Arial"/>
              </a:rPr>
              <a:t>A manifesto for reproducible science; COBIDAS, the reporting standard for MRI studies</a:t>
            </a:r>
          </a:p>
        </p:txBody>
      </p:sp>
      <p:sp>
        <p:nvSpPr>
          <p:cNvPr id="30" name="TextBox 29"/>
          <p:cNvSpPr txBox="1"/>
          <p:nvPr/>
        </p:nvSpPr>
        <p:spPr>
          <a:xfrm>
            <a:off x="609600" y="3375124"/>
            <a:ext cx="476250" cy="190500"/>
          </a:xfrm>
          <a:prstGeom prst="rect">
            <a:avLst/>
          </a:prstGeom>
          <a:noFill/>
        </p:spPr>
        <p:txBody>
          <a:bodyPr wrap="square" lIns="0" rIns="0" tIns="0" bIns="0" anchor="t">
            <a:noAutofit/>
          </a:bodyPr>
          <a:lstStyle/>
          <a:p>
            <a:pPr algn="l">
              <a:lnSpc>
                <a:spcPts val="1500"/>
              </a:lnSpc>
              <a:spcBef>
                <a:spcPts val="0"/>
              </a:spcBef>
              <a:spcAft>
                <a:spcPts val="0"/>
              </a:spcAft>
            </a:pPr>
            <a:r>
              <a:rPr sz="1500" b="0" i="0" u="none">
                <a:solidFill>
                  <a:srgbClr val="D7263D"/>
                </a:solidFill>
                <a:latin typeface="Times New Roman"/>
                <a:ea typeface="Times New Roman"/>
                <a:cs typeface="Times New Roman"/>
              </a:rPr>
              <a:t>2024</a:t>
            </a:r>
          </a:p>
        </p:txBody>
      </p:sp>
      <p:sp>
        <p:nvSpPr>
          <p:cNvPr id="31" name="TextBox 30"/>
          <p:cNvSpPr txBox="1"/>
          <p:nvPr/>
        </p:nvSpPr>
        <p:spPr>
          <a:xfrm>
            <a:off x="1200150" y="3413224"/>
            <a:ext cx="4100894" cy="321915"/>
          </a:xfrm>
          <a:prstGeom prst="rect">
            <a:avLst/>
          </a:prstGeom>
          <a:noFill/>
        </p:spPr>
        <p:txBody>
          <a:bodyPr wrap="square" lIns="0" rIns="0" tIns="0" bIns="0" anchor="t">
            <a:noAutofit/>
          </a:bodyPr>
          <a:lstStyle/>
          <a:p>
            <a:pPr algn="l">
              <a:lnSpc>
                <a:spcPts val="1268"/>
              </a:lnSpc>
              <a:spcBef>
                <a:spcPts val="0"/>
              </a:spcBef>
              <a:spcAft>
                <a:spcPts val="0"/>
              </a:spcAft>
            </a:pPr>
            <a:r>
              <a:rPr sz="975" b="0" i="1" u="none">
                <a:solidFill>
                  <a:srgbClr val="141414"/>
                </a:solidFill>
                <a:latin typeface="Arial"/>
                <a:ea typeface="Arial"/>
                <a:cs typeface="Arial"/>
              </a:rPr>
              <a:t>Psychological Science</a:t>
            </a:r>
            <a:r>
              <a:rPr sz="975" b="0" i="0" u="none">
                <a:solidFill>
                  <a:srgbClr val="141414"/>
                </a:solidFill>
                <a:latin typeface="Arial"/>
                <a:ea typeface="Arial"/>
                <a:cs typeface="Arial"/>
              </a:rPr>
              <a:t> makes open data and materials the default and checks that results reproduce</a:t>
            </a:r>
          </a:p>
        </p:txBody>
      </p:sp>
      <p:sp>
        <p:nvSpPr>
          <p:cNvPr id="32" name="TextBox 31"/>
          <p:cNvSpPr txBox="1"/>
          <p:nvPr/>
        </p:nvSpPr>
        <p:spPr>
          <a:xfrm>
            <a:off x="609600" y="3854202"/>
            <a:ext cx="476250" cy="190500"/>
          </a:xfrm>
          <a:prstGeom prst="rect">
            <a:avLst/>
          </a:prstGeom>
          <a:noFill/>
        </p:spPr>
        <p:txBody>
          <a:bodyPr wrap="square" lIns="0" rIns="0" tIns="0" bIns="0" anchor="t">
            <a:noAutofit/>
          </a:bodyPr>
          <a:lstStyle/>
          <a:p>
            <a:pPr algn="l">
              <a:lnSpc>
                <a:spcPts val="1500"/>
              </a:lnSpc>
              <a:spcBef>
                <a:spcPts val="0"/>
              </a:spcBef>
              <a:spcAft>
                <a:spcPts val="0"/>
              </a:spcAft>
            </a:pPr>
            <a:r>
              <a:rPr sz="1500" b="0" i="0" u="none">
                <a:solidFill>
                  <a:srgbClr val="D7263D"/>
                </a:solidFill>
                <a:latin typeface="Times New Roman"/>
                <a:ea typeface="Times New Roman"/>
                <a:cs typeface="Times New Roman"/>
              </a:rPr>
              <a:t>2025</a:t>
            </a:r>
          </a:p>
        </p:txBody>
      </p:sp>
      <p:sp>
        <p:nvSpPr>
          <p:cNvPr id="33" name="TextBox 32"/>
          <p:cNvSpPr txBox="1"/>
          <p:nvPr/>
        </p:nvSpPr>
        <p:spPr>
          <a:xfrm>
            <a:off x="1200150" y="3892302"/>
            <a:ext cx="4100894" cy="321915"/>
          </a:xfrm>
          <a:prstGeom prst="rect">
            <a:avLst/>
          </a:prstGeom>
          <a:noFill/>
        </p:spPr>
        <p:txBody>
          <a:bodyPr wrap="square" lIns="0" rIns="0" tIns="0" bIns="0" anchor="t">
            <a:noAutofit/>
          </a:bodyPr>
          <a:lstStyle/>
          <a:p>
            <a:pPr algn="l">
              <a:lnSpc>
                <a:spcPts val="1268"/>
              </a:lnSpc>
              <a:spcBef>
                <a:spcPts val="0"/>
              </a:spcBef>
              <a:spcAft>
                <a:spcPts val="0"/>
              </a:spcAft>
            </a:pPr>
            <a:r>
              <a:rPr sz="975" b="0" i="0" u="none">
                <a:solidFill>
                  <a:srgbClr val="141414"/>
                </a:solidFill>
                <a:latin typeface="Arial"/>
                <a:ea typeface="Arial"/>
                <a:cs typeface="Arial"/>
              </a:rPr>
              <a:t>PECANS, a Delphi consensus checklist for cognitive and neuropsychological studies, 206 experts</a:t>
            </a:r>
          </a:p>
        </p:txBody>
      </p:sp>
      <p:sp>
        <p:nvSpPr>
          <p:cNvPr id="34" name="TextBox 33"/>
          <p:cNvSpPr txBox="1"/>
          <p:nvPr/>
        </p:nvSpPr>
        <p:spPr>
          <a:xfrm>
            <a:off x="5486400" y="1357833"/>
            <a:ext cx="3139440" cy="152400"/>
          </a:xfrm>
          <a:prstGeom prst="rect">
            <a:avLst/>
          </a:prstGeom>
          <a:noFill/>
        </p:spPr>
        <p:txBody>
          <a:bodyPr wrap="square" lIns="0" rIns="0" tIns="0" bIns="0" anchor="t">
            <a:noAutofit/>
          </a:bodyPr>
          <a:lstStyle/>
          <a:p>
            <a:pPr algn="l">
              <a:lnSpc>
                <a:spcPts val="1200"/>
              </a:lnSpc>
              <a:spcBef>
                <a:spcPts val="0"/>
              </a:spcBef>
              <a:spcAft>
                <a:spcPts val="0"/>
              </a:spcAft>
            </a:pPr>
            <a:r>
              <a:rPr sz="900" b="0" i="0" u="none">
                <a:solidFill>
                  <a:srgbClr val="85857F"/>
                </a:solidFill>
                <a:latin typeface="Arial"/>
                <a:ea typeface="Arial"/>
                <a:cs typeface="Arial"/>
              </a:rPr>
              <a:t>Where they are now</a:t>
            </a:r>
          </a:p>
        </p:txBody>
      </p:sp>
      <p:sp>
        <p:nvSpPr>
          <p:cNvPr id="35" name="TextBox 34"/>
          <p:cNvSpPr txBox="1"/>
          <p:nvPr/>
        </p:nvSpPr>
        <p:spPr>
          <a:xfrm>
            <a:off x="5605462" y="1648346"/>
            <a:ext cx="2894171" cy="285750"/>
          </a:xfrm>
          <a:prstGeom prst="rect">
            <a:avLst/>
          </a:prstGeom>
          <a:noFill/>
        </p:spPr>
        <p:txBody>
          <a:bodyPr wrap="square" lIns="0" rIns="0" tIns="0" bIns="0" anchor="t">
            <a:noAutofit/>
          </a:bodyPr>
          <a:lstStyle/>
          <a:p>
            <a:pPr algn="l">
              <a:lnSpc>
                <a:spcPts val="2250"/>
              </a:lnSpc>
              <a:spcBef>
                <a:spcPts val="0"/>
              </a:spcBef>
              <a:spcAft>
                <a:spcPts val="0"/>
              </a:spcAft>
            </a:pPr>
            <a:r>
              <a:rPr sz="2250" b="0" i="0" u="none">
                <a:solidFill>
                  <a:srgbClr val="D7263D"/>
                </a:solidFill>
                <a:latin typeface="Times New Roman"/>
                <a:ea typeface="Times New Roman"/>
                <a:cs typeface="Times New Roman"/>
              </a:rPr>
              <a:t>55%</a:t>
            </a:r>
          </a:p>
        </p:txBody>
      </p:sp>
      <p:sp>
        <p:nvSpPr>
          <p:cNvPr id="36" name="TextBox 35"/>
          <p:cNvSpPr txBox="1"/>
          <p:nvPr/>
        </p:nvSpPr>
        <p:spPr>
          <a:xfrm>
            <a:off x="5605462" y="1972196"/>
            <a:ext cx="2894171" cy="428625"/>
          </a:xfrm>
          <a:prstGeom prst="rect">
            <a:avLst/>
          </a:prstGeom>
          <a:noFill/>
        </p:spPr>
        <p:txBody>
          <a:bodyPr wrap="square" lIns="0" rIns="0" tIns="0" bIns="0" anchor="t">
            <a:noAutofit/>
          </a:bodyPr>
          <a:lstStyle/>
          <a:p>
            <a:pPr algn="l">
              <a:lnSpc>
                <a:spcPts val="1125"/>
              </a:lnSpc>
              <a:spcBef>
                <a:spcPts val="0"/>
              </a:spcBef>
              <a:spcAft>
                <a:spcPts val="0"/>
              </a:spcAft>
            </a:pPr>
            <a:r>
              <a:rPr sz="900" b="0" i="0" u="none">
                <a:solidFill>
                  <a:srgbClr val="4A4A47"/>
                </a:solidFill>
                <a:latin typeface="Arial"/>
                <a:ea typeface="Arial"/>
                <a:cs typeface="Arial"/>
              </a:rPr>
              <a:t>of 274 social and behavioural science claims replicated; effects fell from r = 0.25 to 0.10. SCORE, </a:t>
            </a:r>
            <a:r>
              <a:rPr sz="900" b="0" i="1" u="none">
                <a:solidFill>
                  <a:srgbClr val="4A4A47"/>
                </a:solidFill>
                <a:latin typeface="Arial"/>
                <a:ea typeface="Arial"/>
                <a:cs typeface="Arial"/>
              </a:rPr>
              <a:t>Nature</a:t>
            </a:r>
            <a:r>
              <a:rPr sz="900" b="0" i="0" u="none">
                <a:solidFill>
                  <a:srgbClr val="4A4A47"/>
                </a:solidFill>
                <a:latin typeface="Arial"/>
                <a:ea typeface="Arial"/>
                <a:cs typeface="Arial"/>
              </a:rPr>
              <a:t> 2026</a:t>
            </a:r>
          </a:p>
        </p:txBody>
      </p:sp>
      <p:sp>
        <p:nvSpPr>
          <p:cNvPr id="37" name="TextBox 36"/>
          <p:cNvSpPr txBox="1"/>
          <p:nvPr/>
        </p:nvSpPr>
        <p:spPr>
          <a:xfrm>
            <a:off x="5605462" y="2577033"/>
            <a:ext cx="2894171" cy="285750"/>
          </a:xfrm>
          <a:prstGeom prst="rect">
            <a:avLst/>
          </a:prstGeom>
          <a:noFill/>
        </p:spPr>
        <p:txBody>
          <a:bodyPr wrap="square" lIns="0" rIns="0" tIns="0" bIns="0" anchor="t">
            <a:noAutofit/>
          </a:bodyPr>
          <a:lstStyle/>
          <a:p>
            <a:pPr algn="l">
              <a:lnSpc>
                <a:spcPts val="2250"/>
              </a:lnSpc>
              <a:spcBef>
                <a:spcPts val="0"/>
              </a:spcBef>
              <a:spcAft>
                <a:spcPts val="0"/>
              </a:spcAft>
            </a:pPr>
            <a:r>
              <a:rPr sz="2250" b="0" i="0" u="none">
                <a:solidFill>
                  <a:srgbClr val="141414"/>
                </a:solidFill>
                <a:latin typeface="Times New Roman"/>
                <a:ea typeface="Times New Roman"/>
                <a:cs typeface="Times New Roman"/>
              </a:rPr>
              <a:t>7% · 14%</a:t>
            </a:r>
          </a:p>
        </p:txBody>
      </p:sp>
      <p:sp>
        <p:nvSpPr>
          <p:cNvPr id="38" name="TextBox 37"/>
          <p:cNvSpPr txBox="1"/>
          <p:nvPr/>
        </p:nvSpPr>
        <p:spPr>
          <a:xfrm>
            <a:off x="5605462" y="2900883"/>
            <a:ext cx="2894171" cy="428625"/>
          </a:xfrm>
          <a:prstGeom prst="rect">
            <a:avLst/>
          </a:prstGeom>
          <a:noFill/>
        </p:spPr>
        <p:txBody>
          <a:bodyPr wrap="square" lIns="0" rIns="0" tIns="0" bIns="0" anchor="t">
            <a:noAutofit/>
          </a:bodyPr>
          <a:lstStyle/>
          <a:p>
            <a:pPr algn="l">
              <a:lnSpc>
                <a:spcPts val="1125"/>
              </a:lnSpc>
              <a:spcBef>
                <a:spcPts val="0"/>
              </a:spcBef>
              <a:spcAft>
                <a:spcPts val="0"/>
              </a:spcAft>
            </a:pPr>
            <a:r>
              <a:rPr sz="900" b="0" i="0" u="none">
                <a:solidFill>
                  <a:srgbClr val="4A4A47"/>
                </a:solidFill>
                <a:latin typeface="Arial"/>
                <a:ea typeface="Arial"/>
                <a:cs typeface="Arial"/>
              </a:rPr>
              <a:t>of 2022 psychology articles were preregistered, or shared raw data; 3% and 2% in 2014-2017. Hardwicke 2024</a:t>
            </a:r>
          </a:p>
        </p:txBody>
      </p:sp>
      <p:sp>
        <p:nvSpPr>
          <p:cNvPr id="39" name="TextBox 38"/>
          <p:cNvSpPr txBox="1"/>
          <p:nvPr/>
        </p:nvSpPr>
        <p:spPr>
          <a:xfrm>
            <a:off x="5605462" y="3505721"/>
            <a:ext cx="2894171" cy="285750"/>
          </a:xfrm>
          <a:prstGeom prst="rect">
            <a:avLst/>
          </a:prstGeom>
          <a:noFill/>
        </p:spPr>
        <p:txBody>
          <a:bodyPr wrap="square" lIns="0" rIns="0" tIns="0" bIns="0" anchor="t">
            <a:noAutofit/>
          </a:bodyPr>
          <a:lstStyle/>
          <a:p>
            <a:pPr algn="l">
              <a:lnSpc>
                <a:spcPts val="2250"/>
              </a:lnSpc>
              <a:spcBef>
                <a:spcPts val="0"/>
              </a:spcBef>
              <a:spcAft>
                <a:spcPts val="0"/>
              </a:spcAft>
            </a:pPr>
            <a:r>
              <a:rPr sz="2250" b="0" i="0" u="none">
                <a:solidFill>
                  <a:srgbClr val="D7263D"/>
                </a:solidFill>
                <a:latin typeface="Times New Roman"/>
                <a:ea typeface="Times New Roman"/>
                <a:cs typeface="Times New Roman"/>
              </a:rPr>
              <a:t>1 of 62</a:t>
            </a:r>
          </a:p>
        </p:txBody>
      </p:sp>
      <p:sp>
        <p:nvSpPr>
          <p:cNvPr id="40" name="TextBox 39"/>
          <p:cNvSpPr txBox="1"/>
          <p:nvPr/>
        </p:nvSpPr>
        <p:spPr>
          <a:xfrm>
            <a:off x="5605462" y="3829571"/>
            <a:ext cx="2894171" cy="428625"/>
          </a:xfrm>
          <a:prstGeom prst="rect">
            <a:avLst/>
          </a:prstGeom>
          <a:noFill/>
        </p:spPr>
        <p:txBody>
          <a:bodyPr wrap="square" lIns="0" rIns="0" tIns="0" bIns="0" anchor="t">
            <a:noAutofit/>
          </a:bodyPr>
          <a:lstStyle/>
          <a:p>
            <a:pPr algn="l">
              <a:lnSpc>
                <a:spcPts val="1125"/>
              </a:lnSpc>
              <a:spcBef>
                <a:spcPts val="0"/>
              </a:spcBef>
              <a:spcAft>
                <a:spcPts val="0"/>
              </a:spcAft>
            </a:pPr>
            <a:r>
              <a:rPr sz="900" b="0" i="0" u="none">
                <a:solidFill>
                  <a:srgbClr val="4A4A47"/>
                </a:solidFill>
                <a:latin typeface="Arial"/>
                <a:ea typeface="Arial"/>
                <a:cs typeface="Arial"/>
              </a:rPr>
              <a:t>Registered Reports at </a:t>
            </a:r>
            <a:r>
              <a:rPr sz="900" b="0" i="1" u="none">
                <a:solidFill>
                  <a:srgbClr val="4A4A47"/>
                </a:solidFill>
                <a:latin typeface="Arial"/>
                <a:ea typeface="Arial"/>
                <a:cs typeface="Arial"/>
              </a:rPr>
              <a:t>Cortex</a:t>
            </a:r>
            <a:r>
              <a:rPr sz="900" b="0" i="0" u="none">
                <a:solidFill>
                  <a:srgbClr val="4A4A47"/>
                </a:solidFill>
                <a:latin typeface="Arial"/>
                <a:ea typeface="Arial"/>
                <a:cs typeface="Arial"/>
              </a:rPr>
              <a:t>, 2018-2022, studied patients; sharing clinical data is the barrier named most. Binney 2025</a:t>
            </a:r>
          </a:p>
        </p:txBody>
      </p:sp>
      <p:sp>
        <p:nvSpPr>
          <p:cNvPr id="41" name="TextBox 40"/>
          <p:cNvSpPr txBox="1"/>
          <p:nvPr/>
        </p:nvSpPr>
        <p:spPr>
          <a:xfrm>
            <a:off x="609600" y="4552950"/>
            <a:ext cx="8162544" cy="285750"/>
          </a:xfrm>
          <a:prstGeom prst="rect">
            <a:avLst/>
          </a:prstGeom>
          <a:noFill/>
        </p:spPr>
        <p:txBody>
          <a:bodyPr wrap="square" lIns="0" rIns="0" tIns="0" bIns="0" anchor="t">
            <a:noAutofit/>
          </a:bodyPr>
          <a:lstStyle/>
          <a:p>
            <a:pPr algn="l">
              <a:lnSpc>
                <a:spcPts val="1125"/>
              </a:lnSpc>
              <a:spcBef>
                <a:spcPts val="0"/>
              </a:spcBef>
              <a:spcAft>
                <a:spcPts val="0"/>
              </a:spcAft>
            </a:pPr>
            <a:r>
              <a:rPr sz="900" b="0" i="0" u="none">
                <a:solidFill>
                  <a:srgbClr val="85857F"/>
                </a:solidFill>
                <a:latin typeface="Arial"/>
                <a:ea typeface="Arial"/>
                <a:cs typeface="Arial"/>
              </a:rPr>
              <a:t>Registered Reports: 44% positive results against 96% in standard papers (Scheel 2021). The best-known evidence that rigour alone restores replication (Protzko 2023) was retracted in 2024.</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1F1EF"/>
        </a:solidFill>
        <a:effectLst/>
      </p:bgPr>
    </p:bg>
    <p:spTree>
      <p:nvGrpSpPr>
        <p:cNvPr id="1" name=""/>
        <p:cNvGrpSpPr/>
        <p:nvPr/>
      </p:nvGrpSpPr>
      <p:grpSpPr/>
      <p:sp>
        <p:nvSpPr>
          <p:cNvPr id="2" name="Title 1"/>
          <p:cNvSpPr>
            <a:spLocks noGrp="1"/>
          </p:cNvSpPr>
          <p:nvPr>
            <p:ph type="title"/>
          </p:nvPr>
        </p:nvSpPr>
        <p:spPr>
          <a:xfrm>
            <a:off x="609600" y="895350"/>
            <a:ext cx="8162544" cy="658267"/>
          </a:xfrm>
        </p:spPr>
        <p:txBody>
          <a:bodyPr wrap="square" lIns="0" rIns="0" tIns="0" bIns="0" anchor="t">
            <a:noAutofit/>
          </a:bodyPr>
          <a:lstStyle/>
          <a:p>
            <a:pPr algn="l">
              <a:lnSpc>
                <a:spcPts val="2592"/>
              </a:lnSpc>
              <a:spcBef>
                <a:spcPts val="0"/>
              </a:spcBef>
              <a:spcAft>
                <a:spcPts val="0"/>
              </a:spcAft>
            </a:pPr>
            <a:r>
              <a:rPr sz="2400" b="1" i="0" u="none" spc="-75">
                <a:solidFill>
                  <a:srgbClr val="141414"/>
                </a:solidFill>
                <a:latin typeface="Arial"/>
                <a:ea typeface="Arial"/>
                <a:cs typeface="Arial"/>
              </a:rPr>
              <a:t>Same question, different answers, and no way to tell why from the papers alone</a:t>
            </a:r>
          </a:p>
        </p:txBody>
      </p:sp>
      <p:cxnSp>
        <p:nvCxnSpPr>
          <p:cNvPr id="3" name="Connector 2"/>
          <p:cNvCxnSpPr/>
          <p:nvPr/>
        </p:nvCxnSpPr>
        <p:spPr>
          <a:xfrm>
            <a:off x="609600" y="1689348"/>
            <a:ext cx="7924800" cy="0"/>
          </a:xfrm>
          <a:prstGeom prst="line">
            <a:avLst/>
          </a:prstGeom>
          <a:ln w="6350">
            <a:solidFill>
              <a:srgbClr val="C6C6C1"/>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609600" y="2398365"/>
            <a:ext cx="7924800" cy="0"/>
          </a:xfrm>
          <a:prstGeom prst="line">
            <a:avLst/>
          </a:prstGeom>
          <a:ln w="6350">
            <a:solidFill>
              <a:srgbClr val="C6C6C1"/>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609600" y="3107382"/>
            <a:ext cx="7924800" cy="0"/>
          </a:xfrm>
          <a:prstGeom prst="line">
            <a:avLst/>
          </a:prstGeom>
          <a:ln w="6350">
            <a:solidFill>
              <a:srgbClr val="C6C6C1"/>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609600" y="3632448"/>
            <a:ext cx="7924800" cy="0"/>
          </a:xfrm>
          <a:prstGeom prst="line">
            <a:avLst/>
          </a:prstGeom>
          <a:ln w="6350">
            <a:solidFill>
              <a:srgbClr val="C6C6C1"/>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09600" y="266700"/>
            <a:ext cx="5886450" cy="142875"/>
          </a:xfrm>
          <a:prstGeom prst="rect">
            <a:avLst/>
          </a:prstGeom>
          <a:noFill/>
        </p:spPr>
        <p:txBody>
          <a:bodyPr wrap="square" lIns="0" rIns="0" tIns="0" bIns="0" anchor="t">
            <a:noAutofit/>
          </a:bodyPr>
          <a:lstStyle/>
          <a:p>
            <a:pPr algn="l">
              <a:lnSpc>
                <a:spcPts val="1125"/>
              </a:lnSpc>
              <a:spcBef>
                <a:spcPts val="0"/>
              </a:spcBef>
              <a:spcAft>
                <a:spcPts val="0"/>
              </a:spcAft>
            </a:pPr>
            <a:r>
              <a:rPr sz="900" b="0" i="0" u="none" spc="75">
                <a:solidFill>
                  <a:srgbClr val="85857F"/>
                </a:solidFill>
                <a:latin typeface="Arial"/>
                <a:ea typeface="Arial"/>
                <a:cs typeface="Arial"/>
              </a:rPr>
              <a:t>WORLD STROKE CONGRESS 2026 · SEOUL</a:t>
            </a:r>
          </a:p>
        </p:txBody>
      </p:sp>
      <p:sp>
        <p:nvSpPr>
          <p:cNvPr id="8" name="TextBox 7"/>
          <p:cNvSpPr txBox="1"/>
          <p:nvPr/>
        </p:nvSpPr>
        <p:spPr>
          <a:xfrm>
            <a:off x="609600" y="609600"/>
            <a:ext cx="8162544" cy="152400"/>
          </a:xfrm>
          <a:prstGeom prst="rect">
            <a:avLst/>
          </a:prstGeom>
          <a:noFill/>
        </p:spPr>
        <p:txBody>
          <a:bodyPr wrap="square" lIns="0" rIns="0" tIns="0" bIns="0" anchor="t">
            <a:noAutofit/>
          </a:bodyPr>
          <a:lstStyle/>
          <a:p>
            <a:pPr algn="l">
              <a:lnSpc>
                <a:spcPts val="1200"/>
              </a:lnSpc>
              <a:spcBef>
                <a:spcPts val="0"/>
              </a:spcBef>
              <a:spcAft>
                <a:spcPts val="0"/>
              </a:spcAft>
            </a:pPr>
            <a:r>
              <a:rPr sz="900" b="1" i="0" u="none">
                <a:solidFill>
                  <a:srgbClr val="D7263D"/>
                </a:solidFill>
                <a:latin typeface="Arial"/>
                <a:ea typeface="Arial"/>
                <a:cs typeface="Arial"/>
              </a:rPr>
              <a:t>04</a:t>
            </a:r>
            <a:r>
              <a:rPr sz="900" b="0" i="0" u="none">
                <a:solidFill>
                  <a:srgbClr val="85857F"/>
                </a:solidFill>
                <a:latin typeface="Arial"/>
                <a:ea typeface="Arial"/>
                <a:cs typeface="Arial"/>
              </a:rPr>
              <a:t>  Stroke is not immune</a:t>
            </a:r>
          </a:p>
        </p:txBody>
      </p:sp>
      <p:sp>
        <p:nvSpPr>
          <p:cNvPr id="9" name="TextBox 8"/>
          <p:cNvSpPr txBox="1"/>
          <p:nvPr/>
        </p:nvSpPr>
        <p:spPr>
          <a:xfrm>
            <a:off x="609600" y="1767929"/>
            <a:ext cx="1765935" cy="178594"/>
          </a:xfrm>
          <a:prstGeom prst="rect">
            <a:avLst/>
          </a:prstGeom>
          <a:noFill/>
        </p:spPr>
        <p:txBody>
          <a:bodyPr wrap="square" lIns="0" rIns="0" tIns="0" bIns="0" anchor="t">
            <a:noAutofit/>
          </a:bodyPr>
          <a:lstStyle/>
          <a:p>
            <a:pPr algn="l">
              <a:lnSpc>
                <a:spcPts val="1406"/>
              </a:lnSpc>
              <a:spcBef>
                <a:spcPts val="0"/>
              </a:spcBef>
              <a:spcAft>
                <a:spcPts val="0"/>
              </a:spcAft>
            </a:pPr>
            <a:r>
              <a:rPr sz="1125" b="1" i="0" u="none">
                <a:solidFill>
                  <a:srgbClr val="141414"/>
                </a:solidFill>
                <a:latin typeface="Arial"/>
                <a:ea typeface="Arial"/>
                <a:cs typeface="Arial"/>
              </a:rPr>
              <a:t>Preclinical</a:t>
            </a:r>
          </a:p>
        </p:txBody>
      </p:sp>
      <p:sp>
        <p:nvSpPr>
          <p:cNvPr id="10" name="TextBox 9"/>
          <p:cNvSpPr txBox="1"/>
          <p:nvPr/>
        </p:nvSpPr>
        <p:spPr>
          <a:xfrm>
            <a:off x="2514600" y="1767929"/>
            <a:ext cx="4385405" cy="551855"/>
          </a:xfrm>
          <a:prstGeom prst="rect">
            <a:avLst/>
          </a:prstGeom>
          <a:noFill/>
        </p:spPr>
        <p:txBody>
          <a:bodyPr wrap="square" lIns="0" rIns="0" tIns="0" bIns="0" anchor="t">
            <a:noAutofit/>
          </a:bodyPr>
          <a:lstStyle/>
          <a:p>
            <a:pPr algn="l">
              <a:lnSpc>
                <a:spcPts val="1449"/>
              </a:lnSpc>
              <a:spcBef>
                <a:spcPts val="0"/>
              </a:spcBef>
              <a:spcAft>
                <a:spcPts val="0"/>
              </a:spcAft>
            </a:pPr>
            <a:r>
              <a:rPr sz="1050" b="1" i="0" u="none">
                <a:solidFill>
                  <a:srgbClr val="141414"/>
                </a:solidFill>
                <a:latin typeface="Arial"/>
                <a:ea typeface="Arial"/>
                <a:cs typeface="Arial"/>
              </a:rPr>
              <a:t>1,026</a:t>
            </a:r>
            <a:r>
              <a:rPr sz="1050" b="0" i="0" u="none">
                <a:solidFill>
                  <a:srgbClr val="141414"/>
                </a:solidFill>
                <a:latin typeface="Arial"/>
                <a:ea typeface="Arial"/>
                <a:cs typeface="Arial"/>
              </a:rPr>
              <a:t> neuroprotectants tested in animal stroke; none translated. Publication bias overstated efficacy by about a third. NXY-059: SAINT I positive, SAINT II negative.</a:t>
            </a:r>
          </a:p>
        </p:txBody>
      </p:sp>
      <p:sp>
        <p:nvSpPr>
          <p:cNvPr id="11" name="TextBox 10"/>
          <p:cNvSpPr txBox="1"/>
          <p:nvPr/>
        </p:nvSpPr>
        <p:spPr>
          <a:xfrm>
            <a:off x="6962775" y="1767929"/>
            <a:ext cx="1618774" cy="284708"/>
          </a:xfrm>
          <a:prstGeom prst="rect">
            <a:avLst/>
          </a:prstGeom>
          <a:noFill/>
        </p:spPr>
        <p:txBody>
          <a:bodyPr wrap="square" lIns="0" rIns="0" tIns="0" bIns="0" anchor="t">
            <a:noAutofit/>
          </a:bodyPr>
          <a:lstStyle/>
          <a:p>
            <a:pPr algn="l">
              <a:lnSpc>
                <a:spcPts val="1121"/>
              </a:lnSpc>
              <a:spcBef>
                <a:spcPts val="0"/>
              </a:spcBef>
              <a:spcAft>
                <a:spcPts val="0"/>
              </a:spcAft>
            </a:pPr>
            <a:r>
              <a:rPr sz="861" b="0" i="0" u="none">
                <a:solidFill>
                  <a:srgbClr val="85857F"/>
                </a:solidFill>
                <a:latin typeface="Arial"/>
                <a:ea typeface="Arial"/>
                <a:cs typeface="Arial"/>
              </a:rPr>
              <a:t>O’Collins 2006; Sena 2010; Lees 2006; Shuaib 2007</a:t>
            </a:r>
          </a:p>
        </p:txBody>
      </p:sp>
      <p:sp>
        <p:nvSpPr>
          <p:cNvPr id="12" name="TextBox 11"/>
          <p:cNvSpPr txBox="1"/>
          <p:nvPr/>
        </p:nvSpPr>
        <p:spPr>
          <a:xfrm>
            <a:off x="609600" y="2476946"/>
            <a:ext cx="1765935" cy="178594"/>
          </a:xfrm>
          <a:prstGeom prst="rect">
            <a:avLst/>
          </a:prstGeom>
          <a:noFill/>
        </p:spPr>
        <p:txBody>
          <a:bodyPr wrap="square" lIns="0" rIns="0" tIns="0" bIns="0" anchor="t">
            <a:noAutofit/>
          </a:bodyPr>
          <a:lstStyle/>
          <a:p>
            <a:pPr algn="l">
              <a:lnSpc>
                <a:spcPts val="1406"/>
              </a:lnSpc>
              <a:spcBef>
                <a:spcPts val="0"/>
              </a:spcBef>
              <a:spcAft>
                <a:spcPts val="0"/>
              </a:spcAft>
            </a:pPr>
            <a:r>
              <a:rPr sz="1125" b="1" i="0" u="none">
                <a:solidFill>
                  <a:srgbClr val="141414"/>
                </a:solidFill>
                <a:latin typeface="Arial"/>
                <a:ea typeface="Arial"/>
                <a:cs typeface="Arial"/>
              </a:rPr>
              <a:t>Tirofiban</a:t>
            </a:r>
          </a:p>
        </p:txBody>
      </p:sp>
      <p:sp>
        <p:nvSpPr>
          <p:cNvPr id="13" name="TextBox 12"/>
          <p:cNvSpPr txBox="1"/>
          <p:nvPr/>
        </p:nvSpPr>
        <p:spPr>
          <a:xfrm>
            <a:off x="2514600" y="2476946"/>
            <a:ext cx="4385405" cy="551855"/>
          </a:xfrm>
          <a:prstGeom prst="rect">
            <a:avLst/>
          </a:prstGeom>
          <a:noFill/>
        </p:spPr>
        <p:txBody>
          <a:bodyPr wrap="square" lIns="0" rIns="0" tIns="0" bIns="0" anchor="t">
            <a:noAutofit/>
          </a:bodyPr>
          <a:lstStyle/>
          <a:p>
            <a:pPr algn="l">
              <a:lnSpc>
                <a:spcPts val="1449"/>
              </a:lnSpc>
              <a:spcBef>
                <a:spcPts val="0"/>
              </a:spcBef>
              <a:spcAft>
                <a:spcPts val="0"/>
              </a:spcAft>
            </a:pPr>
            <a:r>
              <a:rPr sz="1050" b="0" i="0" u="none">
                <a:solidFill>
                  <a:srgbClr val="141414"/>
                </a:solidFill>
                <a:latin typeface="Arial"/>
                <a:ea typeface="Arial"/>
                <a:cs typeface="Arial"/>
              </a:rPr>
              <a:t>No benefit before thrombectomy in RESCUE BT (2022). Benefit without a large-vessel occlusion in RESCUE BT2 (2023). A different question, or a different answer?</a:t>
            </a:r>
          </a:p>
        </p:txBody>
      </p:sp>
      <p:sp>
        <p:nvSpPr>
          <p:cNvPr id="14" name="TextBox 13"/>
          <p:cNvSpPr txBox="1"/>
          <p:nvPr/>
        </p:nvSpPr>
        <p:spPr>
          <a:xfrm>
            <a:off x="6962775" y="2476946"/>
            <a:ext cx="1618774" cy="284708"/>
          </a:xfrm>
          <a:prstGeom prst="rect">
            <a:avLst/>
          </a:prstGeom>
          <a:noFill/>
        </p:spPr>
        <p:txBody>
          <a:bodyPr wrap="square" lIns="0" rIns="0" tIns="0" bIns="0" anchor="t">
            <a:noAutofit/>
          </a:bodyPr>
          <a:lstStyle/>
          <a:p>
            <a:pPr algn="l">
              <a:lnSpc>
                <a:spcPts val="1121"/>
              </a:lnSpc>
              <a:spcBef>
                <a:spcPts val="0"/>
              </a:spcBef>
              <a:spcAft>
                <a:spcPts val="0"/>
              </a:spcAft>
            </a:pPr>
            <a:r>
              <a:rPr sz="861" b="0" i="0" u="none">
                <a:solidFill>
                  <a:srgbClr val="85857F"/>
                </a:solidFill>
                <a:latin typeface="Arial"/>
                <a:ea typeface="Arial"/>
                <a:cs typeface="Arial"/>
              </a:rPr>
              <a:t>Qiu 2022, JAMA; Zi 2023, NEJM</a:t>
            </a:r>
          </a:p>
        </p:txBody>
      </p:sp>
      <p:sp>
        <p:nvSpPr>
          <p:cNvPr id="15" name="TextBox 14"/>
          <p:cNvSpPr txBox="1"/>
          <p:nvPr/>
        </p:nvSpPr>
        <p:spPr>
          <a:xfrm>
            <a:off x="609600" y="3185964"/>
            <a:ext cx="1765935" cy="357188"/>
          </a:xfrm>
          <a:prstGeom prst="rect">
            <a:avLst/>
          </a:prstGeom>
          <a:noFill/>
        </p:spPr>
        <p:txBody>
          <a:bodyPr wrap="square" lIns="0" rIns="0" tIns="0" bIns="0" anchor="t">
            <a:noAutofit/>
          </a:bodyPr>
          <a:lstStyle/>
          <a:p>
            <a:pPr algn="l">
              <a:lnSpc>
                <a:spcPts val="1406"/>
              </a:lnSpc>
              <a:spcBef>
                <a:spcPts val="0"/>
              </a:spcBef>
              <a:spcAft>
                <a:spcPts val="0"/>
              </a:spcAft>
            </a:pPr>
            <a:r>
              <a:rPr sz="1125" b="1" i="0" u="none">
                <a:solidFill>
                  <a:srgbClr val="141414"/>
                </a:solidFill>
                <a:latin typeface="Arial"/>
                <a:ea typeface="Arial"/>
                <a:cs typeface="Arial"/>
              </a:rPr>
              <a:t>Middle meningeal artery embolisation</a:t>
            </a:r>
          </a:p>
        </p:txBody>
      </p:sp>
      <p:sp>
        <p:nvSpPr>
          <p:cNvPr id="16" name="TextBox 15"/>
          <p:cNvSpPr txBox="1"/>
          <p:nvPr/>
        </p:nvSpPr>
        <p:spPr>
          <a:xfrm>
            <a:off x="2514600" y="3185964"/>
            <a:ext cx="4385405" cy="367903"/>
          </a:xfrm>
          <a:prstGeom prst="rect">
            <a:avLst/>
          </a:prstGeom>
          <a:noFill/>
        </p:spPr>
        <p:txBody>
          <a:bodyPr wrap="square" lIns="0" rIns="0" tIns="0" bIns="0" anchor="t">
            <a:noAutofit/>
          </a:bodyPr>
          <a:lstStyle/>
          <a:p>
            <a:pPr algn="l">
              <a:lnSpc>
                <a:spcPts val="1449"/>
              </a:lnSpc>
              <a:spcBef>
                <a:spcPts val="0"/>
              </a:spcBef>
              <a:spcAft>
                <a:spcPts val="0"/>
              </a:spcAft>
            </a:pPr>
            <a:r>
              <a:rPr sz="1050" b="0" i="0" u="none">
                <a:solidFill>
                  <a:srgbClr val="141414"/>
                </a:solidFill>
                <a:latin typeface="Arial"/>
                <a:ea typeface="Arial"/>
                <a:cs typeface="Arial"/>
              </a:rPr>
              <a:t>Three trials in one NEJM issue: EMBOLISE positive (recurrence 4% vs 11%), STEM positive, MAGIC-MT neutral (6.7% vs 9.9%).</a:t>
            </a:r>
          </a:p>
        </p:txBody>
      </p:sp>
      <p:sp>
        <p:nvSpPr>
          <p:cNvPr id="17" name="TextBox 16"/>
          <p:cNvSpPr txBox="1"/>
          <p:nvPr/>
        </p:nvSpPr>
        <p:spPr>
          <a:xfrm>
            <a:off x="6962775" y="3185964"/>
            <a:ext cx="1618774" cy="284708"/>
          </a:xfrm>
          <a:prstGeom prst="rect">
            <a:avLst/>
          </a:prstGeom>
          <a:noFill/>
        </p:spPr>
        <p:txBody>
          <a:bodyPr wrap="square" lIns="0" rIns="0" tIns="0" bIns="0" anchor="t">
            <a:noAutofit/>
          </a:bodyPr>
          <a:lstStyle/>
          <a:p>
            <a:pPr algn="l">
              <a:lnSpc>
                <a:spcPts val="1121"/>
              </a:lnSpc>
              <a:spcBef>
                <a:spcPts val="0"/>
              </a:spcBef>
              <a:spcAft>
                <a:spcPts val="0"/>
              </a:spcAft>
            </a:pPr>
            <a:r>
              <a:rPr sz="861" b="0" i="0" u="none">
                <a:solidFill>
                  <a:srgbClr val="85857F"/>
                </a:solidFill>
                <a:latin typeface="Arial"/>
                <a:ea typeface="Arial"/>
                <a:cs typeface="Arial"/>
              </a:rPr>
              <a:t>Davies, Fiorella, Liu 2024, NEJM</a:t>
            </a:r>
          </a:p>
        </p:txBody>
      </p:sp>
      <p:sp>
        <p:nvSpPr>
          <p:cNvPr id="18" name="TextBox 17"/>
          <p:cNvSpPr txBox="1"/>
          <p:nvPr/>
        </p:nvSpPr>
        <p:spPr>
          <a:xfrm>
            <a:off x="609600" y="3952875"/>
            <a:ext cx="8162544" cy="428625"/>
          </a:xfrm>
          <a:prstGeom prst="rect">
            <a:avLst/>
          </a:prstGeom>
          <a:noFill/>
        </p:spPr>
        <p:txBody>
          <a:bodyPr wrap="square" lIns="0" rIns="0" tIns="0" bIns="0" anchor="t">
            <a:noAutofit/>
          </a:bodyPr>
          <a:lstStyle/>
          <a:p>
            <a:pPr algn="l">
              <a:lnSpc>
                <a:spcPts val="1688"/>
              </a:lnSpc>
              <a:spcBef>
                <a:spcPts val="0"/>
              </a:spcBef>
              <a:spcAft>
                <a:spcPts val="0"/>
              </a:spcAft>
            </a:pPr>
            <a:r>
              <a:rPr sz="1350" b="0" i="0" u="none">
                <a:solidFill>
                  <a:srgbClr val="141414"/>
                </a:solidFill>
                <a:latin typeface="Times New Roman"/>
                <a:ea typeface="Times New Roman"/>
                <a:cs typeface="Times New Roman"/>
              </a:rPr>
              <a:t>Replication is how a field finds out which result to trust. Without the protocols, the data and the code, we are left arguing about it.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1F1EF"/>
        </a:solidFill>
        <a:effectLst/>
      </p:bgPr>
    </p:bg>
    <p:spTree>
      <p:nvGrpSpPr>
        <p:cNvPr id="1" name=""/>
        <p:cNvGrpSpPr/>
        <p:nvPr/>
      </p:nvGrpSpPr>
      <p:grpSpPr/>
      <p:sp>
        <p:nvSpPr>
          <p:cNvPr id="2" name="Title 1"/>
          <p:cNvSpPr>
            <a:spLocks noGrp="1"/>
          </p:cNvSpPr>
          <p:nvPr>
            <p:ph type="title"/>
          </p:nvPr>
        </p:nvSpPr>
        <p:spPr>
          <a:xfrm>
            <a:off x="609600" y="952500"/>
            <a:ext cx="8162544" cy="658267"/>
          </a:xfrm>
        </p:spPr>
        <p:txBody>
          <a:bodyPr wrap="square" lIns="0" rIns="0" tIns="0" bIns="0" anchor="t">
            <a:noAutofit/>
          </a:bodyPr>
          <a:lstStyle/>
          <a:p>
            <a:pPr algn="l">
              <a:lnSpc>
                <a:spcPts val="2592"/>
              </a:lnSpc>
              <a:spcBef>
                <a:spcPts val="0"/>
              </a:spcBef>
              <a:spcAft>
                <a:spcPts val="0"/>
              </a:spcAft>
            </a:pPr>
            <a:r>
              <a:rPr sz="2400" b="1" i="0" u="none" spc="-75">
                <a:solidFill>
                  <a:srgbClr val="141414"/>
                </a:solidFill>
                <a:latin typeface="Arial"/>
                <a:ea typeface="Arial"/>
                <a:cs typeface="Arial"/>
              </a:rPr>
              <a:t>Four questions a field should be able to answer about its own literature</a:t>
            </a:r>
          </a:p>
        </p:txBody>
      </p:sp>
      <p:cxnSp>
        <p:nvCxnSpPr>
          <p:cNvPr id="3" name="Connector 2"/>
          <p:cNvCxnSpPr/>
          <p:nvPr/>
        </p:nvCxnSpPr>
        <p:spPr>
          <a:xfrm>
            <a:off x="609600" y="1803648"/>
            <a:ext cx="1984772" cy="0"/>
          </a:xfrm>
          <a:prstGeom prst="line">
            <a:avLst/>
          </a:prstGeom>
          <a:ln w="6350">
            <a:solidFill>
              <a:srgbClr val="C6C6C1"/>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2591991" y="1801267"/>
            <a:ext cx="0" cy="1748284"/>
          </a:xfrm>
          <a:prstGeom prst="line">
            <a:avLst/>
          </a:prstGeom>
          <a:ln w="6350">
            <a:solidFill>
              <a:srgbClr val="C6C6C1"/>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609600" y="3547170"/>
            <a:ext cx="1984772" cy="0"/>
          </a:xfrm>
          <a:prstGeom prst="line">
            <a:avLst/>
          </a:prstGeom>
          <a:ln w="6350">
            <a:solidFill>
              <a:srgbClr val="C6C6C1"/>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611981" y="1801267"/>
            <a:ext cx="0" cy="1748284"/>
          </a:xfrm>
          <a:prstGeom prst="line">
            <a:avLst/>
          </a:prstGeom>
          <a:ln w="6350">
            <a:solidFill>
              <a:srgbClr val="C6C6C1"/>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2594372" y="1803648"/>
            <a:ext cx="1980009" cy="0"/>
          </a:xfrm>
          <a:prstGeom prst="line">
            <a:avLst/>
          </a:prstGeom>
          <a:ln w="6350">
            <a:solidFill>
              <a:srgbClr val="C6C6C1"/>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4572000" y="1801267"/>
            <a:ext cx="0" cy="1748284"/>
          </a:xfrm>
          <a:prstGeom prst="line">
            <a:avLst/>
          </a:prstGeom>
          <a:ln w="6350">
            <a:solidFill>
              <a:srgbClr val="C6C6C1"/>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2594372" y="3547170"/>
            <a:ext cx="1980009" cy="0"/>
          </a:xfrm>
          <a:prstGeom prst="line">
            <a:avLst/>
          </a:prstGeom>
          <a:ln w="6350">
            <a:solidFill>
              <a:srgbClr val="C6C6C1"/>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4574381" y="1803648"/>
            <a:ext cx="1980010" cy="0"/>
          </a:xfrm>
          <a:prstGeom prst="line">
            <a:avLst/>
          </a:prstGeom>
          <a:ln w="6350">
            <a:solidFill>
              <a:srgbClr val="C6C6C1"/>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6552009" y="1801267"/>
            <a:ext cx="0" cy="1748284"/>
          </a:xfrm>
          <a:prstGeom prst="line">
            <a:avLst/>
          </a:prstGeom>
          <a:ln w="6350">
            <a:solidFill>
              <a:srgbClr val="C6C6C1"/>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4574381" y="3547170"/>
            <a:ext cx="1980010" cy="0"/>
          </a:xfrm>
          <a:prstGeom prst="line">
            <a:avLst/>
          </a:prstGeom>
          <a:ln w="6350">
            <a:solidFill>
              <a:srgbClr val="C6C6C1"/>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6554391" y="1803648"/>
            <a:ext cx="1980009" cy="0"/>
          </a:xfrm>
          <a:prstGeom prst="line">
            <a:avLst/>
          </a:prstGeom>
          <a:ln w="6350">
            <a:solidFill>
              <a:srgbClr val="C6C6C1"/>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8532019" y="1801267"/>
            <a:ext cx="0" cy="1748284"/>
          </a:xfrm>
          <a:prstGeom prst="line">
            <a:avLst/>
          </a:prstGeom>
          <a:ln w="6350">
            <a:solidFill>
              <a:srgbClr val="C6C6C1"/>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6554391" y="3547170"/>
            <a:ext cx="1980009" cy="0"/>
          </a:xfrm>
          <a:prstGeom prst="line">
            <a:avLst/>
          </a:prstGeom>
          <a:ln w="6350">
            <a:solidFill>
              <a:srgbClr val="C6C6C1"/>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619125" y="3930551"/>
            <a:ext cx="0" cy="468511"/>
          </a:xfrm>
          <a:prstGeom prst="line">
            <a:avLst/>
          </a:prstGeom>
          <a:ln w="19050">
            <a:solidFill>
              <a:srgbClr val="D7263D"/>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09600" y="266700"/>
            <a:ext cx="5886450" cy="142875"/>
          </a:xfrm>
          <a:prstGeom prst="rect">
            <a:avLst/>
          </a:prstGeom>
          <a:noFill/>
        </p:spPr>
        <p:txBody>
          <a:bodyPr wrap="square" lIns="0" rIns="0" tIns="0" bIns="0" anchor="t">
            <a:noAutofit/>
          </a:bodyPr>
          <a:lstStyle/>
          <a:p>
            <a:pPr algn="l">
              <a:lnSpc>
                <a:spcPts val="1125"/>
              </a:lnSpc>
              <a:spcBef>
                <a:spcPts val="0"/>
              </a:spcBef>
              <a:spcAft>
                <a:spcPts val="0"/>
              </a:spcAft>
            </a:pPr>
            <a:r>
              <a:rPr sz="900" b="0" i="0" u="none" spc="75">
                <a:solidFill>
                  <a:srgbClr val="85857F"/>
                </a:solidFill>
                <a:latin typeface="Arial"/>
                <a:ea typeface="Arial"/>
                <a:cs typeface="Arial"/>
              </a:rPr>
              <a:t>WORLD STROKE CONGRESS 2026 · SEOUL</a:t>
            </a:r>
          </a:p>
        </p:txBody>
      </p:sp>
      <p:sp>
        <p:nvSpPr>
          <p:cNvPr id="18" name="TextBox 17"/>
          <p:cNvSpPr txBox="1"/>
          <p:nvPr/>
        </p:nvSpPr>
        <p:spPr>
          <a:xfrm>
            <a:off x="609600" y="609600"/>
            <a:ext cx="8162544" cy="152400"/>
          </a:xfrm>
          <a:prstGeom prst="rect">
            <a:avLst/>
          </a:prstGeom>
          <a:noFill/>
        </p:spPr>
        <p:txBody>
          <a:bodyPr wrap="square" lIns="0" rIns="0" tIns="0" bIns="0" anchor="t">
            <a:noAutofit/>
          </a:bodyPr>
          <a:lstStyle/>
          <a:p>
            <a:pPr algn="l">
              <a:lnSpc>
                <a:spcPts val="1200"/>
              </a:lnSpc>
              <a:spcBef>
                <a:spcPts val="0"/>
              </a:spcBef>
              <a:spcAft>
                <a:spcPts val="0"/>
              </a:spcAft>
            </a:pPr>
            <a:r>
              <a:rPr sz="900" b="1" i="0" u="none">
                <a:solidFill>
                  <a:srgbClr val="D7263D"/>
                </a:solidFill>
                <a:latin typeface="Arial"/>
                <a:ea typeface="Arial"/>
                <a:cs typeface="Arial"/>
              </a:rPr>
              <a:t>05</a:t>
            </a:r>
            <a:r>
              <a:rPr sz="900" b="0" i="0" u="none">
                <a:solidFill>
                  <a:srgbClr val="85857F"/>
                </a:solidFill>
                <a:latin typeface="Arial"/>
                <a:ea typeface="Arial"/>
                <a:cs typeface="Arial"/>
              </a:rPr>
              <a:t>  What open science is made of</a:t>
            </a:r>
          </a:p>
        </p:txBody>
      </p:sp>
      <p:sp>
        <p:nvSpPr>
          <p:cNvPr id="19" name="TextBox 18"/>
          <p:cNvSpPr txBox="1"/>
          <p:nvPr/>
        </p:nvSpPr>
        <p:spPr>
          <a:xfrm>
            <a:off x="766762" y="1958429"/>
            <a:ext cx="1720560" cy="133350"/>
          </a:xfrm>
          <a:prstGeom prst="rect">
            <a:avLst/>
          </a:prstGeom>
          <a:noFill/>
        </p:spPr>
        <p:txBody>
          <a:bodyPr wrap="square" lIns="0" rIns="0" tIns="0" bIns="0" anchor="t">
            <a:noAutofit/>
          </a:bodyPr>
          <a:lstStyle/>
          <a:p>
            <a:pPr algn="l">
              <a:lnSpc>
                <a:spcPts val="1035"/>
              </a:lnSpc>
              <a:spcBef>
                <a:spcPts val="0"/>
              </a:spcBef>
              <a:spcAft>
                <a:spcPts val="0"/>
              </a:spcAft>
            </a:pPr>
            <a:r>
              <a:rPr sz="900" b="1" i="0" u="none">
                <a:solidFill>
                  <a:srgbClr val="D7263D"/>
                </a:solidFill>
                <a:latin typeface="Arial"/>
                <a:ea typeface="Arial"/>
                <a:cs typeface="Arial"/>
              </a:rPr>
              <a:t>Read it</a:t>
            </a:r>
          </a:p>
        </p:txBody>
      </p:sp>
      <p:sp>
        <p:nvSpPr>
          <p:cNvPr id="20" name="TextBox 19"/>
          <p:cNvSpPr txBox="1"/>
          <p:nvPr/>
        </p:nvSpPr>
        <p:spPr>
          <a:xfrm>
            <a:off x="766762" y="2158454"/>
            <a:ext cx="1720560" cy="419100"/>
          </a:xfrm>
          <a:prstGeom prst="rect">
            <a:avLst/>
          </a:prstGeom>
          <a:noFill/>
        </p:spPr>
        <p:txBody>
          <a:bodyPr wrap="square" lIns="0" rIns="0" tIns="0" bIns="0" anchor="t">
            <a:noAutofit/>
          </a:bodyPr>
          <a:lstStyle/>
          <a:p>
            <a:pPr algn="l">
              <a:lnSpc>
                <a:spcPts val="1650"/>
              </a:lnSpc>
              <a:spcBef>
                <a:spcPts val="0"/>
              </a:spcBef>
              <a:spcAft>
                <a:spcPts val="0"/>
              </a:spcAft>
            </a:pPr>
            <a:r>
              <a:rPr sz="1500" b="1" i="0" u="none" spc="-38">
                <a:solidFill>
                  <a:srgbClr val="141414"/>
                </a:solidFill>
                <a:latin typeface="Arial"/>
                <a:ea typeface="Arial"/>
                <a:cs typeface="Arial"/>
              </a:rPr>
              <a:t>Can people read it?</a:t>
            </a:r>
          </a:p>
        </p:txBody>
      </p:sp>
      <p:sp>
        <p:nvSpPr>
          <p:cNvPr id="21" name="TextBox 20"/>
          <p:cNvSpPr txBox="1"/>
          <p:nvPr/>
        </p:nvSpPr>
        <p:spPr>
          <a:xfrm>
            <a:off x="766762" y="2644229"/>
            <a:ext cx="1720560" cy="360015"/>
          </a:xfrm>
          <a:prstGeom prst="rect">
            <a:avLst/>
          </a:prstGeom>
          <a:noFill/>
        </p:spPr>
        <p:txBody>
          <a:bodyPr wrap="square" lIns="0" rIns="0" tIns="0" bIns="0" anchor="t">
            <a:noAutofit/>
          </a:bodyPr>
          <a:lstStyle/>
          <a:p>
            <a:pPr algn="l">
              <a:lnSpc>
                <a:spcPts val="1418"/>
              </a:lnSpc>
              <a:spcBef>
                <a:spcPts val="0"/>
              </a:spcBef>
              <a:spcAft>
                <a:spcPts val="0"/>
              </a:spcAft>
            </a:pPr>
            <a:r>
              <a:rPr sz="1050" b="0" i="0" u="none">
                <a:solidFill>
                  <a:srgbClr val="141414"/>
                </a:solidFill>
                <a:latin typeface="Arial"/>
                <a:ea typeface="Arial"/>
                <a:cs typeface="Arial"/>
              </a:rPr>
              <a:t>Open access, and by which route</a:t>
            </a:r>
          </a:p>
        </p:txBody>
      </p:sp>
      <p:sp>
        <p:nvSpPr>
          <p:cNvPr id="22" name="TextBox 21"/>
          <p:cNvSpPr txBox="1"/>
          <p:nvPr/>
        </p:nvSpPr>
        <p:spPr>
          <a:xfrm>
            <a:off x="766762" y="3070920"/>
            <a:ext cx="1720560" cy="321469"/>
          </a:xfrm>
          <a:prstGeom prst="rect">
            <a:avLst/>
          </a:prstGeom>
          <a:noFill/>
        </p:spPr>
        <p:txBody>
          <a:bodyPr wrap="square" lIns="0" rIns="0" tIns="0" bIns="0" anchor="t">
            <a:noAutofit/>
          </a:bodyPr>
          <a:lstStyle/>
          <a:p>
            <a:pPr algn="l">
              <a:lnSpc>
                <a:spcPts val="1266"/>
              </a:lnSpc>
              <a:spcBef>
                <a:spcPts val="0"/>
              </a:spcBef>
              <a:spcAft>
                <a:spcPts val="0"/>
              </a:spcAft>
            </a:pPr>
            <a:r>
              <a:rPr sz="938" b="0" i="0" u="none">
                <a:solidFill>
                  <a:srgbClr val="85857F"/>
                </a:solidFill>
                <a:latin typeface="Arial"/>
                <a:ea typeface="Arial"/>
                <a:cs typeface="Arial"/>
              </a:rPr>
              <a:t>Diamond, gold, hybrid, green, bronze or closed</a:t>
            </a:r>
          </a:p>
        </p:txBody>
      </p:sp>
      <p:sp>
        <p:nvSpPr>
          <p:cNvPr id="23" name="TextBox 22"/>
          <p:cNvSpPr txBox="1"/>
          <p:nvPr/>
        </p:nvSpPr>
        <p:spPr>
          <a:xfrm>
            <a:off x="2746772" y="1958429"/>
            <a:ext cx="1720560" cy="133350"/>
          </a:xfrm>
          <a:prstGeom prst="rect">
            <a:avLst/>
          </a:prstGeom>
          <a:noFill/>
        </p:spPr>
        <p:txBody>
          <a:bodyPr wrap="square" lIns="0" rIns="0" tIns="0" bIns="0" anchor="t">
            <a:noAutofit/>
          </a:bodyPr>
          <a:lstStyle/>
          <a:p>
            <a:pPr algn="l">
              <a:lnSpc>
                <a:spcPts val="1035"/>
              </a:lnSpc>
              <a:spcBef>
                <a:spcPts val="0"/>
              </a:spcBef>
              <a:spcAft>
                <a:spcPts val="0"/>
              </a:spcAft>
            </a:pPr>
            <a:r>
              <a:rPr sz="900" b="1" i="0" u="none">
                <a:solidFill>
                  <a:srgbClr val="D7263D"/>
                </a:solidFill>
                <a:latin typeface="Arial"/>
                <a:ea typeface="Arial"/>
                <a:cs typeface="Arial"/>
              </a:rPr>
              <a:t>Check it</a:t>
            </a:r>
          </a:p>
        </p:txBody>
      </p:sp>
      <p:sp>
        <p:nvSpPr>
          <p:cNvPr id="24" name="TextBox 23"/>
          <p:cNvSpPr txBox="1"/>
          <p:nvPr/>
        </p:nvSpPr>
        <p:spPr>
          <a:xfrm>
            <a:off x="2746772" y="2158454"/>
            <a:ext cx="1720560" cy="209550"/>
          </a:xfrm>
          <a:prstGeom prst="rect">
            <a:avLst/>
          </a:prstGeom>
          <a:noFill/>
        </p:spPr>
        <p:txBody>
          <a:bodyPr wrap="square" lIns="0" rIns="0" tIns="0" bIns="0" anchor="t">
            <a:noAutofit/>
          </a:bodyPr>
          <a:lstStyle/>
          <a:p>
            <a:pPr algn="l">
              <a:lnSpc>
                <a:spcPts val="1650"/>
              </a:lnSpc>
              <a:spcBef>
                <a:spcPts val="0"/>
              </a:spcBef>
              <a:spcAft>
                <a:spcPts val="0"/>
              </a:spcAft>
            </a:pPr>
            <a:r>
              <a:rPr sz="1500" b="1" i="0" u="none" spc="-38">
                <a:solidFill>
                  <a:srgbClr val="141414"/>
                </a:solidFill>
                <a:latin typeface="Arial"/>
                <a:ea typeface="Arial"/>
                <a:cs typeface="Arial"/>
              </a:rPr>
              <a:t>Can they check it?</a:t>
            </a:r>
          </a:p>
        </p:txBody>
      </p:sp>
      <p:sp>
        <p:nvSpPr>
          <p:cNvPr id="25" name="TextBox 24"/>
          <p:cNvSpPr txBox="1"/>
          <p:nvPr/>
        </p:nvSpPr>
        <p:spPr>
          <a:xfrm>
            <a:off x="2746772" y="2434679"/>
            <a:ext cx="1720560" cy="360015"/>
          </a:xfrm>
          <a:prstGeom prst="rect">
            <a:avLst/>
          </a:prstGeom>
          <a:noFill/>
        </p:spPr>
        <p:txBody>
          <a:bodyPr wrap="square" lIns="0" rIns="0" tIns="0" bIns="0" anchor="t">
            <a:noAutofit/>
          </a:bodyPr>
          <a:lstStyle/>
          <a:p>
            <a:pPr algn="l">
              <a:lnSpc>
                <a:spcPts val="1418"/>
              </a:lnSpc>
              <a:spcBef>
                <a:spcPts val="0"/>
              </a:spcBef>
              <a:spcAft>
                <a:spcPts val="0"/>
              </a:spcAft>
            </a:pPr>
            <a:r>
              <a:rPr sz="1050" b="0" i="0" u="none">
                <a:solidFill>
                  <a:srgbClr val="141414"/>
                </a:solidFill>
                <a:latin typeface="Arial"/>
                <a:ea typeface="Arial"/>
                <a:cs typeface="Arial"/>
              </a:rPr>
              <a:t>Data and code that someone else can run</a:t>
            </a:r>
          </a:p>
        </p:txBody>
      </p:sp>
      <p:sp>
        <p:nvSpPr>
          <p:cNvPr id="26" name="TextBox 25"/>
          <p:cNvSpPr txBox="1"/>
          <p:nvPr/>
        </p:nvSpPr>
        <p:spPr>
          <a:xfrm>
            <a:off x="2746772" y="2861370"/>
            <a:ext cx="1720560" cy="321469"/>
          </a:xfrm>
          <a:prstGeom prst="rect">
            <a:avLst/>
          </a:prstGeom>
          <a:noFill/>
        </p:spPr>
        <p:txBody>
          <a:bodyPr wrap="square" lIns="0" rIns="0" tIns="0" bIns="0" anchor="t">
            <a:noAutofit/>
          </a:bodyPr>
          <a:lstStyle/>
          <a:p>
            <a:pPr algn="l">
              <a:lnSpc>
                <a:spcPts val="1266"/>
              </a:lnSpc>
              <a:spcBef>
                <a:spcPts val="0"/>
              </a:spcBef>
              <a:spcAft>
                <a:spcPts val="0"/>
              </a:spcAft>
            </a:pPr>
            <a:r>
              <a:rPr sz="938" b="0" i="0" u="none">
                <a:solidFill>
                  <a:srgbClr val="85857F"/>
                </a:solidFill>
                <a:latin typeface="Arial"/>
                <a:ea typeface="Arial"/>
                <a:cs typeface="Arial"/>
              </a:rPr>
              <a:t>Repository links, GitHub, data-availability statements</a:t>
            </a:r>
          </a:p>
        </p:txBody>
      </p:sp>
      <p:sp>
        <p:nvSpPr>
          <p:cNvPr id="27" name="TextBox 26"/>
          <p:cNvSpPr txBox="1"/>
          <p:nvPr/>
        </p:nvSpPr>
        <p:spPr>
          <a:xfrm>
            <a:off x="4726781" y="1958429"/>
            <a:ext cx="1720560" cy="133350"/>
          </a:xfrm>
          <a:prstGeom prst="rect">
            <a:avLst/>
          </a:prstGeom>
          <a:noFill/>
        </p:spPr>
        <p:txBody>
          <a:bodyPr wrap="square" lIns="0" rIns="0" tIns="0" bIns="0" anchor="t">
            <a:noAutofit/>
          </a:bodyPr>
          <a:lstStyle/>
          <a:p>
            <a:pPr algn="l">
              <a:lnSpc>
                <a:spcPts val="1035"/>
              </a:lnSpc>
              <a:spcBef>
                <a:spcPts val="0"/>
              </a:spcBef>
              <a:spcAft>
                <a:spcPts val="0"/>
              </a:spcAft>
            </a:pPr>
            <a:r>
              <a:rPr sz="900" b="1" i="0" u="none">
                <a:solidFill>
                  <a:srgbClr val="D7263D"/>
                </a:solidFill>
                <a:latin typeface="Arial"/>
                <a:ea typeface="Arial"/>
                <a:cs typeface="Arial"/>
              </a:rPr>
              <a:t>Reuse it</a:t>
            </a:r>
          </a:p>
        </p:txBody>
      </p:sp>
      <p:sp>
        <p:nvSpPr>
          <p:cNvPr id="28" name="TextBox 27"/>
          <p:cNvSpPr txBox="1"/>
          <p:nvPr/>
        </p:nvSpPr>
        <p:spPr>
          <a:xfrm>
            <a:off x="4726781" y="2158454"/>
            <a:ext cx="1720560" cy="209550"/>
          </a:xfrm>
          <a:prstGeom prst="rect">
            <a:avLst/>
          </a:prstGeom>
          <a:noFill/>
        </p:spPr>
        <p:txBody>
          <a:bodyPr wrap="square" lIns="0" rIns="0" tIns="0" bIns="0" anchor="t">
            <a:noAutofit/>
          </a:bodyPr>
          <a:lstStyle/>
          <a:p>
            <a:pPr algn="l">
              <a:lnSpc>
                <a:spcPts val="1650"/>
              </a:lnSpc>
              <a:spcBef>
                <a:spcPts val="0"/>
              </a:spcBef>
              <a:spcAft>
                <a:spcPts val="0"/>
              </a:spcAft>
            </a:pPr>
            <a:r>
              <a:rPr sz="1500" b="1" i="0" u="none" spc="-38">
                <a:solidFill>
                  <a:srgbClr val="141414"/>
                </a:solidFill>
                <a:latin typeface="Arial"/>
                <a:ea typeface="Arial"/>
                <a:cs typeface="Arial"/>
              </a:rPr>
              <a:t>Can they reuse it?</a:t>
            </a:r>
          </a:p>
        </p:txBody>
      </p:sp>
      <p:sp>
        <p:nvSpPr>
          <p:cNvPr id="29" name="TextBox 28"/>
          <p:cNvSpPr txBox="1"/>
          <p:nvPr/>
        </p:nvSpPr>
        <p:spPr>
          <a:xfrm>
            <a:off x="4726781" y="2434679"/>
            <a:ext cx="1720560" cy="360015"/>
          </a:xfrm>
          <a:prstGeom prst="rect">
            <a:avLst/>
          </a:prstGeom>
          <a:noFill/>
        </p:spPr>
        <p:txBody>
          <a:bodyPr wrap="square" lIns="0" rIns="0" tIns="0" bIns="0" anchor="t">
            <a:noAutofit/>
          </a:bodyPr>
          <a:lstStyle/>
          <a:p>
            <a:pPr algn="l">
              <a:lnSpc>
                <a:spcPts val="1418"/>
              </a:lnSpc>
              <a:spcBef>
                <a:spcPts val="0"/>
              </a:spcBef>
              <a:spcAft>
                <a:spcPts val="0"/>
              </a:spcAft>
            </a:pPr>
            <a:r>
              <a:rPr sz="1050" b="0" i="0" u="none">
                <a:solidFill>
                  <a:srgbClr val="141414"/>
                </a:solidFill>
                <a:latin typeface="Arial"/>
                <a:ea typeface="Arial"/>
                <a:cs typeface="Arial"/>
              </a:rPr>
              <a:t>Deposited, not promised on request</a:t>
            </a:r>
          </a:p>
        </p:txBody>
      </p:sp>
      <p:sp>
        <p:nvSpPr>
          <p:cNvPr id="30" name="TextBox 29"/>
          <p:cNvSpPr txBox="1"/>
          <p:nvPr/>
        </p:nvSpPr>
        <p:spPr>
          <a:xfrm>
            <a:off x="4726781" y="2861370"/>
            <a:ext cx="1720560" cy="321469"/>
          </a:xfrm>
          <a:prstGeom prst="rect">
            <a:avLst/>
          </a:prstGeom>
          <a:noFill/>
        </p:spPr>
        <p:txBody>
          <a:bodyPr wrap="square" lIns="0" rIns="0" tIns="0" bIns="0" anchor="t">
            <a:noAutofit/>
          </a:bodyPr>
          <a:lstStyle/>
          <a:p>
            <a:pPr algn="l">
              <a:lnSpc>
                <a:spcPts val="1266"/>
              </a:lnSpc>
              <a:spcBef>
                <a:spcPts val="0"/>
              </a:spcBef>
              <a:spcAft>
                <a:spcPts val="0"/>
              </a:spcAft>
            </a:pPr>
            <a:r>
              <a:rPr sz="938" b="0" i="0" u="none">
                <a:solidFill>
                  <a:srgbClr val="85857F"/>
                </a:solidFill>
                <a:latin typeface="Arial"/>
                <a:ea typeface="Arial"/>
                <a:cs typeface="Arial"/>
              </a:rPr>
              <a:t>A repository or a controlled-access platform</a:t>
            </a:r>
          </a:p>
        </p:txBody>
      </p:sp>
      <p:sp>
        <p:nvSpPr>
          <p:cNvPr id="31" name="TextBox 30"/>
          <p:cNvSpPr txBox="1"/>
          <p:nvPr/>
        </p:nvSpPr>
        <p:spPr>
          <a:xfrm>
            <a:off x="6706791" y="1958429"/>
            <a:ext cx="1720560" cy="133350"/>
          </a:xfrm>
          <a:prstGeom prst="rect">
            <a:avLst/>
          </a:prstGeom>
          <a:noFill/>
        </p:spPr>
        <p:txBody>
          <a:bodyPr wrap="square" lIns="0" rIns="0" tIns="0" bIns="0" anchor="t">
            <a:noAutofit/>
          </a:bodyPr>
          <a:lstStyle/>
          <a:p>
            <a:pPr algn="l">
              <a:lnSpc>
                <a:spcPts val="1035"/>
              </a:lnSpc>
              <a:spcBef>
                <a:spcPts val="0"/>
              </a:spcBef>
              <a:spcAft>
                <a:spcPts val="0"/>
              </a:spcAft>
            </a:pPr>
            <a:r>
              <a:rPr sz="900" b="1" i="0" u="none">
                <a:solidFill>
                  <a:srgbClr val="D7263D"/>
                </a:solidFill>
                <a:latin typeface="Arial"/>
                <a:ea typeface="Arial"/>
                <a:cs typeface="Arial"/>
              </a:rPr>
              <a:t>Plan it</a:t>
            </a:r>
          </a:p>
        </p:txBody>
      </p:sp>
      <p:sp>
        <p:nvSpPr>
          <p:cNvPr id="32" name="TextBox 31"/>
          <p:cNvSpPr txBox="1"/>
          <p:nvPr/>
        </p:nvSpPr>
        <p:spPr>
          <a:xfrm>
            <a:off x="6706791" y="2158454"/>
            <a:ext cx="1720560" cy="419100"/>
          </a:xfrm>
          <a:prstGeom prst="rect">
            <a:avLst/>
          </a:prstGeom>
          <a:noFill/>
        </p:spPr>
        <p:txBody>
          <a:bodyPr wrap="square" lIns="0" rIns="0" tIns="0" bIns="0" anchor="t">
            <a:noAutofit/>
          </a:bodyPr>
          <a:lstStyle/>
          <a:p>
            <a:pPr algn="l">
              <a:lnSpc>
                <a:spcPts val="1650"/>
              </a:lnSpc>
              <a:spcBef>
                <a:spcPts val="0"/>
              </a:spcBef>
              <a:spcAft>
                <a:spcPts val="0"/>
              </a:spcAft>
            </a:pPr>
            <a:r>
              <a:rPr sz="1500" b="1" i="0" u="none" spc="-38">
                <a:solidFill>
                  <a:srgbClr val="141414"/>
                </a:solidFill>
                <a:latin typeface="Arial"/>
                <a:ea typeface="Arial"/>
                <a:cs typeface="Arial"/>
              </a:rPr>
              <a:t>Was it planned in advance?</a:t>
            </a:r>
          </a:p>
        </p:txBody>
      </p:sp>
      <p:sp>
        <p:nvSpPr>
          <p:cNvPr id="33" name="TextBox 32"/>
          <p:cNvSpPr txBox="1"/>
          <p:nvPr/>
        </p:nvSpPr>
        <p:spPr>
          <a:xfrm>
            <a:off x="6706791" y="2644229"/>
            <a:ext cx="1720560" cy="360015"/>
          </a:xfrm>
          <a:prstGeom prst="rect">
            <a:avLst/>
          </a:prstGeom>
          <a:noFill/>
        </p:spPr>
        <p:txBody>
          <a:bodyPr wrap="square" lIns="0" rIns="0" tIns="0" bIns="0" anchor="t">
            <a:noAutofit/>
          </a:bodyPr>
          <a:lstStyle/>
          <a:p>
            <a:pPr algn="l">
              <a:lnSpc>
                <a:spcPts val="1418"/>
              </a:lnSpc>
              <a:spcBef>
                <a:spcPts val="0"/>
              </a:spcBef>
              <a:spcAft>
                <a:spcPts val="0"/>
              </a:spcAft>
            </a:pPr>
            <a:r>
              <a:rPr sz="1050" b="0" i="0" u="none">
                <a:solidFill>
                  <a:srgbClr val="141414"/>
                </a:solidFill>
                <a:latin typeface="Arial"/>
                <a:ea typeface="Arial"/>
                <a:cs typeface="Arial"/>
              </a:rPr>
              <a:t>Registration and preregistration</a:t>
            </a:r>
          </a:p>
        </p:txBody>
      </p:sp>
      <p:sp>
        <p:nvSpPr>
          <p:cNvPr id="34" name="TextBox 33"/>
          <p:cNvSpPr txBox="1"/>
          <p:nvPr/>
        </p:nvSpPr>
        <p:spPr>
          <a:xfrm>
            <a:off x="6706791" y="3070920"/>
            <a:ext cx="1720560" cy="321469"/>
          </a:xfrm>
          <a:prstGeom prst="rect">
            <a:avLst/>
          </a:prstGeom>
          <a:noFill/>
        </p:spPr>
        <p:txBody>
          <a:bodyPr wrap="square" lIns="0" rIns="0" tIns="0" bIns="0" anchor="t">
            <a:noAutofit/>
          </a:bodyPr>
          <a:lstStyle/>
          <a:p>
            <a:pPr algn="l">
              <a:lnSpc>
                <a:spcPts val="1266"/>
              </a:lnSpc>
              <a:spcBef>
                <a:spcPts val="0"/>
              </a:spcBef>
              <a:spcAft>
                <a:spcPts val="0"/>
              </a:spcAft>
            </a:pPr>
            <a:r>
              <a:rPr sz="938" b="0" i="0" u="none">
                <a:solidFill>
                  <a:srgbClr val="85857F"/>
                </a:solidFill>
                <a:latin typeface="Arial"/>
                <a:ea typeface="Arial"/>
                <a:cs typeface="Arial"/>
              </a:rPr>
              <a:t>Trial registries, PROSPERO, Registered Reports</a:t>
            </a:r>
          </a:p>
        </p:txBody>
      </p:sp>
      <p:sp>
        <p:nvSpPr>
          <p:cNvPr id="35" name="TextBox 34"/>
          <p:cNvSpPr txBox="1"/>
          <p:nvPr/>
        </p:nvSpPr>
        <p:spPr>
          <a:xfrm>
            <a:off x="781050" y="3959126"/>
            <a:ext cx="7985950" cy="411361"/>
          </a:xfrm>
          <a:prstGeom prst="rect">
            <a:avLst/>
          </a:prstGeom>
          <a:noFill/>
        </p:spPr>
        <p:txBody>
          <a:bodyPr wrap="square" lIns="0" rIns="0" tIns="0" bIns="0" anchor="t">
            <a:noAutofit/>
          </a:bodyPr>
          <a:lstStyle/>
          <a:p>
            <a:pPr algn="l">
              <a:lnSpc>
                <a:spcPts val="1620"/>
              </a:lnSpc>
              <a:spcBef>
                <a:spcPts val="0"/>
              </a:spcBef>
              <a:spcAft>
                <a:spcPts val="0"/>
              </a:spcAft>
            </a:pPr>
            <a:r>
              <a:rPr sz="1200" b="0" i="0" u="none">
                <a:solidFill>
                  <a:srgbClr val="141414"/>
                </a:solidFill>
                <a:latin typeface="Arial"/>
                <a:ea typeface="Arial"/>
                <a:cs typeface="Arial"/>
              </a:rPr>
              <a:t>Reproducibility audits exist for neurology, cardiology and general medicine. </a:t>
            </a:r>
            <a:r>
              <a:rPr sz="1200" b="1" i="0" u="none">
                <a:solidFill>
                  <a:srgbClr val="141414"/>
                </a:solidFill>
                <a:latin typeface="Arial"/>
                <a:ea typeface="Arial"/>
                <a:cs typeface="Arial"/>
              </a:rPr>
              <a:t>None existed for stroke.</a:t>
            </a:r>
            <a:r>
              <a:rPr sz="1200" b="0" i="0" u="none">
                <a:solidFill>
                  <a:srgbClr val="141414"/>
                </a:solidFill>
                <a:latin typeface="Arial"/>
                <a:ea typeface="Arial"/>
                <a:cs typeface="Arial"/>
              </a:rPr>
              <a:t> </a:t>
            </a:r>
            <a:r>
              <a:rPr sz="1200" b="0" i="0" u="none">
                <a:solidFill>
                  <a:srgbClr val="85857F"/>
                </a:solidFill>
                <a:latin typeface="Arial"/>
                <a:ea typeface="Arial"/>
                <a:cs typeface="Arial"/>
              </a:rPr>
              <a:t>Rauh 2020; Heckerman 2025; Scutt 2020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1F1EF"/>
        </a:solidFill>
        <a:effectLst/>
      </p:bgPr>
    </p:bg>
    <p:spTree>
      <p:nvGrpSpPr>
        <p:cNvPr id="1" name=""/>
        <p:cNvGrpSpPr/>
        <p:nvPr/>
      </p:nvGrpSpPr>
      <p:grpSpPr/>
      <p:sp>
        <p:nvSpPr>
          <p:cNvPr id="2" name="Title 1"/>
          <p:cNvSpPr>
            <a:spLocks noGrp="1"/>
          </p:cNvSpPr>
          <p:nvPr>
            <p:ph type="title"/>
          </p:nvPr>
        </p:nvSpPr>
        <p:spPr>
          <a:xfrm>
            <a:off x="609600" y="914400"/>
            <a:ext cx="8162544" cy="658267"/>
          </a:xfrm>
        </p:spPr>
        <p:txBody>
          <a:bodyPr wrap="square" lIns="0" rIns="0" tIns="0" bIns="0" anchor="t">
            <a:noAutofit/>
          </a:bodyPr>
          <a:lstStyle/>
          <a:p>
            <a:pPr algn="l">
              <a:lnSpc>
                <a:spcPts val="2592"/>
              </a:lnSpc>
              <a:spcBef>
                <a:spcPts val="0"/>
              </a:spcBef>
              <a:spcAft>
                <a:spcPts val="0"/>
              </a:spcAft>
            </a:pPr>
            <a:r>
              <a:rPr sz="2400" b="1" i="0" u="none" spc="-75">
                <a:solidFill>
                  <a:srgbClr val="141414"/>
                </a:solidFill>
                <a:latin typeface="Arial"/>
                <a:ea typeface="Arial"/>
                <a:cs typeface="Arial"/>
              </a:rPr>
              <a:t>A living pipeline measures the stroke literature every six months</a:t>
            </a:r>
          </a:p>
        </p:txBody>
      </p:sp>
      <p:cxnSp>
        <p:nvCxnSpPr>
          <p:cNvPr id="3" name="Connector 2"/>
          <p:cNvCxnSpPr/>
          <p:nvPr/>
        </p:nvCxnSpPr>
        <p:spPr>
          <a:xfrm>
            <a:off x="609600" y="1727448"/>
            <a:ext cx="5419725" cy="0"/>
          </a:xfrm>
          <a:prstGeom prst="line">
            <a:avLst/>
          </a:prstGeom>
          <a:ln w="6350">
            <a:solidFill>
              <a:srgbClr val="C6C6C1"/>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609600" y="2014091"/>
            <a:ext cx="5419725" cy="0"/>
          </a:xfrm>
          <a:prstGeom prst="line">
            <a:avLst/>
          </a:prstGeom>
          <a:ln w="6350">
            <a:solidFill>
              <a:srgbClr val="C6C6C1"/>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609600" y="2300734"/>
            <a:ext cx="5419725" cy="0"/>
          </a:xfrm>
          <a:prstGeom prst="line">
            <a:avLst/>
          </a:prstGeom>
          <a:ln w="6350">
            <a:solidFill>
              <a:srgbClr val="C6C6C1"/>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609600" y="2587377"/>
            <a:ext cx="5419725" cy="0"/>
          </a:xfrm>
          <a:prstGeom prst="line">
            <a:avLst/>
          </a:prstGeom>
          <a:ln w="6350">
            <a:solidFill>
              <a:srgbClr val="C6C6C1"/>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609600" y="3022550"/>
            <a:ext cx="5419725" cy="0"/>
          </a:xfrm>
          <a:prstGeom prst="line">
            <a:avLst/>
          </a:prstGeom>
          <a:ln w="6350">
            <a:solidFill>
              <a:srgbClr val="C6C6C1"/>
            </a:solidFill>
          </a:ln>
        </p:spPr>
        <p:style>
          <a:lnRef idx="2">
            <a:schemeClr val="accent1"/>
          </a:lnRef>
          <a:fillRef idx="0">
            <a:schemeClr val="accent1"/>
          </a:fillRef>
          <a:effectRef idx="1">
            <a:schemeClr val="accent1"/>
          </a:effectRef>
          <a:fontRef idx="minor">
            <a:schemeClr val="tx1"/>
          </a:fontRef>
        </p:style>
      </p:cxnSp>
      <p:pic>
        <p:nvPicPr>
          <p:cNvPr id="8" name="Picture 7" descr="matrix.jpg"/>
          <p:cNvPicPr>
            <a:picLocks noChangeAspect="1"/>
          </p:cNvPicPr>
          <p:nvPr/>
        </p:nvPicPr>
        <p:blipFill>
          <a:blip r:embed="rId2"/>
          <a:stretch>
            <a:fillRect/>
          </a:stretch>
        </p:blipFill>
        <p:spPr>
          <a:xfrm>
            <a:off x="6370757" y="1725067"/>
            <a:ext cx="2088910" cy="2619375"/>
          </a:xfrm>
          <a:prstGeom prst="rect">
            <a:avLst/>
          </a:prstGeom>
        </p:spPr>
      </p:pic>
      <p:sp>
        <p:nvSpPr>
          <p:cNvPr id="9" name="TextBox 8"/>
          <p:cNvSpPr txBox="1"/>
          <p:nvPr/>
        </p:nvSpPr>
        <p:spPr>
          <a:xfrm>
            <a:off x="609600" y="266700"/>
            <a:ext cx="5886450" cy="142875"/>
          </a:xfrm>
          <a:prstGeom prst="rect">
            <a:avLst/>
          </a:prstGeom>
          <a:noFill/>
        </p:spPr>
        <p:txBody>
          <a:bodyPr wrap="square" lIns="0" rIns="0" tIns="0" bIns="0" anchor="t">
            <a:noAutofit/>
          </a:bodyPr>
          <a:lstStyle/>
          <a:p>
            <a:pPr algn="l">
              <a:lnSpc>
                <a:spcPts val="1125"/>
              </a:lnSpc>
              <a:spcBef>
                <a:spcPts val="0"/>
              </a:spcBef>
              <a:spcAft>
                <a:spcPts val="0"/>
              </a:spcAft>
            </a:pPr>
            <a:r>
              <a:rPr sz="900" b="0" i="0" u="none" spc="75">
                <a:solidFill>
                  <a:srgbClr val="85857F"/>
                </a:solidFill>
                <a:latin typeface="Arial"/>
                <a:ea typeface="Arial"/>
                <a:cs typeface="Arial"/>
              </a:rPr>
              <a:t>WORLD STROKE CONGRESS 2026 · SEOUL</a:t>
            </a:r>
          </a:p>
        </p:txBody>
      </p:sp>
      <p:sp>
        <p:nvSpPr>
          <p:cNvPr id="10" name="TextBox 9"/>
          <p:cNvSpPr txBox="1"/>
          <p:nvPr/>
        </p:nvSpPr>
        <p:spPr>
          <a:xfrm>
            <a:off x="609600" y="609600"/>
            <a:ext cx="8162544" cy="152400"/>
          </a:xfrm>
          <a:prstGeom prst="rect">
            <a:avLst/>
          </a:prstGeom>
          <a:noFill/>
        </p:spPr>
        <p:txBody>
          <a:bodyPr wrap="square" lIns="0" rIns="0" tIns="0" bIns="0" anchor="t">
            <a:noAutofit/>
          </a:bodyPr>
          <a:lstStyle/>
          <a:p>
            <a:pPr algn="l">
              <a:lnSpc>
                <a:spcPts val="1200"/>
              </a:lnSpc>
              <a:spcBef>
                <a:spcPts val="0"/>
              </a:spcBef>
              <a:spcAft>
                <a:spcPts val="0"/>
              </a:spcAft>
            </a:pPr>
            <a:r>
              <a:rPr sz="900" b="1" i="0" u="none">
                <a:solidFill>
                  <a:srgbClr val="D7263D"/>
                </a:solidFill>
                <a:latin typeface="Arial"/>
                <a:ea typeface="Arial"/>
                <a:cs typeface="Arial"/>
              </a:rPr>
              <a:t>06</a:t>
            </a:r>
            <a:r>
              <a:rPr sz="900" b="0" i="0" u="none">
                <a:solidFill>
                  <a:srgbClr val="85857F"/>
                </a:solidFill>
                <a:latin typeface="Arial"/>
                <a:ea typeface="Arial"/>
                <a:cs typeface="Arial"/>
              </a:rPr>
              <a:t>  How we measured</a:t>
            </a:r>
          </a:p>
        </p:txBody>
      </p:sp>
      <p:sp>
        <p:nvSpPr>
          <p:cNvPr id="11" name="TextBox 10"/>
          <p:cNvSpPr txBox="1"/>
          <p:nvPr/>
        </p:nvSpPr>
        <p:spPr>
          <a:xfrm>
            <a:off x="609600" y="1796504"/>
            <a:ext cx="735806" cy="147638"/>
          </a:xfrm>
          <a:prstGeom prst="rect">
            <a:avLst/>
          </a:prstGeom>
          <a:noFill/>
        </p:spPr>
        <p:txBody>
          <a:bodyPr wrap="square" lIns="0" rIns="0" tIns="0" bIns="0" anchor="t">
            <a:noAutofit/>
          </a:bodyPr>
          <a:lstStyle/>
          <a:p>
            <a:pPr algn="l">
              <a:lnSpc>
                <a:spcPts val="1121"/>
              </a:lnSpc>
              <a:spcBef>
                <a:spcPts val="0"/>
              </a:spcBef>
              <a:spcAft>
                <a:spcPts val="0"/>
              </a:spcAft>
            </a:pPr>
            <a:r>
              <a:rPr sz="975" b="1" i="0" u="none">
                <a:solidFill>
                  <a:srgbClr val="141414"/>
                </a:solidFill>
                <a:latin typeface="Arial"/>
                <a:ea typeface="Arial"/>
                <a:cs typeface="Arial"/>
              </a:rPr>
              <a:t>Retrieve</a:t>
            </a:r>
          </a:p>
        </p:txBody>
      </p:sp>
      <p:sp>
        <p:nvSpPr>
          <p:cNvPr id="12" name="TextBox 11"/>
          <p:cNvSpPr txBox="1"/>
          <p:nvPr/>
        </p:nvSpPr>
        <p:spPr>
          <a:xfrm>
            <a:off x="1438275" y="1796504"/>
            <a:ext cx="4728782" cy="148530"/>
          </a:xfrm>
          <a:prstGeom prst="rect">
            <a:avLst/>
          </a:prstGeom>
          <a:noFill/>
        </p:spPr>
        <p:txBody>
          <a:bodyPr wrap="square" lIns="0" rIns="0" tIns="0" bIns="0" anchor="t">
            <a:noAutofit/>
          </a:bodyPr>
          <a:lstStyle/>
          <a:p>
            <a:pPr algn="l">
              <a:lnSpc>
                <a:spcPts val="1170"/>
              </a:lnSpc>
              <a:spcBef>
                <a:spcPts val="0"/>
              </a:spcBef>
              <a:spcAft>
                <a:spcPts val="0"/>
              </a:spcAft>
            </a:pPr>
            <a:r>
              <a:rPr sz="900" b="0" i="0" u="none">
                <a:solidFill>
                  <a:srgbClr val="4A4A47"/>
                </a:solidFill>
                <a:latin typeface="Arial"/>
                <a:ea typeface="Arial"/>
                <a:cs typeface="Arial"/>
              </a:rPr>
              <a:t>OpenAlex, 2015 onward; stroke plus neurology, neuroscience, cardiology</a:t>
            </a:r>
          </a:p>
        </p:txBody>
      </p:sp>
      <p:sp>
        <p:nvSpPr>
          <p:cNvPr id="13" name="TextBox 12"/>
          <p:cNvSpPr txBox="1"/>
          <p:nvPr/>
        </p:nvSpPr>
        <p:spPr>
          <a:xfrm>
            <a:off x="609600" y="2083147"/>
            <a:ext cx="735806" cy="147638"/>
          </a:xfrm>
          <a:prstGeom prst="rect">
            <a:avLst/>
          </a:prstGeom>
          <a:noFill/>
        </p:spPr>
        <p:txBody>
          <a:bodyPr wrap="square" lIns="0" rIns="0" tIns="0" bIns="0" anchor="t">
            <a:noAutofit/>
          </a:bodyPr>
          <a:lstStyle/>
          <a:p>
            <a:pPr algn="l">
              <a:lnSpc>
                <a:spcPts val="1121"/>
              </a:lnSpc>
              <a:spcBef>
                <a:spcPts val="0"/>
              </a:spcBef>
              <a:spcAft>
                <a:spcPts val="0"/>
              </a:spcAft>
            </a:pPr>
            <a:r>
              <a:rPr sz="975" b="1" i="0" u="none">
                <a:solidFill>
                  <a:srgbClr val="141414"/>
                </a:solidFill>
                <a:latin typeface="Arial"/>
                <a:ea typeface="Arial"/>
                <a:cs typeface="Arial"/>
              </a:rPr>
              <a:t>Clean</a:t>
            </a:r>
          </a:p>
        </p:txBody>
      </p:sp>
      <p:sp>
        <p:nvSpPr>
          <p:cNvPr id="14" name="TextBox 13"/>
          <p:cNvSpPr txBox="1"/>
          <p:nvPr/>
        </p:nvSpPr>
        <p:spPr>
          <a:xfrm>
            <a:off x="1438275" y="2083147"/>
            <a:ext cx="4728782" cy="148530"/>
          </a:xfrm>
          <a:prstGeom prst="rect">
            <a:avLst/>
          </a:prstGeom>
          <a:noFill/>
        </p:spPr>
        <p:txBody>
          <a:bodyPr wrap="square" lIns="0" rIns="0" tIns="0" bIns="0" anchor="t">
            <a:noAutofit/>
          </a:bodyPr>
          <a:lstStyle/>
          <a:p>
            <a:pPr algn="l">
              <a:lnSpc>
                <a:spcPts val="1170"/>
              </a:lnSpc>
              <a:spcBef>
                <a:spcPts val="0"/>
              </a:spcBef>
              <a:spcAft>
                <a:spcPts val="0"/>
              </a:spcAft>
            </a:pPr>
            <a:r>
              <a:rPr sz="900" b="0" i="0" u="none">
                <a:solidFill>
                  <a:srgbClr val="4A4A47"/>
                </a:solidFill>
                <a:latin typeface="Arial"/>
                <a:ea typeface="Arial"/>
                <a:cs typeface="Arial"/>
              </a:rPr>
              <a:t>Journal articles and reviews with a DOI; datasets, preprints, errata and chapters out</a:t>
            </a:r>
          </a:p>
        </p:txBody>
      </p:sp>
      <p:sp>
        <p:nvSpPr>
          <p:cNvPr id="15" name="TextBox 14"/>
          <p:cNvSpPr txBox="1"/>
          <p:nvPr/>
        </p:nvSpPr>
        <p:spPr>
          <a:xfrm>
            <a:off x="609600" y="2369790"/>
            <a:ext cx="735806" cy="147638"/>
          </a:xfrm>
          <a:prstGeom prst="rect">
            <a:avLst/>
          </a:prstGeom>
          <a:noFill/>
        </p:spPr>
        <p:txBody>
          <a:bodyPr wrap="square" lIns="0" rIns="0" tIns="0" bIns="0" anchor="t">
            <a:noAutofit/>
          </a:bodyPr>
          <a:lstStyle/>
          <a:p>
            <a:pPr algn="l">
              <a:lnSpc>
                <a:spcPts val="1121"/>
              </a:lnSpc>
              <a:spcBef>
                <a:spcPts val="0"/>
              </a:spcBef>
              <a:spcAft>
                <a:spcPts val="0"/>
              </a:spcAft>
            </a:pPr>
            <a:r>
              <a:rPr sz="975" b="1" i="0" u="none">
                <a:solidFill>
                  <a:srgbClr val="141414"/>
                </a:solidFill>
                <a:latin typeface="Arial"/>
                <a:ea typeface="Arial"/>
                <a:cs typeface="Arial"/>
              </a:rPr>
              <a:t>Detect</a:t>
            </a:r>
          </a:p>
        </p:txBody>
      </p:sp>
      <p:sp>
        <p:nvSpPr>
          <p:cNvPr id="16" name="TextBox 15"/>
          <p:cNvSpPr txBox="1"/>
          <p:nvPr/>
        </p:nvSpPr>
        <p:spPr>
          <a:xfrm>
            <a:off x="1438275" y="2369790"/>
            <a:ext cx="4728782" cy="148530"/>
          </a:xfrm>
          <a:prstGeom prst="rect">
            <a:avLst/>
          </a:prstGeom>
          <a:noFill/>
        </p:spPr>
        <p:txBody>
          <a:bodyPr wrap="square" lIns="0" rIns="0" tIns="0" bIns="0" anchor="t">
            <a:noAutofit/>
          </a:bodyPr>
          <a:lstStyle/>
          <a:p>
            <a:pPr algn="l">
              <a:lnSpc>
                <a:spcPts val="1170"/>
              </a:lnSpc>
              <a:spcBef>
                <a:spcPts val="0"/>
              </a:spcBef>
              <a:spcAft>
                <a:spcPts val="0"/>
              </a:spcAft>
            </a:pPr>
            <a:r>
              <a:rPr sz="900" b="0" i="0" u="none">
                <a:solidFill>
                  <a:srgbClr val="4A4A47"/>
                </a:solidFill>
                <a:latin typeface="Arial"/>
                <a:ea typeface="Arial"/>
                <a:cs typeface="Arial"/>
              </a:rPr>
              <a:t>Open-access status, repository links, preprint versions, registration identifiers</a:t>
            </a:r>
          </a:p>
        </p:txBody>
      </p:sp>
      <p:sp>
        <p:nvSpPr>
          <p:cNvPr id="17" name="TextBox 16"/>
          <p:cNvSpPr txBox="1"/>
          <p:nvPr/>
        </p:nvSpPr>
        <p:spPr>
          <a:xfrm>
            <a:off x="609600" y="2656433"/>
            <a:ext cx="735806" cy="147638"/>
          </a:xfrm>
          <a:prstGeom prst="rect">
            <a:avLst/>
          </a:prstGeom>
          <a:noFill/>
        </p:spPr>
        <p:txBody>
          <a:bodyPr wrap="square" lIns="0" rIns="0" tIns="0" bIns="0" anchor="t">
            <a:noAutofit/>
          </a:bodyPr>
          <a:lstStyle/>
          <a:p>
            <a:pPr algn="l">
              <a:lnSpc>
                <a:spcPts val="1121"/>
              </a:lnSpc>
              <a:spcBef>
                <a:spcPts val="0"/>
              </a:spcBef>
              <a:spcAft>
                <a:spcPts val="0"/>
              </a:spcAft>
            </a:pPr>
            <a:r>
              <a:rPr sz="975" b="1" i="0" u="none">
                <a:solidFill>
                  <a:srgbClr val="141414"/>
                </a:solidFill>
                <a:latin typeface="Arial"/>
                <a:ea typeface="Arial"/>
                <a:cs typeface="Arial"/>
              </a:rPr>
              <a:t>Read</a:t>
            </a:r>
          </a:p>
        </p:txBody>
      </p:sp>
      <p:sp>
        <p:nvSpPr>
          <p:cNvPr id="18" name="TextBox 17"/>
          <p:cNvSpPr txBox="1"/>
          <p:nvPr/>
        </p:nvSpPr>
        <p:spPr>
          <a:xfrm>
            <a:off x="1438275" y="2656433"/>
            <a:ext cx="4728782" cy="297061"/>
          </a:xfrm>
          <a:prstGeom prst="rect">
            <a:avLst/>
          </a:prstGeom>
          <a:noFill/>
        </p:spPr>
        <p:txBody>
          <a:bodyPr wrap="square" lIns="0" rIns="0" tIns="0" bIns="0" anchor="t">
            <a:noAutofit/>
          </a:bodyPr>
          <a:lstStyle/>
          <a:p>
            <a:pPr algn="l">
              <a:lnSpc>
                <a:spcPts val="1170"/>
              </a:lnSpc>
              <a:spcBef>
                <a:spcPts val="0"/>
              </a:spcBef>
              <a:spcAft>
                <a:spcPts val="0"/>
              </a:spcAft>
            </a:pPr>
            <a:r>
              <a:rPr sz="900" b="0" i="0" u="none">
                <a:solidFill>
                  <a:srgbClr val="4A4A47"/>
                </a:solidFill>
                <a:latin typeface="Arial"/>
                <a:ea typeface="Arial"/>
                <a:cs typeface="Arial"/>
              </a:rPr>
              <a:t>Data-availability statements in up to 1,500 open-access full texts per year, via Europe PMC, all four fields</a:t>
            </a:r>
          </a:p>
        </p:txBody>
      </p:sp>
      <p:sp>
        <p:nvSpPr>
          <p:cNvPr id="19" name="TextBox 18"/>
          <p:cNvSpPr txBox="1"/>
          <p:nvPr/>
        </p:nvSpPr>
        <p:spPr>
          <a:xfrm>
            <a:off x="609600" y="3091607"/>
            <a:ext cx="735806" cy="147638"/>
          </a:xfrm>
          <a:prstGeom prst="rect">
            <a:avLst/>
          </a:prstGeom>
          <a:noFill/>
        </p:spPr>
        <p:txBody>
          <a:bodyPr wrap="square" lIns="0" rIns="0" tIns="0" bIns="0" anchor="t">
            <a:noAutofit/>
          </a:bodyPr>
          <a:lstStyle/>
          <a:p>
            <a:pPr algn="l">
              <a:lnSpc>
                <a:spcPts val="1121"/>
              </a:lnSpc>
              <a:spcBef>
                <a:spcPts val="0"/>
              </a:spcBef>
              <a:spcAft>
                <a:spcPts val="0"/>
              </a:spcAft>
            </a:pPr>
            <a:r>
              <a:rPr sz="975" b="1" i="0" u="none">
                <a:solidFill>
                  <a:srgbClr val="141414"/>
                </a:solidFill>
                <a:latin typeface="Arial"/>
                <a:ea typeface="Arial"/>
                <a:cs typeface="Arial"/>
              </a:rPr>
              <a:t>Publish</a:t>
            </a:r>
          </a:p>
        </p:txBody>
      </p:sp>
      <p:sp>
        <p:nvSpPr>
          <p:cNvPr id="20" name="TextBox 19"/>
          <p:cNvSpPr txBox="1"/>
          <p:nvPr/>
        </p:nvSpPr>
        <p:spPr>
          <a:xfrm>
            <a:off x="1438275" y="3091607"/>
            <a:ext cx="4728782" cy="148530"/>
          </a:xfrm>
          <a:prstGeom prst="rect">
            <a:avLst/>
          </a:prstGeom>
          <a:noFill/>
        </p:spPr>
        <p:txBody>
          <a:bodyPr wrap="square" lIns="0" rIns="0" tIns="0" bIns="0" anchor="t">
            <a:noAutofit/>
          </a:bodyPr>
          <a:lstStyle/>
          <a:p>
            <a:pPr algn="l">
              <a:lnSpc>
                <a:spcPts val="1170"/>
              </a:lnSpc>
              <a:spcBef>
                <a:spcPts val="0"/>
              </a:spcBef>
              <a:spcAft>
                <a:spcPts val="0"/>
              </a:spcAft>
            </a:pPr>
            <a:r>
              <a:rPr sz="900" b="0" i="0" u="none">
                <a:solidFill>
                  <a:srgbClr val="4A4A47"/>
                </a:solidFill>
                <a:latin typeface="Arial"/>
                <a:ea typeface="Arial"/>
                <a:cs typeface="Arial"/>
              </a:rPr>
              <a:t>Open code, open data, public dashboard; re-run every six months</a:t>
            </a:r>
          </a:p>
        </p:txBody>
      </p:sp>
      <p:sp>
        <p:nvSpPr>
          <p:cNvPr id="21" name="TextBox 20"/>
          <p:cNvSpPr txBox="1"/>
          <p:nvPr/>
        </p:nvSpPr>
        <p:spPr>
          <a:xfrm>
            <a:off x="609600" y="3440162"/>
            <a:ext cx="1782261" cy="304800"/>
          </a:xfrm>
          <a:prstGeom prst="rect">
            <a:avLst/>
          </a:prstGeom>
          <a:noFill/>
        </p:spPr>
        <p:txBody>
          <a:bodyPr wrap="square" lIns="0" rIns="0" tIns="0" bIns="0" anchor="t">
            <a:noAutofit/>
          </a:bodyPr>
          <a:lstStyle/>
          <a:p>
            <a:pPr algn="l">
              <a:lnSpc>
                <a:spcPts val="2400"/>
              </a:lnSpc>
              <a:spcBef>
                <a:spcPts val="0"/>
              </a:spcBef>
              <a:spcAft>
                <a:spcPts val="0"/>
              </a:spcAft>
            </a:pPr>
            <a:r>
              <a:rPr sz="2400" b="0" i="0" u="none">
                <a:solidFill>
                  <a:srgbClr val="141414"/>
                </a:solidFill>
                <a:latin typeface="Times New Roman"/>
                <a:ea typeface="Times New Roman"/>
                <a:cs typeface="Times New Roman"/>
              </a:rPr>
              <a:t>140,281</a:t>
            </a:r>
          </a:p>
        </p:txBody>
      </p:sp>
      <p:sp>
        <p:nvSpPr>
          <p:cNvPr id="22" name="TextBox 21"/>
          <p:cNvSpPr txBox="1"/>
          <p:nvPr/>
        </p:nvSpPr>
        <p:spPr>
          <a:xfrm>
            <a:off x="609600" y="3754487"/>
            <a:ext cx="1782261" cy="148530"/>
          </a:xfrm>
          <a:prstGeom prst="rect">
            <a:avLst/>
          </a:prstGeom>
          <a:noFill/>
        </p:spPr>
        <p:txBody>
          <a:bodyPr wrap="square" lIns="0" rIns="0" tIns="0" bIns="0" anchor="t">
            <a:noAutofit/>
          </a:bodyPr>
          <a:lstStyle/>
          <a:p>
            <a:pPr algn="l">
              <a:lnSpc>
                <a:spcPts val="1170"/>
              </a:lnSpc>
              <a:spcBef>
                <a:spcPts val="0"/>
              </a:spcBef>
              <a:spcAft>
                <a:spcPts val="0"/>
              </a:spcAft>
            </a:pPr>
            <a:r>
              <a:rPr sz="900" b="0" i="0" u="none">
                <a:solidFill>
                  <a:srgbClr val="85857F"/>
                </a:solidFill>
                <a:latin typeface="Arial"/>
                <a:ea typeface="Arial"/>
                <a:cs typeface="Arial"/>
              </a:rPr>
              <a:t>stroke articles and reviews</a:t>
            </a:r>
          </a:p>
        </p:txBody>
      </p:sp>
      <p:sp>
        <p:nvSpPr>
          <p:cNvPr id="23" name="TextBox 22"/>
          <p:cNvSpPr txBox="1"/>
          <p:nvPr/>
        </p:nvSpPr>
        <p:spPr>
          <a:xfrm>
            <a:off x="2454250" y="3440162"/>
            <a:ext cx="1782337" cy="304800"/>
          </a:xfrm>
          <a:prstGeom prst="rect">
            <a:avLst/>
          </a:prstGeom>
          <a:noFill/>
        </p:spPr>
        <p:txBody>
          <a:bodyPr wrap="square" lIns="0" rIns="0" tIns="0" bIns="0" anchor="t">
            <a:noAutofit/>
          </a:bodyPr>
          <a:lstStyle/>
          <a:p>
            <a:pPr algn="l">
              <a:lnSpc>
                <a:spcPts val="2400"/>
              </a:lnSpc>
              <a:spcBef>
                <a:spcPts val="0"/>
              </a:spcBef>
              <a:spcAft>
                <a:spcPts val="0"/>
              </a:spcAft>
            </a:pPr>
            <a:r>
              <a:rPr sz="2400" b="0" i="0" u="none">
                <a:solidFill>
                  <a:srgbClr val="141414"/>
                </a:solidFill>
                <a:latin typeface="Times New Roman"/>
                <a:ea typeface="Times New Roman"/>
                <a:cs typeface="Times New Roman"/>
              </a:rPr>
              <a:t>16,362</a:t>
            </a:r>
          </a:p>
        </p:txBody>
      </p:sp>
      <p:sp>
        <p:nvSpPr>
          <p:cNvPr id="24" name="TextBox 23"/>
          <p:cNvSpPr txBox="1"/>
          <p:nvPr/>
        </p:nvSpPr>
        <p:spPr>
          <a:xfrm>
            <a:off x="2454250" y="3754487"/>
            <a:ext cx="1782337" cy="148530"/>
          </a:xfrm>
          <a:prstGeom prst="rect">
            <a:avLst/>
          </a:prstGeom>
          <a:noFill/>
        </p:spPr>
        <p:txBody>
          <a:bodyPr wrap="square" lIns="0" rIns="0" tIns="0" bIns="0" anchor="t">
            <a:noAutofit/>
          </a:bodyPr>
          <a:lstStyle/>
          <a:p>
            <a:pPr algn="l">
              <a:lnSpc>
                <a:spcPts val="1170"/>
              </a:lnSpc>
              <a:spcBef>
                <a:spcPts val="0"/>
              </a:spcBef>
              <a:spcAft>
                <a:spcPts val="0"/>
              </a:spcAft>
            </a:pPr>
            <a:r>
              <a:rPr sz="900" b="0" i="0" u="none">
                <a:solidFill>
                  <a:srgbClr val="85857F"/>
                </a:solidFill>
                <a:latin typeface="Arial"/>
                <a:ea typeface="Arial"/>
                <a:cs typeface="Arial"/>
              </a:rPr>
              <a:t>stroke full texts read</a:t>
            </a:r>
          </a:p>
        </p:txBody>
      </p:sp>
      <p:sp>
        <p:nvSpPr>
          <p:cNvPr id="25" name="TextBox 24"/>
          <p:cNvSpPr txBox="1"/>
          <p:nvPr/>
        </p:nvSpPr>
        <p:spPr>
          <a:xfrm>
            <a:off x="4298975" y="3440162"/>
            <a:ext cx="1782261" cy="304800"/>
          </a:xfrm>
          <a:prstGeom prst="rect">
            <a:avLst/>
          </a:prstGeom>
          <a:noFill/>
        </p:spPr>
        <p:txBody>
          <a:bodyPr wrap="square" lIns="0" rIns="0" tIns="0" bIns="0" anchor="t">
            <a:noAutofit/>
          </a:bodyPr>
          <a:lstStyle/>
          <a:p>
            <a:pPr algn="l">
              <a:lnSpc>
                <a:spcPts val="2400"/>
              </a:lnSpc>
              <a:spcBef>
                <a:spcPts val="0"/>
              </a:spcBef>
              <a:spcAft>
                <a:spcPts val="0"/>
              </a:spcAft>
            </a:pPr>
            <a:r>
              <a:rPr sz="2400" b="0" i="0" u="none">
                <a:solidFill>
                  <a:srgbClr val="141414"/>
                </a:solidFill>
                <a:latin typeface="Times New Roman"/>
                <a:ea typeface="Times New Roman"/>
                <a:cs typeface="Times New Roman"/>
              </a:rPr>
              <a:t>4</a:t>
            </a:r>
          </a:p>
        </p:txBody>
      </p:sp>
      <p:sp>
        <p:nvSpPr>
          <p:cNvPr id="26" name="TextBox 25"/>
          <p:cNvSpPr txBox="1"/>
          <p:nvPr/>
        </p:nvSpPr>
        <p:spPr>
          <a:xfrm>
            <a:off x="4298975" y="3754487"/>
            <a:ext cx="1782261" cy="148530"/>
          </a:xfrm>
          <a:prstGeom prst="rect">
            <a:avLst/>
          </a:prstGeom>
          <a:noFill/>
        </p:spPr>
        <p:txBody>
          <a:bodyPr wrap="square" lIns="0" rIns="0" tIns="0" bIns="0" anchor="t">
            <a:noAutofit/>
          </a:bodyPr>
          <a:lstStyle/>
          <a:p>
            <a:pPr algn="l">
              <a:lnSpc>
                <a:spcPts val="1170"/>
              </a:lnSpc>
              <a:spcBef>
                <a:spcPts val="0"/>
              </a:spcBef>
              <a:spcAft>
                <a:spcPts val="0"/>
              </a:spcAft>
            </a:pPr>
            <a:r>
              <a:rPr sz="900" b="0" i="0" u="none">
                <a:solidFill>
                  <a:srgbClr val="85857F"/>
                </a:solidFill>
                <a:latin typeface="Arial"/>
                <a:ea typeface="Arial"/>
                <a:cs typeface="Arial"/>
              </a:rPr>
              <a:t>fields, 2015 to 2025</a:t>
            </a:r>
          </a:p>
        </p:txBody>
      </p:sp>
      <p:sp>
        <p:nvSpPr>
          <p:cNvPr id="27" name="TextBox 26"/>
          <p:cNvSpPr txBox="1"/>
          <p:nvPr/>
        </p:nvSpPr>
        <p:spPr>
          <a:xfrm>
            <a:off x="609600" y="4695825"/>
            <a:ext cx="8162544" cy="142875"/>
          </a:xfrm>
          <a:prstGeom prst="rect">
            <a:avLst/>
          </a:prstGeom>
          <a:noFill/>
        </p:spPr>
        <p:txBody>
          <a:bodyPr wrap="square" lIns="0" rIns="0" tIns="0" bIns="0" anchor="t">
            <a:noAutofit/>
          </a:bodyPr>
          <a:lstStyle/>
          <a:p>
            <a:pPr algn="l">
              <a:lnSpc>
                <a:spcPts val="1125"/>
              </a:lnSpc>
              <a:spcBef>
                <a:spcPts val="0"/>
              </a:spcBef>
              <a:spcAft>
                <a:spcPts val="0"/>
              </a:spcAft>
            </a:pPr>
            <a:r>
              <a:rPr sz="900" b="0" i="0" u="none">
                <a:solidFill>
                  <a:srgbClr val="85857F"/>
                </a:solidFill>
                <a:latin typeface="Arial"/>
                <a:ea typeface="Arial"/>
                <a:cs typeface="Arial"/>
              </a:rPr>
              <a:t>friseeb.github.io/stroke_open_science_outputs · Abstract and metadata signals are lower bounds; the full-text audit narrows the gap for data sharing.</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1F1EF"/>
        </a:solidFill>
        <a:effectLst/>
      </p:bgPr>
    </p:bg>
    <p:spTree>
      <p:nvGrpSpPr>
        <p:cNvPr id="1" name=""/>
        <p:cNvGrpSpPr/>
        <p:nvPr/>
      </p:nvGrpSpPr>
      <p:grpSpPr/>
      <p:sp>
        <p:nvSpPr>
          <p:cNvPr id="2" name="Title 1"/>
          <p:cNvSpPr>
            <a:spLocks noGrp="1"/>
          </p:cNvSpPr>
          <p:nvPr>
            <p:ph type="title"/>
          </p:nvPr>
        </p:nvSpPr>
        <p:spPr>
          <a:xfrm>
            <a:off x="609600" y="895350"/>
            <a:ext cx="8162544" cy="329133"/>
          </a:xfrm>
        </p:spPr>
        <p:txBody>
          <a:bodyPr wrap="square" lIns="0" rIns="0" tIns="0" bIns="0" anchor="t">
            <a:noAutofit/>
          </a:bodyPr>
          <a:lstStyle/>
          <a:p>
            <a:pPr algn="l">
              <a:lnSpc>
                <a:spcPts val="2592"/>
              </a:lnSpc>
              <a:spcBef>
                <a:spcPts val="0"/>
              </a:spcBef>
              <a:spcAft>
                <a:spcPts val="0"/>
              </a:spcAft>
            </a:pPr>
            <a:r>
              <a:rPr sz="2400" b="1" i="0" u="none" spc="-75">
                <a:solidFill>
                  <a:srgbClr val="141414"/>
                </a:solidFill>
                <a:latin typeface="Arial"/>
                <a:ea typeface="Arial"/>
                <a:cs typeface="Arial"/>
              </a:rPr>
              <a:t>Stroke went open access: 53% in 2015, 75% in 2024</a:t>
            </a:r>
          </a:p>
        </p:txBody>
      </p:sp>
      <p:pic>
        <p:nvPicPr>
          <p:cNvPr id="3" name="Picture 2" descr="trend_oa.jpg"/>
          <p:cNvPicPr>
            <a:picLocks noChangeAspect="1"/>
          </p:cNvPicPr>
          <p:nvPr/>
        </p:nvPicPr>
        <p:blipFill>
          <a:blip r:embed="rId2"/>
          <a:stretch>
            <a:fillRect/>
          </a:stretch>
        </p:blipFill>
        <p:spPr>
          <a:xfrm>
            <a:off x="696148" y="1357833"/>
            <a:ext cx="7751704" cy="2943225"/>
          </a:xfrm>
          <a:prstGeom prst="rect">
            <a:avLst/>
          </a:prstGeom>
        </p:spPr>
      </p:pic>
      <p:sp>
        <p:nvSpPr>
          <p:cNvPr id="4" name="TextBox 3"/>
          <p:cNvSpPr txBox="1"/>
          <p:nvPr/>
        </p:nvSpPr>
        <p:spPr>
          <a:xfrm>
            <a:off x="609600" y="266700"/>
            <a:ext cx="5886450" cy="142875"/>
          </a:xfrm>
          <a:prstGeom prst="rect">
            <a:avLst/>
          </a:prstGeom>
          <a:noFill/>
        </p:spPr>
        <p:txBody>
          <a:bodyPr wrap="square" lIns="0" rIns="0" tIns="0" bIns="0" anchor="t">
            <a:noAutofit/>
          </a:bodyPr>
          <a:lstStyle/>
          <a:p>
            <a:pPr algn="l">
              <a:lnSpc>
                <a:spcPts val="1125"/>
              </a:lnSpc>
              <a:spcBef>
                <a:spcPts val="0"/>
              </a:spcBef>
              <a:spcAft>
                <a:spcPts val="0"/>
              </a:spcAft>
            </a:pPr>
            <a:r>
              <a:rPr sz="900" b="0" i="0" u="none" spc="75">
                <a:solidFill>
                  <a:srgbClr val="85857F"/>
                </a:solidFill>
                <a:latin typeface="Arial"/>
                <a:ea typeface="Arial"/>
                <a:cs typeface="Arial"/>
              </a:rPr>
              <a:t>WORLD STROKE CONGRESS 2026 · SEOUL</a:t>
            </a:r>
          </a:p>
        </p:txBody>
      </p:sp>
      <p:sp>
        <p:nvSpPr>
          <p:cNvPr id="5" name="TextBox 4"/>
          <p:cNvSpPr txBox="1"/>
          <p:nvPr/>
        </p:nvSpPr>
        <p:spPr>
          <a:xfrm>
            <a:off x="609600" y="609600"/>
            <a:ext cx="8162544" cy="152400"/>
          </a:xfrm>
          <a:prstGeom prst="rect">
            <a:avLst/>
          </a:prstGeom>
          <a:noFill/>
        </p:spPr>
        <p:txBody>
          <a:bodyPr wrap="square" lIns="0" rIns="0" tIns="0" bIns="0" anchor="t">
            <a:noAutofit/>
          </a:bodyPr>
          <a:lstStyle/>
          <a:p>
            <a:pPr algn="l">
              <a:lnSpc>
                <a:spcPts val="1200"/>
              </a:lnSpc>
              <a:spcBef>
                <a:spcPts val="0"/>
              </a:spcBef>
              <a:spcAft>
                <a:spcPts val="0"/>
              </a:spcAft>
            </a:pPr>
            <a:r>
              <a:rPr sz="900" b="1" i="0" u="none">
                <a:solidFill>
                  <a:srgbClr val="D7263D"/>
                </a:solidFill>
                <a:latin typeface="Arial"/>
                <a:ea typeface="Arial"/>
                <a:cs typeface="Arial"/>
              </a:rPr>
              <a:t>07</a:t>
            </a:r>
            <a:r>
              <a:rPr sz="900" b="0" i="0" u="none">
                <a:solidFill>
                  <a:srgbClr val="85857F"/>
                </a:solidFill>
                <a:latin typeface="Arial"/>
                <a:ea typeface="Arial"/>
                <a:cs typeface="Arial"/>
              </a:rPr>
              <a:t>  Finding 1</a:t>
            </a:r>
          </a:p>
        </p:txBody>
      </p:sp>
      <p:sp>
        <p:nvSpPr>
          <p:cNvPr id="6" name="TextBox 5"/>
          <p:cNvSpPr txBox="1"/>
          <p:nvPr/>
        </p:nvSpPr>
        <p:spPr>
          <a:xfrm>
            <a:off x="609600" y="4552950"/>
            <a:ext cx="8162544" cy="285750"/>
          </a:xfrm>
          <a:prstGeom prst="rect">
            <a:avLst/>
          </a:prstGeom>
          <a:noFill/>
        </p:spPr>
        <p:txBody>
          <a:bodyPr wrap="square" lIns="0" rIns="0" tIns="0" bIns="0" anchor="t">
            <a:noAutofit/>
          </a:bodyPr>
          <a:lstStyle/>
          <a:p>
            <a:pPr algn="l">
              <a:lnSpc>
                <a:spcPts val="1125"/>
              </a:lnSpc>
              <a:spcBef>
                <a:spcPts val="0"/>
              </a:spcBef>
              <a:spcAft>
                <a:spcPts val="0"/>
              </a:spcAft>
            </a:pPr>
            <a:r>
              <a:rPr sz="900" b="0" i="0" u="none">
                <a:solidFill>
                  <a:srgbClr val="85857F"/>
                </a:solidFill>
                <a:latin typeface="Arial"/>
                <a:ea typeface="Arial"/>
                <a:cs typeface="Arial"/>
              </a:rPr>
              <a:t>Open access = any OpenAlex status other than closed. Stroke 66% over the decade; cardiology 70%, neurology 62%, neuroscience 65% (its title term “neural” also catches machine-learning papers). 2025 is incomplete.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1F1EF"/>
        </a:solidFill>
        <a:effectLst/>
      </p:bgPr>
    </p:bg>
    <p:spTree>
      <p:nvGrpSpPr>
        <p:cNvPr id="1" name=""/>
        <p:cNvGrpSpPr/>
        <p:nvPr/>
      </p:nvGrpSpPr>
      <p:grpSpPr/>
      <p:sp>
        <p:nvSpPr>
          <p:cNvPr id="2" name="Title 1"/>
          <p:cNvSpPr>
            <a:spLocks noGrp="1"/>
          </p:cNvSpPr>
          <p:nvPr>
            <p:ph type="title"/>
          </p:nvPr>
        </p:nvSpPr>
        <p:spPr>
          <a:xfrm>
            <a:off x="609600" y="895350"/>
            <a:ext cx="8162544" cy="329133"/>
          </a:xfrm>
        </p:spPr>
        <p:txBody>
          <a:bodyPr wrap="square" lIns="0" rIns="0" tIns="0" bIns="0" anchor="t">
            <a:noAutofit/>
          </a:bodyPr>
          <a:lstStyle/>
          <a:p>
            <a:pPr algn="l">
              <a:lnSpc>
                <a:spcPts val="2592"/>
              </a:lnSpc>
              <a:spcBef>
                <a:spcPts val="0"/>
              </a:spcBef>
              <a:spcAft>
                <a:spcPts val="0"/>
              </a:spcAft>
            </a:pPr>
            <a:r>
              <a:rPr sz="2400" b="1" i="0" u="none" spc="-75">
                <a:solidFill>
                  <a:srgbClr val="141414"/>
                </a:solidFill>
                <a:latin typeface="Arial"/>
                <a:ea typeface="Arial"/>
                <a:cs typeface="Arial"/>
              </a:rPr>
              <a:t>The growth in open access was paid for, not deposited</a:t>
            </a:r>
          </a:p>
        </p:txBody>
      </p:sp>
      <p:cxnSp>
        <p:nvCxnSpPr>
          <p:cNvPr id="3" name="Connector 2"/>
          <p:cNvCxnSpPr/>
          <p:nvPr/>
        </p:nvCxnSpPr>
        <p:spPr>
          <a:xfrm>
            <a:off x="5448300" y="1557858"/>
            <a:ext cx="3086100" cy="0"/>
          </a:xfrm>
          <a:prstGeom prst="line">
            <a:avLst/>
          </a:prstGeom>
          <a:ln w="6350">
            <a:solidFill>
              <a:srgbClr val="141414"/>
            </a:solidFill>
          </a:ln>
        </p:spPr>
        <p:style>
          <a:lnRef idx="2">
            <a:schemeClr val="accent1"/>
          </a:lnRef>
          <a:fillRef idx="0">
            <a:schemeClr val="accent1"/>
          </a:fillRef>
          <a:effectRef idx="1">
            <a:schemeClr val="accent1"/>
          </a:effectRef>
          <a:fontRef idx="minor">
            <a:schemeClr val="tx1"/>
          </a:fontRef>
        </p:style>
      </p:cxnSp>
      <p:pic>
        <p:nvPicPr>
          <p:cNvPr id="4" name="Picture 3" descr="oa_status.jpg"/>
          <p:cNvPicPr>
            <a:picLocks noChangeAspect="1"/>
          </p:cNvPicPr>
          <p:nvPr/>
        </p:nvPicPr>
        <p:blipFill>
          <a:blip r:embed="rId2"/>
          <a:stretch>
            <a:fillRect/>
          </a:stretch>
        </p:blipFill>
        <p:spPr>
          <a:xfrm>
            <a:off x="641131" y="1357833"/>
            <a:ext cx="4508938" cy="2933700"/>
          </a:xfrm>
          <a:prstGeom prst="rect">
            <a:avLst/>
          </a:prstGeom>
        </p:spPr>
      </p:pic>
      <p:sp>
        <p:nvSpPr>
          <p:cNvPr id="5" name="TextBox 4"/>
          <p:cNvSpPr txBox="1"/>
          <p:nvPr/>
        </p:nvSpPr>
        <p:spPr>
          <a:xfrm>
            <a:off x="609600" y="266700"/>
            <a:ext cx="5886450" cy="142875"/>
          </a:xfrm>
          <a:prstGeom prst="rect">
            <a:avLst/>
          </a:prstGeom>
          <a:noFill/>
        </p:spPr>
        <p:txBody>
          <a:bodyPr wrap="square" lIns="0" rIns="0" tIns="0" bIns="0" anchor="t">
            <a:noAutofit/>
          </a:bodyPr>
          <a:lstStyle/>
          <a:p>
            <a:pPr algn="l">
              <a:lnSpc>
                <a:spcPts val="1125"/>
              </a:lnSpc>
              <a:spcBef>
                <a:spcPts val="0"/>
              </a:spcBef>
              <a:spcAft>
                <a:spcPts val="0"/>
              </a:spcAft>
            </a:pPr>
            <a:r>
              <a:rPr sz="900" b="0" i="0" u="none" spc="75">
                <a:solidFill>
                  <a:srgbClr val="85857F"/>
                </a:solidFill>
                <a:latin typeface="Arial"/>
                <a:ea typeface="Arial"/>
                <a:cs typeface="Arial"/>
              </a:rPr>
              <a:t>WORLD STROKE CONGRESS 2026 · SEOUL</a:t>
            </a:r>
          </a:p>
        </p:txBody>
      </p:sp>
      <p:sp>
        <p:nvSpPr>
          <p:cNvPr id="6" name="TextBox 5"/>
          <p:cNvSpPr txBox="1"/>
          <p:nvPr/>
        </p:nvSpPr>
        <p:spPr>
          <a:xfrm>
            <a:off x="609600" y="609600"/>
            <a:ext cx="8162544" cy="152400"/>
          </a:xfrm>
          <a:prstGeom prst="rect">
            <a:avLst/>
          </a:prstGeom>
          <a:noFill/>
        </p:spPr>
        <p:txBody>
          <a:bodyPr wrap="square" lIns="0" rIns="0" tIns="0" bIns="0" anchor="t">
            <a:noAutofit/>
          </a:bodyPr>
          <a:lstStyle/>
          <a:p>
            <a:pPr algn="l">
              <a:lnSpc>
                <a:spcPts val="1200"/>
              </a:lnSpc>
              <a:spcBef>
                <a:spcPts val="0"/>
              </a:spcBef>
              <a:spcAft>
                <a:spcPts val="0"/>
              </a:spcAft>
            </a:pPr>
            <a:r>
              <a:rPr sz="900" b="1" i="0" u="none">
                <a:solidFill>
                  <a:srgbClr val="D7263D"/>
                </a:solidFill>
                <a:latin typeface="Arial"/>
                <a:ea typeface="Arial"/>
                <a:cs typeface="Arial"/>
              </a:rPr>
              <a:t>08</a:t>
            </a:r>
            <a:r>
              <a:rPr sz="900" b="0" i="0" u="none">
                <a:solidFill>
                  <a:srgbClr val="85857F"/>
                </a:solidFill>
                <a:latin typeface="Arial"/>
                <a:ea typeface="Arial"/>
                <a:cs typeface="Arial"/>
              </a:rPr>
              <a:t>  Finding 2</a:t>
            </a:r>
          </a:p>
        </p:txBody>
      </p:sp>
      <p:sp>
        <p:nvSpPr>
          <p:cNvPr id="7" name="TextBox 6"/>
          <p:cNvSpPr txBox="1"/>
          <p:nvPr/>
        </p:nvSpPr>
        <p:spPr>
          <a:xfrm>
            <a:off x="5448300" y="1357833"/>
            <a:ext cx="2711139" cy="154781"/>
          </a:xfrm>
          <a:prstGeom prst="rect">
            <a:avLst/>
          </a:prstGeom>
          <a:noFill/>
        </p:spPr>
        <p:txBody>
          <a:bodyPr wrap="square" lIns="0" rIns="0" tIns="0" bIns="0" anchor="t">
            <a:noAutofit/>
          </a:bodyPr>
          <a:lstStyle/>
          <a:p>
            <a:pPr algn="l">
              <a:lnSpc>
                <a:spcPts val="1208"/>
              </a:lnSpc>
              <a:spcBef>
                <a:spcPts val="0"/>
              </a:spcBef>
              <a:spcAft>
                <a:spcPts val="0"/>
              </a:spcAft>
            </a:pPr>
            <a:r>
              <a:rPr sz="1050" b="1" i="0" u="none">
                <a:solidFill>
                  <a:srgbClr val="85857F"/>
                </a:solidFill>
                <a:latin typeface="Arial"/>
                <a:ea typeface="Arial"/>
                <a:cs typeface="Arial"/>
              </a:rPr>
              <a:t>Route, 2015 to 2025</a:t>
            </a:r>
          </a:p>
        </p:txBody>
      </p:sp>
      <p:sp>
        <p:nvSpPr>
          <p:cNvPr id="8" name="TextBox 7"/>
          <p:cNvSpPr txBox="1"/>
          <p:nvPr/>
        </p:nvSpPr>
        <p:spPr>
          <a:xfrm>
            <a:off x="8061424" y="1357833"/>
            <a:ext cx="472976" cy="154781"/>
          </a:xfrm>
          <a:prstGeom prst="rect">
            <a:avLst/>
          </a:prstGeom>
          <a:noFill/>
        </p:spPr>
        <p:txBody>
          <a:bodyPr wrap="square" lIns="0" rIns="0" tIns="0" bIns="0" anchor="t">
            <a:noAutofit/>
          </a:bodyPr>
          <a:lstStyle/>
          <a:p>
            <a:pPr algn="r">
              <a:lnSpc>
                <a:spcPts val="1208"/>
              </a:lnSpc>
              <a:spcBef>
                <a:spcPts val="0"/>
              </a:spcBef>
              <a:spcAft>
                <a:spcPts val="0"/>
              </a:spcAft>
            </a:pPr>
            <a:r>
              <a:rPr sz="1050" b="1" i="0" u="none">
                <a:solidFill>
                  <a:srgbClr val="85857F"/>
                </a:solidFill>
                <a:latin typeface="Arial"/>
                <a:ea typeface="Arial"/>
                <a:cs typeface="Arial"/>
              </a:rPr>
              <a:t>Share</a:t>
            </a:r>
          </a:p>
        </p:txBody>
      </p:sp>
      <p:sp>
        <p:nvSpPr>
          <p:cNvPr id="9" name="TextBox 8"/>
          <p:cNvSpPr txBox="1"/>
          <p:nvPr/>
        </p:nvSpPr>
        <p:spPr>
          <a:xfrm>
            <a:off x="5448300" y="1607865"/>
            <a:ext cx="2711139" cy="154781"/>
          </a:xfrm>
          <a:prstGeom prst="rect">
            <a:avLst/>
          </a:prstGeom>
          <a:noFill/>
        </p:spPr>
        <p:txBody>
          <a:bodyPr wrap="square" lIns="0" rIns="0" tIns="0" bIns="0" anchor="t">
            <a:noAutofit/>
          </a:bodyPr>
          <a:lstStyle/>
          <a:p>
            <a:pPr algn="l">
              <a:lnSpc>
                <a:spcPts val="1208"/>
              </a:lnSpc>
              <a:spcBef>
                <a:spcPts val="0"/>
              </a:spcBef>
              <a:spcAft>
                <a:spcPts val="0"/>
              </a:spcAft>
            </a:pPr>
            <a:r>
              <a:rPr sz="1050" b="0" i="0" u="none">
                <a:solidFill>
                  <a:srgbClr val="141414"/>
                </a:solidFill>
                <a:latin typeface="Arial"/>
                <a:ea typeface="Arial"/>
                <a:cs typeface="Arial"/>
              </a:rPr>
              <a:t>Gold, paid journal</a:t>
            </a:r>
          </a:p>
        </p:txBody>
      </p:sp>
      <p:sp>
        <p:nvSpPr>
          <p:cNvPr id="10" name="TextBox 9"/>
          <p:cNvSpPr txBox="1"/>
          <p:nvPr/>
        </p:nvSpPr>
        <p:spPr>
          <a:xfrm>
            <a:off x="8061424" y="1607865"/>
            <a:ext cx="472976" cy="154781"/>
          </a:xfrm>
          <a:prstGeom prst="rect">
            <a:avLst/>
          </a:prstGeom>
          <a:noFill/>
        </p:spPr>
        <p:txBody>
          <a:bodyPr wrap="square" lIns="0" rIns="0" tIns="0" bIns="0" anchor="t">
            <a:noAutofit/>
          </a:bodyPr>
          <a:lstStyle/>
          <a:p>
            <a:pPr algn="r">
              <a:lnSpc>
                <a:spcPts val="1208"/>
              </a:lnSpc>
              <a:spcBef>
                <a:spcPts val="0"/>
              </a:spcBef>
              <a:spcAft>
                <a:spcPts val="0"/>
              </a:spcAft>
            </a:pPr>
            <a:r>
              <a:rPr sz="1050" b="0" i="0" u="none">
                <a:solidFill>
                  <a:srgbClr val="141414"/>
                </a:solidFill>
                <a:latin typeface="Arial"/>
                <a:ea typeface="Arial"/>
                <a:cs typeface="Arial"/>
              </a:rPr>
              <a:t>25%</a:t>
            </a:r>
          </a:p>
        </p:txBody>
      </p:sp>
      <p:sp>
        <p:nvSpPr>
          <p:cNvPr id="11" name="TextBox 10"/>
          <p:cNvSpPr txBox="1"/>
          <p:nvPr/>
        </p:nvSpPr>
        <p:spPr>
          <a:xfrm>
            <a:off x="5448300" y="1857896"/>
            <a:ext cx="2711139" cy="152400"/>
          </a:xfrm>
          <a:prstGeom prst="rect">
            <a:avLst/>
          </a:prstGeom>
          <a:noFill/>
        </p:spPr>
        <p:txBody>
          <a:bodyPr wrap="square" lIns="0" rIns="0" tIns="0" bIns="0" anchor="t">
            <a:noAutofit/>
          </a:bodyPr>
          <a:lstStyle/>
          <a:p>
            <a:pPr algn="l">
              <a:lnSpc>
                <a:spcPts val="1208"/>
              </a:lnSpc>
              <a:spcBef>
                <a:spcPts val="0"/>
              </a:spcBef>
              <a:spcAft>
                <a:spcPts val="0"/>
              </a:spcAft>
            </a:pPr>
            <a:r>
              <a:rPr sz="1050" b="0" i="0" u="none">
                <a:solidFill>
                  <a:srgbClr val="141414"/>
                </a:solidFill>
                <a:latin typeface="Arial"/>
                <a:ea typeface="Arial"/>
                <a:cs typeface="Arial"/>
              </a:rPr>
              <a:t>Diamond, free journal</a:t>
            </a:r>
          </a:p>
        </p:txBody>
      </p:sp>
      <p:sp>
        <p:nvSpPr>
          <p:cNvPr id="12" name="TextBox 11"/>
          <p:cNvSpPr txBox="1"/>
          <p:nvPr/>
        </p:nvSpPr>
        <p:spPr>
          <a:xfrm>
            <a:off x="8061424" y="1857896"/>
            <a:ext cx="472976" cy="152400"/>
          </a:xfrm>
          <a:prstGeom prst="rect">
            <a:avLst/>
          </a:prstGeom>
          <a:noFill/>
        </p:spPr>
        <p:txBody>
          <a:bodyPr wrap="square" lIns="0" rIns="0" tIns="0" bIns="0" anchor="t">
            <a:noAutofit/>
          </a:bodyPr>
          <a:lstStyle/>
          <a:p>
            <a:pPr algn="r">
              <a:lnSpc>
                <a:spcPts val="1208"/>
              </a:lnSpc>
              <a:spcBef>
                <a:spcPts val="0"/>
              </a:spcBef>
              <a:spcAft>
                <a:spcPts val="0"/>
              </a:spcAft>
            </a:pPr>
            <a:r>
              <a:rPr sz="1050" b="0" i="0" u="none">
                <a:solidFill>
                  <a:srgbClr val="141414"/>
                </a:solidFill>
                <a:latin typeface="Arial"/>
                <a:ea typeface="Arial"/>
                <a:cs typeface="Arial"/>
              </a:rPr>
              <a:t>16%</a:t>
            </a:r>
          </a:p>
        </p:txBody>
      </p:sp>
      <p:sp>
        <p:nvSpPr>
          <p:cNvPr id="13" name="TextBox 12"/>
          <p:cNvSpPr txBox="1"/>
          <p:nvPr/>
        </p:nvSpPr>
        <p:spPr>
          <a:xfrm>
            <a:off x="5448300" y="2105546"/>
            <a:ext cx="2711139" cy="152400"/>
          </a:xfrm>
          <a:prstGeom prst="rect">
            <a:avLst/>
          </a:prstGeom>
          <a:noFill/>
        </p:spPr>
        <p:txBody>
          <a:bodyPr wrap="square" lIns="0" rIns="0" tIns="0" bIns="0" anchor="t">
            <a:noAutofit/>
          </a:bodyPr>
          <a:lstStyle/>
          <a:p>
            <a:pPr algn="l">
              <a:lnSpc>
                <a:spcPts val="1208"/>
              </a:lnSpc>
              <a:spcBef>
                <a:spcPts val="0"/>
              </a:spcBef>
              <a:spcAft>
                <a:spcPts val="0"/>
              </a:spcAft>
            </a:pPr>
            <a:r>
              <a:rPr sz="1050" b="0" i="0" u="none">
                <a:solidFill>
                  <a:srgbClr val="141414"/>
                </a:solidFill>
                <a:latin typeface="Arial"/>
                <a:ea typeface="Arial"/>
                <a:cs typeface="Arial"/>
              </a:rPr>
              <a:t>Hybrid, paid in a subscription journal</a:t>
            </a:r>
          </a:p>
        </p:txBody>
      </p:sp>
      <p:sp>
        <p:nvSpPr>
          <p:cNvPr id="14" name="TextBox 13"/>
          <p:cNvSpPr txBox="1"/>
          <p:nvPr/>
        </p:nvSpPr>
        <p:spPr>
          <a:xfrm>
            <a:off x="8061424" y="2105546"/>
            <a:ext cx="472976" cy="152400"/>
          </a:xfrm>
          <a:prstGeom prst="rect">
            <a:avLst/>
          </a:prstGeom>
          <a:noFill/>
        </p:spPr>
        <p:txBody>
          <a:bodyPr wrap="square" lIns="0" rIns="0" tIns="0" bIns="0" anchor="t">
            <a:noAutofit/>
          </a:bodyPr>
          <a:lstStyle/>
          <a:p>
            <a:pPr algn="r">
              <a:lnSpc>
                <a:spcPts val="1208"/>
              </a:lnSpc>
              <a:spcBef>
                <a:spcPts val="0"/>
              </a:spcBef>
              <a:spcAft>
                <a:spcPts val="0"/>
              </a:spcAft>
            </a:pPr>
            <a:r>
              <a:rPr sz="1050" b="0" i="0" u="none">
                <a:solidFill>
                  <a:srgbClr val="141414"/>
                </a:solidFill>
                <a:latin typeface="Arial"/>
                <a:ea typeface="Arial"/>
                <a:cs typeface="Arial"/>
              </a:rPr>
              <a:t>10%</a:t>
            </a:r>
          </a:p>
        </p:txBody>
      </p:sp>
      <p:sp>
        <p:nvSpPr>
          <p:cNvPr id="15" name="TextBox 14"/>
          <p:cNvSpPr txBox="1"/>
          <p:nvPr/>
        </p:nvSpPr>
        <p:spPr>
          <a:xfrm>
            <a:off x="5448300" y="2353196"/>
            <a:ext cx="2711139" cy="152400"/>
          </a:xfrm>
          <a:prstGeom prst="rect">
            <a:avLst/>
          </a:prstGeom>
          <a:noFill/>
        </p:spPr>
        <p:txBody>
          <a:bodyPr wrap="square" lIns="0" rIns="0" tIns="0" bIns="0" anchor="t">
            <a:noAutofit/>
          </a:bodyPr>
          <a:lstStyle/>
          <a:p>
            <a:pPr algn="l">
              <a:lnSpc>
                <a:spcPts val="1208"/>
              </a:lnSpc>
              <a:spcBef>
                <a:spcPts val="0"/>
              </a:spcBef>
              <a:spcAft>
                <a:spcPts val="0"/>
              </a:spcAft>
            </a:pPr>
            <a:r>
              <a:rPr sz="1050" b="0" i="0" u="none">
                <a:solidFill>
                  <a:srgbClr val="141414"/>
                </a:solidFill>
                <a:latin typeface="Arial"/>
                <a:ea typeface="Arial"/>
                <a:cs typeface="Arial"/>
              </a:rPr>
              <a:t>Bronze, free to read, no licence</a:t>
            </a:r>
          </a:p>
        </p:txBody>
      </p:sp>
      <p:sp>
        <p:nvSpPr>
          <p:cNvPr id="16" name="TextBox 15"/>
          <p:cNvSpPr txBox="1"/>
          <p:nvPr/>
        </p:nvSpPr>
        <p:spPr>
          <a:xfrm>
            <a:off x="8061424" y="2353196"/>
            <a:ext cx="472976" cy="152400"/>
          </a:xfrm>
          <a:prstGeom prst="rect">
            <a:avLst/>
          </a:prstGeom>
          <a:noFill/>
        </p:spPr>
        <p:txBody>
          <a:bodyPr wrap="square" lIns="0" rIns="0" tIns="0" bIns="0" anchor="t">
            <a:noAutofit/>
          </a:bodyPr>
          <a:lstStyle/>
          <a:p>
            <a:pPr algn="r">
              <a:lnSpc>
                <a:spcPts val="1208"/>
              </a:lnSpc>
              <a:spcBef>
                <a:spcPts val="0"/>
              </a:spcBef>
              <a:spcAft>
                <a:spcPts val="0"/>
              </a:spcAft>
            </a:pPr>
            <a:r>
              <a:rPr sz="1050" b="0" i="0" u="none">
                <a:solidFill>
                  <a:srgbClr val="141414"/>
                </a:solidFill>
                <a:latin typeface="Arial"/>
                <a:ea typeface="Arial"/>
                <a:cs typeface="Arial"/>
              </a:rPr>
              <a:t>10%</a:t>
            </a:r>
          </a:p>
        </p:txBody>
      </p:sp>
      <p:sp>
        <p:nvSpPr>
          <p:cNvPr id="17" name="TextBox 16"/>
          <p:cNvSpPr txBox="1"/>
          <p:nvPr/>
        </p:nvSpPr>
        <p:spPr>
          <a:xfrm>
            <a:off x="5448300" y="2600846"/>
            <a:ext cx="2711139" cy="152400"/>
          </a:xfrm>
          <a:prstGeom prst="rect">
            <a:avLst/>
          </a:prstGeom>
          <a:noFill/>
        </p:spPr>
        <p:txBody>
          <a:bodyPr wrap="square" lIns="0" rIns="0" tIns="0" bIns="0" anchor="t">
            <a:noAutofit/>
          </a:bodyPr>
          <a:lstStyle/>
          <a:p>
            <a:pPr algn="l">
              <a:lnSpc>
                <a:spcPts val="1208"/>
              </a:lnSpc>
              <a:spcBef>
                <a:spcPts val="0"/>
              </a:spcBef>
              <a:spcAft>
                <a:spcPts val="0"/>
              </a:spcAft>
            </a:pPr>
            <a:r>
              <a:rPr sz="1050" b="0" i="0" u="none">
                <a:solidFill>
                  <a:srgbClr val="141414"/>
                </a:solidFill>
                <a:latin typeface="Arial"/>
                <a:ea typeface="Arial"/>
                <a:cs typeface="Arial"/>
              </a:rPr>
              <a:t>Green, repository copy</a:t>
            </a:r>
          </a:p>
        </p:txBody>
      </p:sp>
      <p:sp>
        <p:nvSpPr>
          <p:cNvPr id="18" name="TextBox 17"/>
          <p:cNvSpPr txBox="1"/>
          <p:nvPr/>
        </p:nvSpPr>
        <p:spPr>
          <a:xfrm>
            <a:off x="8061424" y="2600846"/>
            <a:ext cx="472976" cy="152400"/>
          </a:xfrm>
          <a:prstGeom prst="rect">
            <a:avLst/>
          </a:prstGeom>
          <a:noFill/>
        </p:spPr>
        <p:txBody>
          <a:bodyPr wrap="square" lIns="0" rIns="0" tIns="0" bIns="0" anchor="t">
            <a:noAutofit/>
          </a:bodyPr>
          <a:lstStyle/>
          <a:p>
            <a:pPr algn="r">
              <a:lnSpc>
                <a:spcPts val="1208"/>
              </a:lnSpc>
              <a:spcBef>
                <a:spcPts val="0"/>
              </a:spcBef>
              <a:spcAft>
                <a:spcPts val="0"/>
              </a:spcAft>
            </a:pPr>
            <a:r>
              <a:rPr sz="1050" b="0" i="0" u="none">
                <a:solidFill>
                  <a:srgbClr val="141414"/>
                </a:solidFill>
                <a:latin typeface="Arial"/>
                <a:ea typeface="Arial"/>
                <a:cs typeface="Arial"/>
              </a:rPr>
              <a:t>6%</a:t>
            </a:r>
          </a:p>
        </p:txBody>
      </p:sp>
      <p:sp>
        <p:nvSpPr>
          <p:cNvPr id="19" name="TextBox 18"/>
          <p:cNvSpPr txBox="1"/>
          <p:nvPr/>
        </p:nvSpPr>
        <p:spPr>
          <a:xfrm>
            <a:off x="5448300" y="2848496"/>
            <a:ext cx="2711139" cy="152400"/>
          </a:xfrm>
          <a:prstGeom prst="rect">
            <a:avLst/>
          </a:prstGeom>
          <a:noFill/>
        </p:spPr>
        <p:txBody>
          <a:bodyPr wrap="square" lIns="0" rIns="0" tIns="0" bIns="0" anchor="t">
            <a:noAutofit/>
          </a:bodyPr>
          <a:lstStyle/>
          <a:p>
            <a:pPr algn="l">
              <a:lnSpc>
                <a:spcPts val="1208"/>
              </a:lnSpc>
              <a:spcBef>
                <a:spcPts val="0"/>
              </a:spcBef>
              <a:spcAft>
                <a:spcPts val="0"/>
              </a:spcAft>
            </a:pPr>
            <a:r>
              <a:rPr sz="1050" b="0" i="0" u="none">
                <a:solidFill>
                  <a:srgbClr val="141414"/>
                </a:solidFill>
                <a:latin typeface="Arial"/>
                <a:ea typeface="Arial"/>
                <a:cs typeface="Arial"/>
              </a:rPr>
              <a:t>Closed</a:t>
            </a:r>
          </a:p>
        </p:txBody>
      </p:sp>
      <p:sp>
        <p:nvSpPr>
          <p:cNvPr id="20" name="TextBox 19"/>
          <p:cNvSpPr txBox="1"/>
          <p:nvPr/>
        </p:nvSpPr>
        <p:spPr>
          <a:xfrm>
            <a:off x="8061424" y="2848496"/>
            <a:ext cx="472976" cy="152400"/>
          </a:xfrm>
          <a:prstGeom prst="rect">
            <a:avLst/>
          </a:prstGeom>
          <a:noFill/>
        </p:spPr>
        <p:txBody>
          <a:bodyPr wrap="square" lIns="0" rIns="0" tIns="0" bIns="0" anchor="t">
            <a:noAutofit/>
          </a:bodyPr>
          <a:lstStyle/>
          <a:p>
            <a:pPr algn="r">
              <a:lnSpc>
                <a:spcPts val="1208"/>
              </a:lnSpc>
              <a:spcBef>
                <a:spcPts val="0"/>
              </a:spcBef>
              <a:spcAft>
                <a:spcPts val="0"/>
              </a:spcAft>
            </a:pPr>
            <a:r>
              <a:rPr sz="1050" b="0" i="0" u="none">
                <a:solidFill>
                  <a:srgbClr val="141414"/>
                </a:solidFill>
                <a:latin typeface="Arial"/>
                <a:ea typeface="Arial"/>
                <a:cs typeface="Arial"/>
              </a:rPr>
              <a:t>34%</a:t>
            </a:r>
          </a:p>
        </p:txBody>
      </p:sp>
      <p:sp>
        <p:nvSpPr>
          <p:cNvPr id="21" name="TextBox 20"/>
          <p:cNvSpPr txBox="1"/>
          <p:nvPr/>
        </p:nvSpPr>
        <p:spPr>
          <a:xfrm>
            <a:off x="5448300" y="3162821"/>
            <a:ext cx="3178683" cy="720030"/>
          </a:xfrm>
          <a:prstGeom prst="rect">
            <a:avLst/>
          </a:prstGeom>
          <a:noFill/>
        </p:spPr>
        <p:txBody>
          <a:bodyPr wrap="square" lIns="0" rIns="0" tIns="0" bIns="0" anchor="t">
            <a:noAutofit/>
          </a:bodyPr>
          <a:lstStyle/>
          <a:p>
            <a:pPr algn="l">
              <a:lnSpc>
                <a:spcPts val="1418"/>
              </a:lnSpc>
              <a:spcBef>
                <a:spcPts val="0"/>
              </a:spcBef>
              <a:spcAft>
                <a:spcPts val="0"/>
              </a:spcAft>
            </a:pPr>
            <a:r>
              <a:rPr sz="1011" b="0" i="0" u="none">
                <a:solidFill>
                  <a:srgbClr val="4A4A47"/>
                </a:solidFill>
                <a:latin typeface="Arial"/>
                <a:ea typeface="Arial"/>
                <a:cs typeface="Arial"/>
              </a:rPr>
              <a:t>From 2015 to 2024 gold, a paid route, grew the most (+18 points); diamond (+9) outgrew hybrid (+7). Green fell from 9% in 2015 to 3% in 2025. Bronze can be withdrawn at any time.</a:t>
            </a:r>
          </a:p>
        </p:txBody>
      </p:sp>
      <p:sp>
        <p:nvSpPr>
          <p:cNvPr id="22" name="TextBox 21"/>
          <p:cNvSpPr txBox="1"/>
          <p:nvPr/>
        </p:nvSpPr>
        <p:spPr>
          <a:xfrm>
            <a:off x="609600" y="4695825"/>
            <a:ext cx="8162544" cy="142875"/>
          </a:xfrm>
          <a:prstGeom prst="rect">
            <a:avLst/>
          </a:prstGeom>
          <a:noFill/>
        </p:spPr>
        <p:txBody>
          <a:bodyPr wrap="square" lIns="0" rIns="0" tIns="0" bIns="0" anchor="t">
            <a:noAutofit/>
          </a:bodyPr>
          <a:lstStyle/>
          <a:p>
            <a:pPr algn="l">
              <a:lnSpc>
                <a:spcPts val="1125"/>
              </a:lnSpc>
              <a:spcBef>
                <a:spcPts val="0"/>
              </a:spcBef>
              <a:spcAft>
                <a:spcPts val="0"/>
              </a:spcAft>
            </a:pPr>
            <a:r>
              <a:rPr sz="900" b="0" i="0" u="none">
                <a:solidFill>
                  <a:srgbClr val="85857F"/>
                </a:solidFill>
                <a:latin typeface="Arial"/>
                <a:ea typeface="Arial"/>
                <a:cs typeface="Arial"/>
              </a:rPr>
              <a:t>Open access became a transaction between funders and publishers. It did not come with openness of anything else.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1F1EF"/>
        </a:solidFill>
        <a:effectLst/>
      </p:bgPr>
    </p:bg>
    <p:spTree>
      <p:nvGrpSpPr>
        <p:cNvPr id="1" name=""/>
        <p:cNvGrpSpPr/>
        <p:nvPr/>
      </p:nvGrpSpPr>
      <p:grpSpPr/>
      <p:sp>
        <p:nvSpPr>
          <p:cNvPr id="2" name="Title 1"/>
          <p:cNvSpPr>
            <a:spLocks noGrp="1"/>
          </p:cNvSpPr>
          <p:nvPr>
            <p:ph type="title"/>
          </p:nvPr>
        </p:nvSpPr>
        <p:spPr>
          <a:xfrm>
            <a:off x="609600" y="895350"/>
            <a:ext cx="8162544" cy="329133"/>
          </a:xfrm>
        </p:spPr>
        <p:txBody>
          <a:bodyPr wrap="square" lIns="0" rIns="0" tIns="0" bIns="0" anchor="t">
            <a:noAutofit/>
          </a:bodyPr>
          <a:lstStyle/>
          <a:p>
            <a:pPr algn="l">
              <a:lnSpc>
                <a:spcPts val="2592"/>
              </a:lnSpc>
              <a:spcBef>
                <a:spcPts val="0"/>
              </a:spcBef>
              <a:spcAft>
                <a:spcPts val="0"/>
              </a:spcAft>
            </a:pPr>
            <a:r>
              <a:rPr sz="2400" b="1" i="0" u="none" spc="-75">
                <a:solidFill>
                  <a:srgbClr val="141414"/>
                </a:solidFill>
                <a:latin typeface="Arial"/>
                <a:ea typeface="Arial"/>
                <a:cs typeface="Arial"/>
              </a:rPr>
              <a:t>In abstracts, data and code did not move in ten years</a:t>
            </a:r>
          </a:p>
        </p:txBody>
      </p:sp>
      <p:cxnSp>
        <p:nvCxnSpPr>
          <p:cNvPr id="3" name="Connector 2"/>
          <p:cNvCxnSpPr/>
          <p:nvPr/>
        </p:nvCxnSpPr>
        <p:spPr>
          <a:xfrm>
            <a:off x="609600" y="2688952"/>
            <a:ext cx="1984772" cy="0"/>
          </a:xfrm>
          <a:prstGeom prst="line">
            <a:avLst/>
          </a:prstGeom>
          <a:ln w="6350">
            <a:solidFill>
              <a:srgbClr val="C6C6C1"/>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2591991" y="2686571"/>
            <a:ext cx="0" cy="1562100"/>
          </a:xfrm>
          <a:prstGeom prst="line">
            <a:avLst/>
          </a:prstGeom>
          <a:ln w="6350">
            <a:solidFill>
              <a:srgbClr val="C6C6C1"/>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609600" y="4246290"/>
            <a:ext cx="1984772" cy="0"/>
          </a:xfrm>
          <a:prstGeom prst="line">
            <a:avLst/>
          </a:prstGeom>
          <a:ln w="6350">
            <a:solidFill>
              <a:srgbClr val="C6C6C1"/>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611981" y="2686571"/>
            <a:ext cx="0" cy="1562100"/>
          </a:xfrm>
          <a:prstGeom prst="line">
            <a:avLst/>
          </a:prstGeom>
          <a:ln w="6350">
            <a:solidFill>
              <a:srgbClr val="C6C6C1"/>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2594372" y="2688952"/>
            <a:ext cx="1980009" cy="0"/>
          </a:xfrm>
          <a:prstGeom prst="line">
            <a:avLst/>
          </a:prstGeom>
          <a:ln w="6350">
            <a:solidFill>
              <a:srgbClr val="C6C6C1"/>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4572000" y="2686571"/>
            <a:ext cx="0" cy="1562100"/>
          </a:xfrm>
          <a:prstGeom prst="line">
            <a:avLst/>
          </a:prstGeom>
          <a:ln w="6350">
            <a:solidFill>
              <a:srgbClr val="C6C6C1"/>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2594372" y="4246290"/>
            <a:ext cx="1980009" cy="0"/>
          </a:xfrm>
          <a:prstGeom prst="line">
            <a:avLst/>
          </a:prstGeom>
          <a:ln w="6350">
            <a:solidFill>
              <a:srgbClr val="C6C6C1"/>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4574381" y="2688952"/>
            <a:ext cx="1980010" cy="0"/>
          </a:xfrm>
          <a:prstGeom prst="line">
            <a:avLst/>
          </a:prstGeom>
          <a:ln w="6350">
            <a:solidFill>
              <a:srgbClr val="C6C6C1"/>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6552009" y="2686571"/>
            <a:ext cx="0" cy="1562100"/>
          </a:xfrm>
          <a:prstGeom prst="line">
            <a:avLst/>
          </a:prstGeom>
          <a:ln w="6350">
            <a:solidFill>
              <a:srgbClr val="C6C6C1"/>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4574381" y="4246290"/>
            <a:ext cx="1980010" cy="0"/>
          </a:xfrm>
          <a:prstGeom prst="line">
            <a:avLst/>
          </a:prstGeom>
          <a:ln w="6350">
            <a:solidFill>
              <a:srgbClr val="C6C6C1"/>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6554391" y="2688952"/>
            <a:ext cx="1980009" cy="0"/>
          </a:xfrm>
          <a:prstGeom prst="line">
            <a:avLst/>
          </a:prstGeom>
          <a:ln w="6350">
            <a:solidFill>
              <a:srgbClr val="C6C6C1"/>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8532019" y="2686571"/>
            <a:ext cx="0" cy="1562100"/>
          </a:xfrm>
          <a:prstGeom prst="line">
            <a:avLst/>
          </a:prstGeom>
          <a:ln w="6350">
            <a:solidFill>
              <a:srgbClr val="C6C6C1"/>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6554391" y="4246290"/>
            <a:ext cx="1980009" cy="0"/>
          </a:xfrm>
          <a:prstGeom prst="line">
            <a:avLst/>
          </a:prstGeom>
          <a:ln w="6350">
            <a:solidFill>
              <a:srgbClr val="C6C6C1"/>
            </a:solidFill>
          </a:ln>
        </p:spPr>
        <p:style>
          <a:lnRef idx="2">
            <a:schemeClr val="accent1"/>
          </a:lnRef>
          <a:fillRef idx="0">
            <a:schemeClr val="accent1"/>
          </a:fillRef>
          <a:effectRef idx="1">
            <a:schemeClr val="accent1"/>
          </a:effectRef>
          <a:fontRef idx="minor">
            <a:schemeClr val="tx1"/>
          </a:fontRef>
        </p:style>
      </p:cxnSp>
      <p:pic>
        <p:nvPicPr>
          <p:cNvPr id="16" name="Picture 15" descr="trend_data.jpg"/>
          <p:cNvPicPr>
            <a:picLocks noChangeAspect="1"/>
          </p:cNvPicPr>
          <p:nvPr/>
        </p:nvPicPr>
        <p:blipFill>
          <a:blip r:embed="rId2"/>
          <a:stretch>
            <a:fillRect/>
          </a:stretch>
        </p:blipFill>
        <p:spPr>
          <a:xfrm>
            <a:off x="609600" y="1390613"/>
            <a:ext cx="2524125" cy="958379"/>
          </a:xfrm>
          <a:prstGeom prst="rect">
            <a:avLst/>
          </a:prstGeom>
        </p:spPr>
      </p:pic>
      <p:pic>
        <p:nvPicPr>
          <p:cNvPr id="17" name="Picture 16" descr="trend_code.jpg"/>
          <p:cNvPicPr>
            <a:picLocks noChangeAspect="1"/>
          </p:cNvPicPr>
          <p:nvPr/>
        </p:nvPicPr>
        <p:blipFill>
          <a:blip r:embed="rId3"/>
          <a:stretch>
            <a:fillRect/>
          </a:stretch>
        </p:blipFill>
        <p:spPr>
          <a:xfrm>
            <a:off x="3309938" y="1390613"/>
            <a:ext cx="2524125" cy="958379"/>
          </a:xfrm>
          <a:prstGeom prst="rect">
            <a:avLst/>
          </a:prstGeom>
        </p:spPr>
      </p:pic>
      <p:pic>
        <p:nvPicPr>
          <p:cNvPr id="18" name="Picture 17" descr="trend_preprint.jpg"/>
          <p:cNvPicPr>
            <a:picLocks noChangeAspect="1"/>
          </p:cNvPicPr>
          <p:nvPr/>
        </p:nvPicPr>
        <p:blipFill>
          <a:blip r:embed="rId4"/>
          <a:stretch>
            <a:fillRect/>
          </a:stretch>
        </p:blipFill>
        <p:spPr>
          <a:xfrm>
            <a:off x="6010275" y="1390613"/>
            <a:ext cx="2524125" cy="958379"/>
          </a:xfrm>
          <a:prstGeom prst="rect">
            <a:avLst/>
          </a:prstGeom>
        </p:spPr>
      </p:pic>
      <p:sp>
        <p:nvSpPr>
          <p:cNvPr id="19" name="TextBox 18"/>
          <p:cNvSpPr txBox="1"/>
          <p:nvPr/>
        </p:nvSpPr>
        <p:spPr>
          <a:xfrm>
            <a:off x="609600" y="266700"/>
            <a:ext cx="5886450" cy="142875"/>
          </a:xfrm>
          <a:prstGeom prst="rect">
            <a:avLst/>
          </a:prstGeom>
          <a:noFill/>
        </p:spPr>
        <p:txBody>
          <a:bodyPr wrap="square" lIns="0" rIns="0" tIns="0" bIns="0" anchor="t">
            <a:noAutofit/>
          </a:bodyPr>
          <a:lstStyle/>
          <a:p>
            <a:pPr algn="l">
              <a:lnSpc>
                <a:spcPts val="1125"/>
              </a:lnSpc>
              <a:spcBef>
                <a:spcPts val="0"/>
              </a:spcBef>
              <a:spcAft>
                <a:spcPts val="0"/>
              </a:spcAft>
            </a:pPr>
            <a:r>
              <a:rPr sz="900" b="0" i="0" u="none" spc="75">
                <a:solidFill>
                  <a:srgbClr val="85857F"/>
                </a:solidFill>
                <a:latin typeface="Arial"/>
                <a:ea typeface="Arial"/>
                <a:cs typeface="Arial"/>
              </a:rPr>
              <a:t>WORLD STROKE CONGRESS 2026 · SEOUL</a:t>
            </a:r>
          </a:p>
        </p:txBody>
      </p:sp>
      <p:sp>
        <p:nvSpPr>
          <p:cNvPr id="20" name="TextBox 19"/>
          <p:cNvSpPr txBox="1"/>
          <p:nvPr/>
        </p:nvSpPr>
        <p:spPr>
          <a:xfrm>
            <a:off x="609600" y="609600"/>
            <a:ext cx="8162544" cy="152400"/>
          </a:xfrm>
          <a:prstGeom prst="rect">
            <a:avLst/>
          </a:prstGeom>
          <a:noFill/>
        </p:spPr>
        <p:txBody>
          <a:bodyPr wrap="square" lIns="0" rIns="0" tIns="0" bIns="0" anchor="t">
            <a:noAutofit/>
          </a:bodyPr>
          <a:lstStyle/>
          <a:p>
            <a:pPr algn="l">
              <a:lnSpc>
                <a:spcPts val="1200"/>
              </a:lnSpc>
              <a:spcBef>
                <a:spcPts val="0"/>
              </a:spcBef>
              <a:spcAft>
                <a:spcPts val="0"/>
              </a:spcAft>
            </a:pPr>
            <a:r>
              <a:rPr sz="900" b="1" i="0" u="none">
                <a:solidFill>
                  <a:srgbClr val="D7263D"/>
                </a:solidFill>
                <a:latin typeface="Arial"/>
                <a:ea typeface="Arial"/>
                <a:cs typeface="Arial"/>
              </a:rPr>
              <a:t>09</a:t>
            </a:r>
            <a:r>
              <a:rPr sz="900" b="0" i="0" u="none">
                <a:solidFill>
                  <a:srgbClr val="85857F"/>
                </a:solidFill>
                <a:latin typeface="Arial"/>
                <a:ea typeface="Arial"/>
                <a:cs typeface="Arial"/>
              </a:rPr>
              <a:t>  Finding 3</a:t>
            </a:r>
          </a:p>
        </p:txBody>
      </p:sp>
      <p:sp>
        <p:nvSpPr>
          <p:cNvPr id="21" name="TextBox 20"/>
          <p:cNvSpPr txBox="1"/>
          <p:nvPr/>
        </p:nvSpPr>
        <p:spPr>
          <a:xfrm>
            <a:off x="571738" y="2419871"/>
            <a:ext cx="2599849" cy="133350"/>
          </a:xfrm>
          <a:prstGeom prst="rect">
            <a:avLst/>
          </a:prstGeom>
          <a:noFill/>
        </p:spPr>
        <p:txBody>
          <a:bodyPr wrap="square" lIns="0" rIns="0" tIns="0" bIns="0" anchor="t">
            <a:noAutofit/>
          </a:bodyPr>
          <a:lstStyle/>
          <a:p>
            <a:pPr algn="ctr">
              <a:lnSpc>
                <a:spcPts val="1035"/>
              </a:lnSpc>
              <a:spcBef>
                <a:spcPts val="0"/>
              </a:spcBef>
              <a:spcAft>
                <a:spcPts val="0"/>
              </a:spcAft>
            </a:pPr>
            <a:r>
              <a:rPr sz="900" b="0" i="0" u="none">
                <a:solidFill>
                  <a:srgbClr val="85857F"/>
                </a:solidFill>
                <a:latin typeface="Arial"/>
                <a:ea typeface="Arial"/>
                <a:cs typeface="Arial"/>
              </a:rPr>
              <a:t>Data in a public repository</a:t>
            </a:r>
          </a:p>
        </p:txBody>
      </p:sp>
      <p:sp>
        <p:nvSpPr>
          <p:cNvPr id="22" name="TextBox 21"/>
          <p:cNvSpPr txBox="1"/>
          <p:nvPr/>
        </p:nvSpPr>
        <p:spPr>
          <a:xfrm>
            <a:off x="3272076" y="2419871"/>
            <a:ext cx="2599849" cy="133350"/>
          </a:xfrm>
          <a:prstGeom prst="rect">
            <a:avLst/>
          </a:prstGeom>
          <a:noFill/>
        </p:spPr>
        <p:txBody>
          <a:bodyPr wrap="square" lIns="0" rIns="0" tIns="0" bIns="0" anchor="t">
            <a:noAutofit/>
          </a:bodyPr>
          <a:lstStyle/>
          <a:p>
            <a:pPr algn="ctr">
              <a:lnSpc>
                <a:spcPts val="1035"/>
              </a:lnSpc>
              <a:spcBef>
                <a:spcPts val="0"/>
              </a:spcBef>
              <a:spcAft>
                <a:spcPts val="0"/>
              </a:spcAft>
            </a:pPr>
            <a:r>
              <a:rPr sz="900" b="0" i="0" u="none">
                <a:solidFill>
                  <a:srgbClr val="85857F"/>
                </a:solidFill>
                <a:latin typeface="Arial"/>
                <a:ea typeface="Arial"/>
                <a:cs typeface="Arial"/>
              </a:rPr>
              <a:t>GitHub or code link</a:t>
            </a:r>
          </a:p>
        </p:txBody>
      </p:sp>
      <p:sp>
        <p:nvSpPr>
          <p:cNvPr id="23" name="TextBox 22"/>
          <p:cNvSpPr txBox="1"/>
          <p:nvPr/>
        </p:nvSpPr>
        <p:spPr>
          <a:xfrm>
            <a:off x="5972413" y="2419871"/>
            <a:ext cx="2599849" cy="133350"/>
          </a:xfrm>
          <a:prstGeom prst="rect">
            <a:avLst/>
          </a:prstGeom>
          <a:noFill/>
        </p:spPr>
        <p:txBody>
          <a:bodyPr wrap="square" lIns="0" rIns="0" tIns="0" bIns="0" anchor="t">
            <a:noAutofit/>
          </a:bodyPr>
          <a:lstStyle/>
          <a:p>
            <a:pPr algn="ctr">
              <a:lnSpc>
                <a:spcPts val="1035"/>
              </a:lnSpc>
              <a:spcBef>
                <a:spcPts val="0"/>
              </a:spcBef>
              <a:spcAft>
                <a:spcPts val="0"/>
              </a:spcAft>
            </a:pPr>
            <a:r>
              <a:rPr sz="900" b="0" i="0" u="none">
                <a:solidFill>
                  <a:srgbClr val="85857F"/>
                </a:solidFill>
                <a:latin typeface="Arial"/>
                <a:ea typeface="Arial"/>
                <a:cs typeface="Arial"/>
              </a:rPr>
              <a:t>Preprint version</a:t>
            </a:r>
          </a:p>
        </p:txBody>
      </p:sp>
      <p:sp>
        <p:nvSpPr>
          <p:cNvPr id="24" name="TextBox 23"/>
          <p:cNvSpPr txBox="1"/>
          <p:nvPr/>
        </p:nvSpPr>
        <p:spPr>
          <a:xfrm>
            <a:off x="766762" y="2824683"/>
            <a:ext cx="1720560" cy="152400"/>
          </a:xfrm>
          <a:prstGeom prst="rect">
            <a:avLst/>
          </a:prstGeom>
          <a:noFill/>
        </p:spPr>
        <p:txBody>
          <a:bodyPr wrap="square" lIns="0" rIns="0" tIns="0" bIns="0" anchor="t">
            <a:noAutofit/>
          </a:bodyPr>
          <a:lstStyle/>
          <a:p>
            <a:pPr algn="l">
              <a:lnSpc>
                <a:spcPts val="1200"/>
              </a:lnSpc>
              <a:spcBef>
                <a:spcPts val="0"/>
              </a:spcBef>
              <a:spcAft>
                <a:spcPts val="0"/>
              </a:spcAft>
            </a:pPr>
            <a:r>
              <a:rPr sz="975" b="1" i="0" u="none">
                <a:solidFill>
                  <a:srgbClr val="141414"/>
                </a:solidFill>
                <a:latin typeface="Arial"/>
                <a:ea typeface="Arial"/>
                <a:cs typeface="Arial"/>
              </a:rPr>
              <a:t>Data in a repository</a:t>
            </a:r>
          </a:p>
        </p:txBody>
      </p:sp>
      <p:sp>
        <p:nvSpPr>
          <p:cNvPr id="25" name="TextBox 24"/>
          <p:cNvSpPr txBox="1"/>
          <p:nvPr/>
        </p:nvSpPr>
        <p:spPr>
          <a:xfrm>
            <a:off x="766762" y="3200921"/>
            <a:ext cx="1720560" cy="400050"/>
          </a:xfrm>
          <a:prstGeom prst="rect">
            <a:avLst/>
          </a:prstGeom>
          <a:noFill/>
        </p:spPr>
        <p:txBody>
          <a:bodyPr wrap="square" lIns="0" rIns="0" tIns="0" bIns="0" anchor="t">
            <a:noAutofit/>
          </a:bodyPr>
          <a:lstStyle/>
          <a:p>
            <a:pPr algn="l">
              <a:lnSpc>
                <a:spcPts val="3150"/>
              </a:lnSpc>
              <a:spcBef>
                <a:spcPts val="0"/>
              </a:spcBef>
              <a:spcAft>
                <a:spcPts val="0"/>
              </a:spcAft>
            </a:pPr>
            <a:r>
              <a:rPr sz="3150" b="0" i="0" u="none">
                <a:solidFill>
                  <a:srgbClr val="D7263D"/>
                </a:solidFill>
                <a:latin typeface="Times New Roman"/>
                <a:ea typeface="Times New Roman"/>
                <a:cs typeface="Times New Roman"/>
              </a:rPr>
              <a:t>0.2%</a:t>
            </a:r>
          </a:p>
        </p:txBody>
      </p:sp>
      <p:sp>
        <p:nvSpPr>
          <p:cNvPr id="26" name="TextBox 25"/>
          <p:cNvSpPr txBox="1"/>
          <p:nvPr/>
        </p:nvSpPr>
        <p:spPr>
          <a:xfrm>
            <a:off x="766762" y="3824808"/>
            <a:ext cx="1720560" cy="285750"/>
          </a:xfrm>
          <a:prstGeom prst="rect">
            <a:avLst/>
          </a:prstGeom>
          <a:noFill/>
        </p:spPr>
        <p:txBody>
          <a:bodyPr wrap="square" lIns="0" rIns="0" tIns="0" bIns="0" anchor="t">
            <a:noAutofit/>
          </a:bodyPr>
          <a:lstStyle/>
          <a:p>
            <a:pPr algn="l">
              <a:lnSpc>
                <a:spcPts val="1125"/>
              </a:lnSpc>
              <a:spcBef>
                <a:spcPts val="0"/>
              </a:spcBef>
              <a:spcAft>
                <a:spcPts val="0"/>
              </a:spcAft>
            </a:pPr>
            <a:r>
              <a:rPr sz="900" b="0" i="0" u="none">
                <a:solidFill>
                  <a:srgbClr val="4A4A47"/>
                </a:solidFill>
                <a:latin typeface="Arial"/>
                <a:ea typeface="Arial"/>
                <a:cs typeface="Arial"/>
              </a:rPr>
              <a:t>of stroke articles in 2024; 0.2% in 2015, never above 0.6%</a:t>
            </a:r>
          </a:p>
        </p:txBody>
      </p:sp>
      <p:sp>
        <p:nvSpPr>
          <p:cNvPr id="27" name="TextBox 26"/>
          <p:cNvSpPr txBox="1"/>
          <p:nvPr/>
        </p:nvSpPr>
        <p:spPr>
          <a:xfrm>
            <a:off x="2746772" y="2824683"/>
            <a:ext cx="1720560" cy="152400"/>
          </a:xfrm>
          <a:prstGeom prst="rect">
            <a:avLst/>
          </a:prstGeom>
          <a:noFill/>
        </p:spPr>
        <p:txBody>
          <a:bodyPr wrap="square" lIns="0" rIns="0" tIns="0" bIns="0" anchor="t">
            <a:noAutofit/>
          </a:bodyPr>
          <a:lstStyle/>
          <a:p>
            <a:pPr algn="l">
              <a:lnSpc>
                <a:spcPts val="1200"/>
              </a:lnSpc>
              <a:spcBef>
                <a:spcPts val="0"/>
              </a:spcBef>
              <a:spcAft>
                <a:spcPts val="0"/>
              </a:spcAft>
            </a:pPr>
            <a:r>
              <a:rPr sz="975" b="1" i="0" u="none">
                <a:solidFill>
                  <a:srgbClr val="141414"/>
                </a:solidFill>
                <a:latin typeface="Arial"/>
                <a:ea typeface="Arial"/>
                <a:cs typeface="Arial"/>
              </a:rPr>
              <a:t>Code link</a:t>
            </a:r>
          </a:p>
        </p:txBody>
      </p:sp>
      <p:sp>
        <p:nvSpPr>
          <p:cNvPr id="28" name="TextBox 27"/>
          <p:cNvSpPr txBox="1"/>
          <p:nvPr/>
        </p:nvSpPr>
        <p:spPr>
          <a:xfrm>
            <a:off x="2746772" y="3200921"/>
            <a:ext cx="1720560" cy="400050"/>
          </a:xfrm>
          <a:prstGeom prst="rect">
            <a:avLst/>
          </a:prstGeom>
          <a:noFill/>
        </p:spPr>
        <p:txBody>
          <a:bodyPr wrap="square" lIns="0" rIns="0" tIns="0" bIns="0" anchor="t">
            <a:noAutofit/>
          </a:bodyPr>
          <a:lstStyle/>
          <a:p>
            <a:pPr algn="l">
              <a:lnSpc>
                <a:spcPts val="3150"/>
              </a:lnSpc>
              <a:spcBef>
                <a:spcPts val="0"/>
              </a:spcBef>
              <a:spcAft>
                <a:spcPts val="0"/>
              </a:spcAft>
            </a:pPr>
            <a:r>
              <a:rPr sz="3150" b="0" i="0" u="none">
                <a:solidFill>
                  <a:srgbClr val="D7263D"/>
                </a:solidFill>
                <a:latin typeface="Times New Roman"/>
                <a:ea typeface="Times New Roman"/>
                <a:cs typeface="Times New Roman"/>
              </a:rPr>
              <a:t>&lt;0.1%</a:t>
            </a:r>
          </a:p>
        </p:txBody>
      </p:sp>
      <p:sp>
        <p:nvSpPr>
          <p:cNvPr id="29" name="TextBox 28"/>
          <p:cNvSpPr txBox="1"/>
          <p:nvPr/>
        </p:nvSpPr>
        <p:spPr>
          <a:xfrm>
            <a:off x="2746772" y="3824808"/>
            <a:ext cx="1720560" cy="285750"/>
          </a:xfrm>
          <a:prstGeom prst="rect">
            <a:avLst/>
          </a:prstGeom>
          <a:noFill/>
        </p:spPr>
        <p:txBody>
          <a:bodyPr wrap="square" lIns="0" rIns="0" tIns="0" bIns="0" anchor="t">
            <a:noAutofit/>
          </a:bodyPr>
          <a:lstStyle/>
          <a:p>
            <a:pPr algn="l">
              <a:lnSpc>
                <a:spcPts val="1125"/>
              </a:lnSpc>
              <a:spcBef>
                <a:spcPts val="0"/>
              </a:spcBef>
              <a:spcAft>
                <a:spcPts val="0"/>
              </a:spcAft>
            </a:pPr>
            <a:r>
              <a:rPr sz="900" b="0" i="0" u="none">
                <a:solidFill>
                  <a:srgbClr val="4A4A47"/>
                </a:solidFill>
                <a:latin typeface="Arial"/>
                <a:ea typeface="Arial"/>
                <a:cs typeface="Arial"/>
              </a:rPr>
              <a:t>every year 2015-2024; GitHub in 2.5% of 2024 full texts</a:t>
            </a:r>
          </a:p>
        </p:txBody>
      </p:sp>
      <p:sp>
        <p:nvSpPr>
          <p:cNvPr id="30" name="TextBox 29"/>
          <p:cNvSpPr txBox="1"/>
          <p:nvPr/>
        </p:nvSpPr>
        <p:spPr>
          <a:xfrm>
            <a:off x="4726781" y="2824683"/>
            <a:ext cx="1720560" cy="152400"/>
          </a:xfrm>
          <a:prstGeom prst="rect">
            <a:avLst/>
          </a:prstGeom>
          <a:noFill/>
        </p:spPr>
        <p:txBody>
          <a:bodyPr wrap="square" lIns="0" rIns="0" tIns="0" bIns="0" anchor="t">
            <a:noAutofit/>
          </a:bodyPr>
          <a:lstStyle/>
          <a:p>
            <a:pPr algn="l">
              <a:lnSpc>
                <a:spcPts val="1200"/>
              </a:lnSpc>
              <a:spcBef>
                <a:spcPts val="0"/>
              </a:spcBef>
              <a:spcAft>
                <a:spcPts val="0"/>
              </a:spcAft>
            </a:pPr>
            <a:r>
              <a:rPr sz="975" b="1" i="0" u="none">
                <a:solidFill>
                  <a:srgbClr val="141414"/>
                </a:solidFill>
                <a:latin typeface="Arial"/>
                <a:ea typeface="Arial"/>
                <a:cs typeface="Arial"/>
              </a:rPr>
              <a:t>Preprint version</a:t>
            </a:r>
          </a:p>
        </p:txBody>
      </p:sp>
      <p:sp>
        <p:nvSpPr>
          <p:cNvPr id="31" name="TextBox 30"/>
          <p:cNvSpPr txBox="1"/>
          <p:nvPr/>
        </p:nvSpPr>
        <p:spPr>
          <a:xfrm>
            <a:off x="4726781" y="3129483"/>
            <a:ext cx="1720560" cy="400050"/>
          </a:xfrm>
          <a:prstGeom prst="rect">
            <a:avLst/>
          </a:prstGeom>
          <a:noFill/>
        </p:spPr>
        <p:txBody>
          <a:bodyPr wrap="square" lIns="0" rIns="0" tIns="0" bIns="0" anchor="t">
            <a:noAutofit/>
          </a:bodyPr>
          <a:lstStyle/>
          <a:p>
            <a:pPr algn="l">
              <a:lnSpc>
                <a:spcPts val="3150"/>
              </a:lnSpc>
              <a:spcBef>
                <a:spcPts val="0"/>
              </a:spcBef>
              <a:spcAft>
                <a:spcPts val="0"/>
              </a:spcAft>
            </a:pPr>
            <a:r>
              <a:rPr sz="3150" b="0" i="0" u="none">
                <a:solidFill>
                  <a:srgbClr val="D7263D"/>
                </a:solidFill>
                <a:latin typeface="Times New Roman"/>
                <a:ea typeface="Times New Roman"/>
                <a:cs typeface="Times New Roman"/>
              </a:rPr>
              <a:t>2.7%</a:t>
            </a:r>
          </a:p>
        </p:txBody>
      </p:sp>
      <p:sp>
        <p:nvSpPr>
          <p:cNvPr id="32" name="TextBox 31"/>
          <p:cNvSpPr txBox="1"/>
          <p:nvPr/>
        </p:nvSpPr>
        <p:spPr>
          <a:xfrm>
            <a:off x="4726781" y="3681933"/>
            <a:ext cx="1720560" cy="428625"/>
          </a:xfrm>
          <a:prstGeom prst="rect">
            <a:avLst/>
          </a:prstGeom>
          <a:noFill/>
        </p:spPr>
        <p:txBody>
          <a:bodyPr wrap="square" lIns="0" rIns="0" tIns="0" bIns="0" anchor="t">
            <a:noAutofit/>
          </a:bodyPr>
          <a:lstStyle/>
          <a:p>
            <a:pPr algn="l">
              <a:lnSpc>
                <a:spcPts val="1125"/>
              </a:lnSpc>
              <a:spcBef>
                <a:spcPts val="0"/>
              </a:spcBef>
              <a:spcAft>
                <a:spcPts val="0"/>
              </a:spcAft>
            </a:pPr>
            <a:r>
              <a:rPr sz="900" b="0" i="0" u="none">
                <a:solidFill>
                  <a:srgbClr val="4A4A47"/>
                </a:solidFill>
                <a:latin typeface="Arial"/>
                <a:ea typeface="Arial"/>
                <a:cs typeface="Arial"/>
              </a:rPr>
              <a:t>in 2024; 1.5% in 2015-2025. A lower bound, partly publisher-driven</a:t>
            </a:r>
          </a:p>
        </p:txBody>
      </p:sp>
      <p:sp>
        <p:nvSpPr>
          <p:cNvPr id="33" name="TextBox 32"/>
          <p:cNvSpPr txBox="1"/>
          <p:nvPr/>
        </p:nvSpPr>
        <p:spPr>
          <a:xfrm>
            <a:off x="6706791" y="2824683"/>
            <a:ext cx="1720560" cy="304800"/>
          </a:xfrm>
          <a:prstGeom prst="rect">
            <a:avLst/>
          </a:prstGeom>
          <a:noFill/>
        </p:spPr>
        <p:txBody>
          <a:bodyPr wrap="square" lIns="0" rIns="0" tIns="0" bIns="0" anchor="t">
            <a:noAutofit/>
          </a:bodyPr>
          <a:lstStyle/>
          <a:p>
            <a:pPr algn="l">
              <a:lnSpc>
                <a:spcPts val="1200"/>
              </a:lnSpc>
              <a:spcBef>
                <a:spcPts val="0"/>
              </a:spcBef>
              <a:spcAft>
                <a:spcPts val="0"/>
              </a:spcAft>
            </a:pPr>
            <a:r>
              <a:rPr sz="975" b="1" i="0" u="none">
                <a:solidFill>
                  <a:srgbClr val="141414"/>
                </a:solidFill>
                <a:latin typeface="Arial"/>
                <a:ea typeface="Arial"/>
                <a:cs typeface="Arial"/>
              </a:rPr>
              <a:t>Registration ID in the abstract</a:t>
            </a:r>
          </a:p>
        </p:txBody>
      </p:sp>
      <p:sp>
        <p:nvSpPr>
          <p:cNvPr id="34" name="TextBox 33"/>
          <p:cNvSpPr txBox="1"/>
          <p:nvPr/>
        </p:nvSpPr>
        <p:spPr>
          <a:xfrm>
            <a:off x="6706791" y="3205683"/>
            <a:ext cx="1720560" cy="400050"/>
          </a:xfrm>
          <a:prstGeom prst="rect">
            <a:avLst/>
          </a:prstGeom>
          <a:noFill/>
        </p:spPr>
        <p:txBody>
          <a:bodyPr wrap="square" lIns="0" rIns="0" tIns="0" bIns="0" anchor="t">
            <a:noAutofit/>
          </a:bodyPr>
          <a:lstStyle/>
          <a:p>
            <a:pPr algn="l">
              <a:lnSpc>
                <a:spcPts val="3150"/>
              </a:lnSpc>
              <a:spcBef>
                <a:spcPts val="0"/>
              </a:spcBef>
              <a:spcAft>
                <a:spcPts val="0"/>
              </a:spcAft>
            </a:pPr>
            <a:r>
              <a:rPr sz="3150" b="0" i="0" u="none">
                <a:solidFill>
                  <a:srgbClr val="141414"/>
                </a:solidFill>
                <a:latin typeface="Times New Roman"/>
                <a:ea typeface="Times New Roman"/>
                <a:cs typeface="Times New Roman"/>
              </a:rPr>
              <a:t>5.3%</a:t>
            </a:r>
          </a:p>
        </p:txBody>
      </p:sp>
      <p:sp>
        <p:nvSpPr>
          <p:cNvPr id="35" name="TextBox 34"/>
          <p:cNvSpPr txBox="1"/>
          <p:nvPr/>
        </p:nvSpPr>
        <p:spPr>
          <a:xfrm>
            <a:off x="6706791" y="3681933"/>
            <a:ext cx="1720560" cy="428625"/>
          </a:xfrm>
          <a:prstGeom prst="rect">
            <a:avLst/>
          </a:prstGeom>
          <a:noFill/>
        </p:spPr>
        <p:txBody>
          <a:bodyPr wrap="square" lIns="0" rIns="0" tIns="0" bIns="0" anchor="t">
            <a:noAutofit/>
          </a:bodyPr>
          <a:lstStyle/>
          <a:p>
            <a:pPr algn="l">
              <a:lnSpc>
                <a:spcPts val="1125"/>
              </a:lnSpc>
              <a:spcBef>
                <a:spcPts val="0"/>
              </a:spcBef>
              <a:spcAft>
                <a:spcPts val="0"/>
              </a:spcAft>
            </a:pPr>
            <a:r>
              <a:rPr sz="900" b="0" i="0" u="none">
                <a:solidFill>
                  <a:srgbClr val="4A4A47"/>
                </a:solidFill>
                <a:latin typeface="Arial"/>
                <a:ea typeface="Arial"/>
                <a:cs typeface="Arial"/>
              </a:rPr>
              <a:t>in 2024, from 2.8% in 2015; stroke ahead of cardiology, neurology and neuroscience</a:t>
            </a:r>
          </a:p>
        </p:txBody>
      </p:sp>
      <p:sp>
        <p:nvSpPr>
          <p:cNvPr id="36" name="TextBox 35"/>
          <p:cNvSpPr txBox="1"/>
          <p:nvPr/>
        </p:nvSpPr>
        <p:spPr>
          <a:xfrm>
            <a:off x="609600" y="4552950"/>
            <a:ext cx="8162544" cy="285750"/>
          </a:xfrm>
          <a:prstGeom prst="rect">
            <a:avLst/>
          </a:prstGeom>
          <a:noFill/>
        </p:spPr>
        <p:txBody>
          <a:bodyPr wrap="square" lIns="0" rIns="0" tIns="0" bIns="0" anchor="t">
            <a:noAutofit/>
          </a:bodyPr>
          <a:lstStyle/>
          <a:p>
            <a:pPr algn="l">
              <a:lnSpc>
                <a:spcPts val="1125"/>
              </a:lnSpc>
              <a:spcBef>
                <a:spcPts val="0"/>
              </a:spcBef>
              <a:spcAft>
                <a:spcPts val="0"/>
              </a:spcAft>
            </a:pPr>
            <a:r>
              <a:rPr sz="900" b="0" i="0" u="none">
                <a:solidFill>
                  <a:srgbClr val="85857F"/>
                </a:solidFill>
                <a:latin typeface="Arial"/>
                <a:ea typeface="Arial"/>
                <a:cs typeface="Arial"/>
              </a:rPr>
              <a:t>High impact is barely better at sharing: top-cited or IF 10+ articles (16% of the corpus) are 74% open access vs 65%, registration 10.0% vs 3.5%, but data 0.45% vs 0.34%, code 0.08% vs 0.06%. These are lower bounds from abstracts and metadata. So we read the full text.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1F1EF"/>
        </a:solidFill>
        <a:effectLst/>
      </p:bgPr>
    </p:bg>
    <p:spTree>
      <p:nvGrpSpPr>
        <p:cNvPr id="1" name=""/>
        <p:cNvGrpSpPr/>
        <p:nvPr/>
      </p:nvGrpSpPr>
      <p:grpSpPr/>
      <p:cxnSp>
        <p:nvCxnSpPr>
          <p:cNvPr id="3" name="Connector 2"/>
          <p:cNvCxnSpPr/>
          <p:nvPr/>
        </p:nvCxnSpPr>
        <p:spPr>
          <a:xfrm>
            <a:off x="609600" y="878681"/>
            <a:ext cx="2644750" cy="0"/>
          </a:xfrm>
          <a:prstGeom prst="line">
            <a:avLst/>
          </a:prstGeom>
          <a:ln w="6350">
            <a:solidFill>
              <a:srgbClr val="C6C6C1"/>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3251969" y="876300"/>
            <a:ext cx="0" cy="1028700"/>
          </a:xfrm>
          <a:prstGeom prst="line">
            <a:avLst/>
          </a:prstGeom>
          <a:ln w="6350">
            <a:solidFill>
              <a:srgbClr val="C6C6C1"/>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609600" y="1902619"/>
            <a:ext cx="2644750" cy="0"/>
          </a:xfrm>
          <a:prstGeom prst="line">
            <a:avLst/>
          </a:prstGeom>
          <a:ln w="6350">
            <a:solidFill>
              <a:srgbClr val="C6C6C1"/>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611981" y="876300"/>
            <a:ext cx="0" cy="1028700"/>
          </a:xfrm>
          <a:prstGeom prst="line">
            <a:avLst/>
          </a:prstGeom>
          <a:ln w="6350">
            <a:solidFill>
              <a:srgbClr val="C6C6C1"/>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3254350" y="878681"/>
            <a:ext cx="2640062" cy="0"/>
          </a:xfrm>
          <a:prstGeom prst="line">
            <a:avLst/>
          </a:prstGeom>
          <a:ln w="6350">
            <a:solidFill>
              <a:srgbClr val="C6C6C1"/>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5892031" y="876300"/>
            <a:ext cx="0" cy="1028700"/>
          </a:xfrm>
          <a:prstGeom prst="line">
            <a:avLst/>
          </a:prstGeom>
          <a:ln w="6350">
            <a:solidFill>
              <a:srgbClr val="C6C6C1"/>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3254350" y="1902619"/>
            <a:ext cx="2640062" cy="0"/>
          </a:xfrm>
          <a:prstGeom prst="line">
            <a:avLst/>
          </a:prstGeom>
          <a:ln w="6350">
            <a:solidFill>
              <a:srgbClr val="C6C6C1"/>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5894412" y="878681"/>
            <a:ext cx="2639988" cy="0"/>
          </a:xfrm>
          <a:prstGeom prst="line">
            <a:avLst/>
          </a:prstGeom>
          <a:ln w="6350">
            <a:solidFill>
              <a:srgbClr val="C6C6C1"/>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532019" y="876300"/>
            <a:ext cx="0" cy="1028700"/>
          </a:xfrm>
          <a:prstGeom prst="line">
            <a:avLst/>
          </a:prstGeom>
          <a:ln w="6350">
            <a:solidFill>
              <a:srgbClr val="C6C6C1"/>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5894412" y="1902619"/>
            <a:ext cx="2639988" cy="0"/>
          </a:xfrm>
          <a:prstGeom prst="line">
            <a:avLst/>
          </a:prstGeom>
          <a:ln w="6350">
            <a:solidFill>
              <a:srgbClr val="C6C6C1"/>
            </a:solidFill>
          </a:ln>
        </p:spPr>
        <p:style>
          <a:lnRef idx="2">
            <a:schemeClr val="accent1"/>
          </a:lnRef>
          <a:fillRef idx="0">
            <a:schemeClr val="accent1"/>
          </a:fillRef>
          <a:effectRef idx="1">
            <a:schemeClr val="accent1"/>
          </a:effectRef>
          <a:fontRef idx="minor">
            <a:schemeClr val="tx1"/>
          </a:fontRef>
        </p:style>
      </p:cxnSp>
      <p:pic>
        <p:nvPicPr>
          <p:cNvPr id="13" name="Picture 12" descr="das_year.jpg"/>
          <p:cNvPicPr>
            <a:picLocks noChangeAspect="1"/>
          </p:cNvPicPr>
          <p:nvPr/>
        </p:nvPicPr>
        <p:blipFill>
          <a:blip r:embed="rId2"/>
          <a:stretch>
            <a:fillRect/>
          </a:stretch>
        </p:blipFill>
        <p:spPr>
          <a:xfrm>
            <a:off x="989578" y="2019300"/>
            <a:ext cx="6383794" cy="2324100"/>
          </a:xfrm>
          <a:prstGeom prst="rect">
            <a:avLst/>
          </a:prstGeom>
        </p:spPr>
      </p:pic>
      <p:sp>
        <p:nvSpPr>
          <p:cNvPr id="14" name="TextBox 13"/>
          <p:cNvSpPr txBox="1"/>
          <p:nvPr/>
        </p:nvSpPr>
        <p:spPr>
          <a:xfrm>
            <a:off x="609600" y="266700"/>
            <a:ext cx="5886450" cy="142875"/>
          </a:xfrm>
          <a:prstGeom prst="rect">
            <a:avLst/>
          </a:prstGeom>
          <a:noFill/>
        </p:spPr>
        <p:txBody>
          <a:bodyPr wrap="square" lIns="0" rIns="0" tIns="0" bIns="0" anchor="t">
            <a:noAutofit/>
          </a:bodyPr>
          <a:lstStyle/>
          <a:p>
            <a:pPr algn="l">
              <a:lnSpc>
                <a:spcPts val="1125"/>
              </a:lnSpc>
              <a:spcBef>
                <a:spcPts val="0"/>
              </a:spcBef>
              <a:spcAft>
                <a:spcPts val="0"/>
              </a:spcAft>
            </a:pPr>
            <a:r>
              <a:rPr sz="900" b="0" i="0" u="none" spc="75">
                <a:solidFill>
                  <a:srgbClr val="85857F"/>
                </a:solidFill>
                <a:latin typeface="Arial"/>
                <a:ea typeface="Arial"/>
                <a:cs typeface="Arial"/>
              </a:rPr>
              <a:t>WORLD STROKE CONGRESS 2026 · SEOUL</a:t>
            </a:r>
          </a:p>
        </p:txBody>
      </p:sp>
      <p:sp>
        <p:nvSpPr>
          <p:cNvPr id="15" name="TextBox 14"/>
          <p:cNvSpPr txBox="1"/>
          <p:nvPr/>
        </p:nvSpPr>
        <p:spPr>
          <a:xfrm>
            <a:off x="609600" y="609600"/>
            <a:ext cx="8162544" cy="152400"/>
          </a:xfrm>
          <a:prstGeom prst="rect">
            <a:avLst/>
          </a:prstGeom>
          <a:noFill/>
        </p:spPr>
        <p:txBody>
          <a:bodyPr wrap="square" lIns="0" rIns="0" tIns="0" bIns="0" anchor="t">
            <a:noAutofit/>
          </a:bodyPr>
          <a:lstStyle/>
          <a:p>
            <a:pPr algn="l">
              <a:lnSpc>
                <a:spcPts val="1200"/>
              </a:lnSpc>
              <a:spcBef>
                <a:spcPts val="0"/>
              </a:spcBef>
              <a:spcAft>
                <a:spcPts val="0"/>
              </a:spcAft>
            </a:pPr>
            <a:r>
              <a:rPr sz="900" b="1" i="0" u="none">
                <a:solidFill>
                  <a:srgbClr val="D7263D"/>
                </a:solidFill>
                <a:latin typeface="Arial"/>
                <a:ea typeface="Arial"/>
                <a:cs typeface="Arial"/>
              </a:rPr>
              <a:t>10</a:t>
            </a:r>
            <a:r>
              <a:rPr sz="900" b="0" i="0" u="none">
                <a:solidFill>
                  <a:srgbClr val="85857F"/>
                </a:solidFill>
                <a:latin typeface="Arial"/>
                <a:ea typeface="Arial"/>
                <a:cs typeface="Arial"/>
              </a:rPr>
              <a:t>  What data-availability statements actually say</a:t>
            </a:r>
          </a:p>
        </p:txBody>
      </p:sp>
      <p:sp>
        <p:nvSpPr>
          <p:cNvPr id="16" name="TextBox 15"/>
          <p:cNvSpPr txBox="1"/>
          <p:nvPr/>
        </p:nvSpPr>
        <p:spPr>
          <a:xfrm>
            <a:off x="766762" y="985838"/>
            <a:ext cx="2400338" cy="152400"/>
          </a:xfrm>
          <a:prstGeom prst="rect">
            <a:avLst/>
          </a:prstGeom>
          <a:noFill/>
        </p:spPr>
        <p:txBody>
          <a:bodyPr wrap="square" lIns="0" rIns="0" tIns="0" bIns="0" anchor="t">
            <a:noAutofit/>
          </a:bodyPr>
          <a:lstStyle/>
          <a:p>
            <a:pPr algn="l">
              <a:lnSpc>
                <a:spcPts val="1200"/>
              </a:lnSpc>
              <a:spcBef>
                <a:spcPts val="0"/>
              </a:spcBef>
              <a:spcAft>
                <a:spcPts val="0"/>
              </a:spcAft>
            </a:pPr>
            <a:r>
              <a:rPr sz="975" b="1" i="0" u="none">
                <a:solidFill>
                  <a:srgbClr val="141414"/>
                </a:solidFill>
                <a:latin typeface="Arial"/>
                <a:ea typeface="Arial"/>
                <a:cs typeface="Arial"/>
              </a:rPr>
              <a:t>Write a statement, 2025</a:t>
            </a:r>
          </a:p>
        </p:txBody>
      </p:sp>
      <p:sp>
        <p:nvSpPr>
          <p:cNvPr id="17" name="TextBox 16"/>
          <p:cNvSpPr txBox="1"/>
          <p:nvPr/>
        </p:nvSpPr>
        <p:spPr>
          <a:xfrm>
            <a:off x="766762" y="1185862"/>
            <a:ext cx="2400338" cy="419100"/>
          </a:xfrm>
          <a:prstGeom prst="rect">
            <a:avLst/>
          </a:prstGeom>
          <a:noFill/>
        </p:spPr>
        <p:txBody>
          <a:bodyPr wrap="square" lIns="0" rIns="0" tIns="0" bIns="0" anchor="t">
            <a:noAutofit/>
          </a:bodyPr>
          <a:lstStyle/>
          <a:p>
            <a:pPr algn="l">
              <a:lnSpc>
                <a:spcPts val="3300"/>
              </a:lnSpc>
              <a:spcBef>
                <a:spcPts val="0"/>
              </a:spcBef>
              <a:spcAft>
                <a:spcPts val="0"/>
              </a:spcAft>
            </a:pPr>
            <a:r>
              <a:rPr sz="3300" b="0" i="0" u="none">
                <a:solidFill>
                  <a:srgbClr val="141414"/>
                </a:solidFill>
                <a:latin typeface="Times New Roman"/>
                <a:ea typeface="Times New Roman"/>
                <a:cs typeface="Times New Roman"/>
              </a:rPr>
              <a:t>74%</a:t>
            </a:r>
          </a:p>
        </p:txBody>
      </p:sp>
      <p:sp>
        <p:nvSpPr>
          <p:cNvPr id="18" name="TextBox 17"/>
          <p:cNvSpPr txBox="1"/>
          <p:nvPr/>
        </p:nvSpPr>
        <p:spPr>
          <a:xfrm>
            <a:off x="766762" y="1652588"/>
            <a:ext cx="2400338" cy="142875"/>
          </a:xfrm>
          <a:prstGeom prst="rect">
            <a:avLst/>
          </a:prstGeom>
          <a:noFill/>
        </p:spPr>
        <p:txBody>
          <a:bodyPr wrap="square" lIns="0" rIns="0" tIns="0" bIns="0" anchor="t">
            <a:noAutofit/>
          </a:bodyPr>
          <a:lstStyle/>
          <a:p>
            <a:pPr algn="l">
              <a:lnSpc>
                <a:spcPts val="1125"/>
              </a:lnSpc>
              <a:spcBef>
                <a:spcPts val="0"/>
              </a:spcBef>
              <a:spcAft>
                <a:spcPts val="0"/>
              </a:spcAft>
            </a:pPr>
            <a:r>
              <a:rPr sz="900" b="0" i="0" u="none">
                <a:solidFill>
                  <a:srgbClr val="4A4A47"/>
                </a:solidFill>
                <a:latin typeface="Arial"/>
                <a:ea typeface="Arial"/>
                <a:cs typeface="Arial"/>
              </a:rPr>
              <a:t>from 14% in 2015; arrived with mandates</a:t>
            </a:r>
          </a:p>
        </p:txBody>
      </p:sp>
      <p:sp>
        <p:nvSpPr>
          <p:cNvPr id="19" name="TextBox 18"/>
          <p:cNvSpPr txBox="1"/>
          <p:nvPr/>
        </p:nvSpPr>
        <p:spPr>
          <a:xfrm>
            <a:off x="3406750" y="985838"/>
            <a:ext cx="2400415" cy="152400"/>
          </a:xfrm>
          <a:prstGeom prst="rect">
            <a:avLst/>
          </a:prstGeom>
          <a:noFill/>
        </p:spPr>
        <p:txBody>
          <a:bodyPr wrap="square" lIns="0" rIns="0" tIns="0" bIns="0" anchor="t">
            <a:noAutofit/>
          </a:bodyPr>
          <a:lstStyle/>
          <a:p>
            <a:pPr algn="l">
              <a:lnSpc>
                <a:spcPts val="1200"/>
              </a:lnSpc>
              <a:spcBef>
                <a:spcPts val="0"/>
              </a:spcBef>
              <a:spcAft>
                <a:spcPts val="0"/>
              </a:spcAft>
            </a:pPr>
            <a:r>
              <a:rPr sz="975" b="1" i="0" u="none">
                <a:solidFill>
                  <a:srgbClr val="141414"/>
                </a:solidFill>
                <a:latin typeface="Arial"/>
                <a:ea typeface="Arial"/>
                <a:cs typeface="Arial"/>
              </a:rPr>
              <a:t>Say “available on request”, 2025</a:t>
            </a:r>
          </a:p>
        </p:txBody>
      </p:sp>
      <p:sp>
        <p:nvSpPr>
          <p:cNvPr id="20" name="TextBox 19"/>
          <p:cNvSpPr txBox="1"/>
          <p:nvPr/>
        </p:nvSpPr>
        <p:spPr>
          <a:xfrm>
            <a:off x="3406750" y="1185862"/>
            <a:ext cx="2400415" cy="419100"/>
          </a:xfrm>
          <a:prstGeom prst="rect">
            <a:avLst/>
          </a:prstGeom>
          <a:noFill/>
        </p:spPr>
        <p:txBody>
          <a:bodyPr wrap="square" lIns="0" rIns="0" tIns="0" bIns="0" anchor="t">
            <a:noAutofit/>
          </a:bodyPr>
          <a:lstStyle/>
          <a:p>
            <a:pPr algn="l">
              <a:lnSpc>
                <a:spcPts val="3300"/>
              </a:lnSpc>
              <a:spcBef>
                <a:spcPts val="0"/>
              </a:spcBef>
              <a:spcAft>
                <a:spcPts val="0"/>
              </a:spcAft>
            </a:pPr>
            <a:r>
              <a:rPr sz="3300" b="0" i="0" u="none">
                <a:solidFill>
                  <a:srgbClr val="D7263D"/>
                </a:solidFill>
                <a:latin typeface="Times New Roman"/>
                <a:ea typeface="Times New Roman"/>
                <a:cs typeface="Times New Roman"/>
              </a:rPr>
              <a:t>29%</a:t>
            </a:r>
          </a:p>
        </p:txBody>
      </p:sp>
      <p:sp>
        <p:nvSpPr>
          <p:cNvPr id="21" name="TextBox 20"/>
          <p:cNvSpPr txBox="1"/>
          <p:nvPr/>
        </p:nvSpPr>
        <p:spPr>
          <a:xfrm>
            <a:off x="3406750" y="1652588"/>
            <a:ext cx="2400415" cy="142875"/>
          </a:xfrm>
          <a:prstGeom prst="rect">
            <a:avLst/>
          </a:prstGeom>
          <a:noFill/>
        </p:spPr>
        <p:txBody>
          <a:bodyPr wrap="square" lIns="0" rIns="0" tIns="0" bIns="0" anchor="t">
            <a:noAutofit/>
          </a:bodyPr>
          <a:lstStyle/>
          <a:p>
            <a:pPr algn="l">
              <a:lnSpc>
                <a:spcPts val="1125"/>
              </a:lnSpc>
              <a:spcBef>
                <a:spcPts val="0"/>
              </a:spcBef>
              <a:spcAft>
                <a:spcPts val="0"/>
              </a:spcAft>
            </a:pPr>
            <a:r>
              <a:rPr sz="900" b="0" i="0" u="none">
                <a:solidFill>
                  <a:srgbClr val="4A4A47"/>
                </a:solidFill>
                <a:latin typeface="Arial"/>
                <a:ea typeface="Arial"/>
                <a:cs typeface="Arial"/>
              </a:rPr>
              <a:t>from 0.6% in 2015; the largest answer</a:t>
            </a:r>
          </a:p>
        </p:txBody>
      </p:sp>
      <p:sp>
        <p:nvSpPr>
          <p:cNvPr id="22" name="TextBox 21"/>
          <p:cNvSpPr txBox="1"/>
          <p:nvPr/>
        </p:nvSpPr>
        <p:spPr>
          <a:xfrm>
            <a:off x="6046812" y="985838"/>
            <a:ext cx="2400338" cy="152400"/>
          </a:xfrm>
          <a:prstGeom prst="rect">
            <a:avLst/>
          </a:prstGeom>
          <a:noFill/>
        </p:spPr>
        <p:txBody>
          <a:bodyPr wrap="square" lIns="0" rIns="0" tIns="0" bIns="0" anchor="t">
            <a:noAutofit/>
          </a:bodyPr>
          <a:lstStyle/>
          <a:p>
            <a:pPr algn="l">
              <a:lnSpc>
                <a:spcPts val="1200"/>
              </a:lnSpc>
              <a:spcBef>
                <a:spcPts val="0"/>
              </a:spcBef>
              <a:spcAft>
                <a:spcPts val="0"/>
              </a:spcAft>
            </a:pPr>
            <a:r>
              <a:rPr sz="975" b="1" i="0" u="none">
                <a:solidFill>
                  <a:srgbClr val="141414"/>
                </a:solidFill>
                <a:latin typeface="Arial"/>
                <a:ea typeface="Arial"/>
                <a:cs typeface="Arial"/>
              </a:rPr>
              <a:t>Deposit or name a public dataset, 2025</a:t>
            </a:r>
          </a:p>
        </p:txBody>
      </p:sp>
      <p:sp>
        <p:nvSpPr>
          <p:cNvPr id="23" name="TextBox 22"/>
          <p:cNvSpPr txBox="1"/>
          <p:nvPr/>
        </p:nvSpPr>
        <p:spPr>
          <a:xfrm>
            <a:off x="6046812" y="1185862"/>
            <a:ext cx="2400338" cy="419100"/>
          </a:xfrm>
          <a:prstGeom prst="rect">
            <a:avLst/>
          </a:prstGeom>
          <a:noFill/>
        </p:spPr>
        <p:txBody>
          <a:bodyPr wrap="square" lIns="0" rIns="0" tIns="0" bIns="0" anchor="t">
            <a:noAutofit/>
          </a:bodyPr>
          <a:lstStyle/>
          <a:p>
            <a:pPr algn="l">
              <a:lnSpc>
                <a:spcPts val="3300"/>
              </a:lnSpc>
              <a:spcBef>
                <a:spcPts val="0"/>
              </a:spcBef>
              <a:spcAft>
                <a:spcPts val="0"/>
              </a:spcAft>
            </a:pPr>
            <a:r>
              <a:rPr sz="3300" b="0" i="0" u="none">
                <a:solidFill>
                  <a:srgbClr val="D7263D"/>
                </a:solidFill>
                <a:latin typeface="Times New Roman"/>
                <a:ea typeface="Times New Roman"/>
                <a:cs typeface="Times New Roman"/>
              </a:rPr>
              <a:t>9.8%</a:t>
            </a:r>
          </a:p>
        </p:txBody>
      </p:sp>
      <p:sp>
        <p:nvSpPr>
          <p:cNvPr id="24" name="TextBox 23"/>
          <p:cNvSpPr txBox="1"/>
          <p:nvPr/>
        </p:nvSpPr>
        <p:spPr>
          <a:xfrm>
            <a:off x="6046812" y="1652588"/>
            <a:ext cx="2400338" cy="142875"/>
          </a:xfrm>
          <a:prstGeom prst="rect">
            <a:avLst/>
          </a:prstGeom>
          <a:noFill/>
        </p:spPr>
        <p:txBody>
          <a:bodyPr wrap="square" lIns="0" rIns="0" tIns="0" bIns="0" anchor="t">
            <a:noAutofit/>
          </a:bodyPr>
          <a:lstStyle/>
          <a:p>
            <a:pPr algn="l">
              <a:lnSpc>
                <a:spcPts val="1125"/>
              </a:lnSpc>
              <a:spcBef>
                <a:spcPts val="0"/>
              </a:spcBef>
              <a:spcAft>
                <a:spcPts val="0"/>
              </a:spcAft>
            </a:pPr>
            <a:r>
              <a:rPr sz="900" b="0" i="0" u="none">
                <a:solidFill>
                  <a:srgbClr val="4A4A47"/>
                </a:solidFill>
                <a:latin typeface="Arial"/>
                <a:ea typeface="Arial"/>
                <a:cs typeface="Arial"/>
              </a:rPr>
              <a:t>from 0.7% in 2015; own deposit 5.9%</a:t>
            </a:r>
          </a:p>
        </p:txBody>
      </p:sp>
      <p:sp>
        <p:nvSpPr>
          <p:cNvPr id="25" name="TextBox 24"/>
          <p:cNvSpPr txBox="1"/>
          <p:nvPr/>
        </p:nvSpPr>
        <p:spPr>
          <a:xfrm>
            <a:off x="609600" y="4552950"/>
            <a:ext cx="8162544" cy="285750"/>
          </a:xfrm>
          <a:prstGeom prst="rect">
            <a:avLst/>
          </a:prstGeom>
          <a:noFill/>
        </p:spPr>
        <p:txBody>
          <a:bodyPr wrap="square" lIns="0" rIns="0" tIns="0" bIns="0" anchor="t">
            <a:noAutofit/>
          </a:bodyPr>
          <a:lstStyle/>
          <a:p>
            <a:pPr algn="l">
              <a:lnSpc>
                <a:spcPts val="1125"/>
              </a:lnSpc>
              <a:spcBef>
                <a:spcPts val="0"/>
              </a:spcBef>
              <a:spcAft>
                <a:spcPts val="0"/>
              </a:spcAft>
            </a:pPr>
            <a:r>
              <a:rPr sz="900" b="0" i="0" u="none">
                <a:solidFill>
                  <a:srgbClr val="85857F"/>
                </a:solidFill>
                <a:latin typeface="Arial"/>
                <a:ea typeface="Arial"/>
                <a:cs typeface="Arial"/>
              </a:rPr>
              <a:t>16,362 open-access stroke full texts, up to 1,500 per year, Europe PMC; optimistic for stroke overall. Elsewhere, “on request” delivers little: 6.8% of authors shared when asked (Gabelica 2022); 20% of 391 vascular and cognitive trials, median 241 days (Scutt 2020).</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1F1EF"/>
        </a:solidFill>
        <a:effectLst/>
      </p:bgPr>
    </p:bg>
    <p:spTree>
      <p:nvGrpSpPr>
        <p:cNvPr id="1" name=""/>
        <p:cNvGrpSpPr/>
        <p:nvPr/>
      </p:nvGrpSpPr>
      <p:grpSpPr/>
      <p:sp>
        <p:nvSpPr>
          <p:cNvPr id="2" name="Title 1"/>
          <p:cNvSpPr>
            <a:spLocks noGrp="1"/>
          </p:cNvSpPr>
          <p:nvPr>
            <p:ph type="title"/>
          </p:nvPr>
        </p:nvSpPr>
        <p:spPr>
          <a:xfrm>
            <a:off x="609600" y="895350"/>
            <a:ext cx="8162544" cy="658267"/>
          </a:xfrm>
        </p:spPr>
        <p:txBody>
          <a:bodyPr wrap="square" lIns="0" rIns="0" tIns="0" bIns="0" anchor="t">
            <a:noAutofit/>
          </a:bodyPr>
          <a:lstStyle/>
          <a:p>
            <a:pPr algn="l">
              <a:lnSpc>
                <a:spcPts val="2592"/>
              </a:lnSpc>
              <a:spcBef>
                <a:spcPts val="0"/>
              </a:spcBef>
              <a:spcAft>
                <a:spcPts val="0"/>
              </a:spcAft>
            </a:pPr>
            <a:r>
              <a:rPr sz="2400" b="1" i="0" u="none" spc="-75">
                <a:solidFill>
                  <a:srgbClr val="141414"/>
                </a:solidFill>
                <a:latin typeface="Arial"/>
                <a:ea typeface="Arial"/>
                <a:cs typeface="Arial"/>
              </a:rPr>
              <a:t>Reading access has been solved for the global South by free routes. Reuse has not.</a:t>
            </a:r>
          </a:p>
        </p:txBody>
      </p:sp>
      <p:pic>
        <p:nvPicPr>
          <p:cNvPr id="3" name="Picture 2" descr="eq_route.jpg"/>
          <p:cNvPicPr>
            <a:picLocks noChangeAspect="1"/>
          </p:cNvPicPr>
          <p:nvPr/>
        </p:nvPicPr>
        <p:blipFill>
          <a:blip r:embed="rId2"/>
          <a:stretch>
            <a:fillRect/>
          </a:stretch>
        </p:blipFill>
        <p:spPr>
          <a:xfrm>
            <a:off x="746872" y="1686967"/>
            <a:ext cx="3554506" cy="2324100"/>
          </a:xfrm>
          <a:prstGeom prst="rect">
            <a:avLst/>
          </a:prstGeom>
        </p:spPr>
      </p:pic>
      <p:pic>
        <p:nvPicPr>
          <p:cNvPr id="4" name="Picture 3" descr="eq_ft.jpg"/>
          <p:cNvPicPr>
            <a:picLocks noChangeAspect="1"/>
          </p:cNvPicPr>
          <p:nvPr/>
        </p:nvPicPr>
        <p:blipFill>
          <a:blip r:embed="rId3"/>
          <a:stretch>
            <a:fillRect/>
          </a:stretch>
        </p:blipFill>
        <p:spPr>
          <a:xfrm>
            <a:off x="4765098" y="1686967"/>
            <a:ext cx="3709555" cy="1700212"/>
          </a:xfrm>
          <a:prstGeom prst="rect">
            <a:avLst/>
          </a:prstGeom>
        </p:spPr>
      </p:pic>
      <p:sp>
        <p:nvSpPr>
          <p:cNvPr id="5" name="TextBox 4"/>
          <p:cNvSpPr txBox="1"/>
          <p:nvPr/>
        </p:nvSpPr>
        <p:spPr>
          <a:xfrm>
            <a:off x="609600" y="266700"/>
            <a:ext cx="5886450" cy="142875"/>
          </a:xfrm>
          <a:prstGeom prst="rect">
            <a:avLst/>
          </a:prstGeom>
          <a:noFill/>
        </p:spPr>
        <p:txBody>
          <a:bodyPr wrap="square" lIns="0" rIns="0" tIns="0" bIns="0" anchor="t">
            <a:noAutofit/>
          </a:bodyPr>
          <a:lstStyle/>
          <a:p>
            <a:pPr algn="l">
              <a:lnSpc>
                <a:spcPts val="1125"/>
              </a:lnSpc>
              <a:spcBef>
                <a:spcPts val="0"/>
              </a:spcBef>
              <a:spcAft>
                <a:spcPts val="0"/>
              </a:spcAft>
            </a:pPr>
            <a:r>
              <a:rPr sz="900" b="0" i="0" u="none" spc="75">
                <a:solidFill>
                  <a:srgbClr val="85857F"/>
                </a:solidFill>
                <a:latin typeface="Arial"/>
                <a:ea typeface="Arial"/>
                <a:cs typeface="Arial"/>
              </a:rPr>
              <a:t>WORLD STROKE CONGRESS 2026 · SEOUL</a:t>
            </a:r>
          </a:p>
        </p:txBody>
      </p:sp>
      <p:sp>
        <p:nvSpPr>
          <p:cNvPr id="6" name="TextBox 5"/>
          <p:cNvSpPr txBox="1"/>
          <p:nvPr/>
        </p:nvSpPr>
        <p:spPr>
          <a:xfrm>
            <a:off x="609600" y="609600"/>
            <a:ext cx="8162544" cy="152400"/>
          </a:xfrm>
          <a:prstGeom prst="rect">
            <a:avLst/>
          </a:prstGeom>
          <a:noFill/>
        </p:spPr>
        <p:txBody>
          <a:bodyPr wrap="square" lIns="0" rIns="0" tIns="0" bIns="0" anchor="t">
            <a:noAutofit/>
          </a:bodyPr>
          <a:lstStyle/>
          <a:p>
            <a:pPr algn="l">
              <a:lnSpc>
                <a:spcPts val="1200"/>
              </a:lnSpc>
              <a:spcBef>
                <a:spcPts val="0"/>
              </a:spcBef>
              <a:spcAft>
                <a:spcPts val="0"/>
              </a:spcAft>
            </a:pPr>
            <a:r>
              <a:rPr sz="900" b="1" i="0" u="none">
                <a:solidFill>
                  <a:srgbClr val="D7263D"/>
                </a:solidFill>
                <a:latin typeface="Arial"/>
                <a:ea typeface="Arial"/>
                <a:cs typeface="Arial"/>
              </a:rPr>
              <a:t>11</a:t>
            </a:r>
            <a:r>
              <a:rPr sz="900" b="0" i="0" u="none">
                <a:solidFill>
                  <a:srgbClr val="85857F"/>
                </a:solidFill>
                <a:latin typeface="Arial"/>
                <a:ea typeface="Arial"/>
                <a:cs typeface="Arial"/>
              </a:rPr>
              <a:t>  Who pays to be read, and who shares</a:t>
            </a:r>
          </a:p>
        </p:txBody>
      </p:sp>
      <p:sp>
        <p:nvSpPr>
          <p:cNvPr id="7" name="TextBox 6"/>
          <p:cNvSpPr txBox="1"/>
          <p:nvPr/>
        </p:nvSpPr>
        <p:spPr>
          <a:xfrm>
            <a:off x="609600" y="4058692"/>
            <a:ext cx="3943922" cy="266700"/>
          </a:xfrm>
          <a:prstGeom prst="rect">
            <a:avLst/>
          </a:prstGeom>
          <a:noFill/>
        </p:spPr>
        <p:txBody>
          <a:bodyPr wrap="square" lIns="0" rIns="0" tIns="0" bIns="0" anchor="t">
            <a:noAutofit/>
          </a:bodyPr>
          <a:lstStyle/>
          <a:p>
            <a:pPr algn="l">
              <a:lnSpc>
                <a:spcPts val="1035"/>
              </a:lnSpc>
              <a:spcBef>
                <a:spcPts val="0"/>
              </a:spcBef>
              <a:spcAft>
                <a:spcPts val="0"/>
              </a:spcAft>
            </a:pPr>
            <a:r>
              <a:rPr sz="900" b="0" i="0" u="none">
                <a:solidFill>
                  <a:srgbClr val="85857F"/>
                </a:solidFill>
                <a:latin typeface="Arial"/>
                <a:ea typeface="Arial"/>
                <a:cs typeface="Arial"/>
              </a:rPr>
              <a:t>Open-access route by World Bank income group of the first author’s country</a:t>
            </a:r>
          </a:p>
        </p:txBody>
      </p:sp>
      <p:sp>
        <p:nvSpPr>
          <p:cNvPr id="8" name="TextBox 7"/>
          <p:cNvSpPr txBox="1"/>
          <p:nvPr/>
        </p:nvSpPr>
        <p:spPr>
          <a:xfrm>
            <a:off x="4705350" y="3434804"/>
            <a:ext cx="3943922" cy="133350"/>
          </a:xfrm>
          <a:prstGeom prst="rect">
            <a:avLst/>
          </a:prstGeom>
          <a:noFill/>
        </p:spPr>
        <p:txBody>
          <a:bodyPr wrap="square" lIns="0" rIns="0" tIns="0" bIns="0" anchor="t">
            <a:noAutofit/>
          </a:bodyPr>
          <a:lstStyle/>
          <a:p>
            <a:pPr algn="l">
              <a:lnSpc>
                <a:spcPts val="1035"/>
              </a:lnSpc>
              <a:spcBef>
                <a:spcPts val="0"/>
              </a:spcBef>
              <a:spcAft>
                <a:spcPts val="0"/>
              </a:spcAft>
            </a:pPr>
            <a:r>
              <a:rPr sz="900" b="0" i="0" u="none">
                <a:solidFill>
                  <a:srgbClr val="85857F"/>
                </a:solidFill>
                <a:latin typeface="Arial"/>
                <a:ea typeface="Arial"/>
                <a:cs typeface="Arial"/>
              </a:rPr>
              <a:t>What the full text shows, by income group</a:t>
            </a:r>
          </a:p>
        </p:txBody>
      </p:sp>
      <p:sp>
        <p:nvSpPr>
          <p:cNvPr id="9" name="TextBox 8"/>
          <p:cNvSpPr txBox="1"/>
          <p:nvPr/>
        </p:nvSpPr>
        <p:spPr>
          <a:xfrm>
            <a:off x="4705350" y="3672929"/>
            <a:ext cx="3943922" cy="720030"/>
          </a:xfrm>
          <a:prstGeom prst="rect">
            <a:avLst/>
          </a:prstGeom>
          <a:noFill/>
        </p:spPr>
        <p:txBody>
          <a:bodyPr wrap="square" lIns="0" rIns="0" tIns="0" bIns="0" anchor="t">
            <a:noAutofit/>
          </a:bodyPr>
          <a:lstStyle/>
          <a:p>
            <a:pPr algn="l">
              <a:lnSpc>
                <a:spcPts val="1418"/>
              </a:lnSpc>
              <a:spcBef>
                <a:spcPts val="0"/>
              </a:spcBef>
              <a:spcAft>
                <a:spcPts val="0"/>
              </a:spcAft>
            </a:pPr>
            <a:r>
              <a:rPr sz="1011" b="0" i="0" u="none">
                <a:solidFill>
                  <a:srgbClr val="141414"/>
                </a:solidFill>
                <a:latin typeface="Arial"/>
                <a:ea typeface="Arial"/>
                <a:cs typeface="Arial"/>
              </a:rPr>
              <a:t>Lower-middle-income authors publish 42% through routes that cost nothing (high income 19%), yet over 2015-2025 deposit or name public data in 1.8% (high 4.0%), mention GitHub in 0.3% (1.6%) and a trial registration in 5.7% (15.0%).</a:t>
            </a:r>
          </a:p>
        </p:txBody>
      </p:sp>
      <p:sp>
        <p:nvSpPr>
          <p:cNvPr id="10" name="TextBox 9"/>
          <p:cNvSpPr txBox="1"/>
          <p:nvPr/>
        </p:nvSpPr>
        <p:spPr>
          <a:xfrm>
            <a:off x="609600" y="4552950"/>
            <a:ext cx="8162544" cy="285750"/>
          </a:xfrm>
          <a:prstGeom prst="rect">
            <a:avLst/>
          </a:prstGeom>
          <a:noFill/>
        </p:spPr>
        <p:txBody>
          <a:bodyPr wrap="square" lIns="0" rIns="0" tIns="0" bIns="0" anchor="t">
            <a:noAutofit/>
          </a:bodyPr>
          <a:lstStyle/>
          <a:p>
            <a:pPr algn="l">
              <a:lnSpc>
                <a:spcPts val="1125"/>
              </a:lnSpc>
              <a:spcBef>
                <a:spcPts val="0"/>
              </a:spcBef>
              <a:spcAft>
                <a:spcPts val="0"/>
              </a:spcAft>
            </a:pPr>
            <a:r>
              <a:rPr sz="900" b="0" i="0" u="none">
                <a:solidFill>
                  <a:srgbClr val="85857F"/>
                </a:solidFill>
                <a:latin typeface="Arial"/>
                <a:ea typeface="Arial"/>
                <a:cs typeface="Arial"/>
              </a:rPr>
              <a:t>Income group known for 85% of the corpus: high 62%, upper-middle 32% (mostly China), lower-middle 6%, low 0.3% (400 articles). Korea: 5,490 first-author articles, 75% open access.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1F1EF"/>
        </a:solidFill>
        <a:effectLst/>
      </p:bgPr>
    </p:bg>
    <p:spTree>
      <p:nvGrpSpPr>
        <p:cNvPr id="1" name=""/>
        <p:cNvGrpSpPr/>
        <p:nvPr/>
      </p:nvGrpSpPr>
      <p:grpSpPr/>
      <p:sp>
        <p:nvSpPr>
          <p:cNvPr id="2" name="Title 1"/>
          <p:cNvSpPr>
            <a:spLocks noGrp="1"/>
          </p:cNvSpPr>
          <p:nvPr>
            <p:ph type="title"/>
          </p:nvPr>
        </p:nvSpPr>
        <p:spPr>
          <a:xfrm>
            <a:off x="609600" y="876300"/>
            <a:ext cx="8162544" cy="329133"/>
          </a:xfrm>
        </p:spPr>
        <p:txBody>
          <a:bodyPr wrap="square" lIns="0" rIns="0" tIns="0" bIns="0" anchor="t">
            <a:noAutofit/>
          </a:bodyPr>
          <a:lstStyle/>
          <a:p>
            <a:pPr algn="l">
              <a:lnSpc>
                <a:spcPts val="2592"/>
              </a:lnSpc>
              <a:spcBef>
                <a:spcPts val="0"/>
              </a:spcBef>
              <a:spcAft>
                <a:spcPts val="0"/>
              </a:spcAft>
            </a:pPr>
            <a:r>
              <a:rPr sz="2400" b="1" i="0" u="none" spc="-75">
                <a:solidFill>
                  <a:srgbClr val="141414"/>
                </a:solidFill>
                <a:latin typeface="Arial"/>
                <a:ea typeface="Arial"/>
                <a:cs typeface="Arial"/>
              </a:rPr>
              <a:t>A commitment index, verified in the full text</a:t>
            </a:r>
          </a:p>
        </p:txBody>
      </p:sp>
      <p:pic>
        <p:nvPicPr>
          <p:cNvPr id="3" name="Picture 2" descr="cm_inst.jpg"/>
          <p:cNvPicPr>
            <a:picLocks noChangeAspect="1"/>
          </p:cNvPicPr>
          <p:nvPr/>
        </p:nvPicPr>
        <p:blipFill>
          <a:blip r:embed="rId2"/>
          <a:stretch>
            <a:fillRect/>
          </a:stretch>
        </p:blipFill>
        <p:spPr>
          <a:xfrm>
            <a:off x="1122218" y="1319733"/>
            <a:ext cx="6899564" cy="2371725"/>
          </a:xfrm>
          <a:prstGeom prst="rect">
            <a:avLst/>
          </a:prstGeom>
        </p:spPr>
      </p:pic>
      <p:sp>
        <p:nvSpPr>
          <p:cNvPr id="4" name="TextBox 3"/>
          <p:cNvSpPr txBox="1"/>
          <p:nvPr/>
        </p:nvSpPr>
        <p:spPr>
          <a:xfrm>
            <a:off x="609600" y="266700"/>
            <a:ext cx="5886450" cy="142875"/>
          </a:xfrm>
          <a:prstGeom prst="rect">
            <a:avLst/>
          </a:prstGeom>
          <a:noFill/>
        </p:spPr>
        <p:txBody>
          <a:bodyPr wrap="square" lIns="0" rIns="0" tIns="0" bIns="0" anchor="t">
            <a:noAutofit/>
          </a:bodyPr>
          <a:lstStyle/>
          <a:p>
            <a:pPr algn="l">
              <a:lnSpc>
                <a:spcPts val="1125"/>
              </a:lnSpc>
              <a:spcBef>
                <a:spcPts val="0"/>
              </a:spcBef>
              <a:spcAft>
                <a:spcPts val="0"/>
              </a:spcAft>
            </a:pPr>
            <a:r>
              <a:rPr sz="900" b="0" i="0" u="none" spc="75">
                <a:solidFill>
                  <a:srgbClr val="85857F"/>
                </a:solidFill>
                <a:latin typeface="Arial"/>
                <a:ea typeface="Arial"/>
                <a:cs typeface="Arial"/>
              </a:rPr>
              <a:t>WORLD STROKE CONGRESS 2026 · SEOUL</a:t>
            </a:r>
          </a:p>
        </p:txBody>
      </p:sp>
      <p:sp>
        <p:nvSpPr>
          <p:cNvPr id="5" name="TextBox 4"/>
          <p:cNvSpPr txBox="1"/>
          <p:nvPr/>
        </p:nvSpPr>
        <p:spPr>
          <a:xfrm>
            <a:off x="609600" y="609600"/>
            <a:ext cx="8162544" cy="152400"/>
          </a:xfrm>
          <a:prstGeom prst="rect">
            <a:avLst/>
          </a:prstGeom>
          <a:noFill/>
        </p:spPr>
        <p:txBody>
          <a:bodyPr wrap="square" lIns="0" rIns="0" tIns="0" bIns="0" anchor="t">
            <a:noAutofit/>
          </a:bodyPr>
          <a:lstStyle/>
          <a:p>
            <a:pPr algn="l">
              <a:lnSpc>
                <a:spcPts val="1200"/>
              </a:lnSpc>
              <a:spcBef>
                <a:spcPts val="0"/>
              </a:spcBef>
              <a:spcAft>
                <a:spcPts val="0"/>
              </a:spcAft>
            </a:pPr>
            <a:r>
              <a:rPr sz="900" b="1" i="0" u="none">
                <a:solidFill>
                  <a:srgbClr val="D7263D"/>
                </a:solidFill>
                <a:latin typeface="Arial"/>
                <a:ea typeface="Arial"/>
                <a:cs typeface="Arial"/>
              </a:rPr>
              <a:t>12</a:t>
            </a:r>
            <a:r>
              <a:rPr sz="900" b="0" i="0" u="none">
                <a:solidFill>
                  <a:srgbClr val="85857F"/>
                </a:solidFill>
                <a:latin typeface="Arial"/>
                <a:ea typeface="Arial"/>
                <a:cs typeface="Arial"/>
              </a:rPr>
              <a:t>  Who is already doing it</a:t>
            </a:r>
          </a:p>
        </p:txBody>
      </p:sp>
      <p:sp>
        <p:nvSpPr>
          <p:cNvPr id="6" name="TextBox 5"/>
          <p:cNvSpPr txBox="1"/>
          <p:nvPr/>
        </p:nvSpPr>
        <p:spPr>
          <a:xfrm>
            <a:off x="609600" y="3805758"/>
            <a:ext cx="8162544" cy="519931"/>
          </a:xfrm>
          <a:prstGeom prst="rect">
            <a:avLst/>
          </a:prstGeom>
          <a:noFill/>
        </p:spPr>
        <p:txBody>
          <a:bodyPr wrap="square" lIns="0" rIns="0" tIns="0" bIns="0" anchor="t">
            <a:noAutofit/>
          </a:bodyPr>
          <a:lstStyle/>
          <a:p>
            <a:pPr algn="l">
              <a:lnSpc>
                <a:spcPts val="1365"/>
              </a:lnSpc>
              <a:spcBef>
                <a:spcPts val="0"/>
              </a:spcBef>
              <a:spcAft>
                <a:spcPts val="0"/>
              </a:spcAft>
            </a:pPr>
            <a:r>
              <a:rPr sz="975" b="0" i="0" u="none">
                <a:solidFill>
                  <a:srgbClr val="4A4A47"/>
                </a:solidFill>
                <a:latin typeface="Arial"/>
                <a:ea typeface="Arial"/>
                <a:cs typeface="Arial"/>
              </a:rPr>
              <a:t>Journals: Nature Communications, Brain Communications, PeerJ, NeuroImage Clinical lead; </a:t>
            </a:r>
            <a:r>
              <a:rPr sz="975" b="0" i="1" u="none">
                <a:solidFill>
                  <a:srgbClr val="4A4A47"/>
                </a:solidFill>
                <a:latin typeface="Arial"/>
                <a:ea typeface="Arial"/>
                <a:cs typeface="Arial"/>
              </a:rPr>
              <a:t>Stroke</a:t>
            </a:r>
            <a:r>
              <a:rPr sz="975" b="0" i="0" u="none">
                <a:solidFill>
                  <a:srgbClr val="4A4A47"/>
                </a:solidFill>
                <a:latin typeface="Arial"/>
                <a:ea typeface="Arial"/>
                <a:cs typeface="Arial"/>
              </a:rPr>
              <a:t> is about 15th of 99, at 1.5×. Funders: US federal institutes, ANR, Swiss Heart Foundation, Leducq, DFG. Countries: Belgium 2.4×, Germany 2.2×, Switzerland 2.0×, France 1.8×, UK 1.5×.</a:t>
            </a:r>
          </a:p>
        </p:txBody>
      </p:sp>
      <p:sp>
        <p:nvSpPr>
          <p:cNvPr id="7" name="TextBox 6"/>
          <p:cNvSpPr txBox="1"/>
          <p:nvPr/>
        </p:nvSpPr>
        <p:spPr>
          <a:xfrm>
            <a:off x="609600" y="4410075"/>
            <a:ext cx="8162544" cy="428625"/>
          </a:xfrm>
          <a:prstGeom prst="rect">
            <a:avLst/>
          </a:prstGeom>
          <a:noFill/>
        </p:spPr>
        <p:txBody>
          <a:bodyPr wrap="square" lIns="0" rIns="0" tIns="0" bIns="0" anchor="t">
            <a:noAutofit/>
          </a:bodyPr>
          <a:lstStyle/>
          <a:p>
            <a:pPr algn="l">
              <a:lnSpc>
                <a:spcPts val="1125"/>
              </a:lnSpc>
              <a:spcBef>
                <a:spcPts val="0"/>
              </a:spcBef>
              <a:spcAft>
                <a:spcPts val="0"/>
              </a:spcAft>
            </a:pPr>
            <a:r>
              <a:rPr sz="900" b="0" i="0" u="none">
                <a:solidFill>
                  <a:srgbClr val="85857F"/>
                </a:solidFill>
                <a:latin typeface="Arial"/>
                <a:ea typeface="Arial"/>
                <a:cs typeface="Arial"/>
              </a:rPr>
              <a:t>Index = mean, over data deposited or public source in the statement, GitHub and trial registration in the full text, of the entity’s rate divided by the stroke audit rate (4.2%, 1.3%, 14.1%). 1 = stroke average. Institutions: the 60 with the most audited articles over the whole audit (each 82+ in 2015-2025); countries 50+, journals and funders 30+.</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1F1EF"/>
        </a:solidFill>
        <a:effectLst/>
      </p:bgPr>
    </p:bg>
    <p:spTree>
      <p:nvGrpSpPr>
        <p:cNvPr id="1" name=""/>
        <p:cNvGrpSpPr/>
        <p:nvPr/>
      </p:nvGrpSpPr>
      <p:grpSpPr/>
      <p:sp>
        <p:nvSpPr>
          <p:cNvPr id="2" name="Title 1"/>
          <p:cNvSpPr>
            <a:spLocks noGrp="1"/>
          </p:cNvSpPr>
          <p:nvPr>
            <p:ph type="title"/>
          </p:nvPr>
        </p:nvSpPr>
        <p:spPr>
          <a:xfrm>
            <a:off x="609600" y="895350"/>
            <a:ext cx="8162544" cy="329133"/>
          </a:xfrm>
        </p:spPr>
        <p:txBody>
          <a:bodyPr wrap="square" lIns="0" rIns="0" tIns="0" bIns="0" anchor="t">
            <a:noAutofit/>
          </a:bodyPr>
          <a:lstStyle/>
          <a:p>
            <a:pPr algn="l">
              <a:lnSpc>
                <a:spcPts val="2592"/>
              </a:lnSpc>
              <a:spcBef>
                <a:spcPts val="0"/>
              </a:spcBef>
              <a:spcAft>
                <a:spcPts val="0"/>
              </a:spcAft>
            </a:pPr>
            <a:r>
              <a:rPr sz="2400" b="1" i="0" u="none" spc="-75">
                <a:solidFill>
                  <a:srgbClr val="141414"/>
                </a:solidFill>
                <a:latin typeface="Arial"/>
                <a:ea typeface="Arial"/>
                <a:cs typeface="Arial"/>
              </a:rPr>
              <a:t>Rules produced statements. Incentives produce data.</a:t>
            </a:r>
          </a:p>
        </p:txBody>
      </p:sp>
      <p:cxnSp>
        <p:nvCxnSpPr>
          <p:cNvPr id="3" name="Connector 2"/>
          <p:cNvCxnSpPr/>
          <p:nvPr/>
        </p:nvCxnSpPr>
        <p:spPr>
          <a:xfrm>
            <a:off x="609600" y="1360215"/>
            <a:ext cx="7924800" cy="0"/>
          </a:xfrm>
          <a:prstGeom prst="line">
            <a:avLst/>
          </a:prstGeom>
          <a:ln w="6350">
            <a:solidFill>
              <a:srgbClr val="C6C6C1"/>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609600" y="1864444"/>
            <a:ext cx="7924800" cy="0"/>
          </a:xfrm>
          <a:prstGeom prst="line">
            <a:avLst/>
          </a:prstGeom>
          <a:ln w="6350">
            <a:solidFill>
              <a:srgbClr val="C6C6C1"/>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609600" y="2368674"/>
            <a:ext cx="7924800" cy="0"/>
          </a:xfrm>
          <a:prstGeom prst="line">
            <a:avLst/>
          </a:prstGeom>
          <a:ln w="6350">
            <a:solidFill>
              <a:srgbClr val="C6C6C1"/>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609600" y="2872904"/>
            <a:ext cx="7924800" cy="0"/>
          </a:xfrm>
          <a:prstGeom prst="line">
            <a:avLst/>
          </a:prstGeom>
          <a:ln w="6350">
            <a:solidFill>
              <a:srgbClr val="C6C6C1"/>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609600" y="3377133"/>
            <a:ext cx="7924800" cy="0"/>
          </a:xfrm>
          <a:prstGeom prst="line">
            <a:avLst/>
          </a:prstGeom>
          <a:ln w="6350">
            <a:solidFill>
              <a:srgbClr val="C6C6C1"/>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266700"/>
            <a:ext cx="5886450" cy="142875"/>
          </a:xfrm>
          <a:prstGeom prst="rect">
            <a:avLst/>
          </a:prstGeom>
          <a:noFill/>
        </p:spPr>
        <p:txBody>
          <a:bodyPr wrap="square" lIns="0" rIns="0" tIns="0" bIns="0" anchor="t">
            <a:noAutofit/>
          </a:bodyPr>
          <a:lstStyle/>
          <a:p>
            <a:pPr algn="l">
              <a:lnSpc>
                <a:spcPts val="1125"/>
              </a:lnSpc>
              <a:spcBef>
                <a:spcPts val="0"/>
              </a:spcBef>
              <a:spcAft>
                <a:spcPts val="0"/>
              </a:spcAft>
            </a:pPr>
            <a:r>
              <a:rPr sz="900" b="0" i="0" u="none" spc="75">
                <a:solidFill>
                  <a:srgbClr val="85857F"/>
                </a:solidFill>
                <a:latin typeface="Arial"/>
                <a:ea typeface="Arial"/>
                <a:cs typeface="Arial"/>
              </a:rPr>
              <a:t>WORLD STROKE CONGRESS 2026 · SEOUL</a:t>
            </a:r>
          </a:p>
        </p:txBody>
      </p:sp>
      <p:sp>
        <p:nvSpPr>
          <p:cNvPr id="9" name="TextBox 8"/>
          <p:cNvSpPr txBox="1"/>
          <p:nvPr/>
        </p:nvSpPr>
        <p:spPr>
          <a:xfrm>
            <a:off x="609600" y="609600"/>
            <a:ext cx="8162544" cy="152400"/>
          </a:xfrm>
          <a:prstGeom prst="rect">
            <a:avLst/>
          </a:prstGeom>
          <a:noFill/>
        </p:spPr>
        <p:txBody>
          <a:bodyPr wrap="square" lIns="0" rIns="0" tIns="0" bIns="0" anchor="t">
            <a:noAutofit/>
          </a:bodyPr>
          <a:lstStyle/>
          <a:p>
            <a:pPr algn="l">
              <a:lnSpc>
                <a:spcPts val="1200"/>
              </a:lnSpc>
              <a:spcBef>
                <a:spcPts val="0"/>
              </a:spcBef>
              <a:spcAft>
                <a:spcPts val="0"/>
              </a:spcAft>
            </a:pPr>
            <a:r>
              <a:rPr sz="900" b="1" i="0" u="none">
                <a:solidFill>
                  <a:srgbClr val="D7263D"/>
                </a:solidFill>
                <a:latin typeface="Arial"/>
                <a:ea typeface="Arial"/>
                <a:cs typeface="Arial"/>
              </a:rPr>
              <a:t>13</a:t>
            </a:r>
            <a:r>
              <a:rPr sz="900" b="0" i="0" u="none">
                <a:solidFill>
                  <a:srgbClr val="85857F"/>
                </a:solidFill>
                <a:latin typeface="Arial"/>
                <a:ea typeface="Arial"/>
                <a:cs typeface="Arial"/>
              </a:rPr>
              <a:t>  Why mandates alone did not work</a:t>
            </a:r>
          </a:p>
        </p:txBody>
      </p:sp>
      <p:sp>
        <p:nvSpPr>
          <p:cNvPr id="10" name="TextBox 9"/>
          <p:cNvSpPr txBox="1"/>
          <p:nvPr/>
        </p:nvSpPr>
        <p:spPr>
          <a:xfrm>
            <a:off x="609600" y="1459929"/>
            <a:ext cx="1765935" cy="304800"/>
          </a:xfrm>
          <a:prstGeom prst="rect">
            <a:avLst/>
          </a:prstGeom>
          <a:noFill/>
        </p:spPr>
        <p:txBody>
          <a:bodyPr wrap="square" lIns="0" rIns="0" tIns="0" bIns="0" anchor="t">
            <a:noAutofit/>
          </a:bodyPr>
          <a:lstStyle/>
          <a:p>
            <a:pPr algn="l">
              <a:lnSpc>
                <a:spcPts val="2400"/>
              </a:lnSpc>
              <a:spcBef>
                <a:spcPts val="0"/>
              </a:spcBef>
              <a:spcAft>
                <a:spcPts val="0"/>
              </a:spcAft>
            </a:pPr>
            <a:r>
              <a:rPr sz="2400" b="0" i="0" u="none">
                <a:solidFill>
                  <a:srgbClr val="D7263D"/>
                </a:solidFill>
                <a:latin typeface="Times New Roman"/>
                <a:ea typeface="Times New Roman"/>
                <a:cs typeface="Times New Roman"/>
              </a:rPr>
              <a:t>3.1% to 3.1%</a:t>
            </a:r>
          </a:p>
        </p:txBody>
      </p:sp>
      <p:sp>
        <p:nvSpPr>
          <p:cNvPr id="11" name="TextBox 10"/>
          <p:cNvSpPr txBox="1"/>
          <p:nvPr/>
        </p:nvSpPr>
        <p:spPr>
          <a:xfrm>
            <a:off x="2514600" y="1438796"/>
            <a:ext cx="4532566" cy="347067"/>
          </a:xfrm>
          <a:prstGeom prst="rect">
            <a:avLst/>
          </a:prstGeom>
          <a:noFill/>
        </p:spPr>
        <p:txBody>
          <a:bodyPr wrap="square" lIns="0" rIns="0" tIns="0" bIns="0" anchor="t">
            <a:noAutofit/>
          </a:bodyPr>
          <a:lstStyle/>
          <a:p>
            <a:pPr algn="l">
              <a:lnSpc>
                <a:spcPts val="1367"/>
              </a:lnSpc>
              <a:spcBef>
                <a:spcPts val="0"/>
              </a:spcBef>
              <a:spcAft>
                <a:spcPts val="0"/>
              </a:spcAft>
            </a:pPr>
            <a:r>
              <a:rPr sz="1011" b="0" i="0" u="none">
                <a:solidFill>
                  <a:srgbClr val="141414"/>
                </a:solidFill>
                <a:latin typeface="Arial"/>
                <a:ea typeface="Arial"/>
                <a:cs typeface="Arial"/>
              </a:rPr>
              <a:t>Data obtainable from surgical trials before and after the ICMJE statement requirement.</a:t>
            </a:r>
          </a:p>
        </p:txBody>
      </p:sp>
      <p:sp>
        <p:nvSpPr>
          <p:cNvPr id="12" name="TextBox 11"/>
          <p:cNvSpPr txBox="1"/>
          <p:nvPr/>
        </p:nvSpPr>
        <p:spPr>
          <a:xfrm>
            <a:off x="7105650" y="1469975"/>
            <a:ext cx="1471612" cy="284708"/>
          </a:xfrm>
          <a:prstGeom prst="rect">
            <a:avLst/>
          </a:prstGeom>
          <a:noFill/>
        </p:spPr>
        <p:txBody>
          <a:bodyPr wrap="square" lIns="0" rIns="0" tIns="0" bIns="0" anchor="t">
            <a:noAutofit/>
          </a:bodyPr>
          <a:lstStyle/>
          <a:p>
            <a:pPr algn="l">
              <a:lnSpc>
                <a:spcPts val="1121"/>
              </a:lnSpc>
              <a:spcBef>
                <a:spcPts val="0"/>
              </a:spcBef>
              <a:spcAft>
                <a:spcPts val="0"/>
              </a:spcAft>
            </a:pPr>
            <a:r>
              <a:rPr sz="861" b="0" i="0" u="none">
                <a:solidFill>
                  <a:srgbClr val="85857F"/>
                </a:solidFill>
                <a:latin typeface="Arial"/>
                <a:ea typeface="Arial"/>
                <a:cs typeface="Arial"/>
              </a:rPr>
              <a:t>Bergeat 2022, JAMA Netw Open</a:t>
            </a:r>
          </a:p>
        </p:txBody>
      </p:sp>
      <p:sp>
        <p:nvSpPr>
          <p:cNvPr id="13" name="TextBox 12"/>
          <p:cNvSpPr txBox="1"/>
          <p:nvPr/>
        </p:nvSpPr>
        <p:spPr>
          <a:xfrm>
            <a:off x="609600" y="1964159"/>
            <a:ext cx="1765935" cy="304800"/>
          </a:xfrm>
          <a:prstGeom prst="rect">
            <a:avLst/>
          </a:prstGeom>
          <a:noFill/>
        </p:spPr>
        <p:txBody>
          <a:bodyPr wrap="square" lIns="0" rIns="0" tIns="0" bIns="0" anchor="t">
            <a:noAutofit/>
          </a:bodyPr>
          <a:lstStyle/>
          <a:p>
            <a:pPr algn="l">
              <a:lnSpc>
                <a:spcPts val="2400"/>
              </a:lnSpc>
              <a:spcBef>
                <a:spcPts val="0"/>
              </a:spcBef>
              <a:spcAft>
                <a:spcPts val="0"/>
              </a:spcAft>
            </a:pPr>
            <a:r>
              <a:rPr sz="2400" b="0" i="0" u="none">
                <a:solidFill>
                  <a:srgbClr val="D7263D"/>
                </a:solidFill>
                <a:latin typeface="Times New Roman"/>
                <a:ea typeface="Times New Roman"/>
                <a:cs typeface="Times New Roman"/>
              </a:rPr>
              <a:t>OR 0.9</a:t>
            </a:r>
          </a:p>
        </p:txBody>
      </p:sp>
      <p:sp>
        <p:nvSpPr>
          <p:cNvPr id="14" name="TextBox 13"/>
          <p:cNvSpPr txBox="1"/>
          <p:nvPr/>
        </p:nvSpPr>
        <p:spPr>
          <a:xfrm>
            <a:off x="2514600" y="1943026"/>
            <a:ext cx="4532566" cy="347067"/>
          </a:xfrm>
          <a:prstGeom prst="rect">
            <a:avLst/>
          </a:prstGeom>
          <a:noFill/>
        </p:spPr>
        <p:txBody>
          <a:bodyPr wrap="square" lIns="0" rIns="0" tIns="0" bIns="0" anchor="t">
            <a:noAutofit/>
          </a:bodyPr>
          <a:lstStyle/>
          <a:p>
            <a:pPr algn="l">
              <a:lnSpc>
                <a:spcPts val="1367"/>
              </a:lnSpc>
              <a:spcBef>
                <a:spcPts val="0"/>
              </a:spcBef>
              <a:spcAft>
                <a:spcPts val="0"/>
              </a:spcAft>
            </a:pPr>
            <a:r>
              <a:rPr sz="1011" b="0" i="0" u="none">
                <a:solidFill>
                  <a:srgbClr val="141414"/>
                </a:solidFill>
                <a:latin typeface="Arial"/>
                <a:ea typeface="Arial"/>
                <a:cs typeface="Arial"/>
              </a:rPr>
              <a:t>Open-data badges in the only medical randomised trial, at BMJ Open. The same badges took Psychological Science from under 3% to 39% open data.</a:t>
            </a:r>
          </a:p>
        </p:txBody>
      </p:sp>
      <p:sp>
        <p:nvSpPr>
          <p:cNvPr id="15" name="TextBox 14"/>
          <p:cNvSpPr txBox="1"/>
          <p:nvPr/>
        </p:nvSpPr>
        <p:spPr>
          <a:xfrm>
            <a:off x="7105650" y="1974205"/>
            <a:ext cx="1471612" cy="284708"/>
          </a:xfrm>
          <a:prstGeom prst="rect">
            <a:avLst/>
          </a:prstGeom>
          <a:noFill/>
        </p:spPr>
        <p:txBody>
          <a:bodyPr wrap="square" lIns="0" rIns="0" tIns="0" bIns="0" anchor="t">
            <a:noAutofit/>
          </a:bodyPr>
          <a:lstStyle/>
          <a:p>
            <a:pPr algn="l">
              <a:lnSpc>
                <a:spcPts val="1121"/>
              </a:lnSpc>
              <a:spcBef>
                <a:spcPts val="0"/>
              </a:spcBef>
              <a:spcAft>
                <a:spcPts val="0"/>
              </a:spcAft>
            </a:pPr>
            <a:r>
              <a:rPr sz="861" b="0" i="0" u="none">
                <a:solidFill>
                  <a:srgbClr val="85857F"/>
                </a:solidFill>
                <a:latin typeface="Arial"/>
                <a:ea typeface="Arial"/>
                <a:cs typeface="Arial"/>
              </a:rPr>
              <a:t>Rowhani-Farid 2020; Kidwell 2016</a:t>
            </a:r>
          </a:p>
        </p:txBody>
      </p:sp>
      <p:sp>
        <p:nvSpPr>
          <p:cNvPr id="16" name="TextBox 15"/>
          <p:cNvSpPr txBox="1"/>
          <p:nvPr/>
        </p:nvSpPr>
        <p:spPr>
          <a:xfrm>
            <a:off x="609600" y="2468389"/>
            <a:ext cx="1765935" cy="304800"/>
          </a:xfrm>
          <a:prstGeom prst="rect">
            <a:avLst/>
          </a:prstGeom>
          <a:noFill/>
        </p:spPr>
        <p:txBody>
          <a:bodyPr wrap="square" lIns="0" rIns="0" tIns="0" bIns="0" anchor="t">
            <a:noAutofit/>
          </a:bodyPr>
          <a:lstStyle/>
          <a:p>
            <a:pPr algn="l">
              <a:lnSpc>
                <a:spcPts val="2400"/>
              </a:lnSpc>
              <a:spcBef>
                <a:spcPts val="0"/>
              </a:spcBef>
              <a:spcAft>
                <a:spcPts val="0"/>
              </a:spcAft>
            </a:pPr>
            <a:r>
              <a:rPr sz="2400" b="0" i="0" u="none">
                <a:solidFill>
                  <a:srgbClr val="D7263D"/>
                </a:solidFill>
                <a:latin typeface="Times New Roman"/>
                <a:ea typeface="Times New Roman"/>
                <a:cs typeface="Times New Roman"/>
              </a:rPr>
              <a:t>0 of 92</a:t>
            </a:r>
          </a:p>
        </p:txBody>
      </p:sp>
      <p:sp>
        <p:nvSpPr>
          <p:cNvPr id="17" name="TextBox 16"/>
          <p:cNvSpPr txBox="1"/>
          <p:nvPr/>
        </p:nvSpPr>
        <p:spPr>
          <a:xfrm>
            <a:off x="2514600" y="2447255"/>
            <a:ext cx="4532566" cy="347067"/>
          </a:xfrm>
          <a:prstGeom prst="rect">
            <a:avLst/>
          </a:prstGeom>
          <a:noFill/>
        </p:spPr>
        <p:txBody>
          <a:bodyPr wrap="square" lIns="0" rIns="0" tIns="0" bIns="0" anchor="t">
            <a:noAutofit/>
          </a:bodyPr>
          <a:lstStyle/>
          <a:p>
            <a:pPr algn="l">
              <a:lnSpc>
                <a:spcPts val="1367"/>
              </a:lnSpc>
              <a:spcBef>
                <a:spcPts val="0"/>
              </a:spcBef>
              <a:spcAft>
                <a:spcPts val="0"/>
              </a:spcAft>
            </a:pPr>
            <a:r>
              <a:rPr sz="1011" b="0" i="0" u="none">
                <a:solidFill>
                  <a:srgbClr val="141414"/>
                </a:solidFill>
                <a:latin typeface="Arial"/>
                <a:ea typeface="Arial"/>
                <a:cs typeface="Arial"/>
              </a:rPr>
              <a:t>Biomedical promotion guidelines worldwide that mention data sharing, registration or open access.</a:t>
            </a:r>
          </a:p>
        </p:txBody>
      </p:sp>
      <p:sp>
        <p:nvSpPr>
          <p:cNvPr id="18" name="TextBox 17"/>
          <p:cNvSpPr txBox="1"/>
          <p:nvPr/>
        </p:nvSpPr>
        <p:spPr>
          <a:xfrm>
            <a:off x="7105650" y="2549575"/>
            <a:ext cx="1471612" cy="142354"/>
          </a:xfrm>
          <a:prstGeom prst="rect">
            <a:avLst/>
          </a:prstGeom>
          <a:noFill/>
        </p:spPr>
        <p:txBody>
          <a:bodyPr wrap="square" lIns="0" rIns="0" tIns="0" bIns="0" anchor="t">
            <a:noAutofit/>
          </a:bodyPr>
          <a:lstStyle/>
          <a:p>
            <a:pPr algn="l">
              <a:lnSpc>
                <a:spcPts val="1121"/>
              </a:lnSpc>
              <a:spcBef>
                <a:spcPts val="0"/>
              </a:spcBef>
              <a:spcAft>
                <a:spcPts val="0"/>
              </a:spcAft>
            </a:pPr>
            <a:r>
              <a:rPr sz="861" b="0" i="0" u="none">
                <a:solidFill>
                  <a:srgbClr val="85857F"/>
                </a:solidFill>
                <a:latin typeface="Arial"/>
                <a:ea typeface="Arial"/>
                <a:cs typeface="Arial"/>
              </a:rPr>
              <a:t>Rice 2020, BMJ</a:t>
            </a:r>
          </a:p>
        </p:txBody>
      </p:sp>
      <p:sp>
        <p:nvSpPr>
          <p:cNvPr id="19" name="TextBox 18"/>
          <p:cNvSpPr txBox="1"/>
          <p:nvPr/>
        </p:nvSpPr>
        <p:spPr>
          <a:xfrm>
            <a:off x="609600" y="2972619"/>
            <a:ext cx="1765935" cy="304800"/>
          </a:xfrm>
          <a:prstGeom prst="rect">
            <a:avLst/>
          </a:prstGeom>
          <a:noFill/>
        </p:spPr>
        <p:txBody>
          <a:bodyPr wrap="square" lIns="0" rIns="0" tIns="0" bIns="0" anchor="t">
            <a:noAutofit/>
          </a:bodyPr>
          <a:lstStyle/>
          <a:p>
            <a:pPr algn="l">
              <a:lnSpc>
                <a:spcPts val="2400"/>
              </a:lnSpc>
              <a:spcBef>
                <a:spcPts val="0"/>
              </a:spcBef>
              <a:spcAft>
                <a:spcPts val="0"/>
              </a:spcAft>
            </a:pPr>
            <a:r>
              <a:rPr sz="2400" b="0" i="0" u="none">
                <a:solidFill>
                  <a:srgbClr val="141414"/>
                </a:solidFill>
                <a:latin typeface="Times New Roman"/>
                <a:ea typeface="Times New Roman"/>
                <a:cs typeface="Times New Roman"/>
              </a:rPr>
              <a:t>44% vs 96%</a:t>
            </a:r>
          </a:p>
        </p:txBody>
      </p:sp>
      <p:sp>
        <p:nvSpPr>
          <p:cNvPr id="20" name="TextBox 19"/>
          <p:cNvSpPr txBox="1"/>
          <p:nvPr/>
        </p:nvSpPr>
        <p:spPr>
          <a:xfrm>
            <a:off x="2514600" y="2951485"/>
            <a:ext cx="4532566" cy="347067"/>
          </a:xfrm>
          <a:prstGeom prst="rect">
            <a:avLst/>
          </a:prstGeom>
          <a:noFill/>
        </p:spPr>
        <p:txBody>
          <a:bodyPr wrap="square" lIns="0" rIns="0" tIns="0" bIns="0" anchor="t">
            <a:noAutofit/>
          </a:bodyPr>
          <a:lstStyle/>
          <a:p>
            <a:pPr algn="l">
              <a:lnSpc>
                <a:spcPts val="1367"/>
              </a:lnSpc>
              <a:spcBef>
                <a:spcPts val="0"/>
              </a:spcBef>
              <a:spcAft>
                <a:spcPts val="0"/>
              </a:spcAft>
            </a:pPr>
            <a:r>
              <a:rPr sz="1011" b="0" i="0" u="none">
                <a:solidFill>
                  <a:srgbClr val="141414"/>
                </a:solidFill>
                <a:latin typeface="Arial"/>
                <a:ea typeface="Arial"/>
                <a:cs typeface="Arial"/>
              </a:rPr>
              <a:t>Positive results in Registered Reports versus the standard literature. Changing when review happens changes what gets published.</a:t>
            </a:r>
          </a:p>
        </p:txBody>
      </p:sp>
      <p:sp>
        <p:nvSpPr>
          <p:cNvPr id="21" name="TextBox 20"/>
          <p:cNvSpPr txBox="1"/>
          <p:nvPr/>
        </p:nvSpPr>
        <p:spPr>
          <a:xfrm>
            <a:off x="7105650" y="3053804"/>
            <a:ext cx="1471612" cy="142354"/>
          </a:xfrm>
          <a:prstGeom prst="rect">
            <a:avLst/>
          </a:prstGeom>
          <a:noFill/>
        </p:spPr>
        <p:txBody>
          <a:bodyPr wrap="square" lIns="0" rIns="0" tIns="0" bIns="0" anchor="t">
            <a:noAutofit/>
          </a:bodyPr>
          <a:lstStyle/>
          <a:p>
            <a:pPr algn="l">
              <a:lnSpc>
                <a:spcPts val="1121"/>
              </a:lnSpc>
              <a:spcBef>
                <a:spcPts val="0"/>
              </a:spcBef>
              <a:spcAft>
                <a:spcPts val="0"/>
              </a:spcAft>
            </a:pPr>
            <a:r>
              <a:rPr sz="861" b="0" i="0" u="none">
                <a:solidFill>
                  <a:srgbClr val="85857F"/>
                </a:solidFill>
                <a:latin typeface="Arial"/>
                <a:ea typeface="Arial"/>
                <a:cs typeface="Arial"/>
              </a:rPr>
              <a:t>Scheel 2021</a:t>
            </a:r>
          </a:p>
        </p:txBody>
      </p:sp>
      <p:sp>
        <p:nvSpPr>
          <p:cNvPr id="22" name="TextBox 21"/>
          <p:cNvSpPr txBox="1"/>
          <p:nvPr/>
        </p:nvSpPr>
        <p:spPr>
          <a:xfrm>
            <a:off x="609600" y="3929062"/>
            <a:ext cx="8162544" cy="452438"/>
          </a:xfrm>
          <a:prstGeom prst="rect">
            <a:avLst/>
          </a:prstGeom>
          <a:noFill/>
        </p:spPr>
        <p:txBody>
          <a:bodyPr wrap="square" lIns="0" rIns="0" tIns="0" bIns="0" anchor="t">
            <a:noAutofit/>
          </a:bodyPr>
          <a:lstStyle/>
          <a:p>
            <a:pPr algn="l">
              <a:lnSpc>
                <a:spcPts val="1780"/>
              </a:lnSpc>
              <a:spcBef>
                <a:spcPts val="0"/>
              </a:spcBef>
              <a:spcAft>
                <a:spcPts val="0"/>
              </a:spcAft>
            </a:pPr>
            <a:r>
              <a:rPr sz="1425" b="0" i="0" u="none">
                <a:solidFill>
                  <a:srgbClr val="141414"/>
                </a:solidFill>
                <a:latin typeface="Times New Roman"/>
                <a:ea typeface="Times New Roman"/>
                <a:cs typeface="Times New Roman"/>
              </a:rPr>
              <a:t>Stroke researchers are not less honest than psychologists. They respond to the same incentives, and ours point the other way.</a:t>
            </a:r>
          </a:p>
        </p:txBody>
      </p:sp>
      <p:sp>
        <p:nvSpPr>
          <p:cNvPr id="23" name="TextBox 22"/>
          <p:cNvSpPr txBox="1"/>
          <p:nvPr/>
        </p:nvSpPr>
        <p:spPr>
          <a:xfrm>
            <a:off x="609600" y="4695825"/>
            <a:ext cx="8162544" cy="142875"/>
          </a:xfrm>
          <a:prstGeom prst="rect">
            <a:avLst/>
          </a:prstGeom>
          <a:noFill/>
        </p:spPr>
        <p:txBody>
          <a:bodyPr wrap="square" lIns="0" rIns="0" tIns="0" bIns="0" anchor="t">
            <a:noAutofit/>
          </a:bodyPr>
          <a:lstStyle/>
          <a:p>
            <a:pPr algn="l">
              <a:lnSpc>
                <a:spcPts val="1125"/>
              </a:lnSpc>
              <a:spcBef>
                <a:spcPts val="0"/>
              </a:spcBef>
              <a:spcAft>
                <a:spcPts val="0"/>
              </a:spcAft>
            </a:pPr>
            <a:r>
              <a:rPr sz="900" b="0" i="0" u="none">
                <a:solidFill>
                  <a:srgbClr val="85857F"/>
                </a:solidFill>
                <a:latin typeface="Arial"/>
                <a:ea typeface="Arial"/>
                <a:cs typeface="Arial"/>
              </a:rPr>
              <a:t>Cardiology survey, n = 198: funding named the most essential incentive; “policy alone will not lead to implementation” (Cobey 2024).</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1F1EF"/>
        </a:solidFill>
        <a:effectLst/>
      </p:bgPr>
    </p:bg>
    <p:spTree>
      <p:nvGrpSpPr>
        <p:cNvPr id="1" name=""/>
        <p:cNvGrpSpPr/>
        <p:nvPr/>
      </p:nvGrpSpPr>
      <p:grpSpPr/>
      <p:sp>
        <p:nvSpPr>
          <p:cNvPr id="2" name="Title 1"/>
          <p:cNvSpPr>
            <a:spLocks noGrp="1"/>
          </p:cNvSpPr>
          <p:nvPr>
            <p:ph type="title"/>
          </p:nvPr>
        </p:nvSpPr>
        <p:spPr>
          <a:xfrm>
            <a:off x="609600" y="914400"/>
            <a:ext cx="8162544" cy="329133"/>
          </a:xfrm>
        </p:spPr>
        <p:txBody>
          <a:bodyPr wrap="square" lIns="0" rIns="0" tIns="0" bIns="0" anchor="t">
            <a:noAutofit/>
          </a:bodyPr>
          <a:lstStyle/>
          <a:p>
            <a:pPr algn="l">
              <a:lnSpc>
                <a:spcPts val="2592"/>
              </a:lnSpc>
              <a:spcBef>
                <a:spcPts val="0"/>
              </a:spcBef>
              <a:spcAft>
                <a:spcPts val="0"/>
              </a:spcAft>
            </a:pPr>
            <a:r>
              <a:rPr sz="2400" b="1" i="0" u="none" spc="-75">
                <a:solidFill>
                  <a:srgbClr val="141414"/>
                </a:solidFill>
                <a:latin typeface="Arial"/>
                <a:ea typeface="Arial"/>
                <a:cs typeface="Arial"/>
              </a:rPr>
              <a:t>A task force, a prize, and awareness</a:t>
            </a:r>
          </a:p>
        </p:txBody>
      </p:sp>
      <p:cxnSp>
        <p:nvCxnSpPr>
          <p:cNvPr id="3" name="Connector 2"/>
          <p:cNvCxnSpPr/>
          <p:nvPr/>
        </p:nvCxnSpPr>
        <p:spPr>
          <a:xfrm>
            <a:off x="609600" y="1398315"/>
            <a:ext cx="2644750" cy="0"/>
          </a:xfrm>
          <a:prstGeom prst="line">
            <a:avLst/>
          </a:prstGeom>
          <a:ln w="6350">
            <a:solidFill>
              <a:srgbClr val="C6C6C1"/>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3251969" y="1395933"/>
            <a:ext cx="0" cy="3090565"/>
          </a:xfrm>
          <a:prstGeom prst="line">
            <a:avLst/>
          </a:prstGeom>
          <a:ln w="6350">
            <a:solidFill>
              <a:srgbClr val="C6C6C1"/>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609600" y="4484117"/>
            <a:ext cx="2644750" cy="0"/>
          </a:xfrm>
          <a:prstGeom prst="line">
            <a:avLst/>
          </a:prstGeom>
          <a:ln w="6350">
            <a:solidFill>
              <a:srgbClr val="C6C6C1"/>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611981" y="1395933"/>
            <a:ext cx="0" cy="3090565"/>
          </a:xfrm>
          <a:prstGeom prst="line">
            <a:avLst/>
          </a:prstGeom>
          <a:ln w="6350">
            <a:solidFill>
              <a:srgbClr val="C6C6C1"/>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3254350" y="1398315"/>
            <a:ext cx="2640062" cy="0"/>
          </a:xfrm>
          <a:prstGeom prst="line">
            <a:avLst/>
          </a:prstGeom>
          <a:ln w="6350">
            <a:solidFill>
              <a:srgbClr val="C6C6C1"/>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5892031" y="1395933"/>
            <a:ext cx="0" cy="3090565"/>
          </a:xfrm>
          <a:prstGeom prst="line">
            <a:avLst/>
          </a:prstGeom>
          <a:ln w="6350">
            <a:solidFill>
              <a:srgbClr val="C6C6C1"/>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3254350" y="4484117"/>
            <a:ext cx="2640062" cy="0"/>
          </a:xfrm>
          <a:prstGeom prst="line">
            <a:avLst/>
          </a:prstGeom>
          <a:ln w="6350">
            <a:solidFill>
              <a:srgbClr val="C6C6C1"/>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5894412" y="1398315"/>
            <a:ext cx="2639988" cy="0"/>
          </a:xfrm>
          <a:prstGeom prst="line">
            <a:avLst/>
          </a:prstGeom>
          <a:ln w="6350">
            <a:solidFill>
              <a:srgbClr val="C6C6C1"/>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532019" y="1395933"/>
            <a:ext cx="0" cy="3090565"/>
          </a:xfrm>
          <a:prstGeom prst="line">
            <a:avLst/>
          </a:prstGeom>
          <a:ln w="6350">
            <a:solidFill>
              <a:srgbClr val="C6C6C1"/>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5894412" y="4484117"/>
            <a:ext cx="2639988" cy="0"/>
          </a:xfrm>
          <a:prstGeom prst="line">
            <a:avLst/>
          </a:prstGeom>
          <a:ln w="6350">
            <a:solidFill>
              <a:srgbClr val="C6C6C1"/>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09600" y="266700"/>
            <a:ext cx="5886450" cy="142875"/>
          </a:xfrm>
          <a:prstGeom prst="rect">
            <a:avLst/>
          </a:prstGeom>
          <a:noFill/>
        </p:spPr>
        <p:txBody>
          <a:bodyPr wrap="square" lIns="0" rIns="0" tIns="0" bIns="0" anchor="t">
            <a:noAutofit/>
          </a:bodyPr>
          <a:lstStyle/>
          <a:p>
            <a:pPr algn="l">
              <a:lnSpc>
                <a:spcPts val="1125"/>
              </a:lnSpc>
              <a:spcBef>
                <a:spcPts val="0"/>
              </a:spcBef>
              <a:spcAft>
                <a:spcPts val="0"/>
              </a:spcAft>
            </a:pPr>
            <a:r>
              <a:rPr sz="900" b="0" i="0" u="none" spc="75">
                <a:solidFill>
                  <a:srgbClr val="85857F"/>
                </a:solidFill>
                <a:latin typeface="Arial"/>
                <a:ea typeface="Arial"/>
                <a:cs typeface="Arial"/>
              </a:rPr>
              <a:t>WORLD STROKE CONGRESS 2026 · SEOUL</a:t>
            </a:r>
          </a:p>
        </p:txBody>
      </p:sp>
      <p:sp>
        <p:nvSpPr>
          <p:cNvPr id="14" name="TextBox 13"/>
          <p:cNvSpPr txBox="1"/>
          <p:nvPr/>
        </p:nvSpPr>
        <p:spPr>
          <a:xfrm>
            <a:off x="609600" y="609600"/>
            <a:ext cx="8162544" cy="152400"/>
          </a:xfrm>
          <a:prstGeom prst="rect">
            <a:avLst/>
          </a:prstGeom>
          <a:noFill/>
        </p:spPr>
        <p:txBody>
          <a:bodyPr wrap="square" lIns="0" rIns="0" tIns="0" bIns="0" anchor="t">
            <a:noAutofit/>
          </a:bodyPr>
          <a:lstStyle/>
          <a:p>
            <a:pPr algn="l">
              <a:lnSpc>
                <a:spcPts val="1200"/>
              </a:lnSpc>
              <a:spcBef>
                <a:spcPts val="0"/>
              </a:spcBef>
              <a:spcAft>
                <a:spcPts val="0"/>
              </a:spcAft>
            </a:pPr>
            <a:r>
              <a:rPr sz="900" b="1" i="0" u="none">
                <a:solidFill>
                  <a:srgbClr val="D7263D"/>
                </a:solidFill>
                <a:latin typeface="Arial"/>
                <a:ea typeface="Arial"/>
                <a:cs typeface="Arial"/>
              </a:rPr>
              <a:t>14</a:t>
            </a:r>
            <a:r>
              <a:rPr sz="900" b="0" i="0" u="none">
                <a:solidFill>
                  <a:srgbClr val="85857F"/>
                </a:solidFill>
                <a:latin typeface="Arial"/>
                <a:ea typeface="Arial"/>
                <a:cs typeface="Arial"/>
              </a:rPr>
              <a:t>  What to do next</a:t>
            </a:r>
          </a:p>
        </p:txBody>
      </p:sp>
      <p:sp>
        <p:nvSpPr>
          <p:cNvPr id="15" name="TextBox 14"/>
          <p:cNvSpPr txBox="1"/>
          <p:nvPr/>
        </p:nvSpPr>
        <p:spPr>
          <a:xfrm>
            <a:off x="766762" y="1553096"/>
            <a:ext cx="2400338" cy="342900"/>
          </a:xfrm>
          <a:prstGeom prst="rect">
            <a:avLst/>
          </a:prstGeom>
          <a:noFill/>
        </p:spPr>
        <p:txBody>
          <a:bodyPr wrap="square" lIns="0" rIns="0" tIns="0" bIns="0" anchor="t">
            <a:noAutofit/>
          </a:bodyPr>
          <a:lstStyle/>
          <a:p>
            <a:pPr algn="l">
              <a:lnSpc>
                <a:spcPts val="2700"/>
              </a:lnSpc>
              <a:spcBef>
                <a:spcPts val="0"/>
              </a:spcBef>
              <a:spcAft>
                <a:spcPts val="0"/>
              </a:spcAft>
            </a:pPr>
            <a:r>
              <a:rPr sz="2700" b="0" i="0" u="none">
                <a:solidFill>
                  <a:srgbClr val="D7263D"/>
                </a:solidFill>
                <a:latin typeface="Times New Roman"/>
                <a:ea typeface="Times New Roman"/>
                <a:cs typeface="Times New Roman"/>
              </a:rPr>
              <a:t>1</a:t>
            </a:r>
          </a:p>
        </p:txBody>
      </p:sp>
      <p:sp>
        <p:nvSpPr>
          <p:cNvPr id="16" name="TextBox 15"/>
          <p:cNvSpPr txBox="1"/>
          <p:nvPr/>
        </p:nvSpPr>
        <p:spPr>
          <a:xfrm>
            <a:off x="766762" y="1981721"/>
            <a:ext cx="2400338" cy="419100"/>
          </a:xfrm>
          <a:prstGeom prst="rect">
            <a:avLst/>
          </a:prstGeom>
          <a:noFill/>
        </p:spPr>
        <p:txBody>
          <a:bodyPr wrap="square" lIns="0" rIns="0" tIns="0" bIns="0" anchor="t">
            <a:noAutofit/>
          </a:bodyPr>
          <a:lstStyle/>
          <a:p>
            <a:pPr algn="l">
              <a:lnSpc>
                <a:spcPts val="1650"/>
              </a:lnSpc>
              <a:spcBef>
                <a:spcPts val="0"/>
              </a:spcBef>
              <a:spcAft>
                <a:spcPts val="0"/>
              </a:spcAft>
            </a:pPr>
            <a:r>
              <a:rPr sz="1500" b="1" i="0" u="none" spc="-38">
                <a:solidFill>
                  <a:srgbClr val="141414"/>
                </a:solidFill>
                <a:latin typeface="Arial"/>
                <a:ea typeface="Arial"/>
                <a:cs typeface="Arial"/>
              </a:rPr>
              <a:t>A WSO task force on open science</a:t>
            </a:r>
          </a:p>
        </p:txBody>
      </p:sp>
      <p:sp>
        <p:nvSpPr>
          <p:cNvPr id="17" name="TextBox 16"/>
          <p:cNvSpPr txBox="1"/>
          <p:nvPr/>
        </p:nvSpPr>
        <p:spPr>
          <a:xfrm>
            <a:off x="766762" y="2486546"/>
            <a:ext cx="2400338" cy="334268"/>
          </a:xfrm>
          <a:prstGeom prst="rect">
            <a:avLst/>
          </a:prstGeom>
          <a:noFill/>
        </p:spPr>
        <p:txBody>
          <a:bodyPr wrap="square" lIns="0" rIns="0" tIns="0" bIns="0" anchor="t">
            <a:noAutofit/>
          </a:bodyPr>
          <a:lstStyle/>
          <a:p>
            <a:pPr algn="l" marL="133350" indent="-133350">
              <a:lnSpc>
                <a:spcPts val="1316"/>
              </a:lnSpc>
              <a:spcBef>
                <a:spcPts val="0"/>
              </a:spcBef>
              <a:spcAft>
                <a:spcPts val="0"/>
              </a:spcAft>
              <a:buFont typeface="Arial"/>
              <a:buChar char="•"/>
            </a:pPr>
            <a:r>
              <a:rPr sz="975" b="0" i="0" u="none">
                <a:solidFill>
                  <a:srgbClr val="141414"/>
                </a:solidFill>
                <a:latin typeface="Arial"/>
                <a:ea typeface="Arial"/>
                <a:cs typeface="Arial"/>
              </a:rPr>
              <a:t>A position statement: no stroke society has one</a:t>
            </a:r>
          </a:p>
        </p:txBody>
      </p:sp>
      <p:sp>
        <p:nvSpPr>
          <p:cNvPr id="18" name="TextBox 17"/>
          <p:cNvSpPr txBox="1"/>
          <p:nvPr/>
        </p:nvSpPr>
        <p:spPr>
          <a:xfrm>
            <a:off x="766762" y="2877964"/>
            <a:ext cx="2400338" cy="501402"/>
          </a:xfrm>
          <a:prstGeom prst="rect">
            <a:avLst/>
          </a:prstGeom>
          <a:noFill/>
        </p:spPr>
        <p:txBody>
          <a:bodyPr wrap="square" lIns="0" rIns="0" tIns="0" bIns="0" anchor="t">
            <a:noAutofit/>
          </a:bodyPr>
          <a:lstStyle/>
          <a:p>
            <a:pPr algn="l" marL="133350" indent="-133350">
              <a:lnSpc>
                <a:spcPts val="1316"/>
              </a:lnSpc>
              <a:spcBef>
                <a:spcPts val="0"/>
              </a:spcBef>
              <a:spcAft>
                <a:spcPts val="0"/>
              </a:spcAft>
              <a:buFont typeface="Arial"/>
              <a:buChar char="•"/>
            </a:pPr>
            <a:r>
              <a:rPr sz="975" b="0" i="0" u="none">
                <a:solidFill>
                  <a:srgbClr val="141414"/>
                </a:solidFill>
                <a:latin typeface="Arial"/>
                <a:ea typeface="Arial"/>
                <a:cs typeface="Arial"/>
              </a:rPr>
              <a:t>Retire “available on request” in Stroke, IJS, ESJ and JSCVD: a repository, VISTA or Vivli, or a stated reason</a:t>
            </a:r>
          </a:p>
        </p:txBody>
      </p:sp>
      <p:sp>
        <p:nvSpPr>
          <p:cNvPr id="19" name="TextBox 18"/>
          <p:cNvSpPr txBox="1"/>
          <p:nvPr/>
        </p:nvSpPr>
        <p:spPr>
          <a:xfrm>
            <a:off x="766762" y="3436516"/>
            <a:ext cx="2400338" cy="501402"/>
          </a:xfrm>
          <a:prstGeom prst="rect">
            <a:avLst/>
          </a:prstGeom>
          <a:noFill/>
        </p:spPr>
        <p:txBody>
          <a:bodyPr wrap="square" lIns="0" rIns="0" tIns="0" bIns="0" anchor="t">
            <a:noAutofit/>
          </a:bodyPr>
          <a:lstStyle/>
          <a:p>
            <a:pPr algn="l" marL="133350" indent="-133350">
              <a:lnSpc>
                <a:spcPts val="1316"/>
              </a:lnSpc>
              <a:spcBef>
                <a:spcPts val="0"/>
              </a:spcBef>
              <a:spcAft>
                <a:spcPts val="0"/>
              </a:spcAft>
              <a:buFont typeface="Arial"/>
              <a:buChar char="•"/>
            </a:pPr>
            <a:r>
              <a:rPr sz="975" b="0" i="0" u="none">
                <a:solidFill>
                  <a:srgbClr val="141414"/>
                </a:solidFill>
                <a:latin typeface="Arial"/>
                <a:ea typeface="Arial"/>
                <a:cs typeface="Arial"/>
              </a:rPr>
              <a:t>Registered Reports for stroke trials, with in-principle acceptance tied to WSO and ESO grants</a:t>
            </a:r>
          </a:p>
        </p:txBody>
      </p:sp>
      <p:sp>
        <p:nvSpPr>
          <p:cNvPr id="20" name="TextBox 19"/>
          <p:cNvSpPr txBox="1"/>
          <p:nvPr/>
        </p:nvSpPr>
        <p:spPr>
          <a:xfrm>
            <a:off x="766762" y="3995068"/>
            <a:ext cx="2400338" cy="334268"/>
          </a:xfrm>
          <a:prstGeom prst="rect">
            <a:avLst/>
          </a:prstGeom>
          <a:noFill/>
        </p:spPr>
        <p:txBody>
          <a:bodyPr wrap="square" lIns="0" rIns="0" tIns="0" bIns="0" anchor="t">
            <a:noAutofit/>
          </a:bodyPr>
          <a:lstStyle/>
          <a:p>
            <a:pPr algn="l" marL="133350" indent="-133350">
              <a:lnSpc>
                <a:spcPts val="1316"/>
              </a:lnSpc>
              <a:spcBef>
                <a:spcPts val="0"/>
              </a:spcBef>
              <a:spcAft>
                <a:spcPts val="0"/>
              </a:spcAft>
              <a:buFont typeface="Arial"/>
              <a:buChar char="•"/>
            </a:pPr>
            <a:r>
              <a:rPr sz="975" b="0" i="0" u="none">
                <a:solidFill>
                  <a:srgbClr val="141414"/>
                </a:solidFill>
                <a:latin typeface="Arial"/>
                <a:ea typeface="Arial"/>
                <a:cs typeface="Arial"/>
              </a:rPr>
              <a:t>Embargoed sharing as the trial default, twelve months after publication</a:t>
            </a:r>
          </a:p>
        </p:txBody>
      </p:sp>
      <p:sp>
        <p:nvSpPr>
          <p:cNvPr id="21" name="TextBox 20"/>
          <p:cNvSpPr txBox="1"/>
          <p:nvPr/>
        </p:nvSpPr>
        <p:spPr>
          <a:xfrm>
            <a:off x="3406750" y="1553096"/>
            <a:ext cx="2400415" cy="342900"/>
          </a:xfrm>
          <a:prstGeom prst="rect">
            <a:avLst/>
          </a:prstGeom>
          <a:noFill/>
        </p:spPr>
        <p:txBody>
          <a:bodyPr wrap="square" lIns="0" rIns="0" tIns="0" bIns="0" anchor="t">
            <a:noAutofit/>
          </a:bodyPr>
          <a:lstStyle/>
          <a:p>
            <a:pPr algn="l">
              <a:lnSpc>
                <a:spcPts val="2700"/>
              </a:lnSpc>
              <a:spcBef>
                <a:spcPts val="0"/>
              </a:spcBef>
              <a:spcAft>
                <a:spcPts val="0"/>
              </a:spcAft>
            </a:pPr>
            <a:r>
              <a:rPr sz="2700" b="0" i="0" u="none">
                <a:solidFill>
                  <a:srgbClr val="D7263D"/>
                </a:solidFill>
                <a:latin typeface="Times New Roman"/>
                <a:ea typeface="Times New Roman"/>
                <a:cs typeface="Times New Roman"/>
              </a:rPr>
              <a:t>2</a:t>
            </a:r>
          </a:p>
        </p:txBody>
      </p:sp>
      <p:sp>
        <p:nvSpPr>
          <p:cNvPr id="22" name="TextBox 21"/>
          <p:cNvSpPr txBox="1"/>
          <p:nvPr/>
        </p:nvSpPr>
        <p:spPr>
          <a:xfrm>
            <a:off x="3406750" y="1981721"/>
            <a:ext cx="2400415" cy="419100"/>
          </a:xfrm>
          <a:prstGeom prst="rect">
            <a:avLst/>
          </a:prstGeom>
          <a:noFill/>
        </p:spPr>
        <p:txBody>
          <a:bodyPr wrap="square" lIns="0" rIns="0" tIns="0" bIns="0" anchor="t">
            <a:noAutofit/>
          </a:bodyPr>
          <a:lstStyle/>
          <a:p>
            <a:pPr algn="l">
              <a:lnSpc>
                <a:spcPts val="1650"/>
              </a:lnSpc>
              <a:spcBef>
                <a:spcPts val="0"/>
              </a:spcBef>
              <a:spcAft>
                <a:spcPts val="0"/>
              </a:spcAft>
            </a:pPr>
            <a:r>
              <a:rPr sz="1500" b="1" i="0" u="none" spc="-38">
                <a:solidFill>
                  <a:srgbClr val="141414"/>
                </a:solidFill>
                <a:latin typeface="Arial"/>
                <a:ea typeface="Arial"/>
                <a:cs typeface="Arial"/>
              </a:rPr>
              <a:t>A prize for the teams that share</a:t>
            </a:r>
          </a:p>
        </p:txBody>
      </p:sp>
      <p:sp>
        <p:nvSpPr>
          <p:cNvPr id="23" name="TextBox 22"/>
          <p:cNvSpPr txBox="1"/>
          <p:nvPr/>
        </p:nvSpPr>
        <p:spPr>
          <a:xfrm>
            <a:off x="3406750" y="2486546"/>
            <a:ext cx="2400415" cy="334268"/>
          </a:xfrm>
          <a:prstGeom prst="rect">
            <a:avLst/>
          </a:prstGeom>
          <a:noFill/>
        </p:spPr>
        <p:txBody>
          <a:bodyPr wrap="square" lIns="0" rIns="0" tIns="0" bIns="0" anchor="t">
            <a:noAutofit/>
          </a:bodyPr>
          <a:lstStyle/>
          <a:p>
            <a:pPr algn="l" marL="133350" indent="-133350">
              <a:lnSpc>
                <a:spcPts val="1316"/>
              </a:lnSpc>
              <a:spcBef>
                <a:spcPts val="0"/>
              </a:spcBef>
              <a:spcAft>
                <a:spcPts val="0"/>
              </a:spcAft>
              <a:buFont typeface="Arial"/>
              <a:buChar char="•"/>
            </a:pPr>
            <a:r>
              <a:rPr sz="975" b="0" i="0" u="none">
                <a:solidFill>
                  <a:srgbClr val="141414"/>
                </a:solidFill>
                <a:latin typeface="Arial"/>
                <a:ea typeface="Arial"/>
                <a:cs typeface="Arial"/>
              </a:rPr>
              <a:t>The commitment index: verified in the full text, recomputed every six months</a:t>
            </a:r>
          </a:p>
        </p:txBody>
      </p:sp>
      <p:sp>
        <p:nvSpPr>
          <p:cNvPr id="24" name="TextBox 23"/>
          <p:cNvSpPr txBox="1"/>
          <p:nvPr/>
        </p:nvSpPr>
        <p:spPr>
          <a:xfrm>
            <a:off x="3406750" y="2877964"/>
            <a:ext cx="2400415" cy="334268"/>
          </a:xfrm>
          <a:prstGeom prst="rect">
            <a:avLst/>
          </a:prstGeom>
          <a:noFill/>
        </p:spPr>
        <p:txBody>
          <a:bodyPr wrap="square" lIns="0" rIns="0" tIns="0" bIns="0" anchor="t">
            <a:noAutofit/>
          </a:bodyPr>
          <a:lstStyle/>
          <a:p>
            <a:pPr algn="l" marL="133350" indent="-133350">
              <a:lnSpc>
                <a:spcPts val="1316"/>
              </a:lnSpc>
              <a:spcBef>
                <a:spcPts val="0"/>
              </a:spcBef>
              <a:spcAft>
                <a:spcPts val="0"/>
              </a:spcAft>
              <a:buFont typeface="Arial"/>
              <a:buChar char="•"/>
            </a:pPr>
            <a:r>
              <a:rPr sz="975" b="0" i="0" u="none">
                <a:solidFill>
                  <a:srgbClr val="141414"/>
                </a:solidFill>
                <a:latin typeface="Arial"/>
                <a:ea typeface="Arial"/>
                <a:cs typeface="Arial"/>
              </a:rPr>
              <a:t>Institutions, journals, funders and countries</a:t>
            </a:r>
          </a:p>
        </p:txBody>
      </p:sp>
      <p:sp>
        <p:nvSpPr>
          <p:cNvPr id="25" name="TextBox 24"/>
          <p:cNvSpPr txBox="1"/>
          <p:nvPr/>
        </p:nvSpPr>
        <p:spPr>
          <a:xfrm>
            <a:off x="3406750" y="3269382"/>
            <a:ext cx="2400415" cy="334268"/>
          </a:xfrm>
          <a:prstGeom prst="rect">
            <a:avLst/>
          </a:prstGeom>
          <a:noFill/>
        </p:spPr>
        <p:txBody>
          <a:bodyPr wrap="square" lIns="0" rIns="0" tIns="0" bIns="0" anchor="t">
            <a:noAutofit/>
          </a:bodyPr>
          <a:lstStyle/>
          <a:p>
            <a:pPr algn="l" marL="133350" indent="-133350">
              <a:lnSpc>
                <a:spcPts val="1316"/>
              </a:lnSpc>
              <a:spcBef>
                <a:spcPts val="0"/>
              </a:spcBef>
              <a:spcAft>
                <a:spcPts val="0"/>
              </a:spcAft>
              <a:buFont typeface="Arial"/>
              <a:buChar char="•"/>
            </a:pPr>
            <a:r>
              <a:rPr sz="975" b="0" i="0" u="none">
                <a:solidFill>
                  <a:srgbClr val="141414"/>
                </a:solidFill>
                <a:latin typeface="Arial"/>
                <a:ea typeface="Arial"/>
                <a:cs typeface="Arial"/>
              </a:rPr>
              <a:t>On the Einstein Foundation model, presented at this congress</a:t>
            </a:r>
          </a:p>
        </p:txBody>
      </p:sp>
      <p:sp>
        <p:nvSpPr>
          <p:cNvPr id="26" name="TextBox 25"/>
          <p:cNvSpPr txBox="1"/>
          <p:nvPr/>
        </p:nvSpPr>
        <p:spPr>
          <a:xfrm>
            <a:off x="6046812" y="1553096"/>
            <a:ext cx="2400338" cy="342900"/>
          </a:xfrm>
          <a:prstGeom prst="rect">
            <a:avLst/>
          </a:prstGeom>
          <a:noFill/>
        </p:spPr>
        <p:txBody>
          <a:bodyPr wrap="square" lIns="0" rIns="0" tIns="0" bIns="0" anchor="t">
            <a:noAutofit/>
          </a:bodyPr>
          <a:lstStyle/>
          <a:p>
            <a:pPr algn="l">
              <a:lnSpc>
                <a:spcPts val="2700"/>
              </a:lnSpc>
              <a:spcBef>
                <a:spcPts val="0"/>
              </a:spcBef>
              <a:spcAft>
                <a:spcPts val="0"/>
              </a:spcAft>
            </a:pPr>
            <a:r>
              <a:rPr sz="2700" b="0" i="0" u="none">
                <a:solidFill>
                  <a:srgbClr val="D7263D"/>
                </a:solidFill>
                <a:latin typeface="Times New Roman"/>
                <a:ea typeface="Times New Roman"/>
                <a:cs typeface="Times New Roman"/>
              </a:rPr>
              <a:t>3</a:t>
            </a:r>
          </a:p>
        </p:txBody>
      </p:sp>
      <p:sp>
        <p:nvSpPr>
          <p:cNvPr id="27" name="TextBox 26"/>
          <p:cNvSpPr txBox="1"/>
          <p:nvPr/>
        </p:nvSpPr>
        <p:spPr>
          <a:xfrm>
            <a:off x="6046812" y="1981721"/>
            <a:ext cx="2400338" cy="209550"/>
          </a:xfrm>
          <a:prstGeom prst="rect">
            <a:avLst/>
          </a:prstGeom>
          <a:noFill/>
        </p:spPr>
        <p:txBody>
          <a:bodyPr wrap="square" lIns="0" rIns="0" tIns="0" bIns="0" anchor="t">
            <a:noAutofit/>
          </a:bodyPr>
          <a:lstStyle/>
          <a:p>
            <a:pPr algn="l">
              <a:lnSpc>
                <a:spcPts val="1650"/>
              </a:lnSpc>
              <a:spcBef>
                <a:spcPts val="0"/>
              </a:spcBef>
              <a:spcAft>
                <a:spcPts val="0"/>
              </a:spcAft>
            </a:pPr>
            <a:r>
              <a:rPr sz="1500" b="1" i="0" u="none" spc="-38">
                <a:solidFill>
                  <a:srgbClr val="141414"/>
                </a:solidFill>
                <a:latin typeface="Arial"/>
                <a:ea typeface="Arial"/>
                <a:cs typeface="Arial"/>
              </a:rPr>
              <a:t>Awareness</a:t>
            </a:r>
          </a:p>
        </p:txBody>
      </p:sp>
      <p:sp>
        <p:nvSpPr>
          <p:cNvPr id="28" name="TextBox 27"/>
          <p:cNvSpPr txBox="1"/>
          <p:nvPr/>
        </p:nvSpPr>
        <p:spPr>
          <a:xfrm>
            <a:off x="6046812" y="2276996"/>
            <a:ext cx="2400338" cy="334268"/>
          </a:xfrm>
          <a:prstGeom prst="rect">
            <a:avLst/>
          </a:prstGeom>
          <a:noFill/>
        </p:spPr>
        <p:txBody>
          <a:bodyPr wrap="square" lIns="0" rIns="0" tIns="0" bIns="0" anchor="t">
            <a:noAutofit/>
          </a:bodyPr>
          <a:lstStyle/>
          <a:p>
            <a:pPr algn="l" marL="133350" indent="-133350">
              <a:lnSpc>
                <a:spcPts val="1316"/>
              </a:lnSpc>
              <a:spcBef>
                <a:spcPts val="0"/>
              </a:spcBef>
              <a:spcAft>
                <a:spcPts val="0"/>
              </a:spcAft>
              <a:buFont typeface="Arial"/>
              <a:buChar char="•"/>
            </a:pPr>
            <a:r>
              <a:rPr sz="975" b="0" i="0" u="none">
                <a:solidFill>
                  <a:srgbClr val="141414"/>
                </a:solidFill>
                <a:latin typeface="Arial"/>
                <a:ea typeface="Arial"/>
                <a:cs typeface="Arial"/>
              </a:rPr>
              <a:t>The public benchmark, updated every six months</a:t>
            </a:r>
          </a:p>
        </p:txBody>
      </p:sp>
      <p:sp>
        <p:nvSpPr>
          <p:cNvPr id="29" name="TextBox 28"/>
          <p:cNvSpPr txBox="1"/>
          <p:nvPr/>
        </p:nvSpPr>
        <p:spPr>
          <a:xfrm>
            <a:off x="6046812" y="2668414"/>
            <a:ext cx="2400338" cy="334268"/>
          </a:xfrm>
          <a:prstGeom prst="rect">
            <a:avLst/>
          </a:prstGeom>
          <a:noFill/>
        </p:spPr>
        <p:txBody>
          <a:bodyPr wrap="square" lIns="0" rIns="0" tIns="0" bIns="0" anchor="t">
            <a:noAutofit/>
          </a:bodyPr>
          <a:lstStyle/>
          <a:p>
            <a:pPr algn="l" marL="133350" indent="-133350">
              <a:lnSpc>
                <a:spcPts val="1316"/>
              </a:lnSpc>
              <a:spcBef>
                <a:spcPts val="0"/>
              </a:spcBef>
              <a:spcAft>
                <a:spcPts val="0"/>
              </a:spcAft>
              <a:buFont typeface="Arial"/>
              <a:buChar char="•"/>
            </a:pPr>
            <a:r>
              <a:rPr sz="975" b="0" i="0" u="none">
                <a:solidFill>
                  <a:srgbClr val="141414"/>
                </a:solidFill>
                <a:latin typeface="Arial"/>
                <a:ea typeface="Arial"/>
                <a:cs typeface="Arial"/>
              </a:rPr>
              <a:t>Open-science items in promotion criteria: 0 of 92 guidelines today</a:t>
            </a:r>
          </a:p>
        </p:txBody>
      </p:sp>
      <p:sp>
        <p:nvSpPr>
          <p:cNvPr id="30" name="TextBox 29"/>
          <p:cNvSpPr txBox="1"/>
          <p:nvPr/>
        </p:nvSpPr>
        <p:spPr>
          <a:xfrm>
            <a:off x="6046812" y="3059832"/>
            <a:ext cx="2400338" cy="835670"/>
          </a:xfrm>
          <a:prstGeom prst="rect">
            <a:avLst/>
          </a:prstGeom>
          <a:noFill/>
        </p:spPr>
        <p:txBody>
          <a:bodyPr wrap="square" lIns="0" rIns="0" tIns="0" bIns="0" anchor="t">
            <a:noAutofit/>
          </a:bodyPr>
          <a:lstStyle/>
          <a:p>
            <a:pPr algn="l" marL="133350" indent="-133350">
              <a:lnSpc>
                <a:spcPts val="1316"/>
              </a:lnSpc>
              <a:spcBef>
                <a:spcPts val="0"/>
              </a:spcBef>
              <a:spcAft>
                <a:spcPts val="0"/>
              </a:spcAft>
              <a:buFont typeface="Arial"/>
              <a:buChar char="•"/>
            </a:pPr>
            <a:r>
              <a:rPr sz="975" b="0" i="0" u="none">
                <a:solidFill>
                  <a:srgbClr val="141414"/>
                </a:solidFill>
                <a:latin typeface="Arial"/>
                <a:ea typeface="Arial"/>
                <a:cs typeface="Arial"/>
              </a:rPr>
              <a:t>Targets to discuss: data in a repository or controlled-access platform for 25% of stroke articles by 2030; “on request” under 10%; one Registered Report track in a stroke journal by 2028</a:t>
            </a:r>
          </a:p>
        </p:txBody>
      </p:sp>
      <p:sp>
        <p:nvSpPr>
          <p:cNvPr id="31" name="TextBox 30"/>
          <p:cNvSpPr txBox="1"/>
          <p:nvPr/>
        </p:nvSpPr>
        <p:spPr>
          <a:xfrm>
            <a:off x="609600" y="4552950"/>
            <a:ext cx="8162544" cy="285750"/>
          </a:xfrm>
          <a:prstGeom prst="rect">
            <a:avLst/>
          </a:prstGeom>
          <a:noFill/>
        </p:spPr>
        <p:txBody>
          <a:bodyPr wrap="square" lIns="0" rIns="0" tIns="0" bIns="0" anchor="t">
            <a:noAutofit/>
          </a:bodyPr>
          <a:lstStyle/>
          <a:p>
            <a:pPr algn="l">
              <a:lnSpc>
                <a:spcPts val="1125"/>
              </a:lnSpc>
              <a:spcBef>
                <a:spcPts val="0"/>
              </a:spcBef>
              <a:spcAft>
                <a:spcPts val="0"/>
              </a:spcAft>
            </a:pPr>
            <a:r>
              <a:rPr sz="900" b="0" i="0" u="none">
                <a:solidFill>
                  <a:srgbClr val="85857F"/>
                </a:solidFill>
                <a:latin typeface="Arial"/>
                <a:ea typeface="Arial"/>
                <a:cs typeface="Arial"/>
              </a:rPr>
              <a:t>The statement, retiring “on request” and promotion criteria cost nothing. Registered Reports, the prize and the infrastructure need money, and the infrastructure mostly exists: VISTA, ATLAS, ENIGMA.</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141414"/>
        </a:solidFill>
        <a:effectLst/>
      </p:bgPr>
    </p:bg>
    <p:spTree>
      <p:nvGrpSpPr>
        <p:cNvPr id="1" name=""/>
        <p:cNvGrpSpPr/>
        <p:nvPr/>
      </p:nvGrpSpPr>
      <p:grpSpPr/>
      <p:sp>
        <p:nvSpPr>
          <p:cNvPr id="3" name="Rectangle 2"/>
          <p:cNvSpPr/>
          <p:nvPr/>
        </p:nvSpPr>
        <p:spPr>
          <a:xfrm>
            <a:off x="609600" y="3372073"/>
            <a:ext cx="895350" cy="914400"/>
          </a:xfrm>
          <a:prstGeom prst="rect">
            <a:avLst/>
          </a:prstGeom>
          <a:solidFill>
            <a:srgbClr val="F0F0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3385617" y="3372073"/>
            <a:ext cx="895350" cy="914400"/>
          </a:xfrm>
          <a:prstGeom prst="rect">
            <a:avLst/>
          </a:prstGeom>
          <a:solidFill>
            <a:srgbClr val="F0F0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 name="Connector 4"/>
          <p:cNvCxnSpPr/>
          <p:nvPr/>
        </p:nvCxnSpPr>
        <p:spPr>
          <a:xfrm>
            <a:off x="5959971" y="3372073"/>
            <a:ext cx="0" cy="1009427"/>
          </a:xfrm>
          <a:prstGeom prst="line">
            <a:avLst/>
          </a:prstGeom>
          <a:ln w="6350">
            <a:solidFill>
              <a:srgbClr val="3B3B38"/>
            </a:solidFill>
          </a:ln>
        </p:spPr>
        <p:style>
          <a:lnRef idx="2">
            <a:schemeClr val="accent1"/>
          </a:lnRef>
          <a:fillRef idx="0">
            <a:schemeClr val="accent1"/>
          </a:fillRef>
          <a:effectRef idx="1">
            <a:schemeClr val="accent1"/>
          </a:effectRef>
          <a:fontRef idx="minor">
            <a:schemeClr val="tx1"/>
          </a:fontRef>
        </p:style>
      </p:cxnSp>
      <p:pic>
        <p:nvPicPr>
          <p:cNvPr id="6" name="Picture 5" descr="close_svg0.jpg"/>
          <p:cNvPicPr>
            <a:picLocks noChangeAspect="1"/>
          </p:cNvPicPr>
          <p:nvPr/>
        </p:nvPicPr>
        <p:blipFill>
          <a:blip r:embed="rId2"/>
          <a:stretch>
            <a:fillRect/>
          </a:stretch>
        </p:blipFill>
        <p:spPr>
          <a:xfrm>
            <a:off x="657225" y="3419698"/>
            <a:ext cx="800100" cy="800100"/>
          </a:xfrm>
          <a:prstGeom prst="rect">
            <a:avLst/>
          </a:prstGeom>
        </p:spPr>
      </p:pic>
      <p:pic>
        <p:nvPicPr>
          <p:cNvPr id="7" name="Picture 6" descr="close_svg1.jpg"/>
          <p:cNvPicPr>
            <a:picLocks noChangeAspect="1"/>
          </p:cNvPicPr>
          <p:nvPr/>
        </p:nvPicPr>
        <p:blipFill>
          <a:blip r:embed="rId3"/>
          <a:stretch>
            <a:fillRect/>
          </a:stretch>
        </p:blipFill>
        <p:spPr>
          <a:xfrm>
            <a:off x="3433242" y="3419698"/>
            <a:ext cx="800100" cy="800100"/>
          </a:xfrm>
          <a:prstGeom prst="rect">
            <a:avLst/>
          </a:prstGeom>
        </p:spPr>
      </p:pic>
      <p:sp>
        <p:nvSpPr>
          <p:cNvPr id="8" name="TextBox 7"/>
          <p:cNvSpPr txBox="1"/>
          <p:nvPr/>
        </p:nvSpPr>
        <p:spPr>
          <a:xfrm>
            <a:off x="609600" y="266700"/>
            <a:ext cx="5886450" cy="142875"/>
          </a:xfrm>
          <a:prstGeom prst="rect">
            <a:avLst/>
          </a:prstGeom>
          <a:noFill/>
        </p:spPr>
        <p:txBody>
          <a:bodyPr wrap="square" lIns="0" rIns="0" tIns="0" bIns="0" anchor="t">
            <a:noAutofit/>
          </a:bodyPr>
          <a:lstStyle/>
          <a:p>
            <a:pPr algn="l">
              <a:lnSpc>
                <a:spcPts val="1125"/>
              </a:lnSpc>
              <a:spcBef>
                <a:spcPts val="0"/>
              </a:spcBef>
              <a:spcAft>
                <a:spcPts val="0"/>
              </a:spcAft>
            </a:pPr>
            <a:r>
              <a:rPr sz="900" b="0" i="0" u="none" spc="75">
                <a:solidFill>
                  <a:srgbClr val="85857F"/>
                </a:solidFill>
                <a:latin typeface="Arial"/>
                <a:ea typeface="Arial"/>
                <a:cs typeface="Arial"/>
              </a:rPr>
              <a:t>WORLD STROKE CONGRESS 2026 · SEOUL</a:t>
            </a:r>
          </a:p>
        </p:txBody>
      </p:sp>
      <p:sp>
        <p:nvSpPr>
          <p:cNvPr id="9" name="TextBox 8"/>
          <p:cNvSpPr txBox="1"/>
          <p:nvPr/>
        </p:nvSpPr>
        <p:spPr>
          <a:xfrm>
            <a:off x="609600" y="609600"/>
            <a:ext cx="8162544" cy="731490"/>
          </a:xfrm>
          <a:prstGeom prst="rect">
            <a:avLst/>
          </a:prstGeom>
          <a:noFill/>
        </p:spPr>
        <p:txBody>
          <a:bodyPr wrap="square" lIns="0" rIns="0" tIns="0" bIns="0" anchor="t">
            <a:noAutofit/>
          </a:bodyPr>
          <a:lstStyle/>
          <a:p>
            <a:pPr algn="l">
              <a:lnSpc>
                <a:spcPts val="2880"/>
              </a:lnSpc>
              <a:spcBef>
                <a:spcPts val="0"/>
              </a:spcBef>
              <a:spcAft>
                <a:spcPts val="0"/>
              </a:spcAft>
            </a:pPr>
            <a:r>
              <a:rPr sz="2400" b="0" i="0" u="none">
                <a:solidFill>
                  <a:srgbClr val="F0F0EC"/>
                </a:solidFill>
                <a:latin typeface="Times New Roman"/>
                <a:ea typeface="Times New Roman"/>
                <a:cs typeface="Times New Roman"/>
              </a:rPr>
              <a:t>We measured ourselves. The numbers are not flattering, but they are measurable, which means they are improvable.</a:t>
            </a:r>
          </a:p>
        </p:txBody>
      </p:sp>
      <p:sp>
        <p:nvSpPr>
          <p:cNvPr id="10" name="TextBox 9"/>
          <p:cNvSpPr txBox="1"/>
          <p:nvPr/>
        </p:nvSpPr>
        <p:spPr>
          <a:xfrm>
            <a:off x="609600" y="3048223"/>
            <a:ext cx="8162544" cy="152400"/>
          </a:xfrm>
          <a:prstGeom prst="rect">
            <a:avLst/>
          </a:prstGeom>
          <a:noFill/>
        </p:spPr>
        <p:txBody>
          <a:bodyPr wrap="square" lIns="0" rIns="0" tIns="0" bIns="0" anchor="t">
            <a:noAutofit/>
          </a:bodyPr>
          <a:lstStyle/>
          <a:p>
            <a:pPr algn="l">
              <a:lnSpc>
                <a:spcPts val="1200"/>
              </a:lnSpc>
              <a:spcBef>
                <a:spcPts val="0"/>
              </a:spcBef>
              <a:spcAft>
                <a:spcPts val="0"/>
              </a:spcAft>
            </a:pPr>
            <a:r>
              <a:rPr sz="900" b="1" i="0" u="none" spc="75">
                <a:solidFill>
                  <a:srgbClr val="E8475B"/>
                </a:solidFill>
                <a:latin typeface="Arial"/>
                <a:ea typeface="Arial"/>
                <a:cs typeface="Arial"/>
              </a:rPr>
              <a:t>COLLABORATE</a:t>
            </a:r>
          </a:p>
        </p:txBody>
      </p:sp>
      <p:sp>
        <p:nvSpPr>
          <p:cNvPr id="11" name="TextBox 10"/>
          <p:cNvSpPr txBox="1"/>
          <p:nvPr/>
        </p:nvSpPr>
        <p:spPr>
          <a:xfrm>
            <a:off x="1638300" y="3372073"/>
            <a:ext cx="1564278" cy="295275"/>
          </a:xfrm>
          <a:prstGeom prst="rect">
            <a:avLst/>
          </a:prstGeom>
          <a:noFill/>
        </p:spPr>
        <p:txBody>
          <a:bodyPr wrap="square" lIns="0" rIns="0" tIns="0" bIns="0" anchor="t">
            <a:noAutofit/>
          </a:bodyPr>
          <a:lstStyle/>
          <a:p>
            <a:pPr algn="l">
              <a:lnSpc>
                <a:spcPts val="1121"/>
              </a:lnSpc>
              <a:spcBef>
                <a:spcPts val="0"/>
              </a:spcBef>
              <a:spcAft>
                <a:spcPts val="0"/>
              </a:spcAft>
            </a:pPr>
            <a:r>
              <a:rPr sz="975" b="1" i="0" u="none">
                <a:solidFill>
                  <a:srgbClr val="F0F0EC"/>
                </a:solidFill>
                <a:latin typeface="Arial"/>
                <a:ea typeface="Arial"/>
                <a:cs typeface="Arial"/>
              </a:rPr>
              <a:t>Stroke Open-Science Benchmark</a:t>
            </a:r>
          </a:p>
        </p:txBody>
      </p:sp>
      <p:sp>
        <p:nvSpPr>
          <p:cNvPr id="12" name="TextBox 11"/>
          <p:cNvSpPr txBox="1"/>
          <p:nvPr/>
        </p:nvSpPr>
        <p:spPr>
          <a:xfrm>
            <a:off x="1638300" y="3695923"/>
            <a:ext cx="1564278" cy="319980"/>
          </a:xfrm>
          <a:prstGeom prst="rect">
            <a:avLst/>
          </a:prstGeom>
          <a:noFill/>
        </p:spPr>
        <p:txBody>
          <a:bodyPr wrap="square" lIns="0" rIns="0" tIns="0" bIns="0" anchor="t">
            <a:noAutofit/>
          </a:bodyPr>
          <a:lstStyle/>
          <a:p>
            <a:pPr algn="l">
              <a:lnSpc>
                <a:spcPts val="1260"/>
              </a:lnSpc>
              <a:spcBef>
                <a:spcPts val="0"/>
              </a:spcBef>
              <a:spcAft>
                <a:spcPts val="0"/>
              </a:spcAft>
            </a:pPr>
            <a:r>
              <a:rPr sz="900" b="0" i="0" u="none">
                <a:solidFill>
                  <a:srgbClr val="C6C6C0"/>
                </a:solidFill>
                <a:latin typeface="Arial"/>
                <a:ea typeface="Arial"/>
                <a:cs typeface="Arial"/>
              </a:rPr>
              <a:t>friseeb.github.io/</a:t>
            </a:r>
            <a:br/>
            <a:r>
              <a:rPr sz="900" b="0" i="0" u="none">
                <a:solidFill>
                  <a:srgbClr val="C6C6C0"/>
                </a:solidFill>
                <a:latin typeface="Arial"/>
                <a:ea typeface="Arial"/>
                <a:cs typeface="Arial"/>
              </a:rPr>
              <a:t>stroke_open_science_outputs</a:t>
            </a:r>
          </a:p>
        </p:txBody>
      </p:sp>
      <p:sp>
        <p:nvSpPr>
          <p:cNvPr id="13" name="TextBox 12"/>
          <p:cNvSpPr txBox="1"/>
          <p:nvPr/>
        </p:nvSpPr>
        <p:spPr>
          <a:xfrm>
            <a:off x="1638300" y="4044479"/>
            <a:ext cx="1564278" cy="282773"/>
          </a:xfrm>
          <a:prstGeom prst="rect">
            <a:avLst/>
          </a:prstGeom>
          <a:noFill/>
        </p:spPr>
        <p:txBody>
          <a:bodyPr wrap="square" lIns="0" rIns="0" tIns="0" bIns="0" anchor="t">
            <a:noAutofit/>
          </a:bodyPr>
          <a:lstStyle/>
          <a:p>
            <a:pPr algn="l">
              <a:lnSpc>
                <a:spcPts val="1114"/>
              </a:lnSpc>
              <a:spcBef>
                <a:spcPts val="0"/>
              </a:spcBef>
              <a:spcAft>
                <a:spcPts val="0"/>
              </a:spcAft>
            </a:pPr>
            <a:r>
              <a:rPr sz="825" b="0" i="0" u="none">
                <a:solidFill>
                  <a:srgbClr val="C6C6C0"/>
                </a:solidFill>
                <a:latin typeface="Arial"/>
                <a:ea typeface="Arial"/>
                <a:cs typeface="Arial"/>
              </a:rPr>
              <a:t>Explore it, challenge it, run it on your field</a:t>
            </a:r>
          </a:p>
        </p:txBody>
      </p:sp>
      <p:sp>
        <p:nvSpPr>
          <p:cNvPr id="14" name="TextBox 13"/>
          <p:cNvSpPr txBox="1"/>
          <p:nvPr/>
        </p:nvSpPr>
        <p:spPr>
          <a:xfrm>
            <a:off x="4414317" y="3372073"/>
            <a:ext cx="1354113" cy="147638"/>
          </a:xfrm>
          <a:prstGeom prst="rect">
            <a:avLst/>
          </a:prstGeom>
          <a:noFill/>
        </p:spPr>
        <p:txBody>
          <a:bodyPr wrap="square" lIns="0" rIns="0" tIns="0" bIns="0" anchor="t">
            <a:noAutofit/>
          </a:bodyPr>
          <a:lstStyle/>
          <a:p>
            <a:pPr algn="l">
              <a:lnSpc>
                <a:spcPts val="1121"/>
              </a:lnSpc>
              <a:spcBef>
                <a:spcPts val="0"/>
              </a:spcBef>
              <a:spcAft>
                <a:spcPts val="0"/>
              </a:spcAft>
            </a:pPr>
            <a:r>
              <a:rPr sz="975" b="1" i="0" u="none">
                <a:solidFill>
                  <a:srgbClr val="F0F0EC"/>
                </a:solidFill>
                <a:latin typeface="Arial"/>
                <a:ea typeface="Arial"/>
                <a:cs typeface="Arial"/>
              </a:rPr>
              <a:t>Code and data</a:t>
            </a:r>
          </a:p>
        </p:txBody>
      </p:sp>
      <p:sp>
        <p:nvSpPr>
          <p:cNvPr id="15" name="TextBox 14"/>
          <p:cNvSpPr txBox="1"/>
          <p:nvPr/>
        </p:nvSpPr>
        <p:spPr>
          <a:xfrm>
            <a:off x="4414317" y="3548286"/>
            <a:ext cx="1354113" cy="319980"/>
          </a:xfrm>
          <a:prstGeom prst="rect">
            <a:avLst/>
          </a:prstGeom>
          <a:noFill/>
        </p:spPr>
        <p:txBody>
          <a:bodyPr wrap="square" lIns="0" rIns="0" tIns="0" bIns="0" anchor="t">
            <a:noAutofit/>
          </a:bodyPr>
          <a:lstStyle/>
          <a:p>
            <a:pPr algn="l">
              <a:lnSpc>
                <a:spcPts val="1260"/>
              </a:lnSpc>
              <a:spcBef>
                <a:spcPts val="0"/>
              </a:spcBef>
              <a:spcAft>
                <a:spcPts val="0"/>
              </a:spcAft>
            </a:pPr>
            <a:r>
              <a:rPr sz="900" b="0" i="0" u="none">
                <a:solidFill>
                  <a:srgbClr val="C6C6C0"/>
                </a:solidFill>
                <a:latin typeface="Arial"/>
                <a:ea typeface="Arial"/>
                <a:cs typeface="Arial"/>
              </a:rPr>
              <a:t>github.com/Friseeb/</a:t>
            </a:r>
            <a:br/>
            <a:r>
              <a:rPr sz="900" b="0" i="0" u="none">
                <a:solidFill>
                  <a:srgbClr val="C6C6C0"/>
                </a:solidFill>
                <a:latin typeface="Arial"/>
                <a:ea typeface="Arial"/>
                <a:cs typeface="Arial"/>
              </a:rPr>
              <a:t>stroke_open_science</a:t>
            </a:r>
          </a:p>
        </p:txBody>
      </p:sp>
      <p:sp>
        <p:nvSpPr>
          <p:cNvPr id="16" name="TextBox 15"/>
          <p:cNvSpPr txBox="1"/>
          <p:nvPr/>
        </p:nvSpPr>
        <p:spPr>
          <a:xfrm>
            <a:off x="4414317" y="3896841"/>
            <a:ext cx="1354113" cy="282773"/>
          </a:xfrm>
          <a:prstGeom prst="rect">
            <a:avLst/>
          </a:prstGeom>
          <a:noFill/>
        </p:spPr>
        <p:txBody>
          <a:bodyPr wrap="square" lIns="0" rIns="0" tIns="0" bIns="0" anchor="t">
            <a:noAutofit/>
          </a:bodyPr>
          <a:lstStyle/>
          <a:p>
            <a:pPr algn="l">
              <a:lnSpc>
                <a:spcPts val="1114"/>
              </a:lnSpc>
              <a:spcBef>
                <a:spcPts val="0"/>
              </a:spcBef>
              <a:spcAft>
                <a:spcPts val="0"/>
              </a:spcAft>
            </a:pPr>
            <a:r>
              <a:rPr sz="825" b="0" i="0" u="none">
                <a:solidFill>
                  <a:srgbClr val="C6C6C0"/>
                </a:solidFill>
                <a:latin typeface="Arial"/>
                <a:ea typeface="Arial"/>
                <a:cs typeface="Arial"/>
              </a:rPr>
              <a:t>Open source; the next run is January 2027</a:t>
            </a:r>
          </a:p>
        </p:txBody>
      </p:sp>
      <p:sp>
        <p:nvSpPr>
          <p:cNvPr id="17" name="TextBox 16"/>
          <p:cNvSpPr txBox="1"/>
          <p:nvPr/>
        </p:nvSpPr>
        <p:spPr>
          <a:xfrm>
            <a:off x="6190952" y="3372073"/>
            <a:ext cx="2413751" cy="147638"/>
          </a:xfrm>
          <a:prstGeom prst="rect">
            <a:avLst/>
          </a:prstGeom>
          <a:noFill/>
        </p:spPr>
        <p:txBody>
          <a:bodyPr wrap="square" lIns="0" rIns="0" tIns="0" bIns="0" anchor="t">
            <a:noAutofit/>
          </a:bodyPr>
          <a:lstStyle/>
          <a:p>
            <a:pPr algn="l">
              <a:lnSpc>
                <a:spcPts val="1121"/>
              </a:lnSpc>
              <a:spcBef>
                <a:spcPts val="0"/>
              </a:spcBef>
              <a:spcAft>
                <a:spcPts val="0"/>
              </a:spcAft>
            </a:pPr>
            <a:r>
              <a:rPr sz="975" b="1" i="0" u="none">
                <a:solidFill>
                  <a:srgbClr val="F0F0EC"/>
                </a:solidFill>
                <a:latin typeface="Arial"/>
                <a:ea typeface="Arial"/>
                <a:cs typeface="Arial"/>
              </a:rPr>
              <a:t>Sebastian Fridman</a:t>
            </a:r>
          </a:p>
        </p:txBody>
      </p:sp>
      <p:sp>
        <p:nvSpPr>
          <p:cNvPr id="18" name="TextBox 17"/>
          <p:cNvSpPr txBox="1"/>
          <p:nvPr/>
        </p:nvSpPr>
        <p:spPr>
          <a:xfrm>
            <a:off x="6190952" y="3548286"/>
            <a:ext cx="2413751" cy="319980"/>
          </a:xfrm>
          <a:prstGeom prst="rect">
            <a:avLst/>
          </a:prstGeom>
          <a:noFill/>
        </p:spPr>
        <p:txBody>
          <a:bodyPr wrap="square" lIns="0" rIns="0" tIns="0" bIns="0" anchor="t">
            <a:noAutofit/>
          </a:bodyPr>
          <a:lstStyle/>
          <a:p>
            <a:pPr algn="l">
              <a:lnSpc>
                <a:spcPts val="1260"/>
              </a:lnSpc>
              <a:spcBef>
                <a:spcPts val="0"/>
              </a:spcBef>
              <a:spcAft>
                <a:spcPts val="0"/>
              </a:spcAft>
            </a:pPr>
            <a:r>
              <a:rPr sz="900" b="0" i="0" u="none">
                <a:solidFill>
                  <a:srgbClr val="C6C6C0"/>
                </a:solidFill>
                <a:latin typeface="Arial"/>
                <a:ea typeface="Arial"/>
                <a:cs typeface="Arial"/>
              </a:rPr>
              <a:t>Western University · London Health Sciences Centre</a:t>
            </a:r>
          </a:p>
        </p:txBody>
      </p:sp>
      <p:sp>
        <p:nvSpPr>
          <p:cNvPr id="19" name="TextBox 18"/>
          <p:cNvSpPr txBox="1"/>
          <p:nvPr/>
        </p:nvSpPr>
        <p:spPr>
          <a:xfrm>
            <a:off x="6190952" y="3896841"/>
            <a:ext cx="2413751" cy="173310"/>
          </a:xfrm>
          <a:prstGeom prst="rect">
            <a:avLst/>
          </a:prstGeom>
          <a:noFill/>
        </p:spPr>
        <p:txBody>
          <a:bodyPr wrap="square" lIns="0" rIns="0" tIns="0" bIns="0" anchor="t">
            <a:noAutofit/>
          </a:bodyPr>
          <a:lstStyle/>
          <a:p>
            <a:pPr algn="l">
              <a:lnSpc>
                <a:spcPts val="1365"/>
              </a:lnSpc>
              <a:spcBef>
                <a:spcPts val="0"/>
              </a:spcBef>
              <a:spcAft>
                <a:spcPts val="0"/>
              </a:spcAft>
            </a:pPr>
            <a:r>
              <a:rPr sz="975" b="0" i="0" u="none">
                <a:solidFill>
                  <a:srgbClr val="F0F0EC"/>
                </a:solidFill>
                <a:latin typeface="Arial"/>
                <a:ea typeface="Arial"/>
                <a:cs typeface="Arial"/>
              </a:rPr>
              <a:t>sfridma@uwo.ca</a:t>
            </a:r>
          </a:p>
        </p:txBody>
      </p:sp>
      <p:sp>
        <p:nvSpPr>
          <p:cNvPr id="20" name="TextBox 19"/>
          <p:cNvSpPr txBox="1"/>
          <p:nvPr/>
        </p:nvSpPr>
        <p:spPr>
          <a:xfrm>
            <a:off x="6190952" y="4098727"/>
            <a:ext cx="2413751" cy="282773"/>
          </a:xfrm>
          <a:prstGeom prst="rect">
            <a:avLst/>
          </a:prstGeom>
          <a:noFill/>
        </p:spPr>
        <p:txBody>
          <a:bodyPr wrap="square" lIns="0" rIns="0" tIns="0" bIns="0" anchor="t">
            <a:noAutofit/>
          </a:bodyPr>
          <a:lstStyle/>
          <a:p>
            <a:pPr algn="l">
              <a:lnSpc>
                <a:spcPts val="1114"/>
              </a:lnSpc>
              <a:spcBef>
                <a:spcPts val="0"/>
              </a:spcBef>
              <a:spcAft>
                <a:spcPts val="0"/>
              </a:spcAft>
            </a:pPr>
            <a:r>
              <a:rPr sz="825" b="0" i="0" u="none">
                <a:solidFill>
                  <a:srgbClr val="C6C6C0"/>
                </a:solidFill>
                <a:latin typeface="Arial"/>
                <a:ea typeface="Arial"/>
                <a:cs typeface="Arial"/>
              </a:rPr>
              <a:t>Write to join the task force or to audit your own field</a:t>
            </a:r>
          </a:p>
        </p:txBody>
      </p:sp>
      <p:sp>
        <p:nvSpPr>
          <p:cNvPr id="21" name="TextBox 20"/>
          <p:cNvSpPr txBox="1"/>
          <p:nvPr/>
        </p:nvSpPr>
        <p:spPr>
          <a:xfrm>
            <a:off x="609600" y="4695825"/>
            <a:ext cx="8162544" cy="142875"/>
          </a:xfrm>
          <a:prstGeom prst="rect">
            <a:avLst/>
          </a:prstGeom>
          <a:noFill/>
        </p:spPr>
        <p:txBody>
          <a:bodyPr wrap="square" lIns="0" rIns="0" tIns="0" bIns="0" anchor="t">
            <a:noAutofit/>
          </a:bodyPr>
          <a:lstStyle/>
          <a:p>
            <a:pPr algn="l">
              <a:lnSpc>
                <a:spcPts val="1125"/>
              </a:lnSpc>
              <a:spcBef>
                <a:spcPts val="0"/>
              </a:spcBef>
              <a:spcAft>
                <a:spcPts val="0"/>
              </a:spcAft>
            </a:pPr>
            <a:r>
              <a:rPr sz="900" b="0" i="0" u="none">
                <a:solidFill>
                  <a:srgbClr val="C6C6C0"/>
                </a:solidFill>
                <a:latin typeface="Arial"/>
                <a:ea typeface="Arial"/>
                <a:cs typeface="Arial"/>
              </a:rPr>
              <a:t>Disclosures: none.</a:t>
            </a:r>
          </a:p>
        </p:txBody>
      </p:sp>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FolderID xmlns="eb3f7de7-c935-4ca6-a12c-1f73773710ec" xsi:nil="true"/>
    <KenesDocumentTypeId xmlns="eb3f7de7-c935-4ca6-a12c-1f73773710ec" xsi:nil="true"/>
    <Confidential1 xmlns="eb3f7de7-c935-4ca6-a12c-1f73773710ec">false</Confidential1>
    <Final xmlns="eb3f7de7-c935-4ca6-a12c-1f73773710ec">false</Final>
    <_ip_UnifiedCompliancePolicyUIAction xmlns="http://schemas.microsoft.com/sharepoint/v3" xsi:nil="true"/>
    <lcf76f155ced4ddcb4097134ff3c332f xmlns="1c14aaab-0828-4cd2-9ca4-1807938f7b2f">
      <Terms xmlns="http://schemas.microsoft.com/office/infopath/2007/PartnerControls"/>
    </lcf76f155ced4ddcb4097134ff3c332f>
    <TaxCatchAll xmlns="eb3f7de7-c935-4ca6-a12c-1f73773710ec" xsi:nil="true"/>
    <_ip_UnifiedCompliancePolicyProperties xmlns="http://schemas.microsoft.com/sharepoint/v3" xsi:nil="true"/>
  </documentManagement>
</p:properties>
</file>

<file path=customXml/item2.xml><?xml version="1.0" encoding="utf-8"?>
<ct:contentTypeSchema xmlns:ct="http://schemas.microsoft.com/office/2006/metadata/contentType" xmlns:ma="http://schemas.microsoft.com/office/2006/metadata/properties/metaAttributes" ct:_="" ma:_="" ma:contentTypeName="Kenes Document" ma:contentTypeID="0x01010037EA2DD516505C4D92B92F8677CFB68500BEE62B47A0604044B5F0266DF4D773BE" ma:contentTypeVersion="14" ma:contentTypeDescription="" ma:contentTypeScope="" ma:versionID="f330009d3d64ad65e401ddba6879b21d">
  <xsd:schema xmlns:xsd="http://www.w3.org/2001/XMLSchema" xmlns:xs="http://www.w3.org/2001/XMLSchema" xmlns:p="http://schemas.microsoft.com/office/2006/metadata/properties" xmlns:ns1="http://schemas.microsoft.com/sharepoint/v3" xmlns:ns2="eb3f7de7-c935-4ca6-a12c-1f73773710ec" xmlns:ns3="1c14aaab-0828-4cd2-9ca4-1807938f7b2f" targetNamespace="http://schemas.microsoft.com/office/2006/metadata/properties" ma:root="true" ma:fieldsID="dd50c4edf9878564f12732a0bae11ddc" ns1:_="" ns2:_="" ns3:_="">
    <xsd:import namespace="http://schemas.microsoft.com/sharepoint/v3"/>
    <xsd:import namespace="eb3f7de7-c935-4ca6-a12c-1f73773710ec"/>
    <xsd:import namespace="1c14aaab-0828-4cd2-9ca4-1807938f7b2f"/>
    <xsd:element name="properties">
      <xsd:complexType>
        <xsd:sequence>
          <xsd:element name="documentManagement">
            <xsd:complexType>
              <xsd:all>
                <xsd:element ref="ns2:FolderID" minOccurs="0"/>
                <xsd:element ref="ns2:KenesDocumentTypeId" minOccurs="0"/>
                <xsd:element ref="ns2:Confidential1" minOccurs="0"/>
                <xsd:element ref="ns2:Final" minOccurs="0"/>
                <xsd:element ref="ns2:SharedWithUsers" minOccurs="0"/>
                <xsd:element ref="ns2:SharedWithDetails" minOccurs="0"/>
                <xsd:element ref="ns3:MediaServiceMetadata" minOccurs="0"/>
                <xsd:element ref="ns3:MediaServiceFastMetadata" minOccurs="0"/>
                <xsd:element ref="ns3:MediaServiceSearchProperties" minOccurs="0"/>
                <xsd:element ref="ns3:MediaServiceObjectDetectorVersions" minOccurs="0"/>
                <xsd:element ref="ns1:_ip_UnifiedCompliancePolicyProperties" minOccurs="0"/>
                <xsd:element ref="ns1:_ip_UnifiedCompliancePolicyUIAction" minOccurs="0"/>
                <xsd:element ref="ns3:MediaServiceDateTaken" minOccurs="0"/>
                <xsd:element ref="ns3:lcf76f155ced4ddcb4097134ff3c332f" minOccurs="0"/>
                <xsd:element ref="ns2:TaxCatchAll" minOccurs="0"/>
                <xsd:element ref="ns3:MediaServiceOCR" minOccurs="0"/>
                <xsd:element ref="ns3:MediaServiceGenerationTime" minOccurs="0"/>
                <xsd:element ref="ns3:MediaServiceEventHashCode" minOccurs="0"/>
                <xsd:element ref="ns3: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18" nillable="true" ma:displayName="Unified Compliance Policy Properties" ma:hidden="true" ma:internalName="_ip_UnifiedCompliancePolicyProperties">
      <xsd:simpleType>
        <xsd:restriction base="dms:Note"/>
      </xsd:simpleType>
    </xsd:element>
    <xsd:element name="_ip_UnifiedCompliancePolicyUIAction" ma:index="19" nillable="true" ma:displayName="Unified Compliance Policy UI Action" ma:hidden="true" ma:internalName="_ip_UnifiedCompliancePolicyUIAction">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eb3f7de7-c935-4ca6-a12c-1f73773710ec" elementFormDefault="qualified">
    <xsd:import namespace="http://schemas.microsoft.com/office/2006/documentManagement/types"/>
    <xsd:import namespace="http://schemas.microsoft.com/office/infopath/2007/PartnerControls"/>
    <xsd:element name="FolderID" ma:index="2" nillable="true" ma:displayName="FolderID" ma:list="{62b5239b-3564-444d-88a9-03f6d13d411f}" ma:internalName="FolderID" ma:showField="Title" ma:web="eb3f7de7-c935-4ca6-a12c-1f73773710ec">
      <xsd:simpleType>
        <xsd:restriction base="dms:Lookup"/>
      </xsd:simpleType>
    </xsd:element>
    <xsd:element name="KenesDocumentTypeId" ma:index="3" nillable="true" ma:displayName="KenesDocumentTypeId" ma:list="{5ca2ab15-5c4e-45db-95e6-5cb4dd45d1b1}" ma:internalName="KenesDocumentTypeId" ma:showField="Title" ma:web="eb3f7de7-c935-4ca6-a12c-1f73773710ec">
      <xsd:simpleType>
        <xsd:restriction base="dms:Lookup"/>
      </xsd:simpleType>
    </xsd:element>
    <xsd:element name="Confidential1" ma:index="4" nillable="true" ma:displayName="Confidential" ma:default="0" ma:internalName="Confidential1">
      <xsd:simpleType>
        <xsd:restriction base="dms:Boolean"/>
      </xsd:simpleType>
    </xsd:element>
    <xsd:element name="Final" ma:index="5" nillable="true" ma:displayName="Final" ma:default="0" ma:internalName="Final">
      <xsd:simpleType>
        <xsd:restriction base="dms:Boolean"/>
      </xsd:simpleType>
    </xsd:element>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description="" ma:internalName="SharedWithDetails" ma:readOnly="true">
      <xsd:simpleType>
        <xsd:restriction base="dms:Note">
          <xsd:maxLength value="255"/>
        </xsd:restriction>
      </xsd:simpleType>
    </xsd:element>
    <xsd:element name="TaxCatchAll" ma:index="23" nillable="true" ma:displayName="Taxonomy Catch All Column" ma:hidden="true" ma:list="{7eb20398-0988-4e55-b57f-05d62d7b8281}" ma:internalName="TaxCatchAll" ma:showField="CatchAllData" ma:web="eb3f7de7-c935-4ca6-a12c-1f73773710ec">
      <xsd:complexType>
        <xsd:complexContent>
          <xsd:extension base="dms:MultiChoiceLookup">
            <xsd:sequence>
              <xsd:element name="Value" type="dms:Lookup" maxOccurs="unbounded" minOccurs="0" nillable="true"/>
            </xsd:sequence>
          </xsd:extension>
        </xsd:complexContent>
      </xsd:complexType>
    </xsd:element>
  </xsd:schema>
  <xsd:schema xmlns:xsd="http://www.w3.org/2001/XMLSchema" xmlns:xs="http://www.w3.org/2001/XMLSchema" xmlns:dms="http://schemas.microsoft.com/office/2006/documentManagement/types" xmlns:pc="http://schemas.microsoft.com/office/infopath/2007/PartnerControls" targetNamespace="1c14aaab-0828-4cd2-9ca4-1807938f7b2f" elementFormDefault="qualified">
    <xsd:import namespace="http://schemas.microsoft.com/office/2006/documentManagement/types"/>
    <xsd:import namespace="http://schemas.microsoft.com/office/infopath/2007/PartnerControls"/>
    <xsd:element name="MediaServiceMetadata" ma:index="14" nillable="true" ma:displayName="MediaServiceMetadata" ma:hidden="true" ma:internalName="MediaServiceMetadata" ma:readOnly="true">
      <xsd:simpleType>
        <xsd:restriction base="dms:Note"/>
      </xsd:simpleType>
    </xsd:element>
    <xsd:element name="MediaServiceFastMetadata" ma:index="15" nillable="true" ma:displayName="MediaServiceFastMetadata" ma:hidden="true" ma:internalName="MediaServiceFastMetadata" ma:readOnly="true">
      <xsd:simpleType>
        <xsd:restriction base="dms:Note"/>
      </xsd:simpleType>
    </xsd:element>
    <xsd:element name="MediaServiceSearchProperties" ma:index="16" nillable="true" ma:displayName="MediaServiceSearchProperties" ma:hidden="true" ma:internalName="MediaServiceSearchProperties" ma:readOnly="true">
      <xsd:simpleType>
        <xsd:restriction base="dms:Note"/>
      </xsd:simpleType>
    </xsd:element>
    <xsd:element name="MediaServiceObjectDetectorVersions" ma:index="17" nillable="true" ma:displayName="MediaServiceObjectDetectorVersions" ma:hidden="true" ma:indexed="true" ma:internalName="MediaServiceObjectDetectorVersions" ma:readOnly="true">
      <xsd:simpleType>
        <xsd:restriction base="dms:Text"/>
      </xsd:simpleType>
    </xsd:element>
    <xsd:element name="MediaServiceDateTaken" ma:index="20" nillable="true" ma:displayName="MediaServiceDateTaken" ma:hidden="true" ma:indexed="true" ma:internalName="MediaServiceDateTaken" ma:readOnly="true">
      <xsd:simpleType>
        <xsd:restriction base="dms:Text"/>
      </xsd:simpleType>
    </xsd:element>
    <xsd:element name="lcf76f155ced4ddcb4097134ff3c332f" ma:index="22" nillable="true" ma:taxonomy="true" ma:internalName="lcf76f155ced4ddcb4097134ff3c332f" ma:taxonomyFieldName="MediaServiceImageTags" ma:displayName="Image Tags" ma:readOnly="false" ma:fieldId="{5cf76f15-5ced-4ddc-b409-7134ff3c332f}" ma:taxonomyMulti="true" ma:sspId="720c72ca-3d5e-4053-bfc4-d5117e56c934" ma:termSetId="09814cd3-568e-fe90-9814-8d621ff8fb84" ma:anchorId="fba54fb3-c3e1-fe81-a776-ca4b69148c4d" ma:open="true" ma:isKeyword="false">
      <xsd:complexType>
        <xsd:sequence>
          <xsd:element ref="pc:Terms" minOccurs="0" maxOccurs="1"/>
        </xsd:sequence>
      </xsd:complexType>
    </xsd:element>
    <xsd:element name="MediaServiceOCR" ma:index="24" nillable="true" ma:displayName="Extracted Text" ma:internalName="MediaServiceOCR" ma:readOnly="true">
      <xsd:simpleType>
        <xsd:restriction base="dms:Note">
          <xsd:maxLength value="255"/>
        </xsd:restriction>
      </xsd:simpleType>
    </xsd:element>
    <xsd:element name="MediaServiceGenerationTime" ma:index="25" nillable="true" ma:displayName="MediaServiceGenerationTime" ma:hidden="true" ma:internalName="MediaServiceGenerationTime" ma:readOnly="true">
      <xsd:simpleType>
        <xsd:restriction base="dms:Text"/>
      </xsd:simpleType>
    </xsd:element>
    <xsd:element name="MediaServiceEventHashCode" ma:index="26" nillable="true" ma:displayName="MediaServiceEventHashCode" ma:hidden="true" ma:internalName="MediaServiceEventHashCode" ma:readOnly="true">
      <xsd:simpleType>
        <xsd:restriction base="dms:Text"/>
      </xsd:simpleType>
    </xsd:element>
    <xsd:element name="MediaLengthInSeconds" ma:index="27" nillable="true" ma:displayName="MediaLengthInSeconds" ma:hidden="true" ma:internalName="MediaLengthInSeconds" ma:readOnly="true">
      <xsd:simpleType>
        <xsd:restriction base="dms:Unknow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11" ma:displayName="Content Type"/>
        <xsd:element ref="dc:title" minOccurs="0" maxOccurs="1" ma:index="1"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8D7E687F-38DE-4D5E-B522-6D9148A0FD40}">
  <ds:schemaRefs>
    <ds:schemaRef ds:uri="http://schemas.microsoft.com/office/2006/metadata/properties"/>
    <ds:schemaRef ds:uri="http://schemas.microsoft.com/office/infopath/2007/PartnerControls"/>
    <ds:schemaRef ds:uri="http://schemas.microsoft.com/sharepoint/v3"/>
    <ds:schemaRef ds:uri="f41fa17a-99c4-4c5f-bcb4-a52bd907e64f"/>
    <ds:schemaRef ds:uri="eb3f7de7-c935-4ca6-a12c-1f73773710ec"/>
    <ds:schemaRef ds:uri="1c14aaab-0828-4cd2-9ca4-1807938f7b2f"/>
  </ds:schemaRefs>
</ds:datastoreItem>
</file>

<file path=customXml/itemProps2.xml><?xml version="1.0" encoding="utf-8"?>
<ds:datastoreItem xmlns:ds="http://schemas.openxmlformats.org/officeDocument/2006/customXml" ds:itemID="{E02D2F5B-B587-4325-A444-A9CDD5E120AD}">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eb3f7de7-c935-4ca6-a12c-1f73773710ec"/>
    <ds:schemaRef ds:uri="1c14aaab-0828-4cd2-9ca4-1807938f7b2f"/>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976E6AA8-327C-475A-988E-14B9EDF74DF0}">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otalTime>21</TotalTime>
  <Words>3</Words>
  <Application>Microsoft Office PowerPoint</Application>
  <PresentationFormat>On-screen Show (16:9)</PresentationFormat>
  <Paragraphs>1</Paragraphs>
  <Slides>4</Slides>
  <Notes>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DINOT</vt:lpstr>
      <vt:lpstr>Simple Light</vt:lpstr>
      <vt:lpstr>WRITE TITLE HERE</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Dilyana Hristova</dc:creator>
  <cp:lastModifiedBy>Adam Bouchard</cp:lastModifiedBy>
  <cp:revision>4</cp:revision>
  <dcterms:modified xsi:type="dcterms:W3CDTF">2026-10-07T07:04:50Z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0x01010037EA2DD516505C4D92B92F8677CFB68500BEE62B47A0604044B5F0266DF4D773BE</vt:lpwstr>
  </property>
  <property fmtid="{D5CDD505-2E9C-101B-9397-08002B2CF9AE}" pid="3" name="MediaServiceImageTags">
    <vt:lpwstr/>
  </property>
</Properties>
</file>